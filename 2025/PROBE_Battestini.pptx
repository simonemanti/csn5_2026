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  <p:sldMasterId id="2147483802" r:id="rId2"/>
    <p:sldMasterId id="2147484079" r:id="rId3"/>
    <p:sldMasterId id="2147484091" r:id="rId4"/>
    <p:sldMasterId id="2147484127" r:id="rId5"/>
  </p:sldMasterIdLst>
  <p:notesMasterIdLst>
    <p:notesMasterId r:id="rId32"/>
  </p:notesMasterIdLst>
  <p:sldIdLst>
    <p:sldId id="582" r:id="rId6"/>
    <p:sldId id="408" r:id="rId7"/>
    <p:sldId id="404" r:id="rId8"/>
    <p:sldId id="580" r:id="rId9"/>
    <p:sldId id="553" r:id="rId10"/>
    <p:sldId id="576" r:id="rId11"/>
    <p:sldId id="583" r:id="rId12"/>
    <p:sldId id="555" r:id="rId13"/>
    <p:sldId id="554" r:id="rId14"/>
    <p:sldId id="586" r:id="rId15"/>
    <p:sldId id="565" r:id="rId16"/>
    <p:sldId id="556" r:id="rId17"/>
    <p:sldId id="557" r:id="rId18"/>
    <p:sldId id="567" r:id="rId19"/>
    <p:sldId id="568" r:id="rId20"/>
    <p:sldId id="569" r:id="rId21"/>
    <p:sldId id="573" r:id="rId22"/>
    <p:sldId id="574" r:id="rId23"/>
    <p:sldId id="562" r:id="rId24"/>
    <p:sldId id="560" r:id="rId25"/>
    <p:sldId id="559" r:id="rId26"/>
    <p:sldId id="581" r:id="rId27"/>
    <p:sldId id="294" r:id="rId28"/>
    <p:sldId id="577" r:id="rId29"/>
    <p:sldId id="585" r:id="rId30"/>
    <p:sldId id="584" r:id="rId3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EA000"/>
    <a:srgbClr val="9954CC"/>
    <a:srgbClr val="6B1519"/>
    <a:srgbClr val="C84D4C"/>
    <a:srgbClr val="365DEE"/>
    <a:srgbClr val="A8ACAF"/>
    <a:srgbClr val="41719C"/>
    <a:srgbClr val="4A66AC"/>
    <a:srgbClr val="FFF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011" autoAdjust="0"/>
  </p:normalViewPr>
  <p:slideViewPr>
    <p:cSldViewPr snapToGrid="0">
      <p:cViewPr varScale="1">
        <p:scale>
          <a:sx n="83" d="100"/>
          <a:sy n="83" d="100"/>
        </p:scale>
        <p:origin x="82" y="2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8.png"/><Relationship Id="rId1" Type="http://schemas.openxmlformats.org/officeDocument/2006/relationships/image" Target="../media/image90.png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6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8.png"/><Relationship Id="rId1" Type="http://schemas.openxmlformats.org/officeDocument/2006/relationships/image" Target="../media/image90.png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6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785AEC-E837-4AA7-9015-600B106A9157}" type="doc">
      <dgm:prSet loTypeId="urn:microsoft.com/office/officeart/2008/layout/HexagonCluster" loCatId="pictur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it-IT"/>
        </a:p>
      </dgm:t>
    </dgm:pt>
    <dgm:pt modelId="{60F24451-A237-43C9-BBCA-ACE243812303}">
      <dgm:prSet phldrT="[Testo]" phldr="0"/>
      <dgm:spPr/>
      <dgm:t>
        <a:bodyPr/>
        <a:lstStyle/>
        <a:p>
          <a:r>
            <a: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General model development</a:t>
          </a:r>
        </a:p>
      </dgm:t>
    </dgm:pt>
    <dgm:pt modelId="{30044191-54A9-4919-BF7E-E4954A829579}" type="parTrans" cxnId="{7523A4FC-8811-49A6-A971-A19AF0AD7F5F}">
      <dgm:prSet/>
      <dgm:spPr/>
      <dgm:t>
        <a:bodyPr/>
        <a:lstStyle/>
        <a:p>
          <a:endParaRPr lang="it-IT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647DBB3-155B-48EF-B4B1-20AFCDDC58C9}" type="sibTrans" cxnId="{7523A4FC-8811-49A6-A971-A19AF0AD7F5F}">
      <dgm:prSet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</dgm:spPr>
      <dgm:t>
        <a:bodyPr/>
        <a:lstStyle/>
        <a:p>
          <a:endParaRPr lang="it-IT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F03B886-1F67-4D6E-A727-1FB98C2A5716}">
      <dgm:prSet phldrT="[Testo]"/>
      <dgm:spPr/>
      <dgm:t>
        <a:bodyPr/>
        <a:lstStyle/>
        <a:p>
          <a:r>
            <a: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General model validation</a:t>
          </a:r>
        </a:p>
      </dgm:t>
    </dgm:pt>
    <dgm:pt modelId="{421E296E-AC8A-4E15-933C-27D0E3FF7867}" type="parTrans" cxnId="{03812FC4-89D7-4CF2-A1DD-B2A0B6AAF020}">
      <dgm:prSet/>
      <dgm:spPr/>
      <dgm:t>
        <a:bodyPr/>
        <a:lstStyle/>
        <a:p>
          <a:endParaRPr lang="it-IT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4C01F73-458D-4E64-AE58-A7EBC0EA9D0C}" type="sibTrans" cxnId="{03812FC4-89D7-4CF2-A1DD-B2A0B6AAF020}">
      <dgm:prSet/>
      <dgm:spPr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  <dgm:t>
        <a:bodyPr/>
        <a:lstStyle/>
        <a:p>
          <a:endParaRPr lang="it-IT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9AEF49C-F763-44A4-93ED-6A339D0EE18B}">
      <dgm:prSet phldrT="[Testo]"/>
      <dgm:spPr/>
      <dgm:t>
        <a:bodyPr/>
        <a:lstStyle/>
        <a:p>
          <a:r>
            <a: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Model extension to clinic</a:t>
          </a:r>
        </a:p>
      </dgm:t>
    </dgm:pt>
    <dgm:pt modelId="{3C8B4828-CA5B-488C-B2CD-DBE3F6E0B7A1}" type="parTrans" cxnId="{50CB29CF-1B9F-4A32-9F37-EDD840358DF7}">
      <dgm:prSet/>
      <dgm:spPr/>
      <dgm:t>
        <a:bodyPr/>
        <a:lstStyle/>
        <a:p>
          <a:endParaRPr lang="it-IT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37F8EB6-CA54-4BD4-88AD-2DCCCD9F2191}" type="sibTrans" cxnId="{50CB29CF-1B9F-4A32-9F37-EDD840358DF7}">
      <dgm:prSet/>
      <dgm:spPr>
        <a:blipFill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  <dgm:t>
        <a:bodyPr/>
        <a:lstStyle/>
        <a:p>
          <a:endParaRPr lang="it-IT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C785371-3992-4EEC-841E-A51624891B31}">
      <dgm:prSet phldrT="[Testo]" phldr="0"/>
      <dgm:spPr/>
      <dgm:t>
        <a:bodyPr/>
        <a:lstStyle/>
        <a:p>
          <a:r>
            <a: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Irradiation of 3D skin tissue and analyses</a:t>
          </a:r>
        </a:p>
      </dgm:t>
    </dgm:pt>
    <dgm:pt modelId="{05214F5F-77C4-497F-9EFD-2F13578112BB}" type="parTrans" cxnId="{94F5E98E-0C61-4A41-96A0-7A8211942A63}">
      <dgm:prSet/>
      <dgm:spPr/>
      <dgm:t>
        <a:bodyPr/>
        <a:lstStyle/>
        <a:p>
          <a:endParaRPr lang="it-IT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D93A698-903F-4126-BA34-14A55902958E}" type="sibTrans" cxnId="{94F5E98E-0C61-4A41-96A0-7A8211942A63}">
      <dgm:prSet/>
      <dgm:spPr>
        <a:blipFill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  <dgm:t>
        <a:bodyPr/>
        <a:lstStyle/>
        <a:p>
          <a:endParaRPr lang="it-IT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4A54EE5-9ACF-4E07-B43A-CF1A335BEDD0}">
      <dgm:prSet phldrT="[Testo]" phldr="0"/>
      <dgm:spPr/>
      <dgm:t>
        <a:bodyPr/>
        <a:lstStyle/>
        <a:p>
          <a:r>
            <a: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Skin model development</a:t>
          </a:r>
        </a:p>
      </dgm:t>
    </dgm:pt>
    <dgm:pt modelId="{65CE269E-D059-4426-ACF2-518260CECCFE}" type="parTrans" cxnId="{CD155A01-54BA-4C3D-9C8C-EACECC3DBC09}">
      <dgm:prSet/>
      <dgm:spPr/>
      <dgm:t>
        <a:bodyPr/>
        <a:lstStyle/>
        <a:p>
          <a:endParaRPr lang="it-IT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42A6AC9-FCF9-447B-9C44-E509DF1930A7}" type="sibTrans" cxnId="{CD155A01-54BA-4C3D-9C8C-EACECC3DBC09}">
      <dgm:prSet/>
      <dgm:spPr>
        <a:blipFill rotWithShape="1">
          <a:blip xmlns:r="http://schemas.openxmlformats.org/officeDocument/2006/relationships" r:embed="rId5"/>
          <a:srcRect/>
          <a:stretch>
            <a:fillRect l="-1000" r="-1000"/>
          </a:stretch>
        </a:blipFill>
      </dgm:spPr>
      <dgm:t>
        <a:bodyPr/>
        <a:lstStyle/>
        <a:p>
          <a:endParaRPr lang="it-IT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60D4CEB-628F-4EAE-9891-B022B01B5022}">
      <dgm:prSet phldrT="[Testo]" phldr="0"/>
      <dgm:spPr/>
      <dgm:t>
        <a:bodyPr/>
        <a:lstStyle/>
        <a:p>
          <a:r>
            <a:rPr lang="en-US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Skin model calibration</a:t>
          </a:r>
        </a:p>
      </dgm:t>
    </dgm:pt>
    <dgm:pt modelId="{AD50EBA9-007F-4B51-8C7C-446ACB3FF4AB}" type="parTrans" cxnId="{31BC873D-FE5D-455B-8D31-BA2D165329E3}">
      <dgm:prSet/>
      <dgm:spPr/>
      <dgm:t>
        <a:bodyPr/>
        <a:lstStyle/>
        <a:p>
          <a:endParaRPr lang="it-IT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776EC3D-4F18-477B-9DFE-641F2C03E9C5}" type="sibTrans" cxnId="{31BC873D-FE5D-455B-8D31-BA2D165329E3}">
      <dgm:prSet/>
      <dgm:spPr>
        <a:blipFill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  <dgm:t>
        <a:bodyPr/>
        <a:lstStyle/>
        <a:p>
          <a:endParaRPr lang="it-IT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3A22E3A-A014-48C3-910B-44632030CCD2}" type="pres">
      <dgm:prSet presAssocID="{B7785AEC-E837-4AA7-9015-600B106A9157}" presName="Name0" presStyleCnt="0">
        <dgm:presLayoutVars>
          <dgm:chMax val="21"/>
          <dgm:chPref val="21"/>
        </dgm:presLayoutVars>
      </dgm:prSet>
      <dgm:spPr/>
    </dgm:pt>
    <dgm:pt modelId="{7133E263-CA8D-447B-A6EE-F5D93D7B5DB6}" type="pres">
      <dgm:prSet presAssocID="{60F24451-A237-43C9-BBCA-ACE243812303}" presName="text1" presStyleCnt="0"/>
      <dgm:spPr/>
    </dgm:pt>
    <dgm:pt modelId="{72E3A5C5-9F60-4C9B-A552-D15E9796086C}" type="pres">
      <dgm:prSet presAssocID="{60F24451-A237-43C9-BBCA-ACE243812303}" presName="textRepeatNode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179E183F-0091-4785-B74E-F65A7CF180AF}" type="pres">
      <dgm:prSet presAssocID="{60F24451-A237-43C9-BBCA-ACE243812303}" presName="textaccent1" presStyleCnt="0"/>
      <dgm:spPr/>
    </dgm:pt>
    <dgm:pt modelId="{4537A92E-2163-49AA-A2FA-1F7385B3BACB}" type="pres">
      <dgm:prSet presAssocID="{60F24451-A237-43C9-BBCA-ACE243812303}" presName="accentRepeatNode" presStyleLbl="solidAlignAcc1" presStyleIdx="0" presStyleCnt="12"/>
      <dgm:spPr/>
    </dgm:pt>
    <dgm:pt modelId="{D91F7CAF-0292-4385-8F2C-F9CDB3E21FAF}" type="pres">
      <dgm:prSet presAssocID="{B647DBB3-155B-48EF-B4B1-20AFCDDC58C9}" presName="image1" presStyleCnt="0"/>
      <dgm:spPr/>
    </dgm:pt>
    <dgm:pt modelId="{E20F9AB0-B113-4229-9405-ACF462FA1C1B}" type="pres">
      <dgm:prSet presAssocID="{B647DBB3-155B-48EF-B4B1-20AFCDDC58C9}" presName="imageRepeatNode" presStyleLbl="alignAcc1" presStyleIdx="0" presStyleCnt="6"/>
      <dgm:spPr/>
    </dgm:pt>
    <dgm:pt modelId="{F863A997-9A5E-4615-A394-CA4383822B4C}" type="pres">
      <dgm:prSet presAssocID="{B647DBB3-155B-48EF-B4B1-20AFCDDC58C9}" presName="imageaccent1" presStyleCnt="0"/>
      <dgm:spPr/>
    </dgm:pt>
    <dgm:pt modelId="{78CCE613-2E93-438C-9904-87AC0427FEAC}" type="pres">
      <dgm:prSet presAssocID="{B647DBB3-155B-48EF-B4B1-20AFCDDC58C9}" presName="accentRepeatNode" presStyleLbl="solidAlignAcc1" presStyleIdx="1" presStyleCnt="12"/>
      <dgm:spPr/>
    </dgm:pt>
    <dgm:pt modelId="{EA735296-96AF-4F0C-9DD1-89F53571074F}" type="pres">
      <dgm:prSet presAssocID="{8F03B886-1F67-4D6E-A727-1FB98C2A5716}" presName="text2" presStyleCnt="0"/>
      <dgm:spPr/>
    </dgm:pt>
    <dgm:pt modelId="{36A5D02E-DC69-4AC7-8830-CD32C4BB143B}" type="pres">
      <dgm:prSet presAssocID="{8F03B886-1F67-4D6E-A727-1FB98C2A5716}" presName="textRepeatNode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1E467F2C-0176-45B7-BA2C-8CEA1D76D193}" type="pres">
      <dgm:prSet presAssocID="{8F03B886-1F67-4D6E-A727-1FB98C2A5716}" presName="textaccent2" presStyleCnt="0"/>
      <dgm:spPr/>
    </dgm:pt>
    <dgm:pt modelId="{088BA4A8-F844-4FFE-8874-B7C0B5E8D7F0}" type="pres">
      <dgm:prSet presAssocID="{8F03B886-1F67-4D6E-A727-1FB98C2A5716}" presName="accentRepeatNode" presStyleLbl="solidAlignAcc1" presStyleIdx="2" presStyleCnt="12"/>
      <dgm:spPr/>
    </dgm:pt>
    <dgm:pt modelId="{77CAEE5A-0309-45B3-851C-0648EEC4576D}" type="pres">
      <dgm:prSet presAssocID="{94C01F73-458D-4E64-AE58-A7EBC0EA9D0C}" presName="image2" presStyleCnt="0"/>
      <dgm:spPr/>
    </dgm:pt>
    <dgm:pt modelId="{96F8F996-647D-401F-A9D2-98FCE89D8E6E}" type="pres">
      <dgm:prSet presAssocID="{94C01F73-458D-4E64-AE58-A7EBC0EA9D0C}" presName="imageRepeatNode" presStyleLbl="alignAcc1" presStyleIdx="1" presStyleCnt="6"/>
      <dgm:spPr/>
    </dgm:pt>
    <dgm:pt modelId="{BB11E667-CCB5-48CD-903A-C2CE784379AB}" type="pres">
      <dgm:prSet presAssocID="{94C01F73-458D-4E64-AE58-A7EBC0EA9D0C}" presName="imageaccent2" presStyleCnt="0"/>
      <dgm:spPr/>
    </dgm:pt>
    <dgm:pt modelId="{E22D4480-7359-49A9-A300-D9F43CFACEDA}" type="pres">
      <dgm:prSet presAssocID="{94C01F73-458D-4E64-AE58-A7EBC0EA9D0C}" presName="accentRepeatNode" presStyleLbl="solidAlignAcc1" presStyleIdx="3" presStyleCnt="12"/>
      <dgm:spPr/>
    </dgm:pt>
    <dgm:pt modelId="{A7D4E2D4-CBDF-454C-AC8F-3F7F40932E52}" type="pres">
      <dgm:prSet presAssocID="{F9AEF49C-F763-44A4-93ED-6A339D0EE18B}" presName="text3" presStyleCnt="0"/>
      <dgm:spPr/>
    </dgm:pt>
    <dgm:pt modelId="{75FE03B6-AD5C-4170-B7C2-4194311C9A19}" type="pres">
      <dgm:prSet presAssocID="{F9AEF49C-F763-44A4-93ED-6A339D0EE18B}" presName="textRepeatNode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E74F2967-D16C-4858-A61E-2554CBB2BCCE}" type="pres">
      <dgm:prSet presAssocID="{F9AEF49C-F763-44A4-93ED-6A339D0EE18B}" presName="textaccent3" presStyleCnt="0"/>
      <dgm:spPr/>
    </dgm:pt>
    <dgm:pt modelId="{AE14D836-AA4E-44F1-BC57-0C709963315D}" type="pres">
      <dgm:prSet presAssocID="{F9AEF49C-F763-44A4-93ED-6A339D0EE18B}" presName="accentRepeatNode" presStyleLbl="solidAlignAcc1" presStyleIdx="4" presStyleCnt="12"/>
      <dgm:spPr/>
    </dgm:pt>
    <dgm:pt modelId="{44125F1E-9DB2-4EE8-B1EE-989011273621}" type="pres">
      <dgm:prSet presAssocID="{937F8EB6-CA54-4BD4-88AD-2DCCCD9F2191}" presName="image3" presStyleCnt="0"/>
      <dgm:spPr/>
    </dgm:pt>
    <dgm:pt modelId="{30B98B14-AF6D-4555-B89C-D7BC295B993B}" type="pres">
      <dgm:prSet presAssocID="{937F8EB6-CA54-4BD4-88AD-2DCCCD9F2191}" presName="imageRepeatNode" presStyleLbl="alignAcc1" presStyleIdx="2" presStyleCnt="6"/>
      <dgm:spPr/>
    </dgm:pt>
    <dgm:pt modelId="{316C2EE5-0061-4959-A272-896288C51E53}" type="pres">
      <dgm:prSet presAssocID="{937F8EB6-CA54-4BD4-88AD-2DCCCD9F2191}" presName="imageaccent3" presStyleCnt="0"/>
      <dgm:spPr/>
    </dgm:pt>
    <dgm:pt modelId="{E72349D1-BF25-4DA5-A425-B7AC25E78F10}" type="pres">
      <dgm:prSet presAssocID="{937F8EB6-CA54-4BD4-88AD-2DCCCD9F2191}" presName="accentRepeatNode" presStyleLbl="solidAlignAcc1" presStyleIdx="5" presStyleCnt="12"/>
      <dgm:spPr/>
    </dgm:pt>
    <dgm:pt modelId="{384FEC25-510E-49AF-B96D-E7F56B8683AA}" type="pres">
      <dgm:prSet presAssocID="{AC785371-3992-4EEC-841E-A51624891B31}" presName="text4" presStyleCnt="0"/>
      <dgm:spPr/>
    </dgm:pt>
    <dgm:pt modelId="{B604CE26-9F5A-46AF-A36F-AB4811AD214A}" type="pres">
      <dgm:prSet presAssocID="{AC785371-3992-4EEC-841E-A51624891B31}" presName="textRepeatNode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25C85972-7281-48BB-8367-135516BF932C}" type="pres">
      <dgm:prSet presAssocID="{AC785371-3992-4EEC-841E-A51624891B31}" presName="textaccent4" presStyleCnt="0"/>
      <dgm:spPr/>
    </dgm:pt>
    <dgm:pt modelId="{DCC11858-A178-47B0-93EE-E408ACF8D10E}" type="pres">
      <dgm:prSet presAssocID="{AC785371-3992-4EEC-841E-A51624891B31}" presName="accentRepeatNode" presStyleLbl="solidAlignAcc1" presStyleIdx="6" presStyleCnt="12"/>
      <dgm:spPr/>
    </dgm:pt>
    <dgm:pt modelId="{551484D1-470A-4A9E-98B3-4D8B287CC03B}" type="pres">
      <dgm:prSet presAssocID="{FD93A698-903F-4126-BA34-14A55902958E}" presName="image4" presStyleCnt="0"/>
      <dgm:spPr/>
    </dgm:pt>
    <dgm:pt modelId="{23DA6684-B436-4C77-A136-EDB1AED23FB0}" type="pres">
      <dgm:prSet presAssocID="{FD93A698-903F-4126-BA34-14A55902958E}" presName="imageRepeatNode" presStyleLbl="alignAcc1" presStyleIdx="3" presStyleCnt="6"/>
      <dgm:spPr/>
    </dgm:pt>
    <dgm:pt modelId="{8D9A3F3D-AB63-43A3-B8CA-03B17D994C6A}" type="pres">
      <dgm:prSet presAssocID="{FD93A698-903F-4126-BA34-14A55902958E}" presName="imageaccent4" presStyleCnt="0"/>
      <dgm:spPr/>
    </dgm:pt>
    <dgm:pt modelId="{8933CB09-7A4E-4A73-9E80-9E684164A10B}" type="pres">
      <dgm:prSet presAssocID="{FD93A698-903F-4126-BA34-14A55902958E}" presName="accentRepeatNode" presStyleLbl="solidAlignAcc1" presStyleIdx="7" presStyleCnt="12"/>
      <dgm:spPr/>
    </dgm:pt>
    <dgm:pt modelId="{AF95E14A-9383-4BC8-94C5-EEC0480C2941}" type="pres">
      <dgm:prSet presAssocID="{D4A54EE5-9ACF-4E07-B43A-CF1A335BEDD0}" presName="text5" presStyleCnt="0"/>
      <dgm:spPr/>
    </dgm:pt>
    <dgm:pt modelId="{DB5E92BD-F7F7-4A69-A18E-E6D04ED3836F}" type="pres">
      <dgm:prSet presAssocID="{D4A54EE5-9ACF-4E07-B43A-CF1A335BEDD0}" presName="textRepeatNode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F71B8C70-F370-4036-BA62-031C77B8D5E2}" type="pres">
      <dgm:prSet presAssocID="{D4A54EE5-9ACF-4E07-B43A-CF1A335BEDD0}" presName="textaccent5" presStyleCnt="0"/>
      <dgm:spPr/>
    </dgm:pt>
    <dgm:pt modelId="{C6F29C19-3791-4699-A16E-6A756E424799}" type="pres">
      <dgm:prSet presAssocID="{D4A54EE5-9ACF-4E07-B43A-CF1A335BEDD0}" presName="accentRepeatNode" presStyleLbl="solidAlignAcc1" presStyleIdx="8" presStyleCnt="12"/>
      <dgm:spPr/>
    </dgm:pt>
    <dgm:pt modelId="{5813626E-3968-42C5-9F20-835B30E7A362}" type="pres">
      <dgm:prSet presAssocID="{342A6AC9-FCF9-447B-9C44-E509DF1930A7}" presName="image5" presStyleCnt="0"/>
      <dgm:spPr/>
    </dgm:pt>
    <dgm:pt modelId="{4EC4B462-4255-47C8-A36C-E972A64EDC13}" type="pres">
      <dgm:prSet presAssocID="{342A6AC9-FCF9-447B-9C44-E509DF1930A7}" presName="imageRepeatNode" presStyleLbl="alignAcc1" presStyleIdx="4" presStyleCnt="6"/>
      <dgm:spPr/>
    </dgm:pt>
    <dgm:pt modelId="{C0F0946E-6CC4-4412-AB5D-E55FDC8DE0E2}" type="pres">
      <dgm:prSet presAssocID="{342A6AC9-FCF9-447B-9C44-E509DF1930A7}" presName="imageaccent5" presStyleCnt="0"/>
      <dgm:spPr/>
    </dgm:pt>
    <dgm:pt modelId="{7124642E-0C02-4B90-A7F3-7EEA654CC98F}" type="pres">
      <dgm:prSet presAssocID="{342A6AC9-FCF9-447B-9C44-E509DF1930A7}" presName="accentRepeatNode" presStyleLbl="solidAlignAcc1" presStyleIdx="9" presStyleCnt="12"/>
      <dgm:spPr/>
    </dgm:pt>
    <dgm:pt modelId="{A1AA6D41-CC6A-4CA8-BDF8-070CFB13653D}" type="pres">
      <dgm:prSet presAssocID="{760D4CEB-628F-4EAE-9891-B022B01B5022}" presName="text6" presStyleCnt="0"/>
      <dgm:spPr/>
    </dgm:pt>
    <dgm:pt modelId="{B2CBDA4E-F4F9-45A2-B957-33BD7EDCE297}" type="pres">
      <dgm:prSet presAssocID="{760D4CEB-628F-4EAE-9891-B022B01B5022}" presName="textRepeatNode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C138796F-DEEA-469E-A3F1-34BBE5BD79C2}" type="pres">
      <dgm:prSet presAssocID="{760D4CEB-628F-4EAE-9891-B022B01B5022}" presName="textaccent6" presStyleCnt="0"/>
      <dgm:spPr/>
    </dgm:pt>
    <dgm:pt modelId="{4D119900-0E51-4F00-9486-0218B049EC7B}" type="pres">
      <dgm:prSet presAssocID="{760D4CEB-628F-4EAE-9891-B022B01B5022}" presName="accentRepeatNode" presStyleLbl="solidAlignAcc1" presStyleIdx="10" presStyleCnt="12"/>
      <dgm:spPr/>
    </dgm:pt>
    <dgm:pt modelId="{42245183-44E5-465B-A4B5-028C21CC9A55}" type="pres">
      <dgm:prSet presAssocID="{A776EC3D-4F18-477B-9DFE-641F2C03E9C5}" presName="image6" presStyleCnt="0"/>
      <dgm:spPr/>
    </dgm:pt>
    <dgm:pt modelId="{CC6D0AA6-1975-4A15-AFFD-3F285A62D5E7}" type="pres">
      <dgm:prSet presAssocID="{A776EC3D-4F18-477B-9DFE-641F2C03E9C5}" presName="imageRepeatNode" presStyleLbl="alignAcc1" presStyleIdx="5" presStyleCnt="6"/>
      <dgm:spPr/>
    </dgm:pt>
    <dgm:pt modelId="{319E7883-C163-4FA1-BEA9-9D42A6D0CB6D}" type="pres">
      <dgm:prSet presAssocID="{A776EC3D-4F18-477B-9DFE-641F2C03E9C5}" presName="imageaccent6" presStyleCnt="0"/>
      <dgm:spPr/>
    </dgm:pt>
    <dgm:pt modelId="{FE80E887-1C8A-417D-AD9B-1805202E72E7}" type="pres">
      <dgm:prSet presAssocID="{A776EC3D-4F18-477B-9DFE-641F2C03E9C5}" presName="accentRepeatNode" presStyleLbl="solidAlignAcc1" presStyleIdx="11" presStyleCnt="12"/>
      <dgm:spPr/>
    </dgm:pt>
  </dgm:ptLst>
  <dgm:cxnLst>
    <dgm:cxn modelId="{CD155A01-54BA-4C3D-9C8C-EACECC3DBC09}" srcId="{B7785AEC-E837-4AA7-9015-600B106A9157}" destId="{D4A54EE5-9ACF-4E07-B43A-CF1A335BEDD0}" srcOrd="4" destOrd="0" parTransId="{65CE269E-D059-4426-ACF2-518260CECCFE}" sibTransId="{342A6AC9-FCF9-447B-9C44-E509DF1930A7}"/>
    <dgm:cxn modelId="{6495E211-9BCC-4361-8B2D-84E3D5D1E841}" type="presOf" srcId="{760D4CEB-628F-4EAE-9891-B022B01B5022}" destId="{B2CBDA4E-F4F9-45A2-B957-33BD7EDCE297}" srcOrd="0" destOrd="0" presId="urn:microsoft.com/office/officeart/2008/layout/HexagonCluster"/>
    <dgm:cxn modelId="{FAAB1A38-DB50-4B3A-9EA6-79B01D4C25CA}" type="presOf" srcId="{B7785AEC-E837-4AA7-9015-600B106A9157}" destId="{93A22E3A-A014-48C3-910B-44632030CCD2}" srcOrd="0" destOrd="0" presId="urn:microsoft.com/office/officeart/2008/layout/HexagonCluster"/>
    <dgm:cxn modelId="{31BC873D-FE5D-455B-8D31-BA2D165329E3}" srcId="{B7785AEC-E837-4AA7-9015-600B106A9157}" destId="{760D4CEB-628F-4EAE-9891-B022B01B5022}" srcOrd="5" destOrd="0" parTransId="{AD50EBA9-007F-4B51-8C7C-446ACB3FF4AB}" sibTransId="{A776EC3D-4F18-477B-9DFE-641F2C03E9C5}"/>
    <dgm:cxn modelId="{D4935A3F-E54B-4352-975F-BD9C4FCC9B84}" type="presOf" srcId="{937F8EB6-CA54-4BD4-88AD-2DCCCD9F2191}" destId="{30B98B14-AF6D-4555-B89C-D7BC295B993B}" srcOrd="0" destOrd="0" presId="urn:microsoft.com/office/officeart/2008/layout/HexagonCluster"/>
    <dgm:cxn modelId="{BB018764-5455-4A44-BC2F-D05C7AE8D72B}" type="presOf" srcId="{FD93A698-903F-4126-BA34-14A55902958E}" destId="{23DA6684-B436-4C77-A136-EDB1AED23FB0}" srcOrd="0" destOrd="0" presId="urn:microsoft.com/office/officeart/2008/layout/HexagonCluster"/>
    <dgm:cxn modelId="{80C7D556-86EA-49FD-ACAC-5699015A70BA}" type="presOf" srcId="{60F24451-A237-43C9-BBCA-ACE243812303}" destId="{72E3A5C5-9F60-4C9B-A552-D15E9796086C}" srcOrd="0" destOrd="0" presId="urn:microsoft.com/office/officeart/2008/layout/HexagonCluster"/>
    <dgm:cxn modelId="{FDB68985-E1BB-45FC-BB32-6072EFEF2503}" type="presOf" srcId="{94C01F73-458D-4E64-AE58-A7EBC0EA9D0C}" destId="{96F8F996-647D-401F-A9D2-98FCE89D8E6E}" srcOrd="0" destOrd="0" presId="urn:microsoft.com/office/officeart/2008/layout/HexagonCluster"/>
    <dgm:cxn modelId="{94F5E98E-0C61-4A41-96A0-7A8211942A63}" srcId="{B7785AEC-E837-4AA7-9015-600B106A9157}" destId="{AC785371-3992-4EEC-841E-A51624891B31}" srcOrd="3" destOrd="0" parTransId="{05214F5F-77C4-497F-9EFD-2F13578112BB}" sibTransId="{FD93A698-903F-4126-BA34-14A55902958E}"/>
    <dgm:cxn modelId="{0DC15AAE-0914-4A67-A743-DE67BA255CD6}" type="presOf" srcId="{D4A54EE5-9ACF-4E07-B43A-CF1A335BEDD0}" destId="{DB5E92BD-F7F7-4A69-A18E-E6D04ED3836F}" srcOrd="0" destOrd="0" presId="urn:microsoft.com/office/officeart/2008/layout/HexagonCluster"/>
    <dgm:cxn modelId="{050446B5-EA9B-4442-A27D-0AAF19B7A594}" type="presOf" srcId="{AC785371-3992-4EEC-841E-A51624891B31}" destId="{B604CE26-9F5A-46AF-A36F-AB4811AD214A}" srcOrd="0" destOrd="0" presId="urn:microsoft.com/office/officeart/2008/layout/HexagonCluster"/>
    <dgm:cxn modelId="{03812FC4-89D7-4CF2-A1DD-B2A0B6AAF020}" srcId="{B7785AEC-E837-4AA7-9015-600B106A9157}" destId="{8F03B886-1F67-4D6E-A727-1FB98C2A5716}" srcOrd="1" destOrd="0" parTransId="{421E296E-AC8A-4E15-933C-27D0E3FF7867}" sibTransId="{94C01F73-458D-4E64-AE58-A7EBC0EA9D0C}"/>
    <dgm:cxn modelId="{8CE686C6-A843-417C-A753-892E3DA188D2}" type="presOf" srcId="{A776EC3D-4F18-477B-9DFE-641F2C03E9C5}" destId="{CC6D0AA6-1975-4A15-AFFD-3F285A62D5E7}" srcOrd="0" destOrd="0" presId="urn:microsoft.com/office/officeart/2008/layout/HexagonCluster"/>
    <dgm:cxn modelId="{50CB29CF-1B9F-4A32-9F37-EDD840358DF7}" srcId="{B7785AEC-E837-4AA7-9015-600B106A9157}" destId="{F9AEF49C-F763-44A4-93ED-6A339D0EE18B}" srcOrd="2" destOrd="0" parTransId="{3C8B4828-CA5B-488C-B2CD-DBE3F6E0B7A1}" sibTransId="{937F8EB6-CA54-4BD4-88AD-2DCCCD9F2191}"/>
    <dgm:cxn modelId="{3BDAE0E7-399C-4943-B8AF-78B4446DF41A}" type="presOf" srcId="{8F03B886-1F67-4D6E-A727-1FB98C2A5716}" destId="{36A5D02E-DC69-4AC7-8830-CD32C4BB143B}" srcOrd="0" destOrd="0" presId="urn:microsoft.com/office/officeart/2008/layout/HexagonCluster"/>
    <dgm:cxn modelId="{32A40AE8-BDB3-46BB-A091-BD4D74D6F4DC}" type="presOf" srcId="{F9AEF49C-F763-44A4-93ED-6A339D0EE18B}" destId="{75FE03B6-AD5C-4170-B7C2-4194311C9A19}" srcOrd="0" destOrd="0" presId="urn:microsoft.com/office/officeart/2008/layout/HexagonCluster"/>
    <dgm:cxn modelId="{CD3B25EA-80A3-407D-B619-F99B343432F1}" type="presOf" srcId="{342A6AC9-FCF9-447B-9C44-E509DF1930A7}" destId="{4EC4B462-4255-47C8-A36C-E972A64EDC13}" srcOrd="0" destOrd="0" presId="urn:microsoft.com/office/officeart/2008/layout/HexagonCluster"/>
    <dgm:cxn modelId="{539FBDF8-2673-4792-BB7E-49B6D9120A89}" type="presOf" srcId="{B647DBB3-155B-48EF-B4B1-20AFCDDC58C9}" destId="{E20F9AB0-B113-4229-9405-ACF462FA1C1B}" srcOrd="0" destOrd="0" presId="urn:microsoft.com/office/officeart/2008/layout/HexagonCluster"/>
    <dgm:cxn modelId="{7523A4FC-8811-49A6-A971-A19AF0AD7F5F}" srcId="{B7785AEC-E837-4AA7-9015-600B106A9157}" destId="{60F24451-A237-43C9-BBCA-ACE243812303}" srcOrd="0" destOrd="0" parTransId="{30044191-54A9-4919-BF7E-E4954A829579}" sibTransId="{B647DBB3-155B-48EF-B4B1-20AFCDDC58C9}"/>
    <dgm:cxn modelId="{59E57A0F-5C93-41B2-AC72-ED55E23980B3}" type="presParOf" srcId="{93A22E3A-A014-48C3-910B-44632030CCD2}" destId="{7133E263-CA8D-447B-A6EE-F5D93D7B5DB6}" srcOrd="0" destOrd="0" presId="urn:microsoft.com/office/officeart/2008/layout/HexagonCluster"/>
    <dgm:cxn modelId="{C7FA891B-A24E-405A-88B9-2FBAA9E2D2CC}" type="presParOf" srcId="{7133E263-CA8D-447B-A6EE-F5D93D7B5DB6}" destId="{72E3A5C5-9F60-4C9B-A552-D15E9796086C}" srcOrd="0" destOrd="0" presId="urn:microsoft.com/office/officeart/2008/layout/HexagonCluster"/>
    <dgm:cxn modelId="{F60D18AB-8AA4-44BD-AA5B-B75FBA550E88}" type="presParOf" srcId="{93A22E3A-A014-48C3-910B-44632030CCD2}" destId="{179E183F-0091-4785-B74E-F65A7CF180AF}" srcOrd="1" destOrd="0" presId="urn:microsoft.com/office/officeart/2008/layout/HexagonCluster"/>
    <dgm:cxn modelId="{0C88C27C-E0B9-4AB1-85B8-F5B4A1CA0482}" type="presParOf" srcId="{179E183F-0091-4785-B74E-F65A7CF180AF}" destId="{4537A92E-2163-49AA-A2FA-1F7385B3BACB}" srcOrd="0" destOrd="0" presId="urn:microsoft.com/office/officeart/2008/layout/HexagonCluster"/>
    <dgm:cxn modelId="{AFC007E8-F3F5-4BE2-AB0B-EFA2455F6BE4}" type="presParOf" srcId="{93A22E3A-A014-48C3-910B-44632030CCD2}" destId="{D91F7CAF-0292-4385-8F2C-F9CDB3E21FAF}" srcOrd="2" destOrd="0" presId="urn:microsoft.com/office/officeart/2008/layout/HexagonCluster"/>
    <dgm:cxn modelId="{0F3349EF-A93A-46FF-BA4F-079C9F1FC14F}" type="presParOf" srcId="{D91F7CAF-0292-4385-8F2C-F9CDB3E21FAF}" destId="{E20F9AB0-B113-4229-9405-ACF462FA1C1B}" srcOrd="0" destOrd="0" presId="urn:microsoft.com/office/officeart/2008/layout/HexagonCluster"/>
    <dgm:cxn modelId="{8CC9D5A4-B88E-4B34-9F71-FB09FF631F67}" type="presParOf" srcId="{93A22E3A-A014-48C3-910B-44632030CCD2}" destId="{F863A997-9A5E-4615-A394-CA4383822B4C}" srcOrd="3" destOrd="0" presId="urn:microsoft.com/office/officeart/2008/layout/HexagonCluster"/>
    <dgm:cxn modelId="{D2B8FEBA-9AAD-4078-A874-6BC982C3F436}" type="presParOf" srcId="{F863A997-9A5E-4615-A394-CA4383822B4C}" destId="{78CCE613-2E93-438C-9904-87AC0427FEAC}" srcOrd="0" destOrd="0" presId="urn:microsoft.com/office/officeart/2008/layout/HexagonCluster"/>
    <dgm:cxn modelId="{B2893164-2B06-49BE-AD5B-885D42D4E57C}" type="presParOf" srcId="{93A22E3A-A014-48C3-910B-44632030CCD2}" destId="{EA735296-96AF-4F0C-9DD1-89F53571074F}" srcOrd="4" destOrd="0" presId="urn:microsoft.com/office/officeart/2008/layout/HexagonCluster"/>
    <dgm:cxn modelId="{2856033D-DBD6-4EBA-90E1-DAB905AD4DDE}" type="presParOf" srcId="{EA735296-96AF-4F0C-9DD1-89F53571074F}" destId="{36A5D02E-DC69-4AC7-8830-CD32C4BB143B}" srcOrd="0" destOrd="0" presId="urn:microsoft.com/office/officeart/2008/layout/HexagonCluster"/>
    <dgm:cxn modelId="{24072AFE-2932-4837-A231-834FDABCE566}" type="presParOf" srcId="{93A22E3A-A014-48C3-910B-44632030CCD2}" destId="{1E467F2C-0176-45B7-BA2C-8CEA1D76D193}" srcOrd="5" destOrd="0" presId="urn:microsoft.com/office/officeart/2008/layout/HexagonCluster"/>
    <dgm:cxn modelId="{F054625B-FCC3-4CE5-83BB-DE62C873061B}" type="presParOf" srcId="{1E467F2C-0176-45B7-BA2C-8CEA1D76D193}" destId="{088BA4A8-F844-4FFE-8874-B7C0B5E8D7F0}" srcOrd="0" destOrd="0" presId="urn:microsoft.com/office/officeart/2008/layout/HexagonCluster"/>
    <dgm:cxn modelId="{CD76DD96-D863-4E04-9239-669F007DE24D}" type="presParOf" srcId="{93A22E3A-A014-48C3-910B-44632030CCD2}" destId="{77CAEE5A-0309-45B3-851C-0648EEC4576D}" srcOrd="6" destOrd="0" presId="urn:microsoft.com/office/officeart/2008/layout/HexagonCluster"/>
    <dgm:cxn modelId="{013CEACC-E340-4841-81FC-289A791A4813}" type="presParOf" srcId="{77CAEE5A-0309-45B3-851C-0648EEC4576D}" destId="{96F8F996-647D-401F-A9D2-98FCE89D8E6E}" srcOrd="0" destOrd="0" presId="urn:microsoft.com/office/officeart/2008/layout/HexagonCluster"/>
    <dgm:cxn modelId="{23DB70B4-4E3D-4285-B307-FE6C39C5CEFA}" type="presParOf" srcId="{93A22E3A-A014-48C3-910B-44632030CCD2}" destId="{BB11E667-CCB5-48CD-903A-C2CE784379AB}" srcOrd="7" destOrd="0" presId="urn:microsoft.com/office/officeart/2008/layout/HexagonCluster"/>
    <dgm:cxn modelId="{0E2963E7-1E20-4487-B596-843D937E350F}" type="presParOf" srcId="{BB11E667-CCB5-48CD-903A-C2CE784379AB}" destId="{E22D4480-7359-49A9-A300-D9F43CFACEDA}" srcOrd="0" destOrd="0" presId="urn:microsoft.com/office/officeart/2008/layout/HexagonCluster"/>
    <dgm:cxn modelId="{0D543AD9-472E-4D31-9C78-91B1C491397D}" type="presParOf" srcId="{93A22E3A-A014-48C3-910B-44632030CCD2}" destId="{A7D4E2D4-CBDF-454C-AC8F-3F7F40932E52}" srcOrd="8" destOrd="0" presId="urn:microsoft.com/office/officeart/2008/layout/HexagonCluster"/>
    <dgm:cxn modelId="{9D5388D5-A872-4C42-B16D-8BBACEF31714}" type="presParOf" srcId="{A7D4E2D4-CBDF-454C-AC8F-3F7F40932E52}" destId="{75FE03B6-AD5C-4170-B7C2-4194311C9A19}" srcOrd="0" destOrd="0" presId="urn:microsoft.com/office/officeart/2008/layout/HexagonCluster"/>
    <dgm:cxn modelId="{9187B499-4C7C-4BFE-A3C4-CE444B4FA8B7}" type="presParOf" srcId="{93A22E3A-A014-48C3-910B-44632030CCD2}" destId="{E74F2967-D16C-4858-A61E-2554CBB2BCCE}" srcOrd="9" destOrd="0" presId="urn:microsoft.com/office/officeart/2008/layout/HexagonCluster"/>
    <dgm:cxn modelId="{77AE396C-4D57-4144-BFB3-C8A1F4E4E130}" type="presParOf" srcId="{E74F2967-D16C-4858-A61E-2554CBB2BCCE}" destId="{AE14D836-AA4E-44F1-BC57-0C709963315D}" srcOrd="0" destOrd="0" presId="urn:microsoft.com/office/officeart/2008/layout/HexagonCluster"/>
    <dgm:cxn modelId="{40D40031-FD26-40C7-9851-8BD3C2C3941D}" type="presParOf" srcId="{93A22E3A-A014-48C3-910B-44632030CCD2}" destId="{44125F1E-9DB2-4EE8-B1EE-989011273621}" srcOrd="10" destOrd="0" presId="urn:microsoft.com/office/officeart/2008/layout/HexagonCluster"/>
    <dgm:cxn modelId="{1C2381B4-016E-4A2F-BA7F-26B66CFF88BA}" type="presParOf" srcId="{44125F1E-9DB2-4EE8-B1EE-989011273621}" destId="{30B98B14-AF6D-4555-B89C-D7BC295B993B}" srcOrd="0" destOrd="0" presId="urn:microsoft.com/office/officeart/2008/layout/HexagonCluster"/>
    <dgm:cxn modelId="{03320082-98D5-4808-A5B8-BF62FD9CE714}" type="presParOf" srcId="{93A22E3A-A014-48C3-910B-44632030CCD2}" destId="{316C2EE5-0061-4959-A272-896288C51E53}" srcOrd="11" destOrd="0" presId="urn:microsoft.com/office/officeart/2008/layout/HexagonCluster"/>
    <dgm:cxn modelId="{2A3812A3-5CD3-413B-87D5-E7A99E41367A}" type="presParOf" srcId="{316C2EE5-0061-4959-A272-896288C51E53}" destId="{E72349D1-BF25-4DA5-A425-B7AC25E78F10}" srcOrd="0" destOrd="0" presId="urn:microsoft.com/office/officeart/2008/layout/HexagonCluster"/>
    <dgm:cxn modelId="{C4A76258-8809-4208-BD39-6658EB7ECE6C}" type="presParOf" srcId="{93A22E3A-A014-48C3-910B-44632030CCD2}" destId="{384FEC25-510E-49AF-B96D-E7F56B8683AA}" srcOrd="12" destOrd="0" presId="urn:microsoft.com/office/officeart/2008/layout/HexagonCluster"/>
    <dgm:cxn modelId="{8EFA5E3B-90A6-45C5-8062-07B9504C2A1D}" type="presParOf" srcId="{384FEC25-510E-49AF-B96D-E7F56B8683AA}" destId="{B604CE26-9F5A-46AF-A36F-AB4811AD214A}" srcOrd="0" destOrd="0" presId="urn:microsoft.com/office/officeart/2008/layout/HexagonCluster"/>
    <dgm:cxn modelId="{B31116E1-9C30-432B-AC24-EA43201F80F8}" type="presParOf" srcId="{93A22E3A-A014-48C3-910B-44632030CCD2}" destId="{25C85972-7281-48BB-8367-135516BF932C}" srcOrd="13" destOrd="0" presId="urn:microsoft.com/office/officeart/2008/layout/HexagonCluster"/>
    <dgm:cxn modelId="{3C70FF65-16C2-45BE-8D73-2231F9995D77}" type="presParOf" srcId="{25C85972-7281-48BB-8367-135516BF932C}" destId="{DCC11858-A178-47B0-93EE-E408ACF8D10E}" srcOrd="0" destOrd="0" presId="urn:microsoft.com/office/officeart/2008/layout/HexagonCluster"/>
    <dgm:cxn modelId="{909A81C5-D78F-45F6-A4CE-54DFCA770952}" type="presParOf" srcId="{93A22E3A-A014-48C3-910B-44632030CCD2}" destId="{551484D1-470A-4A9E-98B3-4D8B287CC03B}" srcOrd="14" destOrd="0" presId="urn:microsoft.com/office/officeart/2008/layout/HexagonCluster"/>
    <dgm:cxn modelId="{F91F79DE-D969-410A-BBDB-A6A0A27D1D12}" type="presParOf" srcId="{551484D1-470A-4A9E-98B3-4D8B287CC03B}" destId="{23DA6684-B436-4C77-A136-EDB1AED23FB0}" srcOrd="0" destOrd="0" presId="urn:microsoft.com/office/officeart/2008/layout/HexagonCluster"/>
    <dgm:cxn modelId="{F05B512E-2E04-4713-911D-F0915B6CA45D}" type="presParOf" srcId="{93A22E3A-A014-48C3-910B-44632030CCD2}" destId="{8D9A3F3D-AB63-43A3-B8CA-03B17D994C6A}" srcOrd="15" destOrd="0" presId="urn:microsoft.com/office/officeart/2008/layout/HexagonCluster"/>
    <dgm:cxn modelId="{17B8F0C4-1645-4116-ABF8-DA6E882B65CD}" type="presParOf" srcId="{8D9A3F3D-AB63-43A3-B8CA-03B17D994C6A}" destId="{8933CB09-7A4E-4A73-9E80-9E684164A10B}" srcOrd="0" destOrd="0" presId="urn:microsoft.com/office/officeart/2008/layout/HexagonCluster"/>
    <dgm:cxn modelId="{5830D312-D38D-4097-9130-E2ECDE8DFC59}" type="presParOf" srcId="{93A22E3A-A014-48C3-910B-44632030CCD2}" destId="{AF95E14A-9383-4BC8-94C5-EEC0480C2941}" srcOrd="16" destOrd="0" presId="urn:microsoft.com/office/officeart/2008/layout/HexagonCluster"/>
    <dgm:cxn modelId="{E82DCB8C-D700-4C5B-BF67-187153F81A71}" type="presParOf" srcId="{AF95E14A-9383-4BC8-94C5-EEC0480C2941}" destId="{DB5E92BD-F7F7-4A69-A18E-E6D04ED3836F}" srcOrd="0" destOrd="0" presId="urn:microsoft.com/office/officeart/2008/layout/HexagonCluster"/>
    <dgm:cxn modelId="{7CB4F6F9-D8AE-490E-AFCE-E9F59C21E1EA}" type="presParOf" srcId="{93A22E3A-A014-48C3-910B-44632030CCD2}" destId="{F71B8C70-F370-4036-BA62-031C77B8D5E2}" srcOrd="17" destOrd="0" presId="urn:microsoft.com/office/officeart/2008/layout/HexagonCluster"/>
    <dgm:cxn modelId="{F7A530C4-DBAA-4900-B3D0-6DC8F1D1F588}" type="presParOf" srcId="{F71B8C70-F370-4036-BA62-031C77B8D5E2}" destId="{C6F29C19-3791-4699-A16E-6A756E424799}" srcOrd="0" destOrd="0" presId="urn:microsoft.com/office/officeart/2008/layout/HexagonCluster"/>
    <dgm:cxn modelId="{52A671BD-DD28-4A23-AAE9-D502D2D1DA15}" type="presParOf" srcId="{93A22E3A-A014-48C3-910B-44632030CCD2}" destId="{5813626E-3968-42C5-9F20-835B30E7A362}" srcOrd="18" destOrd="0" presId="urn:microsoft.com/office/officeart/2008/layout/HexagonCluster"/>
    <dgm:cxn modelId="{F4F3703F-9A1F-45B5-98D9-DE462EFA03DE}" type="presParOf" srcId="{5813626E-3968-42C5-9F20-835B30E7A362}" destId="{4EC4B462-4255-47C8-A36C-E972A64EDC13}" srcOrd="0" destOrd="0" presId="urn:microsoft.com/office/officeart/2008/layout/HexagonCluster"/>
    <dgm:cxn modelId="{303F810B-3C12-4370-B6DF-2509CA8FCCFC}" type="presParOf" srcId="{93A22E3A-A014-48C3-910B-44632030CCD2}" destId="{C0F0946E-6CC4-4412-AB5D-E55FDC8DE0E2}" srcOrd="19" destOrd="0" presId="urn:microsoft.com/office/officeart/2008/layout/HexagonCluster"/>
    <dgm:cxn modelId="{B70EDCD1-A97C-43B3-B5AA-95952DC6A0DE}" type="presParOf" srcId="{C0F0946E-6CC4-4412-AB5D-E55FDC8DE0E2}" destId="{7124642E-0C02-4B90-A7F3-7EEA654CC98F}" srcOrd="0" destOrd="0" presId="urn:microsoft.com/office/officeart/2008/layout/HexagonCluster"/>
    <dgm:cxn modelId="{ED3B28E7-FCDD-44AF-97AC-9CDC6FFDEA76}" type="presParOf" srcId="{93A22E3A-A014-48C3-910B-44632030CCD2}" destId="{A1AA6D41-CC6A-4CA8-BDF8-070CFB13653D}" srcOrd="20" destOrd="0" presId="urn:microsoft.com/office/officeart/2008/layout/HexagonCluster"/>
    <dgm:cxn modelId="{F6A5E104-A863-4A6F-AC69-857707E58CE8}" type="presParOf" srcId="{A1AA6D41-CC6A-4CA8-BDF8-070CFB13653D}" destId="{B2CBDA4E-F4F9-45A2-B957-33BD7EDCE297}" srcOrd="0" destOrd="0" presId="urn:microsoft.com/office/officeart/2008/layout/HexagonCluster"/>
    <dgm:cxn modelId="{30A761DF-2889-4A10-9179-DD9667F2C079}" type="presParOf" srcId="{93A22E3A-A014-48C3-910B-44632030CCD2}" destId="{C138796F-DEEA-469E-A3F1-34BBE5BD79C2}" srcOrd="21" destOrd="0" presId="urn:microsoft.com/office/officeart/2008/layout/HexagonCluster"/>
    <dgm:cxn modelId="{ADCDA650-F76B-41EF-A13B-ACA79DB320FB}" type="presParOf" srcId="{C138796F-DEEA-469E-A3F1-34BBE5BD79C2}" destId="{4D119900-0E51-4F00-9486-0218B049EC7B}" srcOrd="0" destOrd="0" presId="urn:microsoft.com/office/officeart/2008/layout/HexagonCluster"/>
    <dgm:cxn modelId="{9F6C2A52-8EC2-4C5E-AE8F-079A87D4CEE4}" type="presParOf" srcId="{93A22E3A-A014-48C3-910B-44632030CCD2}" destId="{42245183-44E5-465B-A4B5-028C21CC9A55}" srcOrd="22" destOrd="0" presId="urn:microsoft.com/office/officeart/2008/layout/HexagonCluster"/>
    <dgm:cxn modelId="{5E77584C-ADFB-4A93-B94F-E79AE781D1A9}" type="presParOf" srcId="{42245183-44E5-465B-A4B5-028C21CC9A55}" destId="{CC6D0AA6-1975-4A15-AFFD-3F285A62D5E7}" srcOrd="0" destOrd="0" presId="urn:microsoft.com/office/officeart/2008/layout/HexagonCluster"/>
    <dgm:cxn modelId="{B1A244B3-BE38-4A0D-83A6-295D85CFC94B}" type="presParOf" srcId="{93A22E3A-A014-48C3-910B-44632030CCD2}" destId="{319E7883-C163-4FA1-BEA9-9D42A6D0CB6D}" srcOrd="23" destOrd="0" presId="urn:microsoft.com/office/officeart/2008/layout/HexagonCluster"/>
    <dgm:cxn modelId="{46523A1A-71CF-4EE6-9496-BCE04DB45A66}" type="presParOf" srcId="{319E7883-C163-4FA1-BEA9-9D42A6D0CB6D}" destId="{FE80E887-1C8A-417D-AD9B-1805202E72E7}" srcOrd="0" destOrd="0" presId="urn:microsoft.com/office/officeart/2008/layout/HexagonCluster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E3A5C5-9F60-4C9B-A552-D15E9796086C}">
      <dsp:nvSpPr>
        <dsp:cNvPr id="0" name=""/>
        <dsp:cNvSpPr/>
      </dsp:nvSpPr>
      <dsp:spPr>
        <a:xfrm>
          <a:off x="1319174" y="2777140"/>
          <a:ext cx="1532940" cy="131631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General model development</a:t>
          </a:r>
        </a:p>
      </dsp:txBody>
      <dsp:txXfrm>
        <a:off x="1556612" y="2981024"/>
        <a:ext cx="1058064" cy="908545"/>
      </dsp:txXfrm>
    </dsp:sp>
    <dsp:sp modelId="{4537A92E-2163-49AA-A2FA-1F7385B3BACB}">
      <dsp:nvSpPr>
        <dsp:cNvPr id="0" name=""/>
        <dsp:cNvSpPr/>
      </dsp:nvSpPr>
      <dsp:spPr>
        <a:xfrm>
          <a:off x="1355750" y="3365794"/>
          <a:ext cx="178816" cy="15426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0F9AB0-B113-4229-9405-ACF462FA1C1B}">
      <dsp:nvSpPr>
        <dsp:cNvPr id="0" name=""/>
        <dsp:cNvSpPr/>
      </dsp:nvSpPr>
      <dsp:spPr>
        <a:xfrm>
          <a:off x="0" y="2049481"/>
          <a:ext cx="1532940" cy="1316313"/>
        </a:xfrm>
        <a:prstGeom prst="hexagon">
          <a:avLst>
            <a:gd name="adj" fmla="val 25000"/>
            <a:gd name="vf" fmla="val 115470"/>
          </a:avLst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CE613-2E93-438C-9904-87AC0427FEAC}">
      <dsp:nvSpPr>
        <dsp:cNvPr id="0" name=""/>
        <dsp:cNvSpPr/>
      </dsp:nvSpPr>
      <dsp:spPr>
        <a:xfrm>
          <a:off x="1050137" y="3191190"/>
          <a:ext cx="178816" cy="15426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A5D02E-DC69-4AC7-8830-CD32C4BB143B}">
      <dsp:nvSpPr>
        <dsp:cNvPr id="0" name=""/>
        <dsp:cNvSpPr/>
      </dsp:nvSpPr>
      <dsp:spPr>
        <a:xfrm>
          <a:off x="2638348" y="2045667"/>
          <a:ext cx="1532940" cy="131631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General model validation</a:t>
          </a:r>
        </a:p>
      </dsp:txBody>
      <dsp:txXfrm>
        <a:off x="2875786" y="2249551"/>
        <a:ext cx="1058064" cy="908545"/>
      </dsp:txXfrm>
    </dsp:sp>
    <dsp:sp modelId="{088BA4A8-F844-4FFE-8874-B7C0B5E8D7F0}">
      <dsp:nvSpPr>
        <dsp:cNvPr id="0" name=""/>
        <dsp:cNvSpPr/>
      </dsp:nvSpPr>
      <dsp:spPr>
        <a:xfrm>
          <a:off x="3693363" y="3183985"/>
          <a:ext cx="178816" cy="15426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8F996-647D-401F-A9D2-98FCE89D8E6E}">
      <dsp:nvSpPr>
        <dsp:cNvPr id="0" name=""/>
        <dsp:cNvSpPr/>
      </dsp:nvSpPr>
      <dsp:spPr>
        <a:xfrm>
          <a:off x="3956710" y="2774598"/>
          <a:ext cx="1532940" cy="1316313"/>
        </a:xfrm>
        <a:prstGeom prst="hexagon">
          <a:avLst>
            <a:gd name="adj" fmla="val 25000"/>
            <a:gd name="vf" fmla="val 115470"/>
          </a:avLst>
        </a:prstGeom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2D4480-7359-49A9-A300-D9F43CFACEDA}">
      <dsp:nvSpPr>
        <dsp:cNvPr id="0" name=""/>
        <dsp:cNvSpPr/>
      </dsp:nvSpPr>
      <dsp:spPr>
        <a:xfrm>
          <a:off x="3994099" y="3360285"/>
          <a:ext cx="178816" cy="15426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FE03B6-AD5C-4170-B7C2-4194311C9A19}">
      <dsp:nvSpPr>
        <dsp:cNvPr id="0" name=""/>
        <dsp:cNvSpPr/>
      </dsp:nvSpPr>
      <dsp:spPr>
        <a:xfrm>
          <a:off x="1319174" y="1322246"/>
          <a:ext cx="1532940" cy="131631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Model extension to clinic</a:t>
          </a:r>
        </a:p>
      </dsp:txBody>
      <dsp:txXfrm>
        <a:off x="1556612" y="1526130"/>
        <a:ext cx="1058064" cy="908545"/>
      </dsp:txXfrm>
    </dsp:sp>
    <dsp:sp modelId="{AE14D836-AA4E-44F1-BC57-0C709963315D}">
      <dsp:nvSpPr>
        <dsp:cNvPr id="0" name=""/>
        <dsp:cNvSpPr/>
      </dsp:nvSpPr>
      <dsp:spPr>
        <a:xfrm>
          <a:off x="2369312" y="1347250"/>
          <a:ext cx="178816" cy="15426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98B14-AF6D-4555-B89C-D7BC295B993B}">
      <dsp:nvSpPr>
        <dsp:cNvPr id="0" name=""/>
        <dsp:cNvSpPr/>
      </dsp:nvSpPr>
      <dsp:spPr>
        <a:xfrm>
          <a:off x="2638348" y="590349"/>
          <a:ext cx="1532940" cy="1316313"/>
        </a:xfrm>
        <a:prstGeom prst="hexagon">
          <a:avLst>
            <a:gd name="adj" fmla="val 25000"/>
            <a:gd name="vf" fmla="val 115470"/>
          </a:avLst>
        </a:prstGeom>
        <a:blipFill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349D1-BF25-4DA5-A425-B7AC25E78F10}">
      <dsp:nvSpPr>
        <dsp:cNvPr id="0" name=""/>
        <dsp:cNvSpPr/>
      </dsp:nvSpPr>
      <dsp:spPr>
        <a:xfrm>
          <a:off x="2681427" y="1173493"/>
          <a:ext cx="178816" cy="15426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4CE26-9F5A-46AF-A36F-AB4811AD214A}">
      <dsp:nvSpPr>
        <dsp:cNvPr id="0" name=""/>
        <dsp:cNvSpPr/>
      </dsp:nvSpPr>
      <dsp:spPr>
        <a:xfrm>
          <a:off x="3956710" y="1319279"/>
          <a:ext cx="1532940" cy="131631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Irradiation of 3D skin tissue and analyses</a:t>
          </a:r>
        </a:p>
      </dsp:txBody>
      <dsp:txXfrm>
        <a:off x="4194148" y="1523163"/>
        <a:ext cx="1058064" cy="908545"/>
      </dsp:txXfrm>
    </dsp:sp>
    <dsp:sp modelId="{DCC11858-A178-47B0-93EE-E408ACF8D10E}">
      <dsp:nvSpPr>
        <dsp:cNvPr id="0" name=""/>
        <dsp:cNvSpPr/>
      </dsp:nvSpPr>
      <dsp:spPr>
        <a:xfrm>
          <a:off x="5283200" y="1902424"/>
          <a:ext cx="178816" cy="15426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DA6684-B436-4C77-A136-EDB1AED23FB0}">
      <dsp:nvSpPr>
        <dsp:cNvPr id="0" name=""/>
        <dsp:cNvSpPr/>
      </dsp:nvSpPr>
      <dsp:spPr>
        <a:xfrm>
          <a:off x="5275884" y="2059229"/>
          <a:ext cx="1532940" cy="1316313"/>
        </a:xfrm>
        <a:prstGeom prst="hexagon">
          <a:avLst>
            <a:gd name="adj" fmla="val 25000"/>
            <a:gd name="vf" fmla="val 115470"/>
          </a:avLst>
        </a:prstGeom>
        <a:blipFill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33CB09-7A4E-4A73-9E80-9E684164A10B}">
      <dsp:nvSpPr>
        <dsp:cNvPr id="0" name=""/>
        <dsp:cNvSpPr/>
      </dsp:nvSpPr>
      <dsp:spPr>
        <a:xfrm>
          <a:off x="5574995" y="2082961"/>
          <a:ext cx="178816" cy="15426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5E92BD-F7F7-4A69-A18E-E6D04ED3836F}">
      <dsp:nvSpPr>
        <dsp:cNvPr id="0" name=""/>
        <dsp:cNvSpPr/>
      </dsp:nvSpPr>
      <dsp:spPr>
        <a:xfrm>
          <a:off x="5275884" y="604334"/>
          <a:ext cx="1532940" cy="131631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Skin model development</a:t>
          </a:r>
        </a:p>
      </dsp:txBody>
      <dsp:txXfrm>
        <a:off x="5513322" y="808218"/>
        <a:ext cx="1058064" cy="908545"/>
      </dsp:txXfrm>
    </dsp:sp>
    <dsp:sp modelId="{C6F29C19-3791-4699-A16E-6A756E424799}">
      <dsp:nvSpPr>
        <dsp:cNvPr id="0" name=""/>
        <dsp:cNvSpPr/>
      </dsp:nvSpPr>
      <dsp:spPr>
        <a:xfrm>
          <a:off x="6602374" y="1194259"/>
          <a:ext cx="178816" cy="15426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4B462-4255-47C8-A36C-E972A64EDC13}">
      <dsp:nvSpPr>
        <dsp:cNvPr id="0" name=""/>
        <dsp:cNvSpPr/>
      </dsp:nvSpPr>
      <dsp:spPr>
        <a:xfrm>
          <a:off x="6595059" y="1338774"/>
          <a:ext cx="1532940" cy="1316313"/>
        </a:xfrm>
        <a:prstGeom prst="hexagon">
          <a:avLst>
            <a:gd name="adj" fmla="val 25000"/>
            <a:gd name="vf" fmla="val 115470"/>
          </a:avLst>
        </a:prstGeom>
        <a:blipFill rotWithShape="1">
          <a:blip xmlns:r="http://schemas.openxmlformats.org/officeDocument/2006/relationships" r:embed="rId5"/>
          <a:srcRect/>
          <a:stretch>
            <a:fillRect l="-1000" r="-1000"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24642E-0C02-4B90-A7F3-7EEA654CC98F}">
      <dsp:nvSpPr>
        <dsp:cNvPr id="0" name=""/>
        <dsp:cNvSpPr/>
      </dsp:nvSpPr>
      <dsp:spPr>
        <a:xfrm>
          <a:off x="6900672" y="1368016"/>
          <a:ext cx="178816" cy="15426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CBDA4E-F4F9-45A2-B957-33BD7EDCE297}">
      <dsp:nvSpPr>
        <dsp:cNvPr id="0" name=""/>
        <dsp:cNvSpPr/>
      </dsp:nvSpPr>
      <dsp:spPr>
        <a:xfrm>
          <a:off x="6595059" y="2791550"/>
          <a:ext cx="1532940" cy="1316313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Skin model calibration</a:t>
          </a:r>
        </a:p>
      </dsp:txBody>
      <dsp:txXfrm>
        <a:off x="6832497" y="2995434"/>
        <a:ext cx="1058064" cy="908545"/>
      </dsp:txXfrm>
    </dsp:sp>
    <dsp:sp modelId="{4D119900-0E51-4F00-9486-0218B049EC7B}">
      <dsp:nvSpPr>
        <dsp:cNvPr id="0" name=""/>
        <dsp:cNvSpPr/>
      </dsp:nvSpPr>
      <dsp:spPr>
        <a:xfrm>
          <a:off x="6899046" y="3944277"/>
          <a:ext cx="178816" cy="15426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6D0AA6-1975-4A15-AFFD-3F285A62D5E7}">
      <dsp:nvSpPr>
        <dsp:cNvPr id="0" name=""/>
        <dsp:cNvSpPr/>
      </dsp:nvSpPr>
      <dsp:spPr>
        <a:xfrm>
          <a:off x="5275884" y="3512004"/>
          <a:ext cx="1532940" cy="1316313"/>
        </a:xfrm>
        <a:prstGeom prst="hexagon">
          <a:avLst>
            <a:gd name="adj" fmla="val 25000"/>
            <a:gd name="vf" fmla="val 115470"/>
          </a:avLst>
        </a:prstGeom>
        <a:blipFill rotWithShape="1"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80E887-1C8A-417D-AD9B-1805202E72E7}">
      <dsp:nvSpPr>
        <dsp:cNvPr id="0" name=""/>
        <dsp:cNvSpPr/>
      </dsp:nvSpPr>
      <dsp:spPr>
        <a:xfrm>
          <a:off x="6614566" y="4089639"/>
          <a:ext cx="178816" cy="15426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B426C-FCF2-401B-A01D-6A7578121BA1}" type="datetimeFigureOut">
              <a:rPr lang="it-IT" smtClean="0"/>
              <a:t>30/11/2025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3CB6F-A5DA-4B45-92F5-41BC02D2FA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894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02D5-F30F-6347-9927-AA95BA9D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300A878-4B24-81A1-3ED3-D329354FC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1932DB9-0547-3213-017C-F3C8FA1B3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0A6CB2C-9893-027A-CA33-2138C0DF4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CD15F-1430-44DE-87F0-F495DD3199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4590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4704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9834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2B1B9-9DA9-D35D-1597-06138C6A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C113E02-F6DE-6344-17BB-9A5CFD020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4687F95-B202-FF0A-5BCC-735E93F8D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FEDEA9C-EC5F-3418-578F-B755ACC69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B6F-A5DA-4B45-92F5-41BC02D2FAC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19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8190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4514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6085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B6F-A5DA-4B45-92F5-41BC02D2FAC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5030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E90E3-BB53-DAFF-0B2D-DC7B95DA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DC27633-38E9-4BFB-CEBF-5277C91D6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4103D83-CD2D-2F1A-D292-211C17545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C38541-6FBC-84F4-7A14-2AF5931C6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B6F-A5DA-4B45-92F5-41BC02D2FAC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5732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6890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3059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82793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8870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055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61629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AE3F1-5375-926B-26D7-CFDC89D88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3667D1F-6953-DDC0-F195-E9EB8387B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55DAC0D-D67B-C3C1-058F-DF405A213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76D9616-97BB-E00D-DD9A-9CE1D910C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8617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E6B7-9530-EA02-D4E4-3202DB72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ED1577B-52D5-FE09-6860-E8056F69E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A47088-856D-1012-C690-E2FE10E1F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3D987E4-3D73-FDC2-8065-D21D9D3BA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92062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2FFE8-5790-4E13-0964-37253E7B4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E57B046-FF63-0262-BC5D-AB1A568B0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F9FE3C9-BF46-5B7F-12C9-74158D7B1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AC38AE9-0513-3397-3570-B4EB5A0B6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4477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1C85D-66BC-6DAE-86C9-A75F070D6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B891F10-03D0-25C1-66BF-232296969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28EC296-A117-416D-AC4D-631AE2BE8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FEC11F-F51D-6C6C-BC89-46B39440C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56766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BCD0-EC26-D0B1-FA80-10AB0599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BC3541C-4096-30D9-E72C-7F885B0E4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4F14587-AC2B-A7A2-C2A9-E293EEA7E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B265CC-FC08-67AD-B264-E4E5C1770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6106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3CB6F-A5DA-4B45-92F5-41BC02D2FACA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07419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DEEF-0DA5-3FFE-181B-4E2A7F5A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2C681FA-88D7-8F5A-8AD9-D3CCB497F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1722E46-7330-7C6A-4FF3-DC965476B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239EB5-2410-2439-9A9A-9336257E6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B6F-A5DA-4B45-92F5-41BC02D2FAC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0953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31A49-7173-5B80-D361-4210154C5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2E74AE-0F94-E1B5-62EA-69AACFE1C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E4F0430-DDC0-22D8-1156-3BE10A048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A4D4815-1B31-0FD1-6F90-7476BF122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B6F-A5DA-4B45-92F5-41BC02D2FAC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3069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3EBCF-B62C-5DFF-4266-F29A63B7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4A24B08-6008-1D16-FC35-3DFDDF560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91F1814-798D-5A88-957D-C44429A40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5C251DE-93AF-71FC-A1FB-5B81A335E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3CB6F-A5DA-4B45-92F5-41BC02D2FAC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777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B0139C-01E6-88C3-F168-13AA69EDC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CA147DF-4317-A2F7-B55F-C033A44BA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C50952-A593-A2CF-3567-43A72564F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E186CC-E1BB-7C61-0217-9E35DB9A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Marco Battestini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7A0DC9-987D-685D-D738-329E7AD3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458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992259-A294-A643-533B-E751A7002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60357F-A8FF-31BA-070D-8A991CFAC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97A60FF-C502-A28F-011E-38F13AA2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1A5086-0792-03FB-0EF5-28AE83E0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Marco Battestini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60F29C1-404E-21B8-CAB1-44D9FA673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69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CDCFE9-39A0-BFD4-A6C2-DEA88103C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9105070-B252-1684-6145-3B89AAB7B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623C26-27BF-C046-20D4-AB6AAB00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A1E2B0-FCB7-193B-CE53-8A2E00B27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Marco Battestini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B6B310-2FAC-1887-72AE-33608B4A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8586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ACFB4F-2635-F1A3-0541-D69EC7B1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F91BED-B37E-048A-A0C8-74623E40D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220E7EB-4DBA-E776-0809-26F046296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0BFB85D-606D-D0D7-D856-90CE4962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F6AD74F-F141-4818-2672-4BAF59F9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Marco Battestini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E898CF1-BADE-65AF-3803-56B86625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214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863BE8-7FE6-0D85-013B-CC0F5754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DE229A6-CEE8-BB2A-5CF0-A7E7B98C1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A5ADDF2-15CE-4A4B-C3D7-F42D81ED0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A4521B3-8B43-EC3E-278D-34969A111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A235E2F-1597-6867-63D9-74FF5AC20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3D236E4-3450-BB9B-76AC-36E96C526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B86E37F-5D9C-EF58-C8DC-1690E6E6E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Marco Battestini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C501819-784B-D261-0E41-E28049A9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0681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8CD3B7-54E8-AB6D-8D70-872EE9AC3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D9F3852-3D1C-ADAB-317F-42533C284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8D05508-C54B-A149-AB40-C42A812F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Marco Battestini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5AF3A2-6A4F-B5EF-B02E-06F0457EF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191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A8E4766-063E-DE9C-19DB-9D808FFB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7AA6482-AFC1-3D65-A44D-976FED92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Marco Battestini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AC13A4-242A-884A-19B5-CEF20535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941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B4190E-60C9-88A2-8066-C18FA3083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2A2DE2-19F8-0DDC-F374-38A77C46A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B5A2252-3E0B-4CF0-650D-F5C5EDCAA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48923F0-41BD-D837-6C5E-8F8247C3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66B09AD-EF20-2DC5-76BF-FF57A2261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Marco Battestini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53066E4-0163-C1A6-3B20-B5F5E3C8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5544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FA5C56-233F-E0F8-365D-E4DBF6491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1B3D279-6062-F8D4-44DD-5A72EBF6F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B81DBE-3274-7683-93DB-1CDF55506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B65E2E-1D20-DE95-1410-F09CDB477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9BB25CC-2343-E75B-698D-7BCF45C1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Marco Battestini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B5C2EDD-F8D9-00D7-54CA-C471952EB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499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F6A7B7-0D6C-D2FE-6AF7-7864128D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79F9EC9-AF0B-B398-355C-56B04A67B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9238DF-08B5-BDC8-9B48-C0B3F0DF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224058-E1D5-9EE5-E0BA-55A1F5EE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Marco Battestini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927FDF-48E1-985F-8A88-471684FB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269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6179F16-4661-01B3-5EBF-33443BAD05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143B866-72DF-1D0F-AC22-7E0DFEB4C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28C079E-6AA6-6FE2-64BB-16BBA0382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E92046-84B1-88C3-BCC8-624F94B2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Marco Battestini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5AB730D-215A-4A87-96A6-79A6A196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7605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273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87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563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898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205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823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5838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321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5659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8052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1997C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1997C6">
                    <a:lumMod val="60000"/>
                    <a:lumOff val="40000"/>
                  </a:srgbClr>
                </a:solidFill>
                <a:latin typeface="Arial"/>
              </a:rPr>
              <a:t>”</a:t>
            </a:r>
            <a:endParaRPr lang="en-US" dirty="0">
              <a:solidFill>
                <a:srgbClr val="1997C6">
                  <a:lumMod val="60000"/>
                  <a:lumOff val="4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959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321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1997C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1997C6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30647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6660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4828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7758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Marco Battestini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6A94-FE70-45EA-859B-A205DD54D9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39763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Marco Battestini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6A94-FE70-45EA-859B-A205DD54D9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35419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Marco Battestini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6A94-FE70-45EA-859B-A205DD54D9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02774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Marco Battestini</a:t>
            </a:r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6A94-FE70-45EA-859B-A205DD54D9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45971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Marco Battestini</a:t>
            </a:r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6A94-FE70-45EA-859B-A205DD54D9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60483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Marco Battestini</a:t>
            </a: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6A94-FE70-45EA-859B-A205DD54D9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07266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Marco Battestini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6A94-FE70-45EA-859B-A205DD54D9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67906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Marco Battestini</a:t>
            </a:r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6A94-FE70-45EA-859B-A205DD54D9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87384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Marco Battestini</a:t>
            </a:r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6A94-FE70-45EA-859B-A205DD54D9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51643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Marco Battestini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6A94-FE70-45EA-859B-A205DD54D9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98754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01/12/2025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Marco Battestini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6A94-FE70-45EA-859B-A205DD54D9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97435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10/07/2025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8373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10/07/2025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2275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10/07/2025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3800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10/07/2025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6682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10/07/2025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4725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10/07/2025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0448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10/07/2025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0924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10/07/2025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0712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10/07/2025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2241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10/07/2025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00898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10/07/2025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63051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678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140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3236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9262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1543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9549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145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5266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1262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51560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58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A28A0F5-EE0C-1B07-EB5A-022DC80F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9BDDF0-771D-5B24-CC5B-A37D2D6AF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29B4E3-9FF1-373A-1B76-E7FDF0EC2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01/12/2025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8295AC-241C-0566-BFB2-F40D97EDA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Marco Battestini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EE8E4A-B59D-FFCD-F8C9-E6F24D7A2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621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01/12/2025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720E51B-BD1A-4F97-8445-E96D00856F8F}" type="slidenum">
              <a:rPr lang="en-US" smtClean="0">
                <a:solidFill>
                  <a:srgbClr val="1997C6"/>
                </a:solidFill>
              </a:rPr>
              <a:pPr/>
              <a:t>‹N›</a:t>
            </a:fld>
            <a:endParaRPr lang="en-US">
              <a:solidFill>
                <a:srgbClr val="199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42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01/12/2025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Marco Battestini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D6A94-FE70-45EA-859B-A205DD54D9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900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89" r:id="rId10"/>
    <p:sldLayoutId id="214748409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>
                <a:solidFill>
                  <a:prstClr val="black">
                    <a:tint val="75000"/>
                  </a:prstClr>
                </a:solidFill>
              </a:rPr>
              <a:t>10/07/2025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Marco Battestini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0E51B-BD1A-4F97-8445-E96D00856F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94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  <p:sldLayoutId id="2147484099" r:id="rId8"/>
    <p:sldLayoutId id="2147484100" r:id="rId9"/>
    <p:sldLayoutId id="2147484101" r:id="rId10"/>
    <p:sldLayoutId id="2147484102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01/12/2025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Marco Battestini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C6B52-C4E7-4D0B-912B-601668A2A3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71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8" r:id="rId1"/>
    <p:sldLayoutId id="2147484129" r:id="rId2"/>
    <p:sldLayoutId id="2147484130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36" r:id="rId9"/>
    <p:sldLayoutId id="2147484137" r:id="rId10"/>
    <p:sldLayoutId id="214748413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8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1.svg"/><Relationship Id="rId18" Type="http://schemas.openxmlformats.org/officeDocument/2006/relationships/image" Target="../media/image46.png"/><Relationship Id="rId3" Type="http://schemas.openxmlformats.org/officeDocument/2006/relationships/image" Target="../media/image33.png"/><Relationship Id="rId7" Type="http://schemas.openxmlformats.org/officeDocument/2006/relationships/image" Target="../media/image34.jpe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36.png"/><Relationship Id="rId11" Type="http://schemas.openxmlformats.org/officeDocument/2006/relationships/image" Target="../media/image38.svg"/><Relationship Id="rId5" Type="http://schemas.openxmlformats.org/officeDocument/2006/relationships/image" Target="../media/image35.png"/><Relationship Id="rId15" Type="http://schemas.openxmlformats.org/officeDocument/2006/relationships/image" Target="../media/image43.svg"/><Relationship Id="rId10" Type="http://schemas.openxmlformats.org/officeDocument/2006/relationships/image" Target="../media/image37.png"/><Relationship Id="rId19" Type="http://schemas.openxmlformats.org/officeDocument/2006/relationships/image" Target="../media/image3.jpe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5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44.png"/><Relationship Id="rId5" Type="http://schemas.openxmlformats.org/officeDocument/2006/relationships/image" Target="../media/image13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3.jpeg"/><Relationship Id="rId5" Type="http://schemas.openxmlformats.org/officeDocument/2006/relationships/image" Target="../media/image5.png"/><Relationship Id="rId10" Type="http://schemas.openxmlformats.org/officeDocument/2006/relationships/image" Target="../media/image47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26.svg"/><Relationship Id="rId3" Type="http://schemas.openxmlformats.org/officeDocument/2006/relationships/image" Target="../media/image32.png"/><Relationship Id="rId7" Type="http://schemas.openxmlformats.org/officeDocument/2006/relationships/image" Target="../media/image53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52.png"/><Relationship Id="rId11" Type="http://schemas.openxmlformats.org/officeDocument/2006/relationships/image" Target="../media/image4.png"/><Relationship Id="rId5" Type="http://schemas.openxmlformats.org/officeDocument/2006/relationships/image" Target="../media/image51.png"/><Relationship Id="rId15" Type="http://schemas.openxmlformats.org/officeDocument/2006/relationships/image" Target="../media/image38.svg"/><Relationship Id="rId10" Type="http://schemas.openxmlformats.org/officeDocument/2006/relationships/image" Target="../media/image1.jpeg"/><Relationship Id="rId4" Type="http://schemas.openxmlformats.org/officeDocument/2006/relationships/image" Target="../media/image48.png"/><Relationship Id="rId9" Type="http://schemas.openxmlformats.org/officeDocument/2006/relationships/image" Target="../media/image19.png"/><Relationship Id="rId1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37.png"/><Relationship Id="rId18" Type="http://schemas.openxmlformats.org/officeDocument/2006/relationships/image" Target="../media/image56.png"/><Relationship Id="rId3" Type="http://schemas.openxmlformats.org/officeDocument/2006/relationships/image" Target="../media/image1.jpeg"/><Relationship Id="rId7" Type="http://schemas.openxmlformats.org/officeDocument/2006/relationships/image" Target="../media/image42.png"/><Relationship Id="rId12" Type="http://schemas.openxmlformats.org/officeDocument/2006/relationships/image" Target="../media/image24.sv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41.svg"/><Relationship Id="rId11" Type="http://schemas.openxmlformats.org/officeDocument/2006/relationships/image" Target="../media/image23.png"/><Relationship Id="rId5" Type="http://schemas.openxmlformats.org/officeDocument/2006/relationships/image" Target="../media/image40.png"/><Relationship Id="rId15" Type="http://schemas.openxmlformats.org/officeDocument/2006/relationships/image" Target="../media/image25.png"/><Relationship Id="rId10" Type="http://schemas.openxmlformats.org/officeDocument/2006/relationships/image" Target="../media/image50.svg"/><Relationship Id="rId19" Type="http://schemas.openxmlformats.org/officeDocument/2006/relationships/image" Target="../media/image57.svg"/><Relationship Id="rId4" Type="http://schemas.openxmlformats.org/officeDocument/2006/relationships/image" Target="../media/image4.png"/><Relationship Id="rId9" Type="http://schemas.openxmlformats.org/officeDocument/2006/relationships/image" Target="../media/image49.png"/><Relationship Id="rId14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8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4.png"/><Relationship Id="rId5" Type="http://schemas.openxmlformats.org/officeDocument/2006/relationships/image" Target="../media/image1.jpeg"/><Relationship Id="rId10" Type="http://schemas.openxmlformats.org/officeDocument/2006/relationships/image" Target="../media/image57.svg"/><Relationship Id="rId4" Type="http://schemas.openxmlformats.org/officeDocument/2006/relationships/image" Target="../media/image17.png"/><Relationship Id="rId9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0.png"/><Relationship Id="rId3" Type="http://schemas.openxmlformats.org/officeDocument/2006/relationships/image" Target="../media/image61.png"/><Relationship Id="rId7" Type="http://schemas.openxmlformats.org/officeDocument/2006/relationships/image" Target="../media/image1.jpe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66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57.svg"/><Relationship Id="rId10" Type="http://schemas.openxmlformats.org/officeDocument/2006/relationships/image" Target="../media/image5.png"/><Relationship Id="rId4" Type="http://schemas.openxmlformats.org/officeDocument/2006/relationships/image" Target="../media/image64.png"/><Relationship Id="rId9" Type="http://schemas.openxmlformats.org/officeDocument/2006/relationships/image" Target="../media/image67.png"/><Relationship Id="rId1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57.svg"/><Relationship Id="rId3" Type="http://schemas.openxmlformats.org/officeDocument/2006/relationships/image" Target="../media/image63.png"/><Relationship Id="rId7" Type="http://schemas.openxmlformats.org/officeDocument/2006/relationships/image" Target="../media/image65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4.png"/><Relationship Id="rId11" Type="http://schemas.openxmlformats.org/officeDocument/2006/relationships/image" Target="../media/image30.svg"/><Relationship Id="rId5" Type="http://schemas.openxmlformats.org/officeDocument/2006/relationships/image" Target="../media/image1.jpeg"/><Relationship Id="rId10" Type="http://schemas.openxmlformats.org/officeDocument/2006/relationships/image" Target="../media/image29.png"/><Relationship Id="rId4" Type="http://schemas.openxmlformats.org/officeDocument/2006/relationships/image" Target="../media/image3.jpeg"/><Relationship Id="rId9" Type="http://schemas.openxmlformats.org/officeDocument/2006/relationships/image" Target="../media/image72.jpg"/><Relationship Id="rId14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23.png"/><Relationship Id="rId18" Type="http://schemas.openxmlformats.org/officeDocument/2006/relationships/image" Target="../media/image85.png"/><Relationship Id="rId3" Type="http://schemas.openxmlformats.org/officeDocument/2006/relationships/image" Target="../media/image74.png"/><Relationship Id="rId7" Type="http://schemas.openxmlformats.org/officeDocument/2006/relationships/image" Target="../media/image80.png"/><Relationship Id="rId12" Type="http://schemas.openxmlformats.org/officeDocument/2006/relationships/image" Target="../media/image4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.jpeg"/><Relationship Id="rId20" Type="http://schemas.openxmlformats.org/officeDocument/2006/relationships/image" Target="../media/image57.sv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79.png"/><Relationship Id="rId11" Type="http://schemas.openxmlformats.org/officeDocument/2006/relationships/image" Target="../media/image1.jpeg"/><Relationship Id="rId5" Type="http://schemas.openxmlformats.org/officeDocument/2006/relationships/image" Target="../media/image78.png"/><Relationship Id="rId15" Type="http://schemas.openxmlformats.org/officeDocument/2006/relationships/image" Target="../media/image46.png"/><Relationship Id="rId10" Type="http://schemas.openxmlformats.org/officeDocument/2006/relationships/image" Target="../media/image76.png"/><Relationship Id="rId19" Type="http://schemas.openxmlformats.org/officeDocument/2006/relationships/image" Target="../media/image56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2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5.png"/><Relationship Id="rId3" Type="http://schemas.openxmlformats.org/officeDocument/2006/relationships/image" Target="../media/image1.jpeg"/><Relationship Id="rId7" Type="http://schemas.openxmlformats.org/officeDocument/2006/relationships/image" Target="../media/image37.png"/><Relationship Id="rId12" Type="http://schemas.openxmlformats.org/officeDocument/2006/relationships/image" Target="../media/image41.svg"/><Relationship Id="rId17" Type="http://schemas.openxmlformats.org/officeDocument/2006/relationships/image" Target="../media/image57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24.svg"/><Relationship Id="rId11" Type="http://schemas.openxmlformats.org/officeDocument/2006/relationships/image" Target="../media/image40.png"/><Relationship Id="rId5" Type="http://schemas.openxmlformats.org/officeDocument/2006/relationships/image" Target="../media/image23.png"/><Relationship Id="rId15" Type="http://schemas.openxmlformats.org/officeDocument/2006/relationships/image" Target="../media/image3.jpeg"/><Relationship Id="rId10" Type="http://schemas.openxmlformats.org/officeDocument/2006/relationships/image" Target="../media/image43.svg"/><Relationship Id="rId4" Type="http://schemas.openxmlformats.org/officeDocument/2006/relationships/image" Target="../media/image4.png"/><Relationship Id="rId9" Type="http://schemas.openxmlformats.org/officeDocument/2006/relationships/image" Target="../media/image42.png"/><Relationship Id="rId1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8.png"/><Relationship Id="rId4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6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8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3" Type="http://schemas.openxmlformats.org/officeDocument/2006/relationships/image" Target="../media/image1.jpeg"/><Relationship Id="rId7" Type="http://schemas.openxmlformats.org/officeDocument/2006/relationships/image" Target="../media/image19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04.pn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9" Type="http://schemas.openxmlformats.org/officeDocument/2006/relationships/image" Target="../media/image107.png"/><Relationship Id="rId4" Type="http://schemas.openxmlformats.org/officeDocument/2006/relationships/image" Target="../media/image4.png"/><Relationship Id="rId14" Type="http://schemas.openxmlformats.org/officeDocument/2006/relationships/image" Target="../media/image10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4.png"/><Relationship Id="rId5" Type="http://schemas.openxmlformats.org/officeDocument/2006/relationships/image" Target="../media/image1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D9A6B-5CB8-4812-B8FC-9FE97B5A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ottotitolo 2">
            <a:extLst>
              <a:ext uri="{FF2B5EF4-FFF2-40B4-BE49-F238E27FC236}">
                <a16:creationId xmlns:a16="http://schemas.microsoft.com/office/drawing/2014/main" id="{0CE402E5-9991-F659-DFFA-256CD2922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2360" y="3429000"/>
            <a:ext cx="7891272" cy="943548"/>
          </a:xfrm>
        </p:spPr>
        <p:txBody>
          <a:bodyPr>
            <a:normAutofit/>
          </a:bodyPr>
          <a:lstStyle/>
          <a:p>
            <a:pPr algn="ctr"/>
            <a:r>
              <a:rPr lang="en-US" sz="1900" i="1" noProof="0" dirty="0">
                <a:solidFill>
                  <a:schemeClr val="tx1"/>
                </a:solidFill>
                <a:latin typeface="Calibri (Corpo)"/>
              </a:rPr>
              <a:t>Marco Battestini, Ph.D.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F4A5260F-8F20-4425-E330-FC10664B78FE}"/>
              </a:ext>
            </a:extLst>
          </p:cNvPr>
          <p:cNvSpPr/>
          <p:nvPr/>
        </p:nvSpPr>
        <p:spPr>
          <a:xfrm>
            <a:off x="2020595" y="6081113"/>
            <a:ext cx="60548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Corpo)"/>
                <a:ea typeface="+mn-ea"/>
                <a:cs typeface="+mn-cs"/>
              </a:rPr>
              <a:t>INFN CSN5 “Grant Giovani</a:t>
            </a:r>
            <a:r>
              <a:rPr lang="en-US" sz="1400" i="1" noProof="0" dirty="0">
                <a:solidFill>
                  <a:prstClr val="black"/>
                </a:solidFill>
                <a:latin typeface="Calibri (Corpo)"/>
              </a:rPr>
              <a:t>” proposal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Corpo)"/>
                <a:ea typeface="+mn-ea"/>
                <a:cs typeface="+mn-cs"/>
              </a:rPr>
              <a:t>, Rome, 01/12/2025 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B79ABB00-DE38-C630-D407-4412953F7510}"/>
              </a:ext>
            </a:extLst>
          </p:cNvPr>
          <p:cNvGrpSpPr/>
          <p:nvPr/>
        </p:nvGrpSpPr>
        <p:grpSpPr>
          <a:xfrm>
            <a:off x="1246074" y="4185293"/>
            <a:ext cx="7603843" cy="1044948"/>
            <a:chOff x="1015634" y="4514813"/>
            <a:chExt cx="7603843" cy="1044948"/>
          </a:xfrm>
        </p:grpSpPr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2D755FEE-AE10-095F-637B-E839585DC6D3}"/>
                </a:ext>
              </a:extLst>
            </p:cNvPr>
            <p:cNvGrpSpPr/>
            <p:nvPr/>
          </p:nvGrpSpPr>
          <p:grpSpPr>
            <a:xfrm>
              <a:off x="1015634" y="4514813"/>
              <a:ext cx="7603843" cy="1044948"/>
              <a:chOff x="792796" y="4941318"/>
              <a:chExt cx="7603843" cy="1044948"/>
            </a:xfrm>
          </p:grpSpPr>
          <p:grpSp>
            <p:nvGrpSpPr>
              <p:cNvPr id="14" name="Gruppo 13">
                <a:extLst>
                  <a:ext uri="{FF2B5EF4-FFF2-40B4-BE49-F238E27FC236}">
                    <a16:creationId xmlns:a16="http://schemas.microsoft.com/office/drawing/2014/main" id="{35F93DB6-66E5-FE4D-03D1-E80B9E3656A7}"/>
                  </a:ext>
                </a:extLst>
              </p:cNvPr>
              <p:cNvGrpSpPr/>
              <p:nvPr/>
            </p:nvGrpSpPr>
            <p:grpSpPr>
              <a:xfrm>
                <a:off x="2299288" y="5131547"/>
                <a:ext cx="6097351" cy="634760"/>
                <a:chOff x="2008397" y="5148109"/>
                <a:chExt cx="6097351" cy="634760"/>
              </a:xfrm>
            </p:grpSpPr>
            <p:pic>
              <p:nvPicPr>
                <p:cNvPr id="18" name="Immagine 17">
                  <a:extLst>
                    <a:ext uri="{FF2B5EF4-FFF2-40B4-BE49-F238E27FC236}">
                      <a16:creationId xmlns:a16="http://schemas.microsoft.com/office/drawing/2014/main" id="{A1E1672D-17C1-F6AC-23DA-5D98AC999E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9954" t="31839" r="19668" b="31464"/>
                <a:stretch/>
              </p:blipFill>
              <p:spPr>
                <a:xfrm>
                  <a:off x="3098542" y="5148109"/>
                  <a:ext cx="1856675" cy="634760"/>
                </a:xfrm>
                <a:prstGeom prst="rect">
                  <a:avLst/>
                </a:prstGeom>
              </p:spPr>
            </p:pic>
            <p:pic>
              <p:nvPicPr>
                <p:cNvPr id="19" name="Immagine 18">
                  <a:extLst>
                    <a:ext uri="{FF2B5EF4-FFF2-40B4-BE49-F238E27FC236}">
                      <a16:creationId xmlns:a16="http://schemas.microsoft.com/office/drawing/2014/main" id="{148C1E1B-1A31-9942-AB9E-25D560C877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22487" b="25942"/>
                <a:stretch/>
              </p:blipFill>
              <p:spPr>
                <a:xfrm>
                  <a:off x="6806827" y="5198231"/>
                  <a:ext cx="1298921" cy="584638"/>
                </a:xfrm>
                <a:prstGeom prst="rect">
                  <a:avLst/>
                </a:prstGeom>
              </p:spPr>
            </p:pic>
            <p:pic>
              <p:nvPicPr>
                <p:cNvPr id="20" name="Immagine 19">
                  <a:extLst>
                    <a:ext uri="{FF2B5EF4-FFF2-40B4-BE49-F238E27FC236}">
                      <a16:creationId xmlns:a16="http://schemas.microsoft.com/office/drawing/2014/main" id="{2AA73ECF-31C9-F68D-B3D9-14A241DAAD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08397" y="5177839"/>
                  <a:ext cx="1090145" cy="605030"/>
                </a:xfrm>
                <a:prstGeom prst="rect">
                  <a:avLst/>
                </a:prstGeom>
              </p:spPr>
            </p:pic>
          </p:grpSp>
          <p:pic>
            <p:nvPicPr>
              <p:cNvPr id="17" name="Immagine 16">
                <a:extLst>
                  <a:ext uri="{FF2B5EF4-FFF2-40B4-BE49-F238E27FC236}">
                    <a16:creationId xmlns:a16="http://schemas.microsoft.com/office/drawing/2014/main" id="{0BC6774D-5959-586C-6E56-D4B27EFDF1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796" y="4941318"/>
                <a:ext cx="1673567" cy="1044948"/>
              </a:xfrm>
              <a:prstGeom prst="rect">
                <a:avLst/>
              </a:prstGeom>
            </p:spPr>
          </p:pic>
        </p:grpSp>
        <p:pic>
          <p:nvPicPr>
            <p:cNvPr id="2" name="Immagine 1">
              <a:extLst>
                <a:ext uri="{FF2B5EF4-FFF2-40B4-BE49-F238E27FC236}">
                  <a16:creationId xmlns:a16="http://schemas.microsoft.com/office/drawing/2014/main" id="{AC1B5766-0A6A-8DF5-900B-C1FB7F9FAC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8" r="22355" b="6883"/>
            <a:stretch/>
          </p:blipFill>
          <p:spPr>
            <a:xfrm>
              <a:off x="5468946" y="4746125"/>
              <a:ext cx="1851610" cy="584638"/>
            </a:xfrm>
            <a:prstGeom prst="rect">
              <a:avLst/>
            </a:prstGeom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6FA41D12-8D86-AEBD-213E-B149E2BE3698}"/>
              </a:ext>
            </a:extLst>
          </p:cNvPr>
          <p:cNvGrpSpPr/>
          <p:nvPr/>
        </p:nvGrpSpPr>
        <p:grpSpPr>
          <a:xfrm>
            <a:off x="2207493" y="5118746"/>
            <a:ext cx="5867905" cy="677605"/>
            <a:chOff x="2207494" y="5231752"/>
            <a:chExt cx="5867905" cy="677605"/>
          </a:xfrm>
        </p:grpSpPr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0EF777BC-6A13-008F-D0E3-FD6D4C2A0160}"/>
                </a:ext>
              </a:extLst>
            </p:cNvPr>
            <p:cNvGrpSpPr/>
            <p:nvPr/>
          </p:nvGrpSpPr>
          <p:grpSpPr>
            <a:xfrm>
              <a:off x="2207494" y="5316390"/>
              <a:ext cx="1090145" cy="533876"/>
              <a:chOff x="2207494" y="5316390"/>
              <a:chExt cx="1090145" cy="533876"/>
            </a:xfrm>
          </p:grpSpPr>
          <p:pic>
            <p:nvPicPr>
              <p:cNvPr id="4" name="Immagine 3">
                <a:extLst>
                  <a:ext uri="{FF2B5EF4-FFF2-40B4-BE49-F238E27FC236}">
                    <a16:creationId xmlns:a16="http://schemas.microsoft.com/office/drawing/2014/main" id="{29B5B843-4E04-E0E7-6D95-E180DDAC55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3941"/>
              <a:stretch>
                <a:fillRect/>
              </a:stretch>
            </p:blipFill>
            <p:spPr>
              <a:xfrm>
                <a:off x="2207494" y="5316390"/>
                <a:ext cx="1090145" cy="460181"/>
              </a:xfrm>
              <a:prstGeom prst="rect">
                <a:avLst/>
              </a:prstGeom>
            </p:spPr>
          </p:pic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992F898-FFFB-36FA-0B1E-23980810EA41}"/>
                  </a:ext>
                </a:extLst>
              </p:cNvPr>
              <p:cNvSpPr txBox="1"/>
              <p:nvPr/>
            </p:nvSpPr>
            <p:spPr>
              <a:xfrm>
                <a:off x="2752566" y="5634822"/>
                <a:ext cx="47000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E92A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PAVIA</a:t>
                </a:r>
              </a:p>
            </p:txBody>
          </p:sp>
        </p:grpSp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8C05A582-17B2-CA8E-25AC-5FDBAF5276A8}"/>
                </a:ext>
              </a:extLst>
            </p:cNvPr>
            <p:cNvGrpSpPr/>
            <p:nvPr/>
          </p:nvGrpSpPr>
          <p:grpSpPr>
            <a:xfrm>
              <a:off x="4834077" y="5279542"/>
              <a:ext cx="1090145" cy="533876"/>
              <a:chOff x="3535551" y="5295829"/>
              <a:chExt cx="1090145" cy="533876"/>
            </a:xfrm>
          </p:grpSpPr>
          <p:pic>
            <p:nvPicPr>
              <p:cNvPr id="6" name="Immagine 5">
                <a:extLst>
                  <a:ext uri="{FF2B5EF4-FFF2-40B4-BE49-F238E27FC236}">
                    <a16:creationId xmlns:a16="http://schemas.microsoft.com/office/drawing/2014/main" id="{B176AEB6-A3FA-99BD-89EC-761EFB09D2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3941"/>
              <a:stretch>
                <a:fillRect/>
              </a:stretch>
            </p:blipFill>
            <p:spPr>
              <a:xfrm>
                <a:off x="3535551" y="5295829"/>
                <a:ext cx="1090145" cy="460181"/>
              </a:xfrm>
              <a:prstGeom prst="rect">
                <a:avLst/>
              </a:prstGeom>
            </p:spPr>
          </p:pic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47C8FEF-D5BA-BE87-7ECD-48497297DB51}"/>
                  </a:ext>
                </a:extLst>
              </p:cNvPr>
              <p:cNvSpPr txBox="1"/>
              <p:nvPr/>
            </p:nvSpPr>
            <p:spPr>
              <a:xfrm>
                <a:off x="4080623" y="5614261"/>
                <a:ext cx="53732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4E92A9"/>
                    </a:solidFill>
                    <a:effectLst/>
                    <a:uLnTx/>
                    <a:uFillTx/>
                    <a:latin typeface="Trebuchet MS" panose="020B0603020202020204"/>
                    <a:ea typeface="+mn-ea"/>
                    <a:cs typeface="+mn-cs"/>
                  </a:rPr>
                  <a:t>NAPOLI</a:t>
                </a:r>
              </a:p>
            </p:txBody>
          </p:sp>
        </p:grpSp>
        <p:pic>
          <p:nvPicPr>
            <p:cNvPr id="1028" name="Picture 4" descr="Brand Identity | Università di Pavia">
              <a:extLst>
                <a:ext uri="{FF2B5EF4-FFF2-40B4-BE49-F238E27FC236}">
                  <a16:creationId xmlns:a16="http://schemas.microsoft.com/office/drawing/2014/main" id="{EDEC3532-4510-7A6C-25BF-EBE25989B2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864"/>
            <a:stretch>
              <a:fillRect/>
            </a:stretch>
          </p:blipFill>
          <p:spPr bwMode="auto">
            <a:xfrm>
              <a:off x="3364362" y="5231752"/>
              <a:ext cx="1461969" cy="6776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UniParthenope: info sull'Università degli studi di Napoli Parthenope">
              <a:extLst>
                <a:ext uri="{FF2B5EF4-FFF2-40B4-BE49-F238E27FC236}">
                  <a16:creationId xmlns:a16="http://schemas.microsoft.com/office/drawing/2014/main" id="{3879287E-6E9B-F32D-4126-09D9C7BE24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6" t="28342" r="8139" b="27335"/>
            <a:stretch>
              <a:fillRect/>
            </a:stretch>
          </p:blipFill>
          <p:spPr bwMode="auto">
            <a:xfrm>
              <a:off x="5945773" y="5251791"/>
              <a:ext cx="2129626" cy="634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" name="Immagine 20">
            <a:extLst>
              <a:ext uri="{FF2B5EF4-FFF2-40B4-BE49-F238E27FC236}">
                <a16:creationId xmlns:a16="http://schemas.microsoft.com/office/drawing/2014/main" id="{93033043-03F5-4FB6-A0C5-5B43C65F7B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856" y="1061649"/>
            <a:ext cx="5901964" cy="18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3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olo 1">
            <a:extLst>
              <a:ext uri="{FF2B5EF4-FFF2-40B4-BE49-F238E27FC236}">
                <a16:creationId xmlns:a16="http://schemas.microsoft.com/office/drawing/2014/main" id="{313D8466-418D-F61D-DCD5-AF03F19FA51F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 noProof="0" dirty="0">
                <a:solidFill>
                  <a:prstClr val="black"/>
                </a:solidFill>
                <a:latin typeface="Calibri Light" panose="020F0302020204030204"/>
              </a:rPr>
              <a:t>Particle Therapy (PT)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3124A3E7-1E39-5A4C-3925-766F6DB2DC72}"/>
              </a:ext>
            </a:extLst>
          </p:cNvPr>
          <p:cNvSpPr/>
          <p:nvPr/>
        </p:nvSpPr>
        <p:spPr>
          <a:xfrm>
            <a:off x="506646" y="5610871"/>
            <a:ext cx="15282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i="1" u="sng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M. Battestini</a:t>
            </a:r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 et al., Front. Oncol. (2022)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20DD929-82BE-B7D9-CB54-629FAD11E6CA}"/>
              </a:ext>
            </a:extLst>
          </p:cNvPr>
          <p:cNvSpPr/>
          <p:nvPr/>
        </p:nvSpPr>
        <p:spPr>
          <a:xfrm>
            <a:off x="344638" y="1073370"/>
            <a:ext cx="4953356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noProof="0" dirty="0">
                <a:solidFill>
                  <a:prstClr val="black"/>
                </a:solidFill>
                <a:latin typeface="Calibri" panose="020F0502020204030204"/>
              </a:rPr>
              <a:t>General goals of </a:t>
            </a:r>
            <a:r>
              <a:rPr lang="en-US" b="1" noProof="0" dirty="0" err="1">
                <a:solidFill>
                  <a:prstClr val="black"/>
                </a:solidFill>
                <a:latin typeface="Calibri" panose="020F0502020204030204"/>
              </a:rPr>
              <a:t>RadioTherapy</a:t>
            </a:r>
            <a:r>
              <a:rPr lang="en-US" b="1" noProof="0" dirty="0">
                <a:solidFill>
                  <a:prstClr val="black"/>
                </a:solidFill>
                <a:latin typeface="Calibri" panose="020F0502020204030204"/>
              </a:rPr>
              <a:t> (RT):</a:t>
            </a:r>
            <a:endParaRPr lang="en-US" noProof="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600" noProof="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marL="685800" lvl="1" indent="-342900">
              <a:buFont typeface="+mj-lt"/>
              <a:buAutoNum type="arabicParenR"/>
            </a:pPr>
            <a:r>
              <a:rPr lang="en-US" sz="1600" b="1" noProof="0" dirty="0">
                <a:solidFill>
                  <a:prstClr val="black"/>
                </a:solidFill>
                <a:latin typeface="Calibri" panose="020F0502020204030204"/>
              </a:rPr>
              <a:t>Controlling </a:t>
            </a:r>
            <a:r>
              <a:rPr lang="en-US" sz="1600" noProof="0" dirty="0">
                <a:solidFill>
                  <a:prstClr val="black"/>
                </a:solidFill>
                <a:latin typeface="Calibri" panose="020F0502020204030204"/>
              </a:rPr>
              <a:t>the</a:t>
            </a:r>
            <a:r>
              <a:rPr lang="en-US" sz="1600" b="1" noProof="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00" b="1" noProof="0" dirty="0">
                <a:solidFill>
                  <a:srgbClr val="00B050"/>
                </a:solidFill>
                <a:latin typeface="Calibri" panose="020F0502020204030204"/>
              </a:rPr>
              <a:t>tumor</a:t>
            </a:r>
            <a:r>
              <a:rPr lang="en-US" sz="1600" noProof="0" dirty="0">
                <a:solidFill>
                  <a:srgbClr val="00B050"/>
                </a:solidFill>
                <a:latin typeface="Calibri" panose="020F0502020204030204"/>
              </a:rPr>
              <a:t> </a:t>
            </a:r>
          </a:p>
          <a:p>
            <a:pPr marL="685800" lvl="1" indent="-342900">
              <a:buFont typeface="+mj-lt"/>
              <a:buAutoNum type="arabicParenR"/>
            </a:pPr>
            <a:r>
              <a:rPr lang="en-US" sz="1600" b="1" noProof="0" dirty="0">
                <a:solidFill>
                  <a:prstClr val="black"/>
                </a:solidFill>
                <a:latin typeface="Calibri" panose="020F0502020204030204"/>
              </a:rPr>
              <a:t>Sparing</a:t>
            </a:r>
            <a:r>
              <a:rPr lang="en-US" sz="1600" noProof="0" dirty="0">
                <a:solidFill>
                  <a:prstClr val="black"/>
                </a:solidFill>
                <a:latin typeface="Calibri" panose="020F0502020204030204"/>
              </a:rPr>
              <a:t> as much as possible </a:t>
            </a:r>
            <a:r>
              <a:rPr lang="en-US" sz="1600" b="1" noProof="0" dirty="0">
                <a:solidFill>
                  <a:srgbClr val="FF0000"/>
                </a:solidFill>
                <a:latin typeface="Calibri" panose="020F0502020204030204"/>
              </a:rPr>
              <a:t>healthy tissues</a:t>
            </a:r>
            <a:r>
              <a:rPr lang="en-US" sz="1600" noProof="0" dirty="0">
                <a:solidFill>
                  <a:prstClr val="black"/>
                </a:solidFill>
                <a:latin typeface="Calibri" panose="020F0502020204030204"/>
              </a:rPr>
              <a:t>,       in order to </a:t>
            </a:r>
            <a:r>
              <a:rPr lang="en-US" sz="1600" b="1" noProof="0" dirty="0">
                <a:solidFill>
                  <a:prstClr val="black"/>
                </a:solidFill>
                <a:latin typeface="Calibri" panose="020F0502020204030204"/>
              </a:rPr>
              <a:t>reduce</a:t>
            </a:r>
            <a:r>
              <a:rPr lang="en-US" sz="1600" noProof="0" dirty="0">
                <a:solidFill>
                  <a:prstClr val="black"/>
                </a:solidFill>
                <a:latin typeface="Calibri" panose="020F0502020204030204"/>
              </a:rPr>
              <a:t> normal tissue </a:t>
            </a:r>
            <a:r>
              <a:rPr lang="en-US" sz="1600" b="1" noProof="0" dirty="0">
                <a:solidFill>
                  <a:prstClr val="black"/>
                </a:solidFill>
                <a:latin typeface="Calibri" panose="020F0502020204030204"/>
              </a:rPr>
              <a:t>toxicity</a:t>
            </a:r>
            <a:endParaRPr lang="en-US" sz="1600" noProof="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CEBE1CB-6104-75F6-6006-9870A68B16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6"/>
          <a:stretch/>
        </p:blipFill>
        <p:spPr>
          <a:xfrm>
            <a:off x="590036" y="2335354"/>
            <a:ext cx="4274902" cy="306130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2C6B41C-CBF6-467E-204E-FC1B029D6BC0}"/>
              </a:ext>
            </a:extLst>
          </p:cNvPr>
          <p:cNvSpPr txBox="1"/>
          <p:nvPr/>
        </p:nvSpPr>
        <p:spPr>
          <a:xfrm>
            <a:off x="3354477" y="2326066"/>
            <a:ext cx="1016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prstClr val="white"/>
                </a:solidFill>
                <a:latin typeface="Calibri" panose="020F0502020204030204"/>
              </a:rPr>
              <a:t>Map in per mil of dose prescription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861F47-2406-DEB6-1385-F38D5C36DDAC}"/>
              </a:ext>
            </a:extLst>
          </p:cNvPr>
          <p:cNvSpPr txBox="1"/>
          <p:nvPr/>
        </p:nvSpPr>
        <p:spPr>
          <a:xfrm>
            <a:off x="1018969" y="2769886"/>
            <a:ext cx="80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00B050"/>
                </a:solidFill>
                <a:latin typeface="Calibri" panose="020F0502020204030204"/>
              </a:rPr>
              <a:t>Tumor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5287183-D3DA-836A-07CC-EE834E58AB9E}"/>
              </a:ext>
            </a:extLst>
          </p:cNvPr>
          <p:cNvSpPr txBox="1"/>
          <p:nvPr/>
        </p:nvSpPr>
        <p:spPr>
          <a:xfrm>
            <a:off x="611279" y="4707963"/>
            <a:ext cx="802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  <a:latin typeface="Calibri" panose="020F0502020204030204"/>
              </a:rPr>
              <a:t>Organ at risk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29F7C10E-444E-F19A-DCF4-BF9CD09312F7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420361" y="3139218"/>
            <a:ext cx="975472" cy="872681"/>
          </a:xfrm>
          <a:prstGeom prst="straightConnector1">
            <a:avLst/>
          </a:prstGeom>
          <a:noFill/>
          <a:ln w="381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41918CE8-EA30-452D-D520-0410B87742E6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1414063" y="4396878"/>
            <a:ext cx="947645" cy="634251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ttangolo 1">
                <a:extLst>
                  <a:ext uri="{FF2B5EF4-FFF2-40B4-BE49-F238E27FC236}">
                    <a16:creationId xmlns:a16="http://schemas.microsoft.com/office/drawing/2014/main" id="{EE0C1816-34D7-AF28-1186-05142B1C115D}"/>
                  </a:ext>
                </a:extLst>
              </p:cNvPr>
              <p:cNvSpPr/>
              <p:nvPr/>
            </p:nvSpPr>
            <p:spPr>
              <a:xfrm>
                <a:off x="5704203" y="1075124"/>
                <a:ext cx="617714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noProof="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PT: physical and biological (</a:t>
                </a:r>
                <a14:m>
                  <m:oMath xmlns:m="http://schemas.openxmlformats.org/officeDocument/2006/math">
                    <m:r>
                      <a:rPr lang="en-US" b="1" i="0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b="1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noProof="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advantages</a:t>
                </a:r>
                <a:endParaRPr lang="en-US" noProof="0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Rettangolo 1">
                <a:extLst>
                  <a:ext uri="{FF2B5EF4-FFF2-40B4-BE49-F238E27FC236}">
                    <a16:creationId xmlns:a16="http://schemas.microsoft.com/office/drawing/2014/main" id="{EE0C1816-34D7-AF28-1186-05142B1C11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203" y="1075124"/>
                <a:ext cx="6177141" cy="369332"/>
              </a:xfrm>
              <a:prstGeom prst="rect">
                <a:avLst/>
              </a:prstGeom>
              <a:blipFill>
                <a:blip r:embed="rId4"/>
                <a:stretch>
                  <a:fillRect l="-888" t="-8197" b="-245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egnaposto numero diapositiva 10">
            <a:extLst>
              <a:ext uri="{FF2B5EF4-FFF2-40B4-BE49-F238E27FC236}">
                <a16:creationId xmlns:a16="http://schemas.microsoft.com/office/drawing/2014/main" id="{BD25D04B-A7E3-749F-7DA0-78BC3EF4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D6A94-FE70-45EA-859B-A205DD54D9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egnaposto data 1">
            <a:extLst>
              <a:ext uri="{FF2B5EF4-FFF2-40B4-BE49-F238E27FC236}">
                <a16:creationId xmlns:a16="http://schemas.microsoft.com/office/drawing/2014/main" id="{D367D235-2900-B07E-C482-554B08424B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22" name="Segnaposto piè di pagina 3">
            <a:extLst>
              <a:ext uri="{FF2B5EF4-FFF2-40B4-BE49-F238E27FC236}">
                <a16:creationId xmlns:a16="http://schemas.microsoft.com/office/drawing/2014/main" id="{F0216ACA-520D-182D-50E9-E2C71CFE9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7A37F89E-71D1-B025-5937-7CE703A71A8A}"/>
                  </a:ext>
                </a:extLst>
              </p:cNvPr>
              <p:cNvSpPr txBox="1"/>
              <p:nvPr/>
            </p:nvSpPr>
            <p:spPr>
              <a:xfrm>
                <a:off x="5704204" y="4828432"/>
                <a:ext cx="6177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Relative Biological Effectiveness </a:t>
                </a:r>
                <a14:m>
                  <m:oMath xmlns:m="http://schemas.openxmlformats.org/officeDocument/2006/math">
                    <m:r>
                      <a:rPr lang="en-US" b="1" i="1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 </m:t>
                    </m:r>
                  </m:oMath>
                </a14:m>
                <a:r>
                  <a:rPr kumimoji="0" lang="en-US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clinics</a:t>
                </a:r>
                <a:r>
                  <a:rPr lang="en-US" b="1" noProof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 </m:t>
                    </m:r>
                  </m:oMath>
                </a14:m>
                <a:r>
                  <a:rPr kumimoji="0" lang="en-US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from </a:t>
                </a:r>
                <a:r>
                  <a:rPr kumimoji="0" lang="en-US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in-vitro</a:t>
                </a:r>
                <a:r>
                  <a:rPr kumimoji="0" lang="en-US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 </a:t>
                </a:r>
                <a:r>
                  <a:rPr kumimoji="0" lang="en-US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data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7A37F89E-71D1-B025-5937-7CE703A71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204" y="4828432"/>
                <a:ext cx="6177140" cy="369332"/>
              </a:xfrm>
              <a:prstGeom prst="rect">
                <a:avLst/>
              </a:prstGeom>
              <a:blipFill>
                <a:blip r:embed="rId5"/>
                <a:stretch>
                  <a:fillRect l="-888" t="-8197" r="-99" b="-245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1DB113D2-A6FB-A6C6-CE00-312F9E66586E}"/>
                  </a:ext>
                </a:extLst>
              </p:cNvPr>
              <p:cNvSpPr txBox="1"/>
              <p:nvPr/>
            </p:nvSpPr>
            <p:spPr>
              <a:xfrm>
                <a:off x="5836862" y="5454822"/>
                <a:ext cx="2094932" cy="5810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𝐑𝐁𝐄</m:t>
                      </m:r>
                      <m:r>
                        <a:rPr kumimoji="0" lang="en-US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en-US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0" lang="en-US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𝑫</m:t>
                                      </m:r>
                                    </m:e>
                                    <m:sub>
                                      <m:r>
                                        <a:rPr kumimoji="0" lang="en-US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𝒑𝒉𝒐𝒕𝒐𝒏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US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𝑫</m:t>
                                      </m:r>
                                    </m:e>
                                    <m:sub>
                                      <m:r>
                                        <a:rPr kumimoji="0" lang="en-US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𝒊𝒐𝒏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𝐢𝐬𝐨𝐞𝐟𝐟𝐞𝐜𝐭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1DB113D2-A6FB-A6C6-CE00-312F9E665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862" y="5454822"/>
                <a:ext cx="2094932" cy="5810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Immagine 25">
            <a:extLst>
              <a:ext uri="{FF2B5EF4-FFF2-40B4-BE49-F238E27FC236}">
                <a16:creationId xmlns:a16="http://schemas.microsoft.com/office/drawing/2014/main" id="{73944914-AA86-66FF-E085-093652F901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319" y="5351781"/>
            <a:ext cx="2358606" cy="750037"/>
          </a:xfrm>
          <a:prstGeom prst="rect">
            <a:avLst/>
          </a:prstGeom>
        </p:spPr>
      </p:pic>
      <p:pic>
        <p:nvPicPr>
          <p:cNvPr id="37" name="Picture 4" descr="TIFPA Trento Institute for Fundamental Physics and Applications">
            <a:extLst>
              <a:ext uri="{FF2B5EF4-FFF2-40B4-BE49-F238E27FC236}">
                <a16:creationId xmlns:a16="http://schemas.microsoft.com/office/drawing/2014/main" id="{76D0C29F-007B-DFE2-FBBC-080A50CCF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30" y="5544195"/>
            <a:ext cx="1528259" cy="551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Immagine 37">
            <a:extLst>
              <a:ext uri="{FF2B5EF4-FFF2-40B4-BE49-F238E27FC236}">
                <a16:creationId xmlns:a16="http://schemas.microsoft.com/office/drawing/2014/main" id="{D4A8F54F-100D-120F-0590-D46D96C884D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846" y="5557831"/>
            <a:ext cx="1022968" cy="567747"/>
          </a:xfrm>
          <a:prstGeom prst="rect">
            <a:avLst/>
          </a:prstGeom>
        </p:spPr>
      </p:pic>
      <p:sp>
        <p:nvSpPr>
          <p:cNvPr id="11" name="Freccia a sinistra 10">
            <a:extLst>
              <a:ext uri="{FF2B5EF4-FFF2-40B4-BE49-F238E27FC236}">
                <a16:creationId xmlns:a16="http://schemas.microsoft.com/office/drawing/2014/main" id="{86FC1581-5853-D7C5-2067-8133EE7E6942}"/>
              </a:ext>
            </a:extLst>
          </p:cNvPr>
          <p:cNvSpPr/>
          <p:nvPr/>
        </p:nvSpPr>
        <p:spPr>
          <a:xfrm rot="10800000">
            <a:off x="8673913" y="5548065"/>
            <a:ext cx="474739" cy="350248"/>
          </a:xfrm>
          <a:prstGeom prst="leftArrow">
            <a:avLst>
              <a:gd name="adj1" fmla="val 60000"/>
              <a:gd name="adj2" fmla="val 52633"/>
            </a:avLst>
          </a:prstGeom>
          <a:solidFill>
            <a:srgbClr val="5B9BD5">
              <a:lumMod val="75000"/>
            </a:srgbClr>
          </a:solidFill>
          <a:ln>
            <a:noFill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egno di moltiplicazione 13">
            <a:extLst>
              <a:ext uri="{FF2B5EF4-FFF2-40B4-BE49-F238E27FC236}">
                <a16:creationId xmlns:a16="http://schemas.microsoft.com/office/drawing/2014/main" id="{4BE8837F-235E-53D3-40B9-662315012A6D}"/>
              </a:ext>
            </a:extLst>
          </p:cNvPr>
          <p:cNvSpPr/>
          <p:nvPr/>
        </p:nvSpPr>
        <p:spPr>
          <a:xfrm>
            <a:off x="6179607" y="5148441"/>
            <a:ext cx="2953900" cy="1216354"/>
          </a:xfrm>
          <a:prstGeom prst="mathMultiply">
            <a:avLst>
              <a:gd name="adj1" fmla="val 4520"/>
            </a:avLst>
          </a:prstGeom>
          <a:solidFill>
            <a:srgbClr val="C000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AF9CDFB0-1C32-24D5-7D39-EBD04FD520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5855" y="1629539"/>
            <a:ext cx="3326419" cy="2842507"/>
          </a:xfrm>
          <a:prstGeom prst="rect">
            <a:avLst/>
          </a:prstGeom>
        </p:spPr>
      </p:pic>
      <p:sp>
        <p:nvSpPr>
          <p:cNvPr id="24" name="Shape">
            <a:extLst>
              <a:ext uri="{FF2B5EF4-FFF2-40B4-BE49-F238E27FC236}">
                <a16:creationId xmlns:a16="http://schemas.microsoft.com/office/drawing/2014/main" id="{AF7E9A72-2012-1E9C-088E-F13983806F04}"/>
              </a:ext>
            </a:extLst>
          </p:cNvPr>
          <p:cNvSpPr>
            <a:spLocks noChangeAspect="1"/>
          </p:cNvSpPr>
          <p:nvPr/>
        </p:nvSpPr>
        <p:spPr>
          <a:xfrm>
            <a:off x="6977395" y="3491262"/>
            <a:ext cx="400062" cy="4030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7" h="21264" extrusionOk="0">
                <a:moveTo>
                  <a:pt x="3240" y="0"/>
                </a:moveTo>
                <a:cubicBezTo>
                  <a:pt x="2212" y="2"/>
                  <a:pt x="1223" y="308"/>
                  <a:pt x="523" y="1053"/>
                </a:cubicBezTo>
                <a:cubicBezTo>
                  <a:pt x="-715" y="2369"/>
                  <a:pt x="381" y="5674"/>
                  <a:pt x="2387" y="6717"/>
                </a:cubicBezTo>
                <a:cubicBezTo>
                  <a:pt x="2355" y="6897"/>
                  <a:pt x="2327" y="7074"/>
                  <a:pt x="2329" y="7270"/>
                </a:cubicBezTo>
                <a:cubicBezTo>
                  <a:pt x="1644" y="7408"/>
                  <a:pt x="1012" y="7706"/>
                  <a:pt x="523" y="8226"/>
                </a:cubicBezTo>
                <a:cubicBezTo>
                  <a:pt x="-869" y="9706"/>
                  <a:pt x="687" y="13721"/>
                  <a:pt x="3174" y="14181"/>
                </a:cubicBezTo>
                <a:cubicBezTo>
                  <a:pt x="3233" y="14192"/>
                  <a:pt x="3296" y="14174"/>
                  <a:pt x="3355" y="14181"/>
                </a:cubicBezTo>
                <a:cubicBezTo>
                  <a:pt x="3171" y="14306"/>
                  <a:pt x="2993" y="14447"/>
                  <a:pt x="2835" y="14615"/>
                </a:cubicBezTo>
                <a:cubicBezTo>
                  <a:pt x="1443" y="16094"/>
                  <a:pt x="2999" y="20110"/>
                  <a:pt x="5487" y="20570"/>
                </a:cubicBezTo>
                <a:cubicBezTo>
                  <a:pt x="6349" y="20729"/>
                  <a:pt x="7298" y="20438"/>
                  <a:pt x="8124" y="19905"/>
                </a:cubicBezTo>
                <a:cubicBezTo>
                  <a:pt x="8658" y="20561"/>
                  <a:pt x="9330" y="21075"/>
                  <a:pt x="10111" y="21220"/>
                </a:cubicBezTo>
                <a:cubicBezTo>
                  <a:pt x="12141" y="21595"/>
                  <a:pt x="14670" y="19487"/>
                  <a:pt x="14836" y="17536"/>
                </a:cubicBezTo>
                <a:cubicBezTo>
                  <a:pt x="17091" y="17482"/>
                  <a:pt x="19634" y="14876"/>
                  <a:pt x="18889" y="12911"/>
                </a:cubicBezTo>
                <a:cubicBezTo>
                  <a:pt x="18859" y="12830"/>
                  <a:pt x="18802" y="12751"/>
                  <a:pt x="18759" y="12672"/>
                </a:cubicBezTo>
                <a:cubicBezTo>
                  <a:pt x="19941" y="11710"/>
                  <a:pt x="20731" y="10284"/>
                  <a:pt x="20277" y="9085"/>
                </a:cubicBezTo>
                <a:cubicBezTo>
                  <a:pt x="20016" y="8398"/>
                  <a:pt x="19280" y="7779"/>
                  <a:pt x="18369" y="7337"/>
                </a:cubicBezTo>
                <a:cubicBezTo>
                  <a:pt x="18935" y="6522"/>
                  <a:pt x="19198" y="5596"/>
                  <a:pt x="18889" y="4782"/>
                </a:cubicBezTo>
                <a:cubicBezTo>
                  <a:pt x="18434" y="3580"/>
                  <a:pt x="16573" y="2574"/>
                  <a:pt x="14735" y="2443"/>
                </a:cubicBezTo>
                <a:cubicBezTo>
                  <a:pt x="14729" y="2426"/>
                  <a:pt x="14734" y="2408"/>
                  <a:pt x="14728" y="2391"/>
                </a:cubicBezTo>
                <a:cubicBezTo>
                  <a:pt x="14239" y="1102"/>
                  <a:pt x="12137" y="-5"/>
                  <a:pt x="10176" y="0"/>
                </a:cubicBezTo>
                <a:cubicBezTo>
                  <a:pt x="9149" y="2"/>
                  <a:pt x="8160" y="308"/>
                  <a:pt x="7459" y="1053"/>
                </a:cubicBezTo>
                <a:cubicBezTo>
                  <a:pt x="7336" y="1183"/>
                  <a:pt x="7263" y="1351"/>
                  <a:pt x="7184" y="1516"/>
                </a:cubicBezTo>
                <a:cubicBezTo>
                  <a:pt x="6304" y="640"/>
                  <a:pt x="4734" y="-4"/>
                  <a:pt x="3240" y="0"/>
                </a:cubicBezTo>
                <a:close/>
                <a:moveTo>
                  <a:pt x="3781" y="448"/>
                </a:moveTo>
                <a:cubicBezTo>
                  <a:pt x="3844" y="448"/>
                  <a:pt x="3902" y="496"/>
                  <a:pt x="3911" y="560"/>
                </a:cubicBezTo>
                <a:cubicBezTo>
                  <a:pt x="3924" y="642"/>
                  <a:pt x="3866" y="717"/>
                  <a:pt x="3789" y="717"/>
                </a:cubicBezTo>
                <a:cubicBezTo>
                  <a:pt x="3114" y="717"/>
                  <a:pt x="2480" y="989"/>
                  <a:pt x="2004" y="1457"/>
                </a:cubicBezTo>
                <a:cubicBezTo>
                  <a:pt x="1945" y="1514"/>
                  <a:pt x="1944" y="1617"/>
                  <a:pt x="2004" y="1673"/>
                </a:cubicBezTo>
                <a:cubicBezTo>
                  <a:pt x="2060" y="1727"/>
                  <a:pt x="2139" y="1726"/>
                  <a:pt x="2192" y="1673"/>
                </a:cubicBezTo>
                <a:cubicBezTo>
                  <a:pt x="2581" y="1289"/>
                  <a:pt x="3098" y="1048"/>
                  <a:pt x="3659" y="1016"/>
                </a:cubicBezTo>
                <a:cubicBezTo>
                  <a:pt x="3736" y="1011"/>
                  <a:pt x="3798" y="1074"/>
                  <a:pt x="3789" y="1158"/>
                </a:cubicBezTo>
                <a:cubicBezTo>
                  <a:pt x="3781" y="1223"/>
                  <a:pt x="3729" y="1273"/>
                  <a:pt x="3666" y="1277"/>
                </a:cubicBezTo>
                <a:cubicBezTo>
                  <a:pt x="3381" y="1295"/>
                  <a:pt x="3108" y="1374"/>
                  <a:pt x="2864" y="1501"/>
                </a:cubicBezTo>
                <a:cubicBezTo>
                  <a:pt x="2786" y="1542"/>
                  <a:pt x="2762" y="1645"/>
                  <a:pt x="2813" y="1718"/>
                </a:cubicBezTo>
                <a:cubicBezTo>
                  <a:pt x="2855" y="1777"/>
                  <a:pt x="2931" y="1796"/>
                  <a:pt x="2994" y="1763"/>
                </a:cubicBezTo>
                <a:cubicBezTo>
                  <a:pt x="3047" y="1735"/>
                  <a:pt x="3104" y="1710"/>
                  <a:pt x="3160" y="1688"/>
                </a:cubicBezTo>
                <a:cubicBezTo>
                  <a:pt x="3232" y="1660"/>
                  <a:pt x="3318" y="1703"/>
                  <a:pt x="3333" y="1785"/>
                </a:cubicBezTo>
                <a:cubicBezTo>
                  <a:pt x="3346" y="1850"/>
                  <a:pt x="3299" y="1911"/>
                  <a:pt x="3240" y="1935"/>
                </a:cubicBezTo>
                <a:cubicBezTo>
                  <a:pt x="2930" y="2059"/>
                  <a:pt x="2669" y="2290"/>
                  <a:pt x="2495" y="2585"/>
                </a:cubicBezTo>
                <a:cubicBezTo>
                  <a:pt x="2471" y="2626"/>
                  <a:pt x="2430" y="2652"/>
                  <a:pt x="2387" y="2652"/>
                </a:cubicBezTo>
                <a:cubicBezTo>
                  <a:pt x="2359" y="2652"/>
                  <a:pt x="2331" y="2642"/>
                  <a:pt x="2307" y="2622"/>
                </a:cubicBezTo>
                <a:cubicBezTo>
                  <a:pt x="2257" y="2581"/>
                  <a:pt x="2245" y="2500"/>
                  <a:pt x="2279" y="2443"/>
                </a:cubicBezTo>
                <a:cubicBezTo>
                  <a:pt x="2363" y="2301"/>
                  <a:pt x="2464" y="2175"/>
                  <a:pt x="2582" y="2062"/>
                </a:cubicBezTo>
                <a:cubicBezTo>
                  <a:pt x="2635" y="2011"/>
                  <a:pt x="2646" y="1928"/>
                  <a:pt x="2604" y="1868"/>
                </a:cubicBezTo>
                <a:cubicBezTo>
                  <a:pt x="2553" y="1797"/>
                  <a:pt x="2449" y="1785"/>
                  <a:pt x="2387" y="1845"/>
                </a:cubicBezTo>
                <a:cubicBezTo>
                  <a:pt x="2328" y="1902"/>
                  <a:pt x="2273" y="1960"/>
                  <a:pt x="2221" y="2025"/>
                </a:cubicBezTo>
                <a:cubicBezTo>
                  <a:pt x="2219" y="2027"/>
                  <a:pt x="2223" y="2030"/>
                  <a:pt x="2221" y="2032"/>
                </a:cubicBezTo>
                <a:cubicBezTo>
                  <a:pt x="2220" y="2033"/>
                  <a:pt x="2215" y="2031"/>
                  <a:pt x="2214" y="2032"/>
                </a:cubicBezTo>
                <a:cubicBezTo>
                  <a:pt x="2061" y="2220"/>
                  <a:pt x="1936" y="2442"/>
                  <a:pt x="1852" y="2682"/>
                </a:cubicBezTo>
                <a:cubicBezTo>
                  <a:pt x="1834" y="2736"/>
                  <a:pt x="1789" y="2764"/>
                  <a:pt x="1737" y="2764"/>
                </a:cubicBezTo>
                <a:cubicBezTo>
                  <a:pt x="1716" y="2764"/>
                  <a:pt x="1692" y="2760"/>
                  <a:pt x="1672" y="2749"/>
                </a:cubicBezTo>
                <a:cubicBezTo>
                  <a:pt x="1616" y="2718"/>
                  <a:pt x="1592" y="2646"/>
                  <a:pt x="1614" y="2585"/>
                </a:cubicBezTo>
                <a:cubicBezTo>
                  <a:pt x="1679" y="2399"/>
                  <a:pt x="1771" y="2229"/>
                  <a:pt x="1874" y="2069"/>
                </a:cubicBezTo>
                <a:cubicBezTo>
                  <a:pt x="1912" y="2011"/>
                  <a:pt x="1895" y="1930"/>
                  <a:pt x="1845" y="1883"/>
                </a:cubicBezTo>
                <a:cubicBezTo>
                  <a:pt x="1782" y="1822"/>
                  <a:pt x="1683" y="1831"/>
                  <a:pt x="1636" y="1905"/>
                </a:cubicBezTo>
                <a:cubicBezTo>
                  <a:pt x="1561" y="2019"/>
                  <a:pt x="1498" y="2137"/>
                  <a:pt x="1440" y="2264"/>
                </a:cubicBezTo>
                <a:cubicBezTo>
                  <a:pt x="1419" y="2311"/>
                  <a:pt x="1373" y="2338"/>
                  <a:pt x="1325" y="2338"/>
                </a:cubicBezTo>
                <a:cubicBezTo>
                  <a:pt x="1303" y="2338"/>
                  <a:pt x="1280" y="2336"/>
                  <a:pt x="1260" y="2323"/>
                </a:cubicBezTo>
                <a:cubicBezTo>
                  <a:pt x="1202" y="2288"/>
                  <a:pt x="1181" y="2207"/>
                  <a:pt x="1209" y="2144"/>
                </a:cubicBezTo>
                <a:cubicBezTo>
                  <a:pt x="1316" y="1911"/>
                  <a:pt x="1450" y="1701"/>
                  <a:pt x="1607" y="1509"/>
                </a:cubicBezTo>
                <a:cubicBezTo>
                  <a:pt x="1611" y="1501"/>
                  <a:pt x="1622" y="1494"/>
                  <a:pt x="1628" y="1487"/>
                </a:cubicBezTo>
                <a:cubicBezTo>
                  <a:pt x="1630" y="1484"/>
                  <a:pt x="1626" y="1481"/>
                  <a:pt x="1628" y="1479"/>
                </a:cubicBezTo>
                <a:cubicBezTo>
                  <a:pt x="2162" y="841"/>
                  <a:pt x="2946" y="450"/>
                  <a:pt x="3781" y="448"/>
                </a:cubicBezTo>
                <a:close/>
                <a:moveTo>
                  <a:pt x="10718" y="448"/>
                </a:moveTo>
                <a:cubicBezTo>
                  <a:pt x="10781" y="448"/>
                  <a:pt x="10838" y="496"/>
                  <a:pt x="10848" y="560"/>
                </a:cubicBezTo>
                <a:cubicBezTo>
                  <a:pt x="10860" y="642"/>
                  <a:pt x="10802" y="717"/>
                  <a:pt x="10725" y="717"/>
                </a:cubicBezTo>
                <a:cubicBezTo>
                  <a:pt x="10050" y="717"/>
                  <a:pt x="9416" y="989"/>
                  <a:pt x="8940" y="1457"/>
                </a:cubicBezTo>
                <a:cubicBezTo>
                  <a:pt x="8881" y="1514"/>
                  <a:pt x="8881" y="1617"/>
                  <a:pt x="8940" y="1673"/>
                </a:cubicBezTo>
                <a:cubicBezTo>
                  <a:pt x="8996" y="1727"/>
                  <a:pt x="9075" y="1726"/>
                  <a:pt x="9128" y="1673"/>
                </a:cubicBezTo>
                <a:cubicBezTo>
                  <a:pt x="9517" y="1289"/>
                  <a:pt x="10035" y="1048"/>
                  <a:pt x="10595" y="1016"/>
                </a:cubicBezTo>
                <a:cubicBezTo>
                  <a:pt x="10672" y="1011"/>
                  <a:pt x="10734" y="1074"/>
                  <a:pt x="10725" y="1158"/>
                </a:cubicBezTo>
                <a:cubicBezTo>
                  <a:pt x="10718" y="1223"/>
                  <a:pt x="10665" y="1273"/>
                  <a:pt x="10602" y="1277"/>
                </a:cubicBezTo>
                <a:cubicBezTo>
                  <a:pt x="10317" y="1295"/>
                  <a:pt x="10045" y="1374"/>
                  <a:pt x="9800" y="1501"/>
                </a:cubicBezTo>
                <a:cubicBezTo>
                  <a:pt x="9722" y="1542"/>
                  <a:pt x="9698" y="1645"/>
                  <a:pt x="9749" y="1718"/>
                </a:cubicBezTo>
                <a:cubicBezTo>
                  <a:pt x="9791" y="1777"/>
                  <a:pt x="9867" y="1796"/>
                  <a:pt x="9930" y="1763"/>
                </a:cubicBezTo>
                <a:cubicBezTo>
                  <a:pt x="9984" y="1735"/>
                  <a:pt x="10040" y="1710"/>
                  <a:pt x="10096" y="1688"/>
                </a:cubicBezTo>
                <a:cubicBezTo>
                  <a:pt x="10169" y="1660"/>
                  <a:pt x="10254" y="1703"/>
                  <a:pt x="10270" y="1785"/>
                </a:cubicBezTo>
                <a:cubicBezTo>
                  <a:pt x="10282" y="1850"/>
                  <a:pt x="10235" y="1911"/>
                  <a:pt x="10176" y="1935"/>
                </a:cubicBezTo>
                <a:cubicBezTo>
                  <a:pt x="9866" y="2059"/>
                  <a:pt x="9605" y="2290"/>
                  <a:pt x="9432" y="2585"/>
                </a:cubicBezTo>
                <a:cubicBezTo>
                  <a:pt x="9408" y="2626"/>
                  <a:pt x="9366" y="2652"/>
                  <a:pt x="9323" y="2652"/>
                </a:cubicBezTo>
                <a:cubicBezTo>
                  <a:pt x="9296" y="2652"/>
                  <a:pt x="9268" y="2642"/>
                  <a:pt x="9244" y="2622"/>
                </a:cubicBezTo>
                <a:cubicBezTo>
                  <a:pt x="9193" y="2581"/>
                  <a:pt x="9181" y="2500"/>
                  <a:pt x="9215" y="2443"/>
                </a:cubicBezTo>
                <a:cubicBezTo>
                  <a:pt x="9299" y="2301"/>
                  <a:pt x="9401" y="2175"/>
                  <a:pt x="9518" y="2062"/>
                </a:cubicBezTo>
                <a:cubicBezTo>
                  <a:pt x="9571" y="2011"/>
                  <a:pt x="9582" y="1928"/>
                  <a:pt x="9540" y="1868"/>
                </a:cubicBezTo>
                <a:cubicBezTo>
                  <a:pt x="9489" y="1797"/>
                  <a:pt x="9386" y="1785"/>
                  <a:pt x="9323" y="1845"/>
                </a:cubicBezTo>
                <a:cubicBezTo>
                  <a:pt x="9264" y="1902"/>
                  <a:pt x="9210" y="1960"/>
                  <a:pt x="9157" y="2025"/>
                </a:cubicBezTo>
                <a:cubicBezTo>
                  <a:pt x="9155" y="2027"/>
                  <a:pt x="9159" y="2030"/>
                  <a:pt x="9157" y="2032"/>
                </a:cubicBezTo>
                <a:cubicBezTo>
                  <a:pt x="9156" y="2033"/>
                  <a:pt x="9151" y="2031"/>
                  <a:pt x="9150" y="2032"/>
                </a:cubicBezTo>
                <a:cubicBezTo>
                  <a:pt x="8997" y="2220"/>
                  <a:pt x="8872" y="2442"/>
                  <a:pt x="8788" y="2682"/>
                </a:cubicBezTo>
                <a:cubicBezTo>
                  <a:pt x="8770" y="2736"/>
                  <a:pt x="8725" y="2764"/>
                  <a:pt x="8673" y="2764"/>
                </a:cubicBezTo>
                <a:cubicBezTo>
                  <a:pt x="8652" y="2764"/>
                  <a:pt x="8628" y="2760"/>
                  <a:pt x="8608" y="2749"/>
                </a:cubicBezTo>
                <a:cubicBezTo>
                  <a:pt x="8552" y="2718"/>
                  <a:pt x="8529" y="2646"/>
                  <a:pt x="8550" y="2585"/>
                </a:cubicBezTo>
                <a:cubicBezTo>
                  <a:pt x="8615" y="2399"/>
                  <a:pt x="8707" y="2229"/>
                  <a:pt x="8810" y="2069"/>
                </a:cubicBezTo>
                <a:cubicBezTo>
                  <a:pt x="8848" y="2011"/>
                  <a:pt x="8831" y="1930"/>
                  <a:pt x="8781" y="1883"/>
                </a:cubicBezTo>
                <a:cubicBezTo>
                  <a:pt x="8718" y="1822"/>
                  <a:pt x="8620" y="1831"/>
                  <a:pt x="8572" y="1905"/>
                </a:cubicBezTo>
                <a:cubicBezTo>
                  <a:pt x="8498" y="2019"/>
                  <a:pt x="8434" y="2137"/>
                  <a:pt x="8377" y="2264"/>
                </a:cubicBezTo>
                <a:cubicBezTo>
                  <a:pt x="8355" y="2311"/>
                  <a:pt x="8309" y="2338"/>
                  <a:pt x="8261" y="2338"/>
                </a:cubicBezTo>
                <a:cubicBezTo>
                  <a:pt x="8239" y="2338"/>
                  <a:pt x="8217" y="2336"/>
                  <a:pt x="8196" y="2323"/>
                </a:cubicBezTo>
                <a:cubicBezTo>
                  <a:pt x="8138" y="2288"/>
                  <a:pt x="8117" y="2207"/>
                  <a:pt x="8145" y="2144"/>
                </a:cubicBezTo>
                <a:cubicBezTo>
                  <a:pt x="8252" y="1911"/>
                  <a:pt x="8386" y="1701"/>
                  <a:pt x="8543" y="1509"/>
                </a:cubicBezTo>
                <a:cubicBezTo>
                  <a:pt x="8548" y="1501"/>
                  <a:pt x="8558" y="1494"/>
                  <a:pt x="8564" y="1487"/>
                </a:cubicBezTo>
                <a:cubicBezTo>
                  <a:pt x="8566" y="1484"/>
                  <a:pt x="8562" y="1481"/>
                  <a:pt x="8564" y="1479"/>
                </a:cubicBezTo>
                <a:cubicBezTo>
                  <a:pt x="9098" y="841"/>
                  <a:pt x="9883" y="450"/>
                  <a:pt x="10718" y="448"/>
                </a:cubicBezTo>
                <a:close/>
                <a:moveTo>
                  <a:pt x="4670" y="1068"/>
                </a:moveTo>
                <a:cubicBezTo>
                  <a:pt x="4742" y="1068"/>
                  <a:pt x="4831" y="1093"/>
                  <a:pt x="4923" y="1135"/>
                </a:cubicBezTo>
                <a:cubicBezTo>
                  <a:pt x="5106" y="1220"/>
                  <a:pt x="5227" y="1356"/>
                  <a:pt x="5190" y="1442"/>
                </a:cubicBezTo>
                <a:cubicBezTo>
                  <a:pt x="5154" y="1527"/>
                  <a:pt x="4976" y="1526"/>
                  <a:pt x="4793" y="1442"/>
                </a:cubicBezTo>
                <a:cubicBezTo>
                  <a:pt x="4610" y="1357"/>
                  <a:pt x="4489" y="1221"/>
                  <a:pt x="4526" y="1135"/>
                </a:cubicBezTo>
                <a:cubicBezTo>
                  <a:pt x="4544" y="1093"/>
                  <a:pt x="4598" y="1068"/>
                  <a:pt x="4670" y="1068"/>
                </a:cubicBezTo>
                <a:close/>
                <a:moveTo>
                  <a:pt x="11606" y="1068"/>
                </a:moveTo>
                <a:cubicBezTo>
                  <a:pt x="11678" y="1068"/>
                  <a:pt x="11768" y="1093"/>
                  <a:pt x="11859" y="1135"/>
                </a:cubicBezTo>
                <a:cubicBezTo>
                  <a:pt x="12042" y="1220"/>
                  <a:pt x="12163" y="1356"/>
                  <a:pt x="12127" y="1442"/>
                </a:cubicBezTo>
                <a:cubicBezTo>
                  <a:pt x="12090" y="1527"/>
                  <a:pt x="11912" y="1526"/>
                  <a:pt x="11729" y="1442"/>
                </a:cubicBezTo>
                <a:cubicBezTo>
                  <a:pt x="11546" y="1357"/>
                  <a:pt x="11425" y="1221"/>
                  <a:pt x="11462" y="1135"/>
                </a:cubicBezTo>
                <a:cubicBezTo>
                  <a:pt x="11480" y="1093"/>
                  <a:pt x="11534" y="1068"/>
                  <a:pt x="11606" y="1068"/>
                </a:cubicBezTo>
                <a:close/>
                <a:moveTo>
                  <a:pt x="6722" y="1950"/>
                </a:moveTo>
                <a:cubicBezTo>
                  <a:pt x="6733" y="1946"/>
                  <a:pt x="6739" y="1949"/>
                  <a:pt x="6751" y="1950"/>
                </a:cubicBezTo>
                <a:cubicBezTo>
                  <a:pt x="6829" y="1957"/>
                  <a:pt x="6929" y="2074"/>
                  <a:pt x="6989" y="2234"/>
                </a:cubicBezTo>
                <a:cubicBezTo>
                  <a:pt x="6973" y="2372"/>
                  <a:pt x="6951" y="2505"/>
                  <a:pt x="6953" y="2652"/>
                </a:cubicBezTo>
                <a:cubicBezTo>
                  <a:pt x="6869" y="2673"/>
                  <a:pt x="6751" y="2550"/>
                  <a:pt x="6686" y="2361"/>
                </a:cubicBezTo>
                <a:cubicBezTo>
                  <a:pt x="6618" y="2166"/>
                  <a:pt x="6637" y="1981"/>
                  <a:pt x="6722" y="1950"/>
                </a:cubicBezTo>
                <a:close/>
                <a:moveTo>
                  <a:pt x="13658" y="1950"/>
                </a:moveTo>
                <a:cubicBezTo>
                  <a:pt x="13669" y="1946"/>
                  <a:pt x="13676" y="1949"/>
                  <a:pt x="13687" y="1950"/>
                </a:cubicBezTo>
                <a:cubicBezTo>
                  <a:pt x="13769" y="1957"/>
                  <a:pt x="13874" y="2078"/>
                  <a:pt x="13933" y="2249"/>
                </a:cubicBezTo>
                <a:cubicBezTo>
                  <a:pt x="13955" y="2313"/>
                  <a:pt x="13957" y="2364"/>
                  <a:pt x="13962" y="2421"/>
                </a:cubicBezTo>
                <a:cubicBezTo>
                  <a:pt x="13863" y="2428"/>
                  <a:pt x="13763" y="2429"/>
                  <a:pt x="13665" y="2443"/>
                </a:cubicBezTo>
                <a:cubicBezTo>
                  <a:pt x="13651" y="2413"/>
                  <a:pt x="13634" y="2395"/>
                  <a:pt x="13622" y="2361"/>
                </a:cubicBezTo>
                <a:cubicBezTo>
                  <a:pt x="13555" y="2166"/>
                  <a:pt x="13573" y="1981"/>
                  <a:pt x="13658" y="1950"/>
                </a:cubicBezTo>
                <a:close/>
                <a:moveTo>
                  <a:pt x="4945" y="2054"/>
                </a:moveTo>
                <a:cubicBezTo>
                  <a:pt x="4975" y="2057"/>
                  <a:pt x="5009" y="2069"/>
                  <a:pt x="5031" y="2092"/>
                </a:cubicBezTo>
                <a:cubicBezTo>
                  <a:pt x="5374" y="2439"/>
                  <a:pt x="5559" y="2903"/>
                  <a:pt x="5559" y="3399"/>
                </a:cubicBezTo>
                <a:cubicBezTo>
                  <a:pt x="5559" y="3524"/>
                  <a:pt x="5546" y="3646"/>
                  <a:pt x="5523" y="3765"/>
                </a:cubicBezTo>
                <a:cubicBezTo>
                  <a:pt x="5511" y="3826"/>
                  <a:pt x="5545" y="3889"/>
                  <a:pt x="5602" y="3907"/>
                </a:cubicBezTo>
                <a:lnTo>
                  <a:pt x="5653" y="3922"/>
                </a:lnTo>
                <a:cubicBezTo>
                  <a:pt x="5720" y="3944"/>
                  <a:pt x="5790" y="3896"/>
                  <a:pt x="5804" y="3825"/>
                </a:cubicBezTo>
                <a:cubicBezTo>
                  <a:pt x="5833" y="3685"/>
                  <a:pt x="5848" y="3545"/>
                  <a:pt x="5848" y="3399"/>
                </a:cubicBezTo>
                <a:cubicBezTo>
                  <a:pt x="5848" y="3137"/>
                  <a:pt x="5801" y="2880"/>
                  <a:pt x="5711" y="2637"/>
                </a:cubicBezTo>
                <a:cubicBezTo>
                  <a:pt x="5670" y="2529"/>
                  <a:pt x="5623" y="2424"/>
                  <a:pt x="5566" y="2323"/>
                </a:cubicBezTo>
                <a:cubicBezTo>
                  <a:pt x="5527" y="2255"/>
                  <a:pt x="5556" y="2167"/>
                  <a:pt x="5631" y="2137"/>
                </a:cubicBezTo>
                <a:cubicBezTo>
                  <a:pt x="5690" y="2113"/>
                  <a:pt x="5751" y="2140"/>
                  <a:pt x="5783" y="2196"/>
                </a:cubicBezTo>
                <a:cubicBezTo>
                  <a:pt x="5846" y="2308"/>
                  <a:pt x="5904" y="2428"/>
                  <a:pt x="5949" y="2548"/>
                </a:cubicBezTo>
                <a:cubicBezTo>
                  <a:pt x="6050" y="2820"/>
                  <a:pt x="6101" y="3105"/>
                  <a:pt x="6101" y="3399"/>
                </a:cubicBezTo>
                <a:cubicBezTo>
                  <a:pt x="6101" y="3462"/>
                  <a:pt x="6144" y="3516"/>
                  <a:pt x="6202" y="3526"/>
                </a:cubicBezTo>
                <a:lnTo>
                  <a:pt x="6245" y="3534"/>
                </a:lnTo>
                <a:cubicBezTo>
                  <a:pt x="6317" y="3546"/>
                  <a:pt x="6382" y="3489"/>
                  <a:pt x="6382" y="3414"/>
                </a:cubicBezTo>
                <a:cubicBezTo>
                  <a:pt x="6383" y="3409"/>
                  <a:pt x="6382" y="3404"/>
                  <a:pt x="6382" y="3399"/>
                </a:cubicBezTo>
                <a:cubicBezTo>
                  <a:pt x="6382" y="3320"/>
                  <a:pt x="6455" y="3259"/>
                  <a:pt x="6534" y="3272"/>
                </a:cubicBezTo>
                <a:cubicBezTo>
                  <a:pt x="6596" y="3283"/>
                  <a:pt x="6643" y="3342"/>
                  <a:pt x="6643" y="3407"/>
                </a:cubicBezTo>
                <a:cubicBezTo>
                  <a:pt x="6642" y="3513"/>
                  <a:pt x="6632" y="3616"/>
                  <a:pt x="6621" y="3721"/>
                </a:cubicBezTo>
                <a:cubicBezTo>
                  <a:pt x="6621" y="3724"/>
                  <a:pt x="6621" y="3725"/>
                  <a:pt x="6621" y="3728"/>
                </a:cubicBezTo>
                <a:cubicBezTo>
                  <a:pt x="6621" y="3730"/>
                  <a:pt x="6621" y="3734"/>
                  <a:pt x="6621" y="3736"/>
                </a:cubicBezTo>
                <a:cubicBezTo>
                  <a:pt x="6582" y="4081"/>
                  <a:pt x="6482" y="4413"/>
                  <a:pt x="6332" y="4722"/>
                </a:cubicBezTo>
                <a:cubicBezTo>
                  <a:pt x="6243" y="4709"/>
                  <a:pt x="6154" y="4693"/>
                  <a:pt x="6065" y="4684"/>
                </a:cubicBezTo>
                <a:cubicBezTo>
                  <a:pt x="6188" y="4452"/>
                  <a:pt x="6279" y="4204"/>
                  <a:pt x="6332" y="3945"/>
                </a:cubicBezTo>
                <a:cubicBezTo>
                  <a:pt x="6346" y="3876"/>
                  <a:pt x="6305" y="3807"/>
                  <a:pt x="6238" y="3795"/>
                </a:cubicBezTo>
                <a:lnTo>
                  <a:pt x="6187" y="3788"/>
                </a:lnTo>
                <a:cubicBezTo>
                  <a:pt x="6125" y="3777"/>
                  <a:pt x="6063" y="3821"/>
                  <a:pt x="6050" y="3885"/>
                </a:cubicBezTo>
                <a:cubicBezTo>
                  <a:pt x="6031" y="3979"/>
                  <a:pt x="6007" y="4071"/>
                  <a:pt x="5978" y="4161"/>
                </a:cubicBezTo>
                <a:cubicBezTo>
                  <a:pt x="5977" y="4164"/>
                  <a:pt x="5979" y="4167"/>
                  <a:pt x="5978" y="4169"/>
                </a:cubicBezTo>
                <a:cubicBezTo>
                  <a:pt x="5923" y="4335"/>
                  <a:pt x="5836" y="4489"/>
                  <a:pt x="5747" y="4640"/>
                </a:cubicBezTo>
                <a:cubicBezTo>
                  <a:pt x="5682" y="4637"/>
                  <a:pt x="5616" y="4617"/>
                  <a:pt x="5552" y="4617"/>
                </a:cubicBezTo>
                <a:cubicBezTo>
                  <a:pt x="5530" y="4617"/>
                  <a:pt x="5509" y="4624"/>
                  <a:pt x="5487" y="4625"/>
                </a:cubicBezTo>
                <a:cubicBezTo>
                  <a:pt x="5490" y="4617"/>
                  <a:pt x="5482" y="4609"/>
                  <a:pt x="5487" y="4602"/>
                </a:cubicBezTo>
                <a:cubicBezTo>
                  <a:pt x="5543" y="4518"/>
                  <a:pt x="5588" y="4431"/>
                  <a:pt x="5631" y="4341"/>
                </a:cubicBezTo>
                <a:cubicBezTo>
                  <a:pt x="5663" y="4273"/>
                  <a:pt x="5635" y="4192"/>
                  <a:pt x="5566" y="4169"/>
                </a:cubicBezTo>
                <a:lnTo>
                  <a:pt x="5515" y="4154"/>
                </a:lnTo>
                <a:cubicBezTo>
                  <a:pt x="5461" y="4136"/>
                  <a:pt x="5404" y="4160"/>
                  <a:pt x="5378" y="4214"/>
                </a:cubicBezTo>
                <a:cubicBezTo>
                  <a:pt x="5295" y="4386"/>
                  <a:pt x="5157" y="4523"/>
                  <a:pt x="5024" y="4662"/>
                </a:cubicBezTo>
                <a:cubicBezTo>
                  <a:pt x="4922" y="4673"/>
                  <a:pt x="4821" y="4689"/>
                  <a:pt x="4721" y="4707"/>
                </a:cubicBezTo>
                <a:cubicBezTo>
                  <a:pt x="4728" y="4678"/>
                  <a:pt x="4711" y="4645"/>
                  <a:pt x="4735" y="4625"/>
                </a:cubicBezTo>
                <a:cubicBezTo>
                  <a:pt x="4960" y="4438"/>
                  <a:pt x="5127" y="4195"/>
                  <a:pt x="5219" y="3922"/>
                </a:cubicBezTo>
                <a:cubicBezTo>
                  <a:pt x="5219" y="3921"/>
                  <a:pt x="5219" y="3916"/>
                  <a:pt x="5219" y="3915"/>
                </a:cubicBezTo>
                <a:cubicBezTo>
                  <a:pt x="5274" y="3752"/>
                  <a:pt x="5306" y="3578"/>
                  <a:pt x="5306" y="3399"/>
                </a:cubicBezTo>
                <a:cubicBezTo>
                  <a:pt x="5306" y="2973"/>
                  <a:pt x="5146" y="2576"/>
                  <a:pt x="4851" y="2279"/>
                </a:cubicBezTo>
                <a:cubicBezTo>
                  <a:pt x="4796" y="2223"/>
                  <a:pt x="4794" y="2127"/>
                  <a:pt x="4858" y="2077"/>
                </a:cubicBezTo>
                <a:cubicBezTo>
                  <a:pt x="4883" y="2057"/>
                  <a:pt x="4915" y="2051"/>
                  <a:pt x="4945" y="2054"/>
                </a:cubicBezTo>
                <a:close/>
                <a:moveTo>
                  <a:pt x="11881" y="2054"/>
                </a:moveTo>
                <a:cubicBezTo>
                  <a:pt x="11911" y="2057"/>
                  <a:pt x="11945" y="2069"/>
                  <a:pt x="11968" y="2092"/>
                </a:cubicBezTo>
                <a:cubicBezTo>
                  <a:pt x="12182" y="2309"/>
                  <a:pt x="12309" y="2580"/>
                  <a:pt x="12394" y="2869"/>
                </a:cubicBezTo>
                <a:cubicBezTo>
                  <a:pt x="12317" y="2911"/>
                  <a:pt x="12236" y="2947"/>
                  <a:pt x="12163" y="2996"/>
                </a:cubicBezTo>
                <a:cubicBezTo>
                  <a:pt x="12093" y="2728"/>
                  <a:pt x="11985" y="2478"/>
                  <a:pt x="11787" y="2279"/>
                </a:cubicBezTo>
                <a:cubicBezTo>
                  <a:pt x="11732" y="2223"/>
                  <a:pt x="11730" y="2127"/>
                  <a:pt x="11794" y="2077"/>
                </a:cubicBezTo>
                <a:cubicBezTo>
                  <a:pt x="11819" y="2057"/>
                  <a:pt x="11851" y="2051"/>
                  <a:pt x="11881" y="2054"/>
                </a:cubicBezTo>
                <a:close/>
                <a:moveTo>
                  <a:pt x="12567" y="2137"/>
                </a:moveTo>
                <a:cubicBezTo>
                  <a:pt x="12626" y="2113"/>
                  <a:pt x="12687" y="2140"/>
                  <a:pt x="12719" y="2196"/>
                </a:cubicBezTo>
                <a:cubicBezTo>
                  <a:pt x="12782" y="2308"/>
                  <a:pt x="12841" y="2428"/>
                  <a:pt x="12885" y="2548"/>
                </a:cubicBezTo>
                <a:cubicBezTo>
                  <a:pt x="12895" y="2574"/>
                  <a:pt x="12891" y="2603"/>
                  <a:pt x="12900" y="2630"/>
                </a:cubicBezTo>
                <a:cubicBezTo>
                  <a:pt x="12817" y="2659"/>
                  <a:pt x="12741" y="2699"/>
                  <a:pt x="12661" y="2734"/>
                </a:cubicBezTo>
                <a:cubicBezTo>
                  <a:pt x="12651" y="2703"/>
                  <a:pt x="12658" y="2668"/>
                  <a:pt x="12647" y="2637"/>
                </a:cubicBezTo>
                <a:cubicBezTo>
                  <a:pt x="12606" y="2529"/>
                  <a:pt x="12559" y="2424"/>
                  <a:pt x="12502" y="2323"/>
                </a:cubicBezTo>
                <a:cubicBezTo>
                  <a:pt x="12463" y="2255"/>
                  <a:pt x="12492" y="2167"/>
                  <a:pt x="12567" y="2137"/>
                </a:cubicBezTo>
                <a:close/>
                <a:moveTo>
                  <a:pt x="3789" y="2293"/>
                </a:moveTo>
                <a:cubicBezTo>
                  <a:pt x="4380" y="2293"/>
                  <a:pt x="4858" y="2788"/>
                  <a:pt x="4858" y="3399"/>
                </a:cubicBezTo>
                <a:cubicBezTo>
                  <a:pt x="4858" y="4011"/>
                  <a:pt x="4380" y="4505"/>
                  <a:pt x="3789" y="4505"/>
                </a:cubicBezTo>
                <a:cubicBezTo>
                  <a:pt x="3197" y="4505"/>
                  <a:pt x="2719" y="4011"/>
                  <a:pt x="2719" y="3399"/>
                </a:cubicBezTo>
                <a:cubicBezTo>
                  <a:pt x="2719" y="2788"/>
                  <a:pt x="3197" y="2293"/>
                  <a:pt x="3789" y="2293"/>
                </a:cubicBezTo>
                <a:close/>
                <a:moveTo>
                  <a:pt x="10725" y="2293"/>
                </a:moveTo>
                <a:cubicBezTo>
                  <a:pt x="11288" y="2293"/>
                  <a:pt x="11737" y="2746"/>
                  <a:pt x="11780" y="3317"/>
                </a:cubicBezTo>
                <a:cubicBezTo>
                  <a:pt x="11730" y="3364"/>
                  <a:pt x="11668" y="3394"/>
                  <a:pt x="11621" y="3444"/>
                </a:cubicBezTo>
                <a:cubicBezTo>
                  <a:pt x="11386" y="3694"/>
                  <a:pt x="11264" y="4028"/>
                  <a:pt x="11187" y="4393"/>
                </a:cubicBezTo>
                <a:cubicBezTo>
                  <a:pt x="11047" y="4463"/>
                  <a:pt x="10891" y="4505"/>
                  <a:pt x="10725" y="4505"/>
                </a:cubicBezTo>
                <a:cubicBezTo>
                  <a:pt x="10133" y="4505"/>
                  <a:pt x="9655" y="4011"/>
                  <a:pt x="9655" y="3399"/>
                </a:cubicBezTo>
                <a:cubicBezTo>
                  <a:pt x="9655" y="2788"/>
                  <a:pt x="10133" y="2293"/>
                  <a:pt x="10725" y="2293"/>
                </a:cubicBezTo>
                <a:close/>
                <a:moveTo>
                  <a:pt x="4042" y="2794"/>
                </a:moveTo>
                <a:cubicBezTo>
                  <a:pt x="3835" y="2794"/>
                  <a:pt x="3666" y="2969"/>
                  <a:pt x="3666" y="3183"/>
                </a:cubicBezTo>
                <a:cubicBezTo>
                  <a:pt x="3666" y="3396"/>
                  <a:pt x="3835" y="3564"/>
                  <a:pt x="4042" y="3564"/>
                </a:cubicBezTo>
                <a:cubicBezTo>
                  <a:pt x="4248" y="3564"/>
                  <a:pt x="4417" y="3396"/>
                  <a:pt x="4417" y="3183"/>
                </a:cubicBezTo>
                <a:cubicBezTo>
                  <a:pt x="4417" y="2969"/>
                  <a:pt x="4248" y="2794"/>
                  <a:pt x="4042" y="2794"/>
                </a:cubicBezTo>
                <a:close/>
                <a:moveTo>
                  <a:pt x="10978" y="2794"/>
                </a:moveTo>
                <a:cubicBezTo>
                  <a:pt x="10771" y="2794"/>
                  <a:pt x="10602" y="2969"/>
                  <a:pt x="10602" y="3183"/>
                </a:cubicBezTo>
                <a:cubicBezTo>
                  <a:pt x="10602" y="3396"/>
                  <a:pt x="10771" y="3564"/>
                  <a:pt x="10978" y="3564"/>
                </a:cubicBezTo>
                <a:cubicBezTo>
                  <a:pt x="11184" y="3564"/>
                  <a:pt x="11353" y="3396"/>
                  <a:pt x="11353" y="3183"/>
                </a:cubicBezTo>
                <a:cubicBezTo>
                  <a:pt x="11353" y="2969"/>
                  <a:pt x="11184" y="2794"/>
                  <a:pt x="10978" y="2794"/>
                </a:cubicBezTo>
                <a:close/>
                <a:moveTo>
                  <a:pt x="14879" y="2839"/>
                </a:moveTo>
                <a:cubicBezTo>
                  <a:pt x="14942" y="2839"/>
                  <a:pt x="14999" y="2887"/>
                  <a:pt x="15009" y="2951"/>
                </a:cubicBezTo>
                <a:cubicBezTo>
                  <a:pt x="15022" y="3033"/>
                  <a:pt x="14964" y="3108"/>
                  <a:pt x="14887" y="3108"/>
                </a:cubicBezTo>
                <a:cubicBezTo>
                  <a:pt x="14871" y="3108"/>
                  <a:pt x="14858" y="3115"/>
                  <a:pt x="14843" y="3115"/>
                </a:cubicBezTo>
                <a:cubicBezTo>
                  <a:pt x="14843" y="3023"/>
                  <a:pt x="14812" y="2937"/>
                  <a:pt x="14800" y="2846"/>
                </a:cubicBezTo>
                <a:cubicBezTo>
                  <a:pt x="14827" y="2846"/>
                  <a:pt x="14852" y="2839"/>
                  <a:pt x="14879" y="2839"/>
                </a:cubicBezTo>
                <a:close/>
                <a:moveTo>
                  <a:pt x="812" y="2921"/>
                </a:moveTo>
                <a:cubicBezTo>
                  <a:pt x="900" y="2901"/>
                  <a:pt x="1008" y="3047"/>
                  <a:pt x="1050" y="3250"/>
                </a:cubicBezTo>
                <a:cubicBezTo>
                  <a:pt x="1092" y="3453"/>
                  <a:pt x="1059" y="3634"/>
                  <a:pt x="971" y="3653"/>
                </a:cubicBezTo>
                <a:cubicBezTo>
                  <a:pt x="883" y="3673"/>
                  <a:pt x="774" y="3520"/>
                  <a:pt x="732" y="3317"/>
                </a:cubicBezTo>
                <a:cubicBezTo>
                  <a:pt x="690" y="3115"/>
                  <a:pt x="724" y="2941"/>
                  <a:pt x="812" y="2921"/>
                </a:cubicBezTo>
                <a:close/>
                <a:moveTo>
                  <a:pt x="7893" y="3018"/>
                </a:moveTo>
                <a:cubicBezTo>
                  <a:pt x="7932" y="3078"/>
                  <a:pt x="7967" y="3155"/>
                  <a:pt x="7986" y="3250"/>
                </a:cubicBezTo>
                <a:cubicBezTo>
                  <a:pt x="8029" y="3453"/>
                  <a:pt x="7995" y="3634"/>
                  <a:pt x="7907" y="3653"/>
                </a:cubicBezTo>
                <a:cubicBezTo>
                  <a:pt x="7884" y="3659"/>
                  <a:pt x="7859" y="3625"/>
                  <a:pt x="7835" y="3609"/>
                </a:cubicBezTo>
                <a:cubicBezTo>
                  <a:pt x="7874" y="3410"/>
                  <a:pt x="7902" y="3214"/>
                  <a:pt x="7893" y="3018"/>
                </a:cubicBezTo>
                <a:close/>
                <a:moveTo>
                  <a:pt x="13470" y="3272"/>
                </a:moveTo>
                <a:cubicBezTo>
                  <a:pt x="13533" y="3283"/>
                  <a:pt x="13579" y="3342"/>
                  <a:pt x="13579" y="3407"/>
                </a:cubicBezTo>
                <a:cubicBezTo>
                  <a:pt x="13579" y="3450"/>
                  <a:pt x="13574" y="3491"/>
                  <a:pt x="13572" y="3534"/>
                </a:cubicBezTo>
                <a:cubicBezTo>
                  <a:pt x="13436" y="3619"/>
                  <a:pt x="13293" y="3686"/>
                  <a:pt x="13174" y="3795"/>
                </a:cubicBezTo>
                <a:lnTo>
                  <a:pt x="13124" y="3788"/>
                </a:lnTo>
                <a:cubicBezTo>
                  <a:pt x="13062" y="3777"/>
                  <a:pt x="12999" y="3821"/>
                  <a:pt x="12986" y="3885"/>
                </a:cubicBezTo>
                <a:cubicBezTo>
                  <a:pt x="12967" y="3979"/>
                  <a:pt x="12943" y="4071"/>
                  <a:pt x="12914" y="4161"/>
                </a:cubicBezTo>
                <a:cubicBezTo>
                  <a:pt x="12914" y="4164"/>
                  <a:pt x="12915" y="4167"/>
                  <a:pt x="12914" y="4169"/>
                </a:cubicBezTo>
                <a:cubicBezTo>
                  <a:pt x="12901" y="4209"/>
                  <a:pt x="12871" y="4242"/>
                  <a:pt x="12856" y="4281"/>
                </a:cubicBezTo>
                <a:cubicBezTo>
                  <a:pt x="12810" y="4279"/>
                  <a:pt x="12762" y="4253"/>
                  <a:pt x="12733" y="4296"/>
                </a:cubicBezTo>
                <a:cubicBezTo>
                  <a:pt x="12659" y="4410"/>
                  <a:pt x="12595" y="4528"/>
                  <a:pt x="12538" y="4655"/>
                </a:cubicBezTo>
                <a:cubicBezTo>
                  <a:pt x="12518" y="4699"/>
                  <a:pt x="12474" y="4718"/>
                  <a:pt x="12430" y="4722"/>
                </a:cubicBezTo>
                <a:cubicBezTo>
                  <a:pt x="12419" y="4681"/>
                  <a:pt x="12398" y="4639"/>
                  <a:pt x="12423" y="4602"/>
                </a:cubicBezTo>
                <a:cubicBezTo>
                  <a:pt x="12479" y="4518"/>
                  <a:pt x="12524" y="4431"/>
                  <a:pt x="12567" y="4341"/>
                </a:cubicBezTo>
                <a:cubicBezTo>
                  <a:pt x="12592" y="4288"/>
                  <a:pt x="12558" y="4242"/>
                  <a:pt x="12517" y="4206"/>
                </a:cubicBezTo>
                <a:cubicBezTo>
                  <a:pt x="12581" y="4105"/>
                  <a:pt x="12629" y="3992"/>
                  <a:pt x="12705" y="3900"/>
                </a:cubicBezTo>
                <a:cubicBezTo>
                  <a:pt x="12709" y="3892"/>
                  <a:pt x="12719" y="3885"/>
                  <a:pt x="12726" y="3878"/>
                </a:cubicBezTo>
                <a:cubicBezTo>
                  <a:pt x="12728" y="3875"/>
                  <a:pt x="12724" y="3872"/>
                  <a:pt x="12726" y="3870"/>
                </a:cubicBezTo>
                <a:cubicBezTo>
                  <a:pt x="12842" y="3732"/>
                  <a:pt x="12979" y="3610"/>
                  <a:pt x="13116" y="3496"/>
                </a:cubicBezTo>
                <a:cubicBezTo>
                  <a:pt x="13127" y="3503"/>
                  <a:pt x="13125" y="3524"/>
                  <a:pt x="13138" y="3526"/>
                </a:cubicBezTo>
                <a:lnTo>
                  <a:pt x="13181" y="3534"/>
                </a:lnTo>
                <a:cubicBezTo>
                  <a:pt x="13253" y="3546"/>
                  <a:pt x="13318" y="3489"/>
                  <a:pt x="13319" y="3414"/>
                </a:cubicBezTo>
                <a:cubicBezTo>
                  <a:pt x="13319" y="3409"/>
                  <a:pt x="13319" y="3404"/>
                  <a:pt x="13319" y="3399"/>
                </a:cubicBezTo>
                <a:cubicBezTo>
                  <a:pt x="13319" y="3320"/>
                  <a:pt x="13391" y="3259"/>
                  <a:pt x="13470" y="3272"/>
                </a:cubicBezTo>
                <a:close/>
                <a:moveTo>
                  <a:pt x="2163" y="3452"/>
                </a:moveTo>
                <a:cubicBezTo>
                  <a:pt x="2227" y="3456"/>
                  <a:pt x="2279" y="3513"/>
                  <a:pt x="2286" y="3579"/>
                </a:cubicBezTo>
                <a:cubicBezTo>
                  <a:pt x="2363" y="4285"/>
                  <a:pt x="2884" y="4850"/>
                  <a:pt x="3565" y="4953"/>
                </a:cubicBezTo>
                <a:cubicBezTo>
                  <a:pt x="3621" y="4962"/>
                  <a:pt x="3664" y="5008"/>
                  <a:pt x="3673" y="5066"/>
                </a:cubicBezTo>
                <a:cubicBezTo>
                  <a:pt x="3597" y="5106"/>
                  <a:pt x="3515" y="5132"/>
                  <a:pt x="3442" y="5178"/>
                </a:cubicBezTo>
                <a:cubicBezTo>
                  <a:pt x="2999" y="5085"/>
                  <a:pt x="2613" y="4844"/>
                  <a:pt x="2358" y="4483"/>
                </a:cubicBezTo>
                <a:cubicBezTo>
                  <a:pt x="2319" y="4427"/>
                  <a:pt x="2252" y="4403"/>
                  <a:pt x="2192" y="4430"/>
                </a:cubicBezTo>
                <a:cubicBezTo>
                  <a:pt x="2110" y="4468"/>
                  <a:pt x="2074" y="4572"/>
                  <a:pt x="2127" y="4647"/>
                </a:cubicBezTo>
                <a:cubicBezTo>
                  <a:pt x="2382" y="5007"/>
                  <a:pt x="2750" y="5270"/>
                  <a:pt x="3160" y="5409"/>
                </a:cubicBezTo>
                <a:cubicBezTo>
                  <a:pt x="3081" y="5473"/>
                  <a:pt x="2995" y="5531"/>
                  <a:pt x="2922" y="5604"/>
                </a:cubicBezTo>
                <a:cubicBezTo>
                  <a:pt x="2913" y="5600"/>
                  <a:pt x="2902" y="5600"/>
                  <a:pt x="2893" y="5596"/>
                </a:cubicBezTo>
                <a:cubicBezTo>
                  <a:pt x="2821" y="5564"/>
                  <a:pt x="2735" y="5603"/>
                  <a:pt x="2705" y="5678"/>
                </a:cubicBezTo>
                <a:cubicBezTo>
                  <a:pt x="2685" y="5727"/>
                  <a:pt x="2728" y="5765"/>
                  <a:pt x="2755" y="5805"/>
                </a:cubicBezTo>
                <a:cubicBezTo>
                  <a:pt x="2696" y="5882"/>
                  <a:pt x="2658" y="5973"/>
                  <a:pt x="2611" y="6059"/>
                </a:cubicBezTo>
                <a:cubicBezTo>
                  <a:pt x="2558" y="6034"/>
                  <a:pt x="2496" y="6028"/>
                  <a:pt x="2445" y="6000"/>
                </a:cubicBezTo>
                <a:cubicBezTo>
                  <a:pt x="2444" y="5999"/>
                  <a:pt x="2445" y="5992"/>
                  <a:pt x="2445" y="5992"/>
                </a:cubicBezTo>
                <a:cubicBezTo>
                  <a:pt x="2436" y="5988"/>
                  <a:pt x="2423" y="5990"/>
                  <a:pt x="2416" y="5985"/>
                </a:cubicBezTo>
                <a:cubicBezTo>
                  <a:pt x="2142" y="5829"/>
                  <a:pt x="1894" y="5625"/>
                  <a:pt x="1679" y="5379"/>
                </a:cubicBezTo>
                <a:cubicBezTo>
                  <a:pt x="1627" y="5320"/>
                  <a:pt x="1640" y="5223"/>
                  <a:pt x="1708" y="5178"/>
                </a:cubicBezTo>
                <a:cubicBezTo>
                  <a:pt x="1761" y="5142"/>
                  <a:pt x="1831" y="5159"/>
                  <a:pt x="1874" y="5208"/>
                </a:cubicBezTo>
                <a:cubicBezTo>
                  <a:pt x="1999" y="5349"/>
                  <a:pt x="2138" y="5472"/>
                  <a:pt x="2286" y="5581"/>
                </a:cubicBezTo>
                <a:cubicBezTo>
                  <a:pt x="2360" y="5636"/>
                  <a:pt x="2460" y="5608"/>
                  <a:pt x="2495" y="5521"/>
                </a:cubicBezTo>
                <a:cubicBezTo>
                  <a:pt x="2521" y="5457"/>
                  <a:pt x="2505" y="5381"/>
                  <a:pt x="2452" y="5342"/>
                </a:cubicBezTo>
                <a:cubicBezTo>
                  <a:pt x="2160" y="5127"/>
                  <a:pt x="1914" y="4847"/>
                  <a:pt x="1744" y="4513"/>
                </a:cubicBezTo>
                <a:cubicBezTo>
                  <a:pt x="1741" y="4507"/>
                  <a:pt x="1739" y="4496"/>
                  <a:pt x="1737" y="4490"/>
                </a:cubicBezTo>
                <a:cubicBezTo>
                  <a:pt x="1735" y="4487"/>
                  <a:pt x="1738" y="4486"/>
                  <a:pt x="1737" y="4483"/>
                </a:cubicBezTo>
                <a:cubicBezTo>
                  <a:pt x="1668" y="4343"/>
                  <a:pt x="1605" y="4197"/>
                  <a:pt x="1563" y="4042"/>
                </a:cubicBezTo>
                <a:cubicBezTo>
                  <a:pt x="1542" y="3965"/>
                  <a:pt x="1591" y="3886"/>
                  <a:pt x="1672" y="3878"/>
                </a:cubicBezTo>
                <a:cubicBezTo>
                  <a:pt x="1735" y="3870"/>
                  <a:pt x="1791" y="3919"/>
                  <a:pt x="1809" y="3982"/>
                </a:cubicBezTo>
                <a:cubicBezTo>
                  <a:pt x="1822" y="4031"/>
                  <a:pt x="1843" y="4077"/>
                  <a:pt x="1860" y="4124"/>
                </a:cubicBezTo>
                <a:cubicBezTo>
                  <a:pt x="1888" y="4203"/>
                  <a:pt x="1973" y="4240"/>
                  <a:pt x="2047" y="4206"/>
                </a:cubicBezTo>
                <a:cubicBezTo>
                  <a:pt x="2116" y="4175"/>
                  <a:pt x="2152" y="4100"/>
                  <a:pt x="2127" y="4027"/>
                </a:cubicBezTo>
                <a:cubicBezTo>
                  <a:pt x="2079" y="3892"/>
                  <a:pt x="2041" y="3749"/>
                  <a:pt x="2026" y="3601"/>
                </a:cubicBezTo>
                <a:cubicBezTo>
                  <a:pt x="2017" y="3521"/>
                  <a:pt x="2082" y="3447"/>
                  <a:pt x="2163" y="3452"/>
                </a:cubicBezTo>
                <a:close/>
                <a:moveTo>
                  <a:pt x="9099" y="3452"/>
                </a:moveTo>
                <a:cubicBezTo>
                  <a:pt x="9163" y="3456"/>
                  <a:pt x="9215" y="3513"/>
                  <a:pt x="9222" y="3579"/>
                </a:cubicBezTo>
                <a:cubicBezTo>
                  <a:pt x="9271" y="4024"/>
                  <a:pt x="9504" y="4395"/>
                  <a:pt x="9836" y="4647"/>
                </a:cubicBezTo>
                <a:cubicBezTo>
                  <a:pt x="9722" y="4655"/>
                  <a:pt x="9608" y="4661"/>
                  <a:pt x="9497" y="4677"/>
                </a:cubicBezTo>
                <a:cubicBezTo>
                  <a:pt x="9431" y="4610"/>
                  <a:pt x="9349" y="4560"/>
                  <a:pt x="9294" y="4483"/>
                </a:cubicBezTo>
                <a:cubicBezTo>
                  <a:pt x="9255" y="4427"/>
                  <a:pt x="9189" y="4403"/>
                  <a:pt x="9128" y="4430"/>
                </a:cubicBezTo>
                <a:cubicBezTo>
                  <a:pt x="9046" y="4468"/>
                  <a:pt x="9010" y="4572"/>
                  <a:pt x="9063" y="4647"/>
                </a:cubicBezTo>
                <a:cubicBezTo>
                  <a:pt x="9093" y="4689"/>
                  <a:pt x="9146" y="4705"/>
                  <a:pt x="9179" y="4744"/>
                </a:cubicBezTo>
                <a:cubicBezTo>
                  <a:pt x="9081" y="4766"/>
                  <a:pt x="8984" y="4790"/>
                  <a:pt x="8890" y="4819"/>
                </a:cubicBezTo>
                <a:cubicBezTo>
                  <a:pt x="8817" y="4718"/>
                  <a:pt x="8737" y="4625"/>
                  <a:pt x="8680" y="4513"/>
                </a:cubicBezTo>
                <a:cubicBezTo>
                  <a:pt x="8677" y="4507"/>
                  <a:pt x="8675" y="4496"/>
                  <a:pt x="8673" y="4490"/>
                </a:cubicBezTo>
                <a:cubicBezTo>
                  <a:pt x="8672" y="4487"/>
                  <a:pt x="8674" y="4486"/>
                  <a:pt x="8673" y="4483"/>
                </a:cubicBezTo>
                <a:cubicBezTo>
                  <a:pt x="8604" y="4343"/>
                  <a:pt x="8541" y="4197"/>
                  <a:pt x="8499" y="4042"/>
                </a:cubicBezTo>
                <a:cubicBezTo>
                  <a:pt x="8479" y="3965"/>
                  <a:pt x="8527" y="3886"/>
                  <a:pt x="8608" y="3878"/>
                </a:cubicBezTo>
                <a:cubicBezTo>
                  <a:pt x="8671" y="3870"/>
                  <a:pt x="8728" y="3919"/>
                  <a:pt x="8745" y="3982"/>
                </a:cubicBezTo>
                <a:cubicBezTo>
                  <a:pt x="8759" y="4031"/>
                  <a:pt x="8779" y="4077"/>
                  <a:pt x="8796" y="4124"/>
                </a:cubicBezTo>
                <a:cubicBezTo>
                  <a:pt x="8824" y="4203"/>
                  <a:pt x="8909" y="4240"/>
                  <a:pt x="8984" y="4206"/>
                </a:cubicBezTo>
                <a:cubicBezTo>
                  <a:pt x="9052" y="4175"/>
                  <a:pt x="9089" y="4100"/>
                  <a:pt x="9063" y="4027"/>
                </a:cubicBezTo>
                <a:cubicBezTo>
                  <a:pt x="9016" y="3892"/>
                  <a:pt x="8977" y="3749"/>
                  <a:pt x="8962" y="3601"/>
                </a:cubicBezTo>
                <a:cubicBezTo>
                  <a:pt x="8954" y="3521"/>
                  <a:pt x="9018" y="3447"/>
                  <a:pt x="9099" y="3452"/>
                </a:cubicBezTo>
                <a:close/>
                <a:moveTo>
                  <a:pt x="14807" y="3459"/>
                </a:moveTo>
                <a:cubicBezTo>
                  <a:pt x="14844" y="3485"/>
                  <a:pt x="14892" y="3497"/>
                  <a:pt x="14887" y="3549"/>
                </a:cubicBezTo>
                <a:cubicBezTo>
                  <a:pt x="14879" y="3614"/>
                  <a:pt x="14827" y="3664"/>
                  <a:pt x="14764" y="3668"/>
                </a:cubicBezTo>
                <a:cubicBezTo>
                  <a:pt x="14779" y="3599"/>
                  <a:pt x="14797" y="3528"/>
                  <a:pt x="14807" y="3459"/>
                </a:cubicBezTo>
                <a:close/>
                <a:moveTo>
                  <a:pt x="15768" y="3459"/>
                </a:moveTo>
                <a:cubicBezTo>
                  <a:pt x="15840" y="3459"/>
                  <a:pt x="15929" y="3484"/>
                  <a:pt x="16021" y="3526"/>
                </a:cubicBezTo>
                <a:cubicBezTo>
                  <a:pt x="16204" y="3611"/>
                  <a:pt x="16325" y="3747"/>
                  <a:pt x="16288" y="3833"/>
                </a:cubicBezTo>
                <a:cubicBezTo>
                  <a:pt x="16251" y="3918"/>
                  <a:pt x="16074" y="3917"/>
                  <a:pt x="15891" y="3833"/>
                </a:cubicBezTo>
                <a:cubicBezTo>
                  <a:pt x="15708" y="3748"/>
                  <a:pt x="15587" y="3612"/>
                  <a:pt x="15623" y="3526"/>
                </a:cubicBezTo>
                <a:cubicBezTo>
                  <a:pt x="15642" y="3484"/>
                  <a:pt x="15696" y="3459"/>
                  <a:pt x="15768" y="3459"/>
                </a:cubicBezTo>
                <a:close/>
                <a:moveTo>
                  <a:pt x="13507" y="3915"/>
                </a:moveTo>
                <a:cubicBezTo>
                  <a:pt x="13480" y="4068"/>
                  <a:pt x="13426" y="4210"/>
                  <a:pt x="13376" y="4356"/>
                </a:cubicBezTo>
                <a:cubicBezTo>
                  <a:pt x="13358" y="4377"/>
                  <a:pt x="13337" y="4394"/>
                  <a:pt x="13319" y="4416"/>
                </a:cubicBezTo>
                <a:cubicBezTo>
                  <a:pt x="13317" y="4418"/>
                  <a:pt x="13320" y="4421"/>
                  <a:pt x="13319" y="4423"/>
                </a:cubicBezTo>
                <a:cubicBezTo>
                  <a:pt x="13317" y="4424"/>
                  <a:pt x="13313" y="4422"/>
                  <a:pt x="13311" y="4423"/>
                </a:cubicBezTo>
                <a:cubicBezTo>
                  <a:pt x="13159" y="4611"/>
                  <a:pt x="13034" y="4833"/>
                  <a:pt x="12950" y="5073"/>
                </a:cubicBezTo>
                <a:cubicBezTo>
                  <a:pt x="12932" y="5127"/>
                  <a:pt x="12887" y="5155"/>
                  <a:pt x="12835" y="5155"/>
                </a:cubicBezTo>
                <a:cubicBezTo>
                  <a:pt x="12814" y="5155"/>
                  <a:pt x="12789" y="5151"/>
                  <a:pt x="12770" y="5140"/>
                </a:cubicBezTo>
                <a:cubicBezTo>
                  <a:pt x="12737" y="5122"/>
                  <a:pt x="12741" y="5080"/>
                  <a:pt x="12733" y="5043"/>
                </a:cubicBezTo>
                <a:cubicBezTo>
                  <a:pt x="12958" y="4749"/>
                  <a:pt x="13134" y="4425"/>
                  <a:pt x="13225" y="4064"/>
                </a:cubicBezTo>
                <a:cubicBezTo>
                  <a:pt x="13248" y="4059"/>
                  <a:pt x="13271" y="4082"/>
                  <a:pt x="13290" y="4064"/>
                </a:cubicBezTo>
                <a:cubicBezTo>
                  <a:pt x="13353" y="4002"/>
                  <a:pt x="13438" y="3969"/>
                  <a:pt x="13507" y="3915"/>
                </a:cubicBezTo>
                <a:close/>
                <a:moveTo>
                  <a:pt x="17820" y="4341"/>
                </a:moveTo>
                <a:cubicBezTo>
                  <a:pt x="17831" y="4337"/>
                  <a:pt x="17837" y="4340"/>
                  <a:pt x="17849" y="4341"/>
                </a:cubicBezTo>
                <a:cubicBezTo>
                  <a:pt x="17930" y="4348"/>
                  <a:pt x="18035" y="4469"/>
                  <a:pt x="18095" y="4640"/>
                </a:cubicBezTo>
                <a:cubicBezTo>
                  <a:pt x="18162" y="4835"/>
                  <a:pt x="18143" y="5019"/>
                  <a:pt x="18058" y="5051"/>
                </a:cubicBezTo>
                <a:cubicBezTo>
                  <a:pt x="17973" y="5082"/>
                  <a:pt x="17851" y="4947"/>
                  <a:pt x="17784" y="4752"/>
                </a:cubicBezTo>
                <a:cubicBezTo>
                  <a:pt x="17716" y="4557"/>
                  <a:pt x="17735" y="4372"/>
                  <a:pt x="17820" y="4341"/>
                </a:cubicBezTo>
                <a:close/>
                <a:moveTo>
                  <a:pt x="16043" y="4445"/>
                </a:moveTo>
                <a:cubicBezTo>
                  <a:pt x="16073" y="4448"/>
                  <a:pt x="16107" y="4460"/>
                  <a:pt x="16129" y="4483"/>
                </a:cubicBezTo>
                <a:cubicBezTo>
                  <a:pt x="16472" y="4830"/>
                  <a:pt x="16657" y="5294"/>
                  <a:pt x="16657" y="5790"/>
                </a:cubicBezTo>
                <a:cubicBezTo>
                  <a:pt x="16657" y="5915"/>
                  <a:pt x="16644" y="6037"/>
                  <a:pt x="16621" y="6156"/>
                </a:cubicBezTo>
                <a:cubicBezTo>
                  <a:pt x="16609" y="6217"/>
                  <a:pt x="16643" y="6280"/>
                  <a:pt x="16700" y="6298"/>
                </a:cubicBezTo>
                <a:lnTo>
                  <a:pt x="16751" y="6313"/>
                </a:lnTo>
                <a:cubicBezTo>
                  <a:pt x="16818" y="6335"/>
                  <a:pt x="16888" y="6287"/>
                  <a:pt x="16902" y="6216"/>
                </a:cubicBezTo>
                <a:cubicBezTo>
                  <a:pt x="16931" y="6076"/>
                  <a:pt x="16946" y="5936"/>
                  <a:pt x="16946" y="5790"/>
                </a:cubicBezTo>
                <a:cubicBezTo>
                  <a:pt x="16946" y="5528"/>
                  <a:pt x="16899" y="5271"/>
                  <a:pt x="16808" y="5028"/>
                </a:cubicBezTo>
                <a:cubicBezTo>
                  <a:pt x="16768" y="4920"/>
                  <a:pt x="16721" y="4815"/>
                  <a:pt x="16664" y="4714"/>
                </a:cubicBezTo>
                <a:cubicBezTo>
                  <a:pt x="16625" y="4646"/>
                  <a:pt x="16654" y="4558"/>
                  <a:pt x="16729" y="4528"/>
                </a:cubicBezTo>
                <a:cubicBezTo>
                  <a:pt x="16788" y="4504"/>
                  <a:pt x="16849" y="4531"/>
                  <a:pt x="16881" y="4587"/>
                </a:cubicBezTo>
                <a:cubicBezTo>
                  <a:pt x="16944" y="4699"/>
                  <a:pt x="17002" y="4819"/>
                  <a:pt x="17047" y="4939"/>
                </a:cubicBezTo>
                <a:cubicBezTo>
                  <a:pt x="17148" y="5211"/>
                  <a:pt x="17199" y="5496"/>
                  <a:pt x="17199" y="5790"/>
                </a:cubicBezTo>
                <a:cubicBezTo>
                  <a:pt x="17199" y="5853"/>
                  <a:pt x="17242" y="5907"/>
                  <a:pt x="17300" y="5917"/>
                </a:cubicBezTo>
                <a:lnTo>
                  <a:pt x="17343" y="5925"/>
                </a:lnTo>
                <a:cubicBezTo>
                  <a:pt x="17414" y="5937"/>
                  <a:pt x="17480" y="5880"/>
                  <a:pt x="17480" y="5805"/>
                </a:cubicBezTo>
                <a:cubicBezTo>
                  <a:pt x="17480" y="5800"/>
                  <a:pt x="17480" y="5795"/>
                  <a:pt x="17480" y="5790"/>
                </a:cubicBezTo>
                <a:cubicBezTo>
                  <a:pt x="17480" y="5711"/>
                  <a:pt x="17553" y="5650"/>
                  <a:pt x="17632" y="5663"/>
                </a:cubicBezTo>
                <a:cubicBezTo>
                  <a:pt x="17694" y="5674"/>
                  <a:pt x="17741" y="5733"/>
                  <a:pt x="17740" y="5798"/>
                </a:cubicBezTo>
                <a:cubicBezTo>
                  <a:pt x="17740" y="5904"/>
                  <a:pt x="17730" y="6007"/>
                  <a:pt x="17719" y="6112"/>
                </a:cubicBezTo>
                <a:cubicBezTo>
                  <a:pt x="17719" y="6115"/>
                  <a:pt x="17719" y="6116"/>
                  <a:pt x="17719" y="6119"/>
                </a:cubicBezTo>
                <a:cubicBezTo>
                  <a:pt x="17719" y="6121"/>
                  <a:pt x="17719" y="6125"/>
                  <a:pt x="17719" y="6127"/>
                </a:cubicBezTo>
                <a:cubicBezTo>
                  <a:pt x="17685" y="6428"/>
                  <a:pt x="17585" y="6711"/>
                  <a:pt x="17466" y="6986"/>
                </a:cubicBezTo>
                <a:cubicBezTo>
                  <a:pt x="17383" y="6960"/>
                  <a:pt x="17312" y="6918"/>
                  <a:pt x="17227" y="6896"/>
                </a:cubicBezTo>
                <a:cubicBezTo>
                  <a:pt x="17308" y="6714"/>
                  <a:pt x="17390" y="6532"/>
                  <a:pt x="17430" y="6336"/>
                </a:cubicBezTo>
                <a:cubicBezTo>
                  <a:pt x="17444" y="6267"/>
                  <a:pt x="17403" y="6198"/>
                  <a:pt x="17336" y="6186"/>
                </a:cubicBezTo>
                <a:lnTo>
                  <a:pt x="17285" y="6179"/>
                </a:lnTo>
                <a:cubicBezTo>
                  <a:pt x="17223" y="6168"/>
                  <a:pt x="17161" y="6212"/>
                  <a:pt x="17148" y="6276"/>
                </a:cubicBezTo>
                <a:cubicBezTo>
                  <a:pt x="17129" y="6370"/>
                  <a:pt x="17105" y="6462"/>
                  <a:pt x="17076" y="6552"/>
                </a:cubicBezTo>
                <a:cubicBezTo>
                  <a:pt x="17075" y="6555"/>
                  <a:pt x="17076" y="6558"/>
                  <a:pt x="17076" y="6560"/>
                </a:cubicBezTo>
                <a:cubicBezTo>
                  <a:pt x="17042" y="6663"/>
                  <a:pt x="16979" y="6754"/>
                  <a:pt x="16931" y="6851"/>
                </a:cubicBezTo>
                <a:cubicBezTo>
                  <a:pt x="16850" y="6834"/>
                  <a:pt x="16767" y="6828"/>
                  <a:pt x="16686" y="6814"/>
                </a:cubicBezTo>
                <a:cubicBezTo>
                  <a:pt x="16700" y="6786"/>
                  <a:pt x="16716" y="6760"/>
                  <a:pt x="16729" y="6732"/>
                </a:cubicBezTo>
                <a:cubicBezTo>
                  <a:pt x="16761" y="6664"/>
                  <a:pt x="16733" y="6583"/>
                  <a:pt x="16664" y="6560"/>
                </a:cubicBezTo>
                <a:lnTo>
                  <a:pt x="16613" y="6545"/>
                </a:lnTo>
                <a:cubicBezTo>
                  <a:pt x="16558" y="6527"/>
                  <a:pt x="16502" y="6551"/>
                  <a:pt x="16476" y="6605"/>
                </a:cubicBezTo>
                <a:cubicBezTo>
                  <a:pt x="16445" y="6670"/>
                  <a:pt x="16385" y="6716"/>
                  <a:pt x="16346" y="6777"/>
                </a:cubicBezTo>
                <a:cubicBezTo>
                  <a:pt x="16259" y="6767"/>
                  <a:pt x="16173" y="6745"/>
                  <a:pt x="16086" y="6739"/>
                </a:cubicBezTo>
                <a:cubicBezTo>
                  <a:pt x="16184" y="6608"/>
                  <a:pt x="16264" y="6469"/>
                  <a:pt x="16317" y="6313"/>
                </a:cubicBezTo>
                <a:cubicBezTo>
                  <a:pt x="16317" y="6312"/>
                  <a:pt x="16317" y="6307"/>
                  <a:pt x="16317" y="6306"/>
                </a:cubicBezTo>
                <a:cubicBezTo>
                  <a:pt x="16372" y="6143"/>
                  <a:pt x="16404" y="5969"/>
                  <a:pt x="16404" y="5790"/>
                </a:cubicBezTo>
                <a:cubicBezTo>
                  <a:pt x="16404" y="5364"/>
                  <a:pt x="16244" y="4967"/>
                  <a:pt x="15949" y="4670"/>
                </a:cubicBezTo>
                <a:cubicBezTo>
                  <a:pt x="15893" y="4614"/>
                  <a:pt x="15892" y="4518"/>
                  <a:pt x="15956" y="4468"/>
                </a:cubicBezTo>
                <a:cubicBezTo>
                  <a:pt x="15981" y="4448"/>
                  <a:pt x="16012" y="4442"/>
                  <a:pt x="16043" y="4445"/>
                </a:cubicBezTo>
                <a:close/>
                <a:moveTo>
                  <a:pt x="7452" y="4632"/>
                </a:moveTo>
                <a:cubicBezTo>
                  <a:pt x="7522" y="4779"/>
                  <a:pt x="7600" y="4925"/>
                  <a:pt x="7683" y="5066"/>
                </a:cubicBezTo>
                <a:cubicBezTo>
                  <a:pt x="7551" y="5016"/>
                  <a:pt x="7429" y="4958"/>
                  <a:pt x="7293" y="4916"/>
                </a:cubicBezTo>
                <a:cubicBezTo>
                  <a:pt x="7356" y="4823"/>
                  <a:pt x="7397" y="4728"/>
                  <a:pt x="7452" y="4632"/>
                </a:cubicBezTo>
                <a:close/>
                <a:moveTo>
                  <a:pt x="14887" y="4684"/>
                </a:moveTo>
                <a:cubicBezTo>
                  <a:pt x="15478" y="4684"/>
                  <a:pt x="15956" y="5179"/>
                  <a:pt x="15956" y="5790"/>
                </a:cubicBezTo>
                <a:cubicBezTo>
                  <a:pt x="15956" y="6187"/>
                  <a:pt x="15746" y="6521"/>
                  <a:pt x="15443" y="6717"/>
                </a:cubicBezTo>
                <a:cubicBezTo>
                  <a:pt x="15169" y="6733"/>
                  <a:pt x="14901" y="6772"/>
                  <a:pt x="14641" y="6836"/>
                </a:cubicBezTo>
                <a:cubicBezTo>
                  <a:pt x="14477" y="6505"/>
                  <a:pt x="14187" y="6202"/>
                  <a:pt x="13846" y="5917"/>
                </a:cubicBezTo>
                <a:cubicBezTo>
                  <a:pt x="13841" y="5874"/>
                  <a:pt x="13817" y="5835"/>
                  <a:pt x="13817" y="5790"/>
                </a:cubicBezTo>
                <a:cubicBezTo>
                  <a:pt x="13817" y="5543"/>
                  <a:pt x="13909" y="5324"/>
                  <a:pt x="14041" y="5140"/>
                </a:cubicBezTo>
                <a:cubicBezTo>
                  <a:pt x="14089" y="5079"/>
                  <a:pt x="14148" y="5024"/>
                  <a:pt x="14193" y="4961"/>
                </a:cubicBezTo>
                <a:cubicBezTo>
                  <a:pt x="14381" y="4793"/>
                  <a:pt x="14619" y="4684"/>
                  <a:pt x="14887" y="4684"/>
                </a:cubicBezTo>
                <a:close/>
                <a:moveTo>
                  <a:pt x="6079" y="5073"/>
                </a:moveTo>
                <a:cubicBezTo>
                  <a:pt x="6006" y="5180"/>
                  <a:pt x="5935" y="5290"/>
                  <a:pt x="5848" y="5387"/>
                </a:cubicBezTo>
                <a:cubicBezTo>
                  <a:pt x="5741" y="5398"/>
                  <a:pt x="5640" y="5429"/>
                  <a:pt x="5537" y="5454"/>
                </a:cubicBezTo>
                <a:cubicBezTo>
                  <a:pt x="5544" y="5428"/>
                  <a:pt x="5524" y="5399"/>
                  <a:pt x="5544" y="5379"/>
                </a:cubicBezTo>
                <a:cubicBezTo>
                  <a:pt x="5625" y="5303"/>
                  <a:pt x="5677" y="5203"/>
                  <a:pt x="5747" y="5118"/>
                </a:cubicBezTo>
                <a:cubicBezTo>
                  <a:pt x="5857" y="5103"/>
                  <a:pt x="5966" y="5074"/>
                  <a:pt x="6079" y="5073"/>
                </a:cubicBezTo>
                <a:close/>
                <a:moveTo>
                  <a:pt x="10602" y="5088"/>
                </a:moveTo>
                <a:cubicBezTo>
                  <a:pt x="10595" y="5155"/>
                  <a:pt x="10557" y="5215"/>
                  <a:pt x="10494" y="5215"/>
                </a:cubicBezTo>
                <a:cubicBezTo>
                  <a:pt x="10488" y="5215"/>
                  <a:pt x="10478" y="5216"/>
                  <a:pt x="10472" y="5215"/>
                </a:cubicBezTo>
                <a:cubicBezTo>
                  <a:pt x="10390" y="5203"/>
                  <a:pt x="10326" y="5156"/>
                  <a:pt x="10248" y="5133"/>
                </a:cubicBezTo>
                <a:cubicBezTo>
                  <a:pt x="10364" y="5112"/>
                  <a:pt x="10482" y="5093"/>
                  <a:pt x="10602" y="5088"/>
                </a:cubicBezTo>
                <a:close/>
                <a:moveTo>
                  <a:pt x="15139" y="5185"/>
                </a:moveTo>
                <a:cubicBezTo>
                  <a:pt x="14933" y="5185"/>
                  <a:pt x="14764" y="5360"/>
                  <a:pt x="14764" y="5574"/>
                </a:cubicBezTo>
                <a:cubicBezTo>
                  <a:pt x="14764" y="5787"/>
                  <a:pt x="14933" y="5955"/>
                  <a:pt x="15139" y="5955"/>
                </a:cubicBezTo>
                <a:cubicBezTo>
                  <a:pt x="15346" y="5955"/>
                  <a:pt x="15515" y="5787"/>
                  <a:pt x="15515" y="5574"/>
                </a:cubicBezTo>
                <a:cubicBezTo>
                  <a:pt x="15515" y="5360"/>
                  <a:pt x="15346" y="5185"/>
                  <a:pt x="15139" y="5185"/>
                </a:cubicBezTo>
                <a:close/>
                <a:moveTo>
                  <a:pt x="9764" y="5267"/>
                </a:moveTo>
                <a:cubicBezTo>
                  <a:pt x="9900" y="5343"/>
                  <a:pt x="10040" y="5404"/>
                  <a:pt x="10190" y="5447"/>
                </a:cubicBezTo>
                <a:cubicBezTo>
                  <a:pt x="9838" y="5527"/>
                  <a:pt x="9518" y="5670"/>
                  <a:pt x="9229" y="5887"/>
                </a:cubicBezTo>
                <a:cubicBezTo>
                  <a:pt x="9144" y="5832"/>
                  <a:pt x="9071" y="5758"/>
                  <a:pt x="8991" y="5693"/>
                </a:cubicBezTo>
                <a:cubicBezTo>
                  <a:pt x="9054" y="5642"/>
                  <a:pt x="9126" y="5604"/>
                  <a:pt x="9193" y="5559"/>
                </a:cubicBezTo>
                <a:cubicBezTo>
                  <a:pt x="9203" y="5566"/>
                  <a:pt x="9212" y="5574"/>
                  <a:pt x="9222" y="5581"/>
                </a:cubicBezTo>
                <a:cubicBezTo>
                  <a:pt x="9296" y="5636"/>
                  <a:pt x="9397" y="5608"/>
                  <a:pt x="9432" y="5521"/>
                </a:cubicBezTo>
                <a:cubicBezTo>
                  <a:pt x="9445" y="5487"/>
                  <a:pt x="9420" y="5457"/>
                  <a:pt x="9410" y="5424"/>
                </a:cubicBezTo>
                <a:cubicBezTo>
                  <a:pt x="9524" y="5362"/>
                  <a:pt x="9642" y="5313"/>
                  <a:pt x="9764" y="5267"/>
                </a:cubicBezTo>
                <a:close/>
                <a:moveTo>
                  <a:pt x="10595" y="5633"/>
                </a:moveTo>
                <a:cubicBezTo>
                  <a:pt x="10672" y="5628"/>
                  <a:pt x="10734" y="5700"/>
                  <a:pt x="10725" y="5783"/>
                </a:cubicBezTo>
                <a:cubicBezTo>
                  <a:pt x="10725" y="5785"/>
                  <a:pt x="10725" y="5788"/>
                  <a:pt x="10725" y="5790"/>
                </a:cubicBezTo>
                <a:cubicBezTo>
                  <a:pt x="10583" y="5790"/>
                  <a:pt x="10457" y="5727"/>
                  <a:pt x="10320" y="5701"/>
                </a:cubicBezTo>
                <a:cubicBezTo>
                  <a:pt x="10414" y="5683"/>
                  <a:pt x="10498" y="5639"/>
                  <a:pt x="10595" y="5633"/>
                </a:cubicBezTo>
                <a:close/>
                <a:moveTo>
                  <a:pt x="6982" y="5693"/>
                </a:moveTo>
                <a:cubicBezTo>
                  <a:pt x="7054" y="5693"/>
                  <a:pt x="7144" y="5711"/>
                  <a:pt x="7235" y="5753"/>
                </a:cubicBezTo>
                <a:cubicBezTo>
                  <a:pt x="7287" y="5777"/>
                  <a:pt x="7318" y="5812"/>
                  <a:pt x="7358" y="5843"/>
                </a:cubicBezTo>
                <a:cubicBezTo>
                  <a:pt x="7301" y="5919"/>
                  <a:pt x="7257" y="6003"/>
                  <a:pt x="7213" y="6089"/>
                </a:cubicBezTo>
                <a:cubicBezTo>
                  <a:pt x="7176" y="6079"/>
                  <a:pt x="7144" y="6085"/>
                  <a:pt x="7105" y="6067"/>
                </a:cubicBezTo>
                <a:cubicBezTo>
                  <a:pt x="6922" y="5982"/>
                  <a:pt x="6801" y="5846"/>
                  <a:pt x="6838" y="5760"/>
                </a:cubicBezTo>
                <a:cubicBezTo>
                  <a:pt x="6856" y="5718"/>
                  <a:pt x="6910" y="5693"/>
                  <a:pt x="6982" y="5693"/>
                </a:cubicBezTo>
                <a:close/>
                <a:moveTo>
                  <a:pt x="9735" y="5880"/>
                </a:moveTo>
                <a:cubicBezTo>
                  <a:pt x="9873" y="5939"/>
                  <a:pt x="10014" y="5988"/>
                  <a:pt x="10161" y="6022"/>
                </a:cubicBezTo>
                <a:cubicBezTo>
                  <a:pt x="10041" y="6059"/>
                  <a:pt x="9910" y="6069"/>
                  <a:pt x="9800" y="6127"/>
                </a:cubicBezTo>
                <a:cubicBezTo>
                  <a:pt x="9789" y="6132"/>
                  <a:pt x="9801" y="6149"/>
                  <a:pt x="9793" y="6156"/>
                </a:cubicBezTo>
                <a:cubicBezTo>
                  <a:pt x="9693" y="6120"/>
                  <a:pt x="9591" y="6092"/>
                  <a:pt x="9497" y="6044"/>
                </a:cubicBezTo>
                <a:cubicBezTo>
                  <a:pt x="9577" y="5991"/>
                  <a:pt x="9648" y="5923"/>
                  <a:pt x="9735" y="5880"/>
                </a:cubicBezTo>
                <a:close/>
                <a:moveTo>
                  <a:pt x="11924" y="5947"/>
                </a:moveTo>
                <a:cubicBezTo>
                  <a:pt x="11932" y="5957"/>
                  <a:pt x="11964" y="5951"/>
                  <a:pt x="11968" y="5962"/>
                </a:cubicBezTo>
                <a:cubicBezTo>
                  <a:pt x="11969" y="5967"/>
                  <a:pt x="11960" y="5972"/>
                  <a:pt x="11960" y="5977"/>
                </a:cubicBezTo>
                <a:cubicBezTo>
                  <a:pt x="11949" y="5964"/>
                  <a:pt x="11935" y="5964"/>
                  <a:pt x="11924" y="5947"/>
                </a:cubicBezTo>
                <a:close/>
                <a:moveTo>
                  <a:pt x="5002" y="5955"/>
                </a:moveTo>
                <a:cubicBezTo>
                  <a:pt x="5006" y="5961"/>
                  <a:pt x="5029" y="5955"/>
                  <a:pt x="5031" y="5962"/>
                </a:cubicBezTo>
                <a:cubicBezTo>
                  <a:pt x="5055" y="6052"/>
                  <a:pt x="4921" y="6168"/>
                  <a:pt x="4728" y="6224"/>
                </a:cubicBezTo>
                <a:cubicBezTo>
                  <a:pt x="4674" y="6239"/>
                  <a:pt x="4632" y="6236"/>
                  <a:pt x="4583" y="6239"/>
                </a:cubicBezTo>
                <a:cubicBezTo>
                  <a:pt x="4709" y="6124"/>
                  <a:pt x="4856" y="6039"/>
                  <a:pt x="5002" y="5955"/>
                </a:cubicBezTo>
                <a:close/>
                <a:moveTo>
                  <a:pt x="5631" y="6433"/>
                </a:moveTo>
                <a:cubicBezTo>
                  <a:pt x="5628" y="6487"/>
                  <a:pt x="5602" y="6540"/>
                  <a:pt x="5552" y="6560"/>
                </a:cubicBezTo>
                <a:cubicBezTo>
                  <a:pt x="5242" y="6684"/>
                  <a:pt x="4981" y="6916"/>
                  <a:pt x="4807" y="7210"/>
                </a:cubicBezTo>
                <a:cubicBezTo>
                  <a:pt x="4783" y="7251"/>
                  <a:pt x="4742" y="7270"/>
                  <a:pt x="4699" y="7270"/>
                </a:cubicBezTo>
                <a:cubicBezTo>
                  <a:pt x="4671" y="7270"/>
                  <a:pt x="4644" y="7259"/>
                  <a:pt x="4620" y="7240"/>
                </a:cubicBezTo>
                <a:cubicBezTo>
                  <a:pt x="4569" y="7198"/>
                  <a:pt x="4557" y="7125"/>
                  <a:pt x="4591" y="7068"/>
                </a:cubicBezTo>
                <a:cubicBezTo>
                  <a:pt x="4641" y="6983"/>
                  <a:pt x="4708" y="6911"/>
                  <a:pt x="4771" y="6836"/>
                </a:cubicBezTo>
                <a:cubicBezTo>
                  <a:pt x="5068" y="6736"/>
                  <a:pt x="5351" y="6598"/>
                  <a:pt x="5631" y="6433"/>
                </a:cubicBezTo>
                <a:close/>
                <a:moveTo>
                  <a:pt x="9063" y="6567"/>
                </a:moveTo>
                <a:cubicBezTo>
                  <a:pt x="9089" y="6570"/>
                  <a:pt x="9114" y="6640"/>
                  <a:pt x="9142" y="6665"/>
                </a:cubicBezTo>
                <a:cubicBezTo>
                  <a:pt x="9078" y="6745"/>
                  <a:pt x="9044" y="6850"/>
                  <a:pt x="8991" y="6941"/>
                </a:cubicBezTo>
                <a:cubicBezTo>
                  <a:pt x="8941" y="6765"/>
                  <a:pt x="8956" y="6604"/>
                  <a:pt x="9034" y="6575"/>
                </a:cubicBezTo>
                <a:cubicBezTo>
                  <a:pt x="9045" y="6571"/>
                  <a:pt x="9051" y="6566"/>
                  <a:pt x="9063" y="6567"/>
                </a:cubicBezTo>
                <a:close/>
                <a:moveTo>
                  <a:pt x="13629" y="6627"/>
                </a:moveTo>
                <a:cubicBezTo>
                  <a:pt x="13719" y="6772"/>
                  <a:pt x="13824" y="6894"/>
                  <a:pt x="13954" y="7001"/>
                </a:cubicBezTo>
                <a:cubicBezTo>
                  <a:pt x="13958" y="7026"/>
                  <a:pt x="13968" y="7052"/>
                  <a:pt x="13969" y="7075"/>
                </a:cubicBezTo>
                <a:cubicBezTo>
                  <a:pt x="13903" y="7107"/>
                  <a:pt x="13838" y="7137"/>
                  <a:pt x="13774" y="7173"/>
                </a:cubicBezTo>
                <a:cubicBezTo>
                  <a:pt x="13741" y="7144"/>
                  <a:pt x="13711" y="7114"/>
                  <a:pt x="13680" y="7083"/>
                </a:cubicBezTo>
                <a:cubicBezTo>
                  <a:pt x="13661" y="7048"/>
                  <a:pt x="13636" y="7027"/>
                  <a:pt x="13622" y="6986"/>
                </a:cubicBezTo>
                <a:cubicBezTo>
                  <a:pt x="13567" y="6826"/>
                  <a:pt x="13581" y="6695"/>
                  <a:pt x="13629" y="6627"/>
                </a:cubicBezTo>
                <a:close/>
                <a:moveTo>
                  <a:pt x="6101" y="6911"/>
                </a:moveTo>
                <a:cubicBezTo>
                  <a:pt x="6462" y="6911"/>
                  <a:pt x="6767" y="7113"/>
                  <a:pt x="6960" y="7397"/>
                </a:cubicBezTo>
                <a:cubicBezTo>
                  <a:pt x="6974" y="7705"/>
                  <a:pt x="7026" y="8016"/>
                  <a:pt x="7112" y="8338"/>
                </a:cubicBezTo>
                <a:cubicBezTo>
                  <a:pt x="7090" y="8415"/>
                  <a:pt x="7063" y="8486"/>
                  <a:pt x="7026" y="8555"/>
                </a:cubicBezTo>
                <a:cubicBezTo>
                  <a:pt x="6859" y="8407"/>
                  <a:pt x="6649" y="8282"/>
                  <a:pt x="6448" y="8151"/>
                </a:cubicBezTo>
                <a:cubicBezTo>
                  <a:pt x="6603" y="8104"/>
                  <a:pt x="6729" y="7976"/>
                  <a:pt x="6729" y="7800"/>
                </a:cubicBezTo>
                <a:cubicBezTo>
                  <a:pt x="6729" y="7587"/>
                  <a:pt x="6560" y="7419"/>
                  <a:pt x="6354" y="7419"/>
                </a:cubicBezTo>
                <a:cubicBezTo>
                  <a:pt x="6147" y="7419"/>
                  <a:pt x="5978" y="7587"/>
                  <a:pt x="5978" y="7800"/>
                </a:cubicBezTo>
                <a:cubicBezTo>
                  <a:pt x="5978" y="7823"/>
                  <a:pt x="5996" y="7838"/>
                  <a:pt x="6000" y="7860"/>
                </a:cubicBezTo>
                <a:cubicBezTo>
                  <a:pt x="5737" y="7726"/>
                  <a:pt x="5445" y="7630"/>
                  <a:pt x="5154" y="7531"/>
                </a:cubicBezTo>
                <a:cubicBezTo>
                  <a:pt x="5330" y="7169"/>
                  <a:pt x="5682" y="6911"/>
                  <a:pt x="6101" y="6911"/>
                </a:cubicBezTo>
                <a:close/>
                <a:moveTo>
                  <a:pt x="9323" y="6934"/>
                </a:moveTo>
                <a:cubicBezTo>
                  <a:pt x="9360" y="7084"/>
                  <a:pt x="9345" y="7211"/>
                  <a:pt x="9287" y="7255"/>
                </a:cubicBezTo>
                <a:cubicBezTo>
                  <a:pt x="9272" y="7250"/>
                  <a:pt x="9257" y="7250"/>
                  <a:pt x="9244" y="7240"/>
                </a:cubicBezTo>
                <a:cubicBezTo>
                  <a:pt x="9193" y="7198"/>
                  <a:pt x="9181" y="7125"/>
                  <a:pt x="9215" y="7068"/>
                </a:cubicBezTo>
                <a:cubicBezTo>
                  <a:pt x="9244" y="7018"/>
                  <a:pt x="9289" y="6980"/>
                  <a:pt x="9323" y="6934"/>
                </a:cubicBezTo>
                <a:close/>
                <a:moveTo>
                  <a:pt x="4359" y="6948"/>
                </a:moveTo>
                <a:cubicBezTo>
                  <a:pt x="4294" y="7062"/>
                  <a:pt x="4217" y="7165"/>
                  <a:pt x="4172" y="7292"/>
                </a:cubicBezTo>
                <a:cubicBezTo>
                  <a:pt x="4097" y="7280"/>
                  <a:pt x="4022" y="7272"/>
                  <a:pt x="3948" y="7262"/>
                </a:cubicBezTo>
                <a:cubicBezTo>
                  <a:pt x="3946" y="7242"/>
                  <a:pt x="3919" y="7230"/>
                  <a:pt x="3926" y="7210"/>
                </a:cubicBezTo>
                <a:cubicBezTo>
                  <a:pt x="3949" y="7143"/>
                  <a:pt x="3991" y="7087"/>
                  <a:pt x="4020" y="7023"/>
                </a:cubicBezTo>
                <a:cubicBezTo>
                  <a:pt x="4133" y="7010"/>
                  <a:pt x="4246" y="6973"/>
                  <a:pt x="4359" y="6948"/>
                </a:cubicBezTo>
                <a:close/>
                <a:moveTo>
                  <a:pt x="11122" y="6993"/>
                </a:moveTo>
                <a:cubicBezTo>
                  <a:pt x="11517" y="7156"/>
                  <a:pt x="11794" y="7557"/>
                  <a:pt x="11794" y="8024"/>
                </a:cubicBezTo>
                <a:cubicBezTo>
                  <a:pt x="11794" y="8636"/>
                  <a:pt x="11316" y="9130"/>
                  <a:pt x="10725" y="9130"/>
                </a:cubicBezTo>
                <a:cubicBezTo>
                  <a:pt x="10438" y="9130"/>
                  <a:pt x="10180" y="9013"/>
                  <a:pt x="9988" y="8824"/>
                </a:cubicBezTo>
                <a:cubicBezTo>
                  <a:pt x="10226" y="8256"/>
                  <a:pt x="10294" y="7671"/>
                  <a:pt x="10125" y="7128"/>
                </a:cubicBezTo>
                <a:cubicBezTo>
                  <a:pt x="10181" y="7088"/>
                  <a:pt x="10229" y="7037"/>
                  <a:pt x="10291" y="7008"/>
                </a:cubicBezTo>
                <a:cubicBezTo>
                  <a:pt x="10564" y="7039"/>
                  <a:pt x="10841" y="7041"/>
                  <a:pt x="11122" y="6993"/>
                </a:cubicBezTo>
                <a:close/>
                <a:moveTo>
                  <a:pt x="16035" y="7173"/>
                </a:moveTo>
                <a:cubicBezTo>
                  <a:pt x="16018" y="7188"/>
                  <a:pt x="16010" y="7210"/>
                  <a:pt x="15992" y="7225"/>
                </a:cubicBezTo>
                <a:cubicBezTo>
                  <a:pt x="15969" y="7244"/>
                  <a:pt x="15940" y="7255"/>
                  <a:pt x="15913" y="7255"/>
                </a:cubicBezTo>
                <a:cubicBezTo>
                  <a:pt x="15878" y="7255"/>
                  <a:pt x="15851" y="7223"/>
                  <a:pt x="15826" y="7195"/>
                </a:cubicBezTo>
                <a:cubicBezTo>
                  <a:pt x="15895" y="7183"/>
                  <a:pt x="15965" y="7179"/>
                  <a:pt x="16035" y="7173"/>
                </a:cubicBezTo>
                <a:close/>
                <a:moveTo>
                  <a:pt x="10978" y="7419"/>
                </a:moveTo>
                <a:cubicBezTo>
                  <a:pt x="10771" y="7419"/>
                  <a:pt x="10602" y="7587"/>
                  <a:pt x="10602" y="7800"/>
                </a:cubicBezTo>
                <a:cubicBezTo>
                  <a:pt x="10602" y="8014"/>
                  <a:pt x="10771" y="8189"/>
                  <a:pt x="10978" y="8189"/>
                </a:cubicBezTo>
                <a:cubicBezTo>
                  <a:pt x="11184" y="8189"/>
                  <a:pt x="11353" y="8014"/>
                  <a:pt x="11353" y="7800"/>
                </a:cubicBezTo>
                <a:cubicBezTo>
                  <a:pt x="11353" y="7587"/>
                  <a:pt x="11184" y="7419"/>
                  <a:pt x="10978" y="7419"/>
                </a:cubicBezTo>
                <a:close/>
                <a:moveTo>
                  <a:pt x="7748" y="7539"/>
                </a:moveTo>
                <a:cubicBezTo>
                  <a:pt x="7760" y="7536"/>
                  <a:pt x="7772" y="7558"/>
                  <a:pt x="7784" y="7561"/>
                </a:cubicBezTo>
                <a:cubicBezTo>
                  <a:pt x="7823" y="7713"/>
                  <a:pt x="7871" y="7863"/>
                  <a:pt x="7871" y="8024"/>
                </a:cubicBezTo>
                <a:cubicBezTo>
                  <a:pt x="7871" y="8096"/>
                  <a:pt x="7857" y="8164"/>
                  <a:pt x="7849" y="8234"/>
                </a:cubicBezTo>
                <a:cubicBezTo>
                  <a:pt x="7777" y="8197"/>
                  <a:pt x="7702" y="8101"/>
                  <a:pt x="7669" y="7942"/>
                </a:cubicBezTo>
                <a:cubicBezTo>
                  <a:pt x="7626" y="7740"/>
                  <a:pt x="7660" y="7558"/>
                  <a:pt x="7748" y="7539"/>
                </a:cubicBezTo>
                <a:close/>
                <a:moveTo>
                  <a:pt x="12806" y="7569"/>
                </a:moveTo>
                <a:cubicBezTo>
                  <a:pt x="12857" y="7534"/>
                  <a:pt x="12921" y="7555"/>
                  <a:pt x="12965" y="7599"/>
                </a:cubicBezTo>
                <a:cubicBezTo>
                  <a:pt x="12975" y="7656"/>
                  <a:pt x="12987" y="7713"/>
                  <a:pt x="12994" y="7770"/>
                </a:cubicBezTo>
                <a:cubicBezTo>
                  <a:pt x="12962" y="7805"/>
                  <a:pt x="12949" y="7853"/>
                  <a:pt x="12921" y="7890"/>
                </a:cubicBezTo>
                <a:cubicBezTo>
                  <a:pt x="12876" y="7845"/>
                  <a:pt x="12819" y="7819"/>
                  <a:pt x="12777" y="7770"/>
                </a:cubicBezTo>
                <a:cubicBezTo>
                  <a:pt x="12725" y="7711"/>
                  <a:pt x="12738" y="7614"/>
                  <a:pt x="12806" y="7569"/>
                </a:cubicBezTo>
                <a:close/>
                <a:moveTo>
                  <a:pt x="3283" y="7681"/>
                </a:moveTo>
                <a:cubicBezTo>
                  <a:pt x="3313" y="7736"/>
                  <a:pt x="3346" y="7797"/>
                  <a:pt x="3362" y="7875"/>
                </a:cubicBezTo>
                <a:cubicBezTo>
                  <a:pt x="3370" y="7912"/>
                  <a:pt x="3360" y="7938"/>
                  <a:pt x="3362" y="7972"/>
                </a:cubicBezTo>
                <a:cubicBezTo>
                  <a:pt x="3267" y="7989"/>
                  <a:pt x="3173" y="8004"/>
                  <a:pt x="3081" y="8032"/>
                </a:cubicBezTo>
                <a:cubicBezTo>
                  <a:pt x="3069" y="7999"/>
                  <a:pt x="3052" y="7979"/>
                  <a:pt x="3044" y="7942"/>
                </a:cubicBezTo>
                <a:cubicBezTo>
                  <a:pt x="3029" y="7866"/>
                  <a:pt x="3032" y="7803"/>
                  <a:pt x="3037" y="7740"/>
                </a:cubicBezTo>
                <a:cubicBezTo>
                  <a:pt x="3119" y="7717"/>
                  <a:pt x="3199" y="7697"/>
                  <a:pt x="3283" y="7681"/>
                </a:cubicBezTo>
                <a:close/>
                <a:moveTo>
                  <a:pt x="2401" y="8017"/>
                </a:moveTo>
                <a:cubicBezTo>
                  <a:pt x="2421" y="8115"/>
                  <a:pt x="2455" y="8210"/>
                  <a:pt x="2481" y="8308"/>
                </a:cubicBezTo>
                <a:cubicBezTo>
                  <a:pt x="2317" y="8410"/>
                  <a:pt x="2143" y="8493"/>
                  <a:pt x="2004" y="8630"/>
                </a:cubicBezTo>
                <a:cubicBezTo>
                  <a:pt x="1945" y="8687"/>
                  <a:pt x="1944" y="8790"/>
                  <a:pt x="2004" y="8846"/>
                </a:cubicBezTo>
                <a:cubicBezTo>
                  <a:pt x="2060" y="8900"/>
                  <a:pt x="2139" y="8899"/>
                  <a:pt x="2192" y="8846"/>
                </a:cubicBezTo>
                <a:cubicBezTo>
                  <a:pt x="2301" y="8738"/>
                  <a:pt x="2441" y="8669"/>
                  <a:pt x="2568" y="8585"/>
                </a:cubicBezTo>
                <a:cubicBezTo>
                  <a:pt x="2650" y="8840"/>
                  <a:pt x="2749" y="9086"/>
                  <a:pt x="2871" y="9332"/>
                </a:cubicBezTo>
                <a:cubicBezTo>
                  <a:pt x="2722" y="9450"/>
                  <a:pt x="2594" y="9590"/>
                  <a:pt x="2495" y="9758"/>
                </a:cubicBezTo>
                <a:cubicBezTo>
                  <a:pt x="2471" y="9799"/>
                  <a:pt x="2430" y="9825"/>
                  <a:pt x="2387" y="9825"/>
                </a:cubicBezTo>
                <a:cubicBezTo>
                  <a:pt x="2359" y="9825"/>
                  <a:pt x="2331" y="9815"/>
                  <a:pt x="2307" y="9795"/>
                </a:cubicBezTo>
                <a:cubicBezTo>
                  <a:pt x="2257" y="9754"/>
                  <a:pt x="2245" y="9673"/>
                  <a:pt x="2279" y="9616"/>
                </a:cubicBezTo>
                <a:cubicBezTo>
                  <a:pt x="2363" y="9473"/>
                  <a:pt x="2464" y="9348"/>
                  <a:pt x="2582" y="9235"/>
                </a:cubicBezTo>
                <a:cubicBezTo>
                  <a:pt x="2635" y="9184"/>
                  <a:pt x="2646" y="9101"/>
                  <a:pt x="2604" y="9041"/>
                </a:cubicBezTo>
                <a:cubicBezTo>
                  <a:pt x="2553" y="8970"/>
                  <a:pt x="2449" y="8958"/>
                  <a:pt x="2387" y="9018"/>
                </a:cubicBezTo>
                <a:cubicBezTo>
                  <a:pt x="2328" y="9075"/>
                  <a:pt x="2273" y="9133"/>
                  <a:pt x="2221" y="9197"/>
                </a:cubicBezTo>
                <a:cubicBezTo>
                  <a:pt x="2219" y="9200"/>
                  <a:pt x="2223" y="9203"/>
                  <a:pt x="2221" y="9205"/>
                </a:cubicBezTo>
                <a:cubicBezTo>
                  <a:pt x="2220" y="9206"/>
                  <a:pt x="2215" y="9204"/>
                  <a:pt x="2214" y="9205"/>
                </a:cubicBezTo>
                <a:cubicBezTo>
                  <a:pt x="2061" y="9393"/>
                  <a:pt x="1936" y="9615"/>
                  <a:pt x="1852" y="9855"/>
                </a:cubicBezTo>
                <a:cubicBezTo>
                  <a:pt x="1834" y="9909"/>
                  <a:pt x="1789" y="9937"/>
                  <a:pt x="1737" y="9937"/>
                </a:cubicBezTo>
                <a:cubicBezTo>
                  <a:pt x="1716" y="9937"/>
                  <a:pt x="1692" y="9933"/>
                  <a:pt x="1672" y="9922"/>
                </a:cubicBezTo>
                <a:cubicBezTo>
                  <a:pt x="1616" y="9891"/>
                  <a:pt x="1592" y="9819"/>
                  <a:pt x="1614" y="9758"/>
                </a:cubicBezTo>
                <a:cubicBezTo>
                  <a:pt x="1679" y="9572"/>
                  <a:pt x="1771" y="9402"/>
                  <a:pt x="1874" y="9242"/>
                </a:cubicBezTo>
                <a:cubicBezTo>
                  <a:pt x="1912" y="9184"/>
                  <a:pt x="1895" y="9103"/>
                  <a:pt x="1845" y="9056"/>
                </a:cubicBezTo>
                <a:cubicBezTo>
                  <a:pt x="1782" y="8995"/>
                  <a:pt x="1683" y="9004"/>
                  <a:pt x="1636" y="9078"/>
                </a:cubicBezTo>
                <a:cubicBezTo>
                  <a:pt x="1561" y="9192"/>
                  <a:pt x="1498" y="9310"/>
                  <a:pt x="1440" y="9437"/>
                </a:cubicBezTo>
                <a:cubicBezTo>
                  <a:pt x="1419" y="9484"/>
                  <a:pt x="1373" y="9511"/>
                  <a:pt x="1325" y="9511"/>
                </a:cubicBezTo>
                <a:cubicBezTo>
                  <a:pt x="1303" y="9511"/>
                  <a:pt x="1280" y="9509"/>
                  <a:pt x="1260" y="9496"/>
                </a:cubicBezTo>
                <a:cubicBezTo>
                  <a:pt x="1202" y="9461"/>
                  <a:pt x="1181" y="9380"/>
                  <a:pt x="1209" y="9317"/>
                </a:cubicBezTo>
                <a:cubicBezTo>
                  <a:pt x="1316" y="9084"/>
                  <a:pt x="1450" y="8874"/>
                  <a:pt x="1607" y="8682"/>
                </a:cubicBezTo>
                <a:cubicBezTo>
                  <a:pt x="1611" y="8674"/>
                  <a:pt x="1622" y="8667"/>
                  <a:pt x="1628" y="8660"/>
                </a:cubicBezTo>
                <a:cubicBezTo>
                  <a:pt x="1630" y="8657"/>
                  <a:pt x="1626" y="8654"/>
                  <a:pt x="1628" y="8652"/>
                </a:cubicBezTo>
                <a:cubicBezTo>
                  <a:pt x="1845" y="8393"/>
                  <a:pt x="2115" y="8184"/>
                  <a:pt x="2401" y="8017"/>
                </a:cubicBezTo>
                <a:close/>
                <a:moveTo>
                  <a:pt x="12242" y="8032"/>
                </a:moveTo>
                <a:cubicBezTo>
                  <a:pt x="12316" y="8126"/>
                  <a:pt x="12386" y="8221"/>
                  <a:pt x="12466" y="8308"/>
                </a:cubicBezTo>
                <a:cubicBezTo>
                  <a:pt x="12462" y="8335"/>
                  <a:pt x="12464" y="8364"/>
                  <a:pt x="12459" y="8391"/>
                </a:cubicBezTo>
                <a:cubicBezTo>
                  <a:pt x="12447" y="8451"/>
                  <a:pt x="12481" y="8506"/>
                  <a:pt x="12538" y="8525"/>
                </a:cubicBezTo>
                <a:lnTo>
                  <a:pt x="12589" y="8540"/>
                </a:lnTo>
                <a:cubicBezTo>
                  <a:pt x="12593" y="8541"/>
                  <a:pt x="12592" y="8532"/>
                  <a:pt x="12596" y="8533"/>
                </a:cubicBezTo>
                <a:cubicBezTo>
                  <a:pt x="12565" y="8645"/>
                  <a:pt x="12555" y="8770"/>
                  <a:pt x="12538" y="8891"/>
                </a:cubicBezTo>
                <a:cubicBezTo>
                  <a:pt x="12528" y="8852"/>
                  <a:pt x="12542" y="8800"/>
                  <a:pt x="12502" y="8787"/>
                </a:cubicBezTo>
                <a:lnTo>
                  <a:pt x="12452" y="8772"/>
                </a:lnTo>
                <a:cubicBezTo>
                  <a:pt x="12397" y="8754"/>
                  <a:pt x="12340" y="8786"/>
                  <a:pt x="12314" y="8839"/>
                </a:cubicBezTo>
                <a:cubicBezTo>
                  <a:pt x="12200" y="9077"/>
                  <a:pt x="12038" y="9288"/>
                  <a:pt x="11830" y="9459"/>
                </a:cubicBezTo>
                <a:cubicBezTo>
                  <a:pt x="11807" y="9478"/>
                  <a:pt x="11779" y="9489"/>
                  <a:pt x="11751" y="9489"/>
                </a:cubicBezTo>
                <a:cubicBezTo>
                  <a:pt x="11706" y="9489"/>
                  <a:pt x="11659" y="9461"/>
                  <a:pt x="11635" y="9414"/>
                </a:cubicBezTo>
                <a:cubicBezTo>
                  <a:pt x="11606" y="9357"/>
                  <a:pt x="11623" y="9283"/>
                  <a:pt x="11671" y="9242"/>
                </a:cubicBezTo>
                <a:cubicBezTo>
                  <a:pt x="11896" y="9056"/>
                  <a:pt x="12063" y="8812"/>
                  <a:pt x="12155" y="8540"/>
                </a:cubicBezTo>
                <a:cubicBezTo>
                  <a:pt x="12209" y="8379"/>
                  <a:pt x="12241" y="8208"/>
                  <a:pt x="12242" y="8032"/>
                </a:cubicBezTo>
                <a:close/>
                <a:moveTo>
                  <a:pt x="17675" y="8129"/>
                </a:moveTo>
                <a:cubicBezTo>
                  <a:pt x="17675" y="8131"/>
                  <a:pt x="17676" y="8135"/>
                  <a:pt x="17675" y="8136"/>
                </a:cubicBezTo>
                <a:cubicBezTo>
                  <a:pt x="17671" y="8147"/>
                  <a:pt x="17648" y="8144"/>
                  <a:pt x="17639" y="8151"/>
                </a:cubicBezTo>
                <a:cubicBezTo>
                  <a:pt x="17650" y="8142"/>
                  <a:pt x="17665" y="8139"/>
                  <a:pt x="17675" y="8129"/>
                </a:cubicBezTo>
                <a:close/>
                <a:moveTo>
                  <a:pt x="4612" y="8264"/>
                </a:moveTo>
                <a:cubicBezTo>
                  <a:pt x="4627" y="8364"/>
                  <a:pt x="4659" y="8454"/>
                  <a:pt x="4692" y="8547"/>
                </a:cubicBezTo>
                <a:cubicBezTo>
                  <a:pt x="4578" y="8468"/>
                  <a:pt x="4497" y="8374"/>
                  <a:pt x="4526" y="8308"/>
                </a:cubicBezTo>
                <a:cubicBezTo>
                  <a:pt x="4537" y="8282"/>
                  <a:pt x="4579" y="8274"/>
                  <a:pt x="4612" y="8264"/>
                </a:cubicBezTo>
                <a:close/>
                <a:moveTo>
                  <a:pt x="15645" y="8383"/>
                </a:moveTo>
                <a:cubicBezTo>
                  <a:pt x="15718" y="8354"/>
                  <a:pt x="15803" y="8398"/>
                  <a:pt x="15819" y="8480"/>
                </a:cubicBezTo>
                <a:cubicBezTo>
                  <a:pt x="15830" y="8541"/>
                  <a:pt x="15786" y="8596"/>
                  <a:pt x="15732" y="8622"/>
                </a:cubicBezTo>
                <a:cubicBezTo>
                  <a:pt x="15582" y="8643"/>
                  <a:pt x="15448" y="8629"/>
                  <a:pt x="15428" y="8555"/>
                </a:cubicBezTo>
                <a:cubicBezTo>
                  <a:pt x="15420" y="8524"/>
                  <a:pt x="15454" y="8492"/>
                  <a:pt x="15479" y="8458"/>
                </a:cubicBezTo>
                <a:cubicBezTo>
                  <a:pt x="15533" y="8430"/>
                  <a:pt x="15589" y="8405"/>
                  <a:pt x="15645" y="8383"/>
                </a:cubicBezTo>
                <a:close/>
                <a:moveTo>
                  <a:pt x="5118" y="8443"/>
                </a:moveTo>
                <a:cubicBezTo>
                  <a:pt x="5144" y="8470"/>
                  <a:pt x="5149" y="8491"/>
                  <a:pt x="5161" y="8518"/>
                </a:cubicBezTo>
                <a:cubicBezTo>
                  <a:pt x="5148" y="8491"/>
                  <a:pt x="5129" y="8470"/>
                  <a:pt x="5118" y="8443"/>
                </a:cubicBezTo>
                <a:close/>
                <a:moveTo>
                  <a:pt x="8608" y="8503"/>
                </a:moveTo>
                <a:cubicBezTo>
                  <a:pt x="8671" y="8496"/>
                  <a:pt x="8728" y="8544"/>
                  <a:pt x="8745" y="8607"/>
                </a:cubicBezTo>
                <a:cubicBezTo>
                  <a:pt x="8759" y="8656"/>
                  <a:pt x="8779" y="8702"/>
                  <a:pt x="8796" y="8749"/>
                </a:cubicBezTo>
                <a:cubicBezTo>
                  <a:pt x="8799" y="8758"/>
                  <a:pt x="8813" y="8749"/>
                  <a:pt x="8817" y="8757"/>
                </a:cubicBezTo>
                <a:cubicBezTo>
                  <a:pt x="8783" y="8892"/>
                  <a:pt x="8747" y="9024"/>
                  <a:pt x="8695" y="9153"/>
                </a:cubicBezTo>
                <a:cubicBezTo>
                  <a:pt x="8690" y="9145"/>
                  <a:pt x="8684" y="9138"/>
                  <a:pt x="8680" y="9130"/>
                </a:cubicBezTo>
                <a:cubicBezTo>
                  <a:pt x="8677" y="9125"/>
                  <a:pt x="8675" y="9121"/>
                  <a:pt x="8673" y="9115"/>
                </a:cubicBezTo>
                <a:cubicBezTo>
                  <a:pt x="8672" y="9112"/>
                  <a:pt x="8674" y="9111"/>
                  <a:pt x="8673" y="9108"/>
                </a:cubicBezTo>
                <a:cubicBezTo>
                  <a:pt x="8626" y="9014"/>
                  <a:pt x="8592" y="8910"/>
                  <a:pt x="8557" y="8809"/>
                </a:cubicBezTo>
                <a:cubicBezTo>
                  <a:pt x="8582" y="8727"/>
                  <a:pt x="8627" y="8654"/>
                  <a:pt x="8644" y="8570"/>
                </a:cubicBezTo>
                <a:cubicBezTo>
                  <a:pt x="8649" y="8543"/>
                  <a:pt x="8618" y="8534"/>
                  <a:pt x="8608" y="8510"/>
                </a:cubicBezTo>
                <a:cubicBezTo>
                  <a:pt x="8610" y="8510"/>
                  <a:pt x="8605" y="8503"/>
                  <a:pt x="8608" y="8503"/>
                </a:cubicBezTo>
                <a:close/>
                <a:moveTo>
                  <a:pt x="19207" y="8645"/>
                </a:moveTo>
                <a:cubicBezTo>
                  <a:pt x="19218" y="8641"/>
                  <a:pt x="19225" y="8644"/>
                  <a:pt x="19236" y="8645"/>
                </a:cubicBezTo>
                <a:cubicBezTo>
                  <a:pt x="19318" y="8652"/>
                  <a:pt x="19423" y="8773"/>
                  <a:pt x="19482" y="8943"/>
                </a:cubicBezTo>
                <a:cubicBezTo>
                  <a:pt x="19549" y="9139"/>
                  <a:pt x="19531" y="9323"/>
                  <a:pt x="19446" y="9354"/>
                </a:cubicBezTo>
                <a:cubicBezTo>
                  <a:pt x="19361" y="9386"/>
                  <a:pt x="19239" y="9251"/>
                  <a:pt x="19171" y="9056"/>
                </a:cubicBezTo>
                <a:cubicBezTo>
                  <a:pt x="19104" y="8860"/>
                  <a:pt x="19122" y="8676"/>
                  <a:pt x="19207" y="8645"/>
                </a:cubicBezTo>
                <a:close/>
                <a:moveTo>
                  <a:pt x="17430" y="8749"/>
                </a:moveTo>
                <a:cubicBezTo>
                  <a:pt x="17460" y="8752"/>
                  <a:pt x="17494" y="8764"/>
                  <a:pt x="17517" y="8787"/>
                </a:cubicBezTo>
                <a:cubicBezTo>
                  <a:pt x="17859" y="9134"/>
                  <a:pt x="18044" y="9598"/>
                  <a:pt x="18044" y="10094"/>
                </a:cubicBezTo>
                <a:cubicBezTo>
                  <a:pt x="18044" y="10219"/>
                  <a:pt x="18031" y="10341"/>
                  <a:pt x="18008" y="10460"/>
                </a:cubicBezTo>
                <a:cubicBezTo>
                  <a:pt x="17996" y="10521"/>
                  <a:pt x="18030" y="10584"/>
                  <a:pt x="18087" y="10602"/>
                </a:cubicBezTo>
                <a:lnTo>
                  <a:pt x="18138" y="10617"/>
                </a:lnTo>
                <a:cubicBezTo>
                  <a:pt x="18205" y="10639"/>
                  <a:pt x="18275" y="10591"/>
                  <a:pt x="18290" y="10520"/>
                </a:cubicBezTo>
                <a:cubicBezTo>
                  <a:pt x="18318" y="10380"/>
                  <a:pt x="18333" y="10240"/>
                  <a:pt x="18333" y="10094"/>
                </a:cubicBezTo>
                <a:cubicBezTo>
                  <a:pt x="18333" y="9832"/>
                  <a:pt x="18286" y="9575"/>
                  <a:pt x="18196" y="9332"/>
                </a:cubicBezTo>
                <a:cubicBezTo>
                  <a:pt x="18155" y="9224"/>
                  <a:pt x="18108" y="9118"/>
                  <a:pt x="18051" y="9018"/>
                </a:cubicBezTo>
                <a:cubicBezTo>
                  <a:pt x="18012" y="8950"/>
                  <a:pt x="18041" y="8862"/>
                  <a:pt x="18116" y="8831"/>
                </a:cubicBezTo>
                <a:cubicBezTo>
                  <a:pt x="18175" y="8808"/>
                  <a:pt x="18236" y="8835"/>
                  <a:pt x="18268" y="8891"/>
                </a:cubicBezTo>
                <a:cubicBezTo>
                  <a:pt x="18331" y="9002"/>
                  <a:pt x="18389" y="9122"/>
                  <a:pt x="18434" y="9242"/>
                </a:cubicBezTo>
                <a:cubicBezTo>
                  <a:pt x="18536" y="9515"/>
                  <a:pt x="18586" y="9800"/>
                  <a:pt x="18586" y="10094"/>
                </a:cubicBezTo>
                <a:cubicBezTo>
                  <a:pt x="18586" y="10156"/>
                  <a:pt x="18629" y="10211"/>
                  <a:pt x="18687" y="10221"/>
                </a:cubicBezTo>
                <a:lnTo>
                  <a:pt x="18730" y="10229"/>
                </a:lnTo>
                <a:cubicBezTo>
                  <a:pt x="18802" y="10241"/>
                  <a:pt x="18867" y="10184"/>
                  <a:pt x="18868" y="10109"/>
                </a:cubicBezTo>
                <a:cubicBezTo>
                  <a:pt x="18868" y="10104"/>
                  <a:pt x="18868" y="10099"/>
                  <a:pt x="18868" y="10094"/>
                </a:cubicBezTo>
                <a:cubicBezTo>
                  <a:pt x="18868" y="10014"/>
                  <a:pt x="18940" y="9954"/>
                  <a:pt x="19019" y="9967"/>
                </a:cubicBezTo>
                <a:cubicBezTo>
                  <a:pt x="19082" y="9977"/>
                  <a:pt x="19128" y="10036"/>
                  <a:pt x="19128" y="10102"/>
                </a:cubicBezTo>
                <a:cubicBezTo>
                  <a:pt x="19128" y="10208"/>
                  <a:pt x="19117" y="10311"/>
                  <a:pt x="19106" y="10415"/>
                </a:cubicBezTo>
                <a:cubicBezTo>
                  <a:pt x="19106" y="10419"/>
                  <a:pt x="19106" y="10420"/>
                  <a:pt x="19106" y="10423"/>
                </a:cubicBezTo>
                <a:cubicBezTo>
                  <a:pt x="19106" y="10425"/>
                  <a:pt x="19106" y="10429"/>
                  <a:pt x="19106" y="10430"/>
                </a:cubicBezTo>
                <a:cubicBezTo>
                  <a:pt x="19036" y="11056"/>
                  <a:pt x="18743" y="11627"/>
                  <a:pt x="18326" y="12089"/>
                </a:cubicBezTo>
                <a:cubicBezTo>
                  <a:pt x="18270" y="12031"/>
                  <a:pt x="18207" y="11980"/>
                  <a:pt x="18145" y="11925"/>
                </a:cubicBezTo>
                <a:cubicBezTo>
                  <a:pt x="18476" y="11562"/>
                  <a:pt x="18719" y="11123"/>
                  <a:pt x="18817" y="10640"/>
                </a:cubicBezTo>
                <a:cubicBezTo>
                  <a:pt x="18831" y="10571"/>
                  <a:pt x="18790" y="10502"/>
                  <a:pt x="18723" y="10490"/>
                </a:cubicBezTo>
                <a:lnTo>
                  <a:pt x="18673" y="10483"/>
                </a:lnTo>
                <a:cubicBezTo>
                  <a:pt x="18611" y="10472"/>
                  <a:pt x="18548" y="10516"/>
                  <a:pt x="18535" y="10580"/>
                </a:cubicBezTo>
                <a:cubicBezTo>
                  <a:pt x="18516" y="10673"/>
                  <a:pt x="18492" y="10766"/>
                  <a:pt x="18463" y="10856"/>
                </a:cubicBezTo>
                <a:cubicBezTo>
                  <a:pt x="18462" y="10858"/>
                  <a:pt x="18464" y="10862"/>
                  <a:pt x="18463" y="10864"/>
                </a:cubicBezTo>
                <a:cubicBezTo>
                  <a:pt x="18394" y="11071"/>
                  <a:pt x="18297" y="11271"/>
                  <a:pt x="18174" y="11454"/>
                </a:cubicBezTo>
                <a:cubicBezTo>
                  <a:pt x="18149" y="11491"/>
                  <a:pt x="18106" y="11514"/>
                  <a:pt x="18066" y="11514"/>
                </a:cubicBezTo>
                <a:cubicBezTo>
                  <a:pt x="18037" y="11514"/>
                  <a:pt x="18010" y="11505"/>
                  <a:pt x="17986" y="11484"/>
                </a:cubicBezTo>
                <a:cubicBezTo>
                  <a:pt x="17934" y="11439"/>
                  <a:pt x="17933" y="11355"/>
                  <a:pt x="17972" y="11297"/>
                </a:cubicBezTo>
                <a:cubicBezTo>
                  <a:pt x="18028" y="11213"/>
                  <a:pt x="18073" y="11126"/>
                  <a:pt x="18116" y="11036"/>
                </a:cubicBezTo>
                <a:cubicBezTo>
                  <a:pt x="18148" y="10968"/>
                  <a:pt x="18121" y="10886"/>
                  <a:pt x="18051" y="10864"/>
                </a:cubicBezTo>
                <a:lnTo>
                  <a:pt x="18001" y="10849"/>
                </a:lnTo>
                <a:cubicBezTo>
                  <a:pt x="17946" y="10831"/>
                  <a:pt x="17889" y="10855"/>
                  <a:pt x="17863" y="10909"/>
                </a:cubicBezTo>
                <a:cubicBezTo>
                  <a:pt x="17767" y="11110"/>
                  <a:pt x="17616" y="11277"/>
                  <a:pt x="17451" y="11432"/>
                </a:cubicBezTo>
                <a:cubicBezTo>
                  <a:pt x="17379" y="11387"/>
                  <a:pt x="17325" y="11332"/>
                  <a:pt x="17249" y="11290"/>
                </a:cubicBezTo>
                <a:cubicBezTo>
                  <a:pt x="17458" y="11107"/>
                  <a:pt x="17616" y="10876"/>
                  <a:pt x="17704" y="10617"/>
                </a:cubicBezTo>
                <a:cubicBezTo>
                  <a:pt x="17705" y="10616"/>
                  <a:pt x="17704" y="10611"/>
                  <a:pt x="17704" y="10610"/>
                </a:cubicBezTo>
                <a:cubicBezTo>
                  <a:pt x="17759" y="10446"/>
                  <a:pt x="17791" y="10272"/>
                  <a:pt x="17791" y="10094"/>
                </a:cubicBezTo>
                <a:cubicBezTo>
                  <a:pt x="17791" y="9667"/>
                  <a:pt x="17631" y="9271"/>
                  <a:pt x="17336" y="8973"/>
                </a:cubicBezTo>
                <a:cubicBezTo>
                  <a:pt x="17281" y="8918"/>
                  <a:pt x="17279" y="8821"/>
                  <a:pt x="17343" y="8772"/>
                </a:cubicBezTo>
                <a:cubicBezTo>
                  <a:pt x="17368" y="8752"/>
                  <a:pt x="17400" y="8746"/>
                  <a:pt x="17430" y="8749"/>
                </a:cubicBezTo>
                <a:close/>
                <a:moveTo>
                  <a:pt x="16389" y="9011"/>
                </a:moveTo>
                <a:cubicBezTo>
                  <a:pt x="16924" y="9073"/>
                  <a:pt x="17343" y="9524"/>
                  <a:pt x="17343" y="10094"/>
                </a:cubicBezTo>
                <a:cubicBezTo>
                  <a:pt x="17343" y="10524"/>
                  <a:pt x="17104" y="10889"/>
                  <a:pt x="16758" y="11073"/>
                </a:cubicBezTo>
                <a:cubicBezTo>
                  <a:pt x="16318" y="10880"/>
                  <a:pt x="15859" y="10743"/>
                  <a:pt x="15371" y="10655"/>
                </a:cubicBezTo>
                <a:cubicBezTo>
                  <a:pt x="15274" y="10488"/>
                  <a:pt x="15204" y="10302"/>
                  <a:pt x="15204" y="10094"/>
                </a:cubicBezTo>
                <a:cubicBezTo>
                  <a:pt x="15204" y="9794"/>
                  <a:pt x="15321" y="9524"/>
                  <a:pt x="15508" y="9325"/>
                </a:cubicBezTo>
                <a:cubicBezTo>
                  <a:pt x="15807" y="9254"/>
                  <a:pt x="16101" y="9152"/>
                  <a:pt x="16389" y="9011"/>
                </a:cubicBezTo>
                <a:close/>
                <a:moveTo>
                  <a:pt x="12517" y="9063"/>
                </a:moveTo>
                <a:cubicBezTo>
                  <a:pt x="12507" y="9186"/>
                  <a:pt x="12505" y="9308"/>
                  <a:pt x="12509" y="9437"/>
                </a:cubicBezTo>
                <a:cubicBezTo>
                  <a:pt x="12483" y="9435"/>
                  <a:pt x="12460" y="9426"/>
                  <a:pt x="12437" y="9407"/>
                </a:cubicBezTo>
                <a:cubicBezTo>
                  <a:pt x="12385" y="9362"/>
                  <a:pt x="12384" y="9285"/>
                  <a:pt x="12423" y="9227"/>
                </a:cubicBezTo>
                <a:cubicBezTo>
                  <a:pt x="12458" y="9174"/>
                  <a:pt x="12486" y="9119"/>
                  <a:pt x="12517" y="9063"/>
                </a:cubicBezTo>
                <a:close/>
                <a:moveTo>
                  <a:pt x="4945" y="9227"/>
                </a:moveTo>
                <a:cubicBezTo>
                  <a:pt x="4975" y="9230"/>
                  <a:pt x="5009" y="9242"/>
                  <a:pt x="5031" y="9265"/>
                </a:cubicBezTo>
                <a:cubicBezTo>
                  <a:pt x="5132" y="9367"/>
                  <a:pt x="5189" y="9496"/>
                  <a:pt x="5263" y="9616"/>
                </a:cubicBezTo>
                <a:cubicBezTo>
                  <a:pt x="5108" y="9529"/>
                  <a:pt x="4980" y="9409"/>
                  <a:pt x="4858" y="9280"/>
                </a:cubicBezTo>
                <a:cubicBezTo>
                  <a:pt x="4865" y="9271"/>
                  <a:pt x="4848" y="9257"/>
                  <a:pt x="4858" y="9250"/>
                </a:cubicBezTo>
                <a:cubicBezTo>
                  <a:pt x="4883" y="9230"/>
                  <a:pt x="4915" y="9224"/>
                  <a:pt x="4945" y="9227"/>
                </a:cubicBezTo>
                <a:close/>
                <a:moveTo>
                  <a:pt x="9778" y="9227"/>
                </a:moveTo>
                <a:cubicBezTo>
                  <a:pt x="9984" y="9400"/>
                  <a:pt x="10224" y="9529"/>
                  <a:pt x="10501" y="9571"/>
                </a:cubicBezTo>
                <a:cubicBezTo>
                  <a:pt x="10561" y="9580"/>
                  <a:pt x="10612" y="9628"/>
                  <a:pt x="10616" y="9691"/>
                </a:cubicBezTo>
                <a:cubicBezTo>
                  <a:pt x="10622" y="9771"/>
                  <a:pt x="10565" y="9840"/>
                  <a:pt x="10494" y="9840"/>
                </a:cubicBezTo>
                <a:cubicBezTo>
                  <a:pt x="10488" y="9840"/>
                  <a:pt x="10478" y="9833"/>
                  <a:pt x="10472" y="9833"/>
                </a:cubicBezTo>
                <a:cubicBezTo>
                  <a:pt x="10159" y="9787"/>
                  <a:pt x="9899" y="9634"/>
                  <a:pt x="9663" y="9444"/>
                </a:cubicBezTo>
                <a:cubicBezTo>
                  <a:pt x="9708" y="9374"/>
                  <a:pt x="9738" y="9299"/>
                  <a:pt x="9778" y="9227"/>
                </a:cubicBezTo>
                <a:close/>
                <a:moveTo>
                  <a:pt x="5573" y="9474"/>
                </a:moveTo>
                <a:cubicBezTo>
                  <a:pt x="5672" y="9512"/>
                  <a:pt x="5769" y="9555"/>
                  <a:pt x="5877" y="9571"/>
                </a:cubicBezTo>
                <a:cubicBezTo>
                  <a:pt x="5899" y="9621"/>
                  <a:pt x="5930" y="9669"/>
                  <a:pt x="5949" y="9721"/>
                </a:cubicBezTo>
                <a:cubicBezTo>
                  <a:pt x="5952" y="9727"/>
                  <a:pt x="5946" y="9736"/>
                  <a:pt x="5949" y="9743"/>
                </a:cubicBezTo>
                <a:cubicBezTo>
                  <a:pt x="5927" y="9783"/>
                  <a:pt x="5916" y="9840"/>
                  <a:pt x="5869" y="9840"/>
                </a:cubicBezTo>
                <a:cubicBezTo>
                  <a:pt x="5864" y="9840"/>
                  <a:pt x="5854" y="9833"/>
                  <a:pt x="5848" y="9833"/>
                </a:cubicBezTo>
                <a:cubicBezTo>
                  <a:pt x="5792" y="9824"/>
                  <a:pt x="5750" y="9786"/>
                  <a:pt x="5696" y="9773"/>
                </a:cubicBezTo>
                <a:cubicBezTo>
                  <a:pt x="5659" y="9678"/>
                  <a:pt x="5616" y="9585"/>
                  <a:pt x="5566" y="9496"/>
                </a:cubicBezTo>
                <a:cubicBezTo>
                  <a:pt x="5561" y="9488"/>
                  <a:pt x="5576" y="9483"/>
                  <a:pt x="5573" y="9474"/>
                </a:cubicBezTo>
                <a:close/>
                <a:moveTo>
                  <a:pt x="16527" y="9489"/>
                </a:moveTo>
                <a:cubicBezTo>
                  <a:pt x="16320" y="9489"/>
                  <a:pt x="16151" y="9664"/>
                  <a:pt x="16151" y="9877"/>
                </a:cubicBezTo>
                <a:cubicBezTo>
                  <a:pt x="16151" y="10091"/>
                  <a:pt x="16320" y="10259"/>
                  <a:pt x="16527" y="10259"/>
                </a:cubicBezTo>
                <a:cubicBezTo>
                  <a:pt x="16733" y="10259"/>
                  <a:pt x="16902" y="10091"/>
                  <a:pt x="16902" y="9877"/>
                </a:cubicBezTo>
                <a:cubicBezTo>
                  <a:pt x="16902" y="9664"/>
                  <a:pt x="16733" y="9489"/>
                  <a:pt x="16527" y="9489"/>
                </a:cubicBezTo>
                <a:close/>
                <a:moveTo>
                  <a:pt x="9504" y="9661"/>
                </a:moveTo>
                <a:cubicBezTo>
                  <a:pt x="9853" y="9940"/>
                  <a:pt x="10256" y="10144"/>
                  <a:pt x="10718" y="10146"/>
                </a:cubicBezTo>
                <a:cubicBezTo>
                  <a:pt x="10781" y="10147"/>
                  <a:pt x="10837" y="10194"/>
                  <a:pt x="10848" y="10259"/>
                </a:cubicBezTo>
                <a:cubicBezTo>
                  <a:pt x="10861" y="10341"/>
                  <a:pt x="10802" y="10408"/>
                  <a:pt x="10725" y="10408"/>
                </a:cubicBezTo>
                <a:cubicBezTo>
                  <a:pt x="10410" y="10408"/>
                  <a:pt x="10107" y="10343"/>
                  <a:pt x="9829" y="10221"/>
                </a:cubicBezTo>
                <a:cubicBezTo>
                  <a:pt x="9757" y="10189"/>
                  <a:pt x="9671" y="10221"/>
                  <a:pt x="9641" y="10296"/>
                </a:cubicBezTo>
                <a:lnTo>
                  <a:pt x="9641" y="10303"/>
                </a:lnTo>
                <a:cubicBezTo>
                  <a:pt x="9611" y="10378"/>
                  <a:pt x="9648" y="10466"/>
                  <a:pt x="9721" y="10498"/>
                </a:cubicBezTo>
                <a:cubicBezTo>
                  <a:pt x="9863" y="10560"/>
                  <a:pt x="10008" y="10604"/>
                  <a:pt x="10161" y="10640"/>
                </a:cubicBezTo>
                <a:cubicBezTo>
                  <a:pt x="10226" y="10654"/>
                  <a:pt x="10276" y="10714"/>
                  <a:pt x="10270" y="10782"/>
                </a:cubicBezTo>
                <a:cubicBezTo>
                  <a:pt x="10263" y="10852"/>
                  <a:pt x="10210" y="10909"/>
                  <a:pt x="10147" y="10909"/>
                </a:cubicBezTo>
                <a:cubicBezTo>
                  <a:pt x="10138" y="10909"/>
                  <a:pt x="10127" y="10903"/>
                  <a:pt x="10118" y="10901"/>
                </a:cubicBezTo>
                <a:cubicBezTo>
                  <a:pt x="9858" y="10842"/>
                  <a:pt x="9611" y="10745"/>
                  <a:pt x="9381" y="10617"/>
                </a:cubicBezTo>
                <a:cubicBezTo>
                  <a:pt x="9373" y="10614"/>
                  <a:pt x="9359" y="10607"/>
                  <a:pt x="9352" y="10602"/>
                </a:cubicBezTo>
                <a:cubicBezTo>
                  <a:pt x="9210" y="10522"/>
                  <a:pt x="9096" y="10401"/>
                  <a:pt x="8969" y="10296"/>
                </a:cubicBezTo>
                <a:cubicBezTo>
                  <a:pt x="9026" y="10240"/>
                  <a:pt x="9067" y="10174"/>
                  <a:pt x="9121" y="10117"/>
                </a:cubicBezTo>
                <a:cubicBezTo>
                  <a:pt x="9155" y="10145"/>
                  <a:pt x="9186" y="10180"/>
                  <a:pt x="9222" y="10206"/>
                </a:cubicBezTo>
                <a:cubicBezTo>
                  <a:pt x="9296" y="10261"/>
                  <a:pt x="9397" y="10226"/>
                  <a:pt x="9432" y="10139"/>
                </a:cubicBezTo>
                <a:cubicBezTo>
                  <a:pt x="9457" y="10075"/>
                  <a:pt x="9441" y="10006"/>
                  <a:pt x="9388" y="9967"/>
                </a:cubicBezTo>
                <a:cubicBezTo>
                  <a:pt x="9359" y="9946"/>
                  <a:pt x="9337" y="9915"/>
                  <a:pt x="9309" y="9892"/>
                </a:cubicBezTo>
                <a:cubicBezTo>
                  <a:pt x="9374" y="9814"/>
                  <a:pt x="9444" y="9742"/>
                  <a:pt x="9504" y="9661"/>
                </a:cubicBezTo>
                <a:close/>
                <a:moveTo>
                  <a:pt x="3088" y="9743"/>
                </a:moveTo>
                <a:cubicBezTo>
                  <a:pt x="3477" y="10384"/>
                  <a:pt x="3981" y="10951"/>
                  <a:pt x="4591" y="11297"/>
                </a:cubicBezTo>
                <a:cubicBezTo>
                  <a:pt x="4394" y="11529"/>
                  <a:pt x="4110" y="11678"/>
                  <a:pt x="3789" y="11678"/>
                </a:cubicBezTo>
                <a:cubicBezTo>
                  <a:pt x="3197" y="11678"/>
                  <a:pt x="2719" y="11184"/>
                  <a:pt x="2719" y="10572"/>
                </a:cubicBezTo>
                <a:cubicBezTo>
                  <a:pt x="2719" y="10240"/>
                  <a:pt x="2863" y="9946"/>
                  <a:pt x="3088" y="9743"/>
                </a:cubicBezTo>
                <a:close/>
                <a:moveTo>
                  <a:pt x="4020" y="9803"/>
                </a:moveTo>
                <a:cubicBezTo>
                  <a:pt x="4073" y="9767"/>
                  <a:pt x="4143" y="9784"/>
                  <a:pt x="4186" y="9833"/>
                </a:cubicBezTo>
                <a:cubicBezTo>
                  <a:pt x="4311" y="9974"/>
                  <a:pt x="4450" y="10097"/>
                  <a:pt x="4598" y="10206"/>
                </a:cubicBezTo>
                <a:cubicBezTo>
                  <a:pt x="4662" y="10253"/>
                  <a:pt x="4734" y="10208"/>
                  <a:pt x="4778" y="10146"/>
                </a:cubicBezTo>
                <a:cubicBezTo>
                  <a:pt x="4831" y="10277"/>
                  <a:pt x="4858" y="10422"/>
                  <a:pt x="4858" y="10572"/>
                </a:cubicBezTo>
                <a:cubicBezTo>
                  <a:pt x="4858" y="10599"/>
                  <a:pt x="4845" y="10621"/>
                  <a:pt x="4844" y="10647"/>
                </a:cubicBezTo>
                <a:cubicBezTo>
                  <a:pt x="4816" y="10633"/>
                  <a:pt x="4784" y="10632"/>
                  <a:pt x="4757" y="10617"/>
                </a:cubicBezTo>
                <a:cubicBezTo>
                  <a:pt x="4748" y="10614"/>
                  <a:pt x="4735" y="10607"/>
                  <a:pt x="4728" y="10602"/>
                </a:cubicBezTo>
                <a:cubicBezTo>
                  <a:pt x="4613" y="10537"/>
                  <a:pt x="4522" y="10437"/>
                  <a:pt x="4417" y="10356"/>
                </a:cubicBezTo>
                <a:cubicBezTo>
                  <a:pt x="4417" y="10142"/>
                  <a:pt x="4248" y="9967"/>
                  <a:pt x="4042" y="9967"/>
                </a:cubicBezTo>
                <a:cubicBezTo>
                  <a:pt x="4022" y="9967"/>
                  <a:pt x="4010" y="9986"/>
                  <a:pt x="3991" y="9990"/>
                </a:cubicBezTo>
                <a:cubicBezTo>
                  <a:pt x="3951" y="9930"/>
                  <a:pt x="3957" y="9845"/>
                  <a:pt x="4020" y="9803"/>
                </a:cubicBezTo>
                <a:close/>
                <a:moveTo>
                  <a:pt x="12553" y="9900"/>
                </a:moveTo>
                <a:cubicBezTo>
                  <a:pt x="12569" y="10008"/>
                  <a:pt x="12572" y="10112"/>
                  <a:pt x="12596" y="10221"/>
                </a:cubicBezTo>
                <a:cubicBezTo>
                  <a:pt x="12583" y="10226"/>
                  <a:pt x="12574" y="10236"/>
                  <a:pt x="12560" y="10236"/>
                </a:cubicBezTo>
                <a:cubicBezTo>
                  <a:pt x="12523" y="10236"/>
                  <a:pt x="12484" y="10216"/>
                  <a:pt x="12459" y="10184"/>
                </a:cubicBezTo>
                <a:cubicBezTo>
                  <a:pt x="12415" y="10128"/>
                  <a:pt x="12429" y="10046"/>
                  <a:pt x="12481" y="9997"/>
                </a:cubicBezTo>
                <a:cubicBezTo>
                  <a:pt x="12510" y="9969"/>
                  <a:pt x="12525" y="9929"/>
                  <a:pt x="12553" y="9900"/>
                </a:cubicBezTo>
                <a:close/>
                <a:moveTo>
                  <a:pt x="5161" y="9907"/>
                </a:moveTo>
                <a:cubicBezTo>
                  <a:pt x="5253" y="9957"/>
                  <a:pt x="5352" y="9992"/>
                  <a:pt x="5450" y="10027"/>
                </a:cubicBezTo>
                <a:cubicBezTo>
                  <a:pt x="5476" y="10109"/>
                  <a:pt x="5487" y="10195"/>
                  <a:pt x="5501" y="10281"/>
                </a:cubicBezTo>
                <a:cubicBezTo>
                  <a:pt x="5416" y="10256"/>
                  <a:pt x="5322" y="10263"/>
                  <a:pt x="5241" y="10229"/>
                </a:cubicBezTo>
                <a:cubicBezTo>
                  <a:pt x="5217" y="10120"/>
                  <a:pt x="5207" y="10008"/>
                  <a:pt x="5161" y="9907"/>
                </a:cubicBezTo>
                <a:close/>
                <a:moveTo>
                  <a:pt x="7856" y="9997"/>
                </a:moveTo>
                <a:cubicBezTo>
                  <a:pt x="7905" y="10068"/>
                  <a:pt x="7971" y="10123"/>
                  <a:pt x="8023" y="10191"/>
                </a:cubicBezTo>
                <a:cubicBezTo>
                  <a:pt x="8020" y="10194"/>
                  <a:pt x="8018" y="10196"/>
                  <a:pt x="8015" y="10199"/>
                </a:cubicBezTo>
                <a:cubicBezTo>
                  <a:pt x="7991" y="10222"/>
                  <a:pt x="7966" y="10236"/>
                  <a:pt x="7936" y="10236"/>
                </a:cubicBezTo>
                <a:cubicBezTo>
                  <a:pt x="7920" y="10236"/>
                  <a:pt x="7907" y="10220"/>
                  <a:pt x="7893" y="10214"/>
                </a:cubicBezTo>
                <a:cubicBezTo>
                  <a:pt x="7890" y="10140"/>
                  <a:pt x="7867" y="10070"/>
                  <a:pt x="7856" y="9997"/>
                </a:cubicBezTo>
                <a:close/>
                <a:moveTo>
                  <a:pt x="812" y="10094"/>
                </a:moveTo>
                <a:cubicBezTo>
                  <a:pt x="900" y="10074"/>
                  <a:pt x="1008" y="10220"/>
                  <a:pt x="1050" y="10423"/>
                </a:cubicBezTo>
                <a:cubicBezTo>
                  <a:pt x="1092" y="10626"/>
                  <a:pt x="1059" y="10807"/>
                  <a:pt x="971" y="10826"/>
                </a:cubicBezTo>
                <a:cubicBezTo>
                  <a:pt x="883" y="10846"/>
                  <a:pt x="774" y="10693"/>
                  <a:pt x="732" y="10490"/>
                </a:cubicBezTo>
                <a:cubicBezTo>
                  <a:pt x="690" y="10288"/>
                  <a:pt x="724" y="10114"/>
                  <a:pt x="812" y="10094"/>
                </a:cubicBezTo>
                <a:close/>
                <a:moveTo>
                  <a:pt x="5761" y="10109"/>
                </a:moveTo>
                <a:cubicBezTo>
                  <a:pt x="5847" y="10124"/>
                  <a:pt x="5933" y="10135"/>
                  <a:pt x="6021" y="10139"/>
                </a:cubicBezTo>
                <a:cubicBezTo>
                  <a:pt x="6037" y="10227"/>
                  <a:pt x="6065" y="10311"/>
                  <a:pt x="6072" y="10400"/>
                </a:cubicBezTo>
                <a:cubicBezTo>
                  <a:pt x="5978" y="10399"/>
                  <a:pt x="5895" y="10361"/>
                  <a:pt x="5804" y="10348"/>
                </a:cubicBezTo>
                <a:cubicBezTo>
                  <a:pt x="5796" y="10267"/>
                  <a:pt x="5778" y="10188"/>
                  <a:pt x="5761" y="10109"/>
                </a:cubicBezTo>
                <a:close/>
                <a:moveTo>
                  <a:pt x="14648" y="10146"/>
                </a:moveTo>
                <a:cubicBezTo>
                  <a:pt x="14712" y="10150"/>
                  <a:pt x="14764" y="10208"/>
                  <a:pt x="14771" y="10273"/>
                </a:cubicBezTo>
                <a:cubicBezTo>
                  <a:pt x="14783" y="10384"/>
                  <a:pt x="14824" y="10485"/>
                  <a:pt x="14858" y="10587"/>
                </a:cubicBezTo>
                <a:cubicBezTo>
                  <a:pt x="14761" y="10578"/>
                  <a:pt x="14665" y="10554"/>
                  <a:pt x="14569" y="10550"/>
                </a:cubicBezTo>
                <a:cubicBezTo>
                  <a:pt x="14548" y="10466"/>
                  <a:pt x="14520" y="10384"/>
                  <a:pt x="14511" y="10296"/>
                </a:cubicBezTo>
                <a:cubicBezTo>
                  <a:pt x="14502" y="10216"/>
                  <a:pt x="14567" y="10141"/>
                  <a:pt x="14648" y="10146"/>
                </a:cubicBezTo>
                <a:close/>
                <a:moveTo>
                  <a:pt x="11715" y="10498"/>
                </a:moveTo>
                <a:cubicBezTo>
                  <a:pt x="11847" y="10486"/>
                  <a:pt x="11949" y="10520"/>
                  <a:pt x="11968" y="10587"/>
                </a:cubicBezTo>
                <a:cubicBezTo>
                  <a:pt x="11992" y="10677"/>
                  <a:pt x="11857" y="10794"/>
                  <a:pt x="11664" y="10849"/>
                </a:cubicBezTo>
                <a:cubicBezTo>
                  <a:pt x="11471" y="10904"/>
                  <a:pt x="11291" y="10879"/>
                  <a:pt x="11267" y="10789"/>
                </a:cubicBezTo>
                <a:cubicBezTo>
                  <a:pt x="11243" y="10699"/>
                  <a:pt x="11384" y="10575"/>
                  <a:pt x="11577" y="10520"/>
                </a:cubicBezTo>
                <a:cubicBezTo>
                  <a:pt x="11626" y="10506"/>
                  <a:pt x="11671" y="10501"/>
                  <a:pt x="11715" y="10498"/>
                </a:cubicBezTo>
                <a:close/>
                <a:moveTo>
                  <a:pt x="5306" y="10565"/>
                </a:moveTo>
                <a:cubicBezTo>
                  <a:pt x="5383" y="10591"/>
                  <a:pt x="5457" y="10621"/>
                  <a:pt x="5537" y="10640"/>
                </a:cubicBezTo>
                <a:cubicBezTo>
                  <a:pt x="5545" y="10641"/>
                  <a:pt x="5545" y="10652"/>
                  <a:pt x="5552" y="10655"/>
                </a:cubicBezTo>
                <a:cubicBezTo>
                  <a:pt x="5548" y="10741"/>
                  <a:pt x="5538" y="10825"/>
                  <a:pt x="5523" y="10909"/>
                </a:cubicBezTo>
                <a:cubicBezTo>
                  <a:pt x="5514" y="10909"/>
                  <a:pt x="5503" y="10903"/>
                  <a:pt x="5494" y="10901"/>
                </a:cubicBezTo>
                <a:cubicBezTo>
                  <a:pt x="5412" y="10883"/>
                  <a:pt x="5341" y="10837"/>
                  <a:pt x="5263" y="10811"/>
                </a:cubicBezTo>
                <a:cubicBezTo>
                  <a:pt x="5275" y="10731"/>
                  <a:pt x="5306" y="10655"/>
                  <a:pt x="5306" y="10572"/>
                </a:cubicBezTo>
                <a:cubicBezTo>
                  <a:pt x="5306" y="10570"/>
                  <a:pt x="5306" y="10567"/>
                  <a:pt x="5306" y="10565"/>
                </a:cubicBezTo>
                <a:close/>
                <a:moveTo>
                  <a:pt x="2163" y="10625"/>
                </a:moveTo>
                <a:cubicBezTo>
                  <a:pt x="2227" y="10629"/>
                  <a:pt x="2279" y="10686"/>
                  <a:pt x="2286" y="10752"/>
                </a:cubicBezTo>
                <a:cubicBezTo>
                  <a:pt x="2363" y="11458"/>
                  <a:pt x="2884" y="12023"/>
                  <a:pt x="3565" y="12126"/>
                </a:cubicBezTo>
                <a:cubicBezTo>
                  <a:pt x="3625" y="12136"/>
                  <a:pt x="3676" y="12183"/>
                  <a:pt x="3680" y="12246"/>
                </a:cubicBezTo>
                <a:cubicBezTo>
                  <a:pt x="3686" y="12327"/>
                  <a:pt x="3629" y="12388"/>
                  <a:pt x="3557" y="12388"/>
                </a:cubicBezTo>
                <a:cubicBezTo>
                  <a:pt x="3551" y="12388"/>
                  <a:pt x="3542" y="12389"/>
                  <a:pt x="3536" y="12388"/>
                </a:cubicBezTo>
                <a:cubicBezTo>
                  <a:pt x="3049" y="12317"/>
                  <a:pt x="2632" y="12045"/>
                  <a:pt x="2358" y="11656"/>
                </a:cubicBezTo>
                <a:cubicBezTo>
                  <a:pt x="2319" y="11600"/>
                  <a:pt x="2252" y="11576"/>
                  <a:pt x="2192" y="11603"/>
                </a:cubicBezTo>
                <a:cubicBezTo>
                  <a:pt x="2110" y="11641"/>
                  <a:pt x="2074" y="11745"/>
                  <a:pt x="2127" y="11820"/>
                </a:cubicBezTo>
                <a:cubicBezTo>
                  <a:pt x="2505" y="12355"/>
                  <a:pt x="3116" y="12699"/>
                  <a:pt x="3781" y="12702"/>
                </a:cubicBezTo>
                <a:cubicBezTo>
                  <a:pt x="3845" y="12702"/>
                  <a:pt x="3901" y="12741"/>
                  <a:pt x="3911" y="12806"/>
                </a:cubicBezTo>
                <a:cubicBezTo>
                  <a:pt x="3925" y="12889"/>
                  <a:pt x="3866" y="12963"/>
                  <a:pt x="3789" y="12963"/>
                </a:cubicBezTo>
                <a:cubicBezTo>
                  <a:pt x="3474" y="12963"/>
                  <a:pt x="3171" y="12891"/>
                  <a:pt x="2893" y="12769"/>
                </a:cubicBezTo>
                <a:cubicBezTo>
                  <a:pt x="2821" y="12737"/>
                  <a:pt x="2735" y="12776"/>
                  <a:pt x="2705" y="12851"/>
                </a:cubicBezTo>
                <a:cubicBezTo>
                  <a:pt x="2675" y="12926"/>
                  <a:pt x="2712" y="13014"/>
                  <a:pt x="2784" y="13046"/>
                </a:cubicBezTo>
                <a:cubicBezTo>
                  <a:pt x="2927" y="13108"/>
                  <a:pt x="3072" y="13160"/>
                  <a:pt x="3225" y="13195"/>
                </a:cubicBezTo>
                <a:cubicBezTo>
                  <a:pt x="3289" y="13210"/>
                  <a:pt x="3339" y="13269"/>
                  <a:pt x="3333" y="13337"/>
                </a:cubicBezTo>
                <a:cubicBezTo>
                  <a:pt x="3327" y="13407"/>
                  <a:pt x="3274" y="13456"/>
                  <a:pt x="3211" y="13456"/>
                </a:cubicBezTo>
                <a:cubicBezTo>
                  <a:pt x="3202" y="13456"/>
                  <a:pt x="3191" y="13451"/>
                  <a:pt x="3182" y="13449"/>
                </a:cubicBezTo>
                <a:cubicBezTo>
                  <a:pt x="2922" y="13390"/>
                  <a:pt x="2675" y="13301"/>
                  <a:pt x="2445" y="13173"/>
                </a:cubicBezTo>
                <a:cubicBezTo>
                  <a:pt x="2444" y="13172"/>
                  <a:pt x="2445" y="13165"/>
                  <a:pt x="2445" y="13165"/>
                </a:cubicBezTo>
                <a:cubicBezTo>
                  <a:pt x="2436" y="13161"/>
                  <a:pt x="2423" y="13163"/>
                  <a:pt x="2416" y="13158"/>
                </a:cubicBezTo>
                <a:cubicBezTo>
                  <a:pt x="2142" y="13002"/>
                  <a:pt x="1894" y="12798"/>
                  <a:pt x="1679" y="12552"/>
                </a:cubicBezTo>
                <a:cubicBezTo>
                  <a:pt x="1627" y="12493"/>
                  <a:pt x="1640" y="12396"/>
                  <a:pt x="1708" y="12351"/>
                </a:cubicBezTo>
                <a:cubicBezTo>
                  <a:pt x="1761" y="12315"/>
                  <a:pt x="1831" y="12332"/>
                  <a:pt x="1874" y="12381"/>
                </a:cubicBezTo>
                <a:cubicBezTo>
                  <a:pt x="1999" y="12522"/>
                  <a:pt x="2138" y="12645"/>
                  <a:pt x="2286" y="12754"/>
                </a:cubicBezTo>
                <a:cubicBezTo>
                  <a:pt x="2360" y="12809"/>
                  <a:pt x="2460" y="12781"/>
                  <a:pt x="2495" y="12694"/>
                </a:cubicBezTo>
                <a:cubicBezTo>
                  <a:pt x="2521" y="12630"/>
                  <a:pt x="2505" y="12554"/>
                  <a:pt x="2452" y="12515"/>
                </a:cubicBezTo>
                <a:cubicBezTo>
                  <a:pt x="2160" y="12300"/>
                  <a:pt x="1914" y="12020"/>
                  <a:pt x="1744" y="11686"/>
                </a:cubicBezTo>
                <a:cubicBezTo>
                  <a:pt x="1741" y="11680"/>
                  <a:pt x="1739" y="11669"/>
                  <a:pt x="1737" y="11663"/>
                </a:cubicBezTo>
                <a:cubicBezTo>
                  <a:pt x="1735" y="11660"/>
                  <a:pt x="1738" y="11659"/>
                  <a:pt x="1737" y="11656"/>
                </a:cubicBezTo>
                <a:cubicBezTo>
                  <a:pt x="1668" y="11516"/>
                  <a:pt x="1605" y="11370"/>
                  <a:pt x="1563" y="11215"/>
                </a:cubicBezTo>
                <a:cubicBezTo>
                  <a:pt x="1542" y="11138"/>
                  <a:pt x="1591" y="11059"/>
                  <a:pt x="1672" y="11051"/>
                </a:cubicBezTo>
                <a:cubicBezTo>
                  <a:pt x="1735" y="11043"/>
                  <a:pt x="1791" y="11092"/>
                  <a:pt x="1809" y="11155"/>
                </a:cubicBezTo>
                <a:cubicBezTo>
                  <a:pt x="1822" y="11204"/>
                  <a:pt x="1843" y="11250"/>
                  <a:pt x="1860" y="11297"/>
                </a:cubicBezTo>
                <a:cubicBezTo>
                  <a:pt x="1888" y="11376"/>
                  <a:pt x="1973" y="11413"/>
                  <a:pt x="2047" y="11379"/>
                </a:cubicBezTo>
                <a:cubicBezTo>
                  <a:pt x="2116" y="11348"/>
                  <a:pt x="2152" y="11273"/>
                  <a:pt x="2127" y="11200"/>
                </a:cubicBezTo>
                <a:cubicBezTo>
                  <a:pt x="2079" y="11065"/>
                  <a:pt x="2041" y="10922"/>
                  <a:pt x="2026" y="10774"/>
                </a:cubicBezTo>
                <a:cubicBezTo>
                  <a:pt x="2017" y="10694"/>
                  <a:pt x="2082" y="10620"/>
                  <a:pt x="2163" y="10625"/>
                </a:cubicBezTo>
                <a:close/>
                <a:moveTo>
                  <a:pt x="8564" y="10968"/>
                </a:moveTo>
                <a:cubicBezTo>
                  <a:pt x="8628" y="10968"/>
                  <a:pt x="8685" y="11016"/>
                  <a:pt x="8695" y="11080"/>
                </a:cubicBezTo>
                <a:cubicBezTo>
                  <a:pt x="8707" y="11163"/>
                  <a:pt x="8642" y="11237"/>
                  <a:pt x="8564" y="11237"/>
                </a:cubicBezTo>
                <a:cubicBezTo>
                  <a:pt x="8244" y="11237"/>
                  <a:pt x="7937" y="11309"/>
                  <a:pt x="7647" y="11424"/>
                </a:cubicBezTo>
                <a:cubicBezTo>
                  <a:pt x="7685" y="11336"/>
                  <a:pt x="7725" y="11251"/>
                  <a:pt x="7755" y="11163"/>
                </a:cubicBezTo>
                <a:cubicBezTo>
                  <a:pt x="7830" y="11122"/>
                  <a:pt x="7906" y="11087"/>
                  <a:pt x="7979" y="11043"/>
                </a:cubicBezTo>
                <a:cubicBezTo>
                  <a:pt x="8170" y="11001"/>
                  <a:pt x="8365" y="10969"/>
                  <a:pt x="8564" y="10968"/>
                </a:cubicBezTo>
                <a:close/>
                <a:moveTo>
                  <a:pt x="14879" y="10968"/>
                </a:moveTo>
                <a:cubicBezTo>
                  <a:pt x="14942" y="10968"/>
                  <a:pt x="14999" y="11016"/>
                  <a:pt x="15009" y="11080"/>
                </a:cubicBezTo>
                <a:cubicBezTo>
                  <a:pt x="15021" y="11158"/>
                  <a:pt x="14965" y="11223"/>
                  <a:pt x="14894" y="11230"/>
                </a:cubicBezTo>
                <a:cubicBezTo>
                  <a:pt x="14879" y="11210"/>
                  <a:pt x="14857" y="11198"/>
                  <a:pt x="14843" y="11178"/>
                </a:cubicBezTo>
                <a:cubicBezTo>
                  <a:pt x="14804" y="11122"/>
                  <a:pt x="14738" y="11098"/>
                  <a:pt x="14677" y="11125"/>
                </a:cubicBezTo>
                <a:cubicBezTo>
                  <a:pt x="14615" y="11154"/>
                  <a:pt x="14615" y="11226"/>
                  <a:pt x="14626" y="11290"/>
                </a:cubicBezTo>
                <a:cubicBezTo>
                  <a:pt x="14523" y="11301"/>
                  <a:pt x="14424" y="11325"/>
                  <a:pt x="14323" y="11349"/>
                </a:cubicBezTo>
                <a:cubicBezTo>
                  <a:pt x="14293" y="11300"/>
                  <a:pt x="14255" y="11259"/>
                  <a:pt x="14229" y="11207"/>
                </a:cubicBezTo>
                <a:cubicBezTo>
                  <a:pt x="14226" y="11202"/>
                  <a:pt x="14224" y="11191"/>
                  <a:pt x="14222" y="11185"/>
                </a:cubicBezTo>
                <a:cubicBezTo>
                  <a:pt x="14221" y="11182"/>
                  <a:pt x="14223" y="11180"/>
                  <a:pt x="14222" y="11178"/>
                </a:cubicBezTo>
                <a:cubicBezTo>
                  <a:pt x="14205" y="11144"/>
                  <a:pt x="14194" y="11107"/>
                  <a:pt x="14178" y="11073"/>
                </a:cubicBezTo>
                <a:cubicBezTo>
                  <a:pt x="14406" y="11012"/>
                  <a:pt x="14639" y="10969"/>
                  <a:pt x="14879" y="10968"/>
                </a:cubicBezTo>
                <a:close/>
                <a:moveTo>
                  <a:pt x="11787" y="11439"/>
                </a:moveTo>
                <a:cubicBezTo>
                  <a:pt x="11734" y="11488"/>
                  <a:pt x="11671" y="11520"/>
                  <a:pt x="11621" y="11574"/>
                </a:cubicBezTo>
                <a:cubicBezTo>
                  <a:pt x="11583" y="11614"/>
                  <a:pt x="11568" y="11672"/>
                  <a:pt x="11534" y="11716"/>
                </a:cubicBezTo>
                <a:cubicBezTo>
                  <a:pt x="11464" y="11662"/>
                  <a:pt x="11392" y="11609"/>
                  <a:pt x="11317" y="11559"/>
                </a:cubicBezTo>
                <a:cubicBezTo>
                  <a:pt x="11474" y="11523"/>
                  <a:pt x="11632" y="11495"/>
                  <a:pt x="11787" y="11439"/>
                </a:cubicBezTo>
                <a:close/>
                <a:moveTo>
                  <a:pt x="5039" y="11461"/>
                </a:moveTo>
                <a:cubicBezTo>
                  <a:pt x="5111" y="11489"/>
                  <a:pt x="5181" y="11523"/>
                  <a:pt x="5255" y="11544"/>
                </a:cubicBezTo>
                <a:cubicBezTo>
                  <a:pt x="5152" y="11711"/>
                  <a:pt x="5049" y="11879"/>
                  <a:pt x="4894" y="12007"/>
                </a:cubicBezTo>
                <a:cubicBezTo>
                  <a:pt x="4871" y="12026"/>
                  <a:pt x="4842" y="12037"/>
                  <a:pt x="4815" y="12037"/>
                </a:cubicBezTo>
                <a:cubicBezTo>
                  <a:pt x="4770" y="12037"/>
                  <a:pt x="4723" y="12009"/>
                  <a:pt x="4699" y="11962"/>
                </a:cubicBezTo>
                <a:cubicBezTo>
                  <a:pt x="4670" y="11905"/>
                  <a:pt x="4686" y="11838"/>
                  <a:pt x="4735" y="11798"/>
                </a:cubicBezTo>
                <a:cubicBezTo>
                  <a:pt x="4852" y="11701"/>
                  <a:pt x="4956" y="11585"/>
                  <a:pt x="5039" y="11461"/>
                </a:cubicBezTo>
                <a:close/>
                <a:moveTo>
                  <a:pt x="8434" y="11536"/>
                </a:moveTo>
                <a:cubicBezTo>
                  <a:pt x="8512" y="11531"/>
                  <a:pt x="8581" y="11595"/>
                  <a:pt x="8572" y="11678"/>
                </a:cubicBezTo>
                <a:cubicBezTo>
                  <a:pt x="8564" y="11743"/>
                  <a:pt x="8505" y="11794"/>
                  <a:pt x="8442" y="11798"/>
                </a:cubicBezTo>
                <a:cubicBezTo>
                  <a:pt x="8157" y="11816"/>
                  <a:pt x="7884" y="11894"/>
                  <a:pt x="7640" y="12022"/>
                </a:cubicBezTo>
                <a:cubicBezTo>
                  <a:pt x="7562" y="12062"/>
                  <a:pt x="7545" y="12166"/>
                  <a:pt x="7596" y="12239"/>
                </a:cubicBezTo>
                <a:cubicBezTo>
                  <a:pt x="7638" y="12297"/>
                  <a:pt x="7707" y="12316"/>
                  <a:pt x="7770" y="12283"/>
                </a:cubicBezTo>
                <a:cubicBezTo>
                  <a:pt x="7823" y="12255"/>
                  <a:pt x="7880" y="12231"/>
                  <a:pt x="7936" y="12209"/>
                </a:cubicBezTo>
                <a:cubicBezTo>
                  <a:pt x="8008" y="12180"/>
                  <a:pt x="8094" y="12223"/>
                  <a:pt x="8109" y="12306"/>
                </a:cubicBezTo>
                <a:cubicBezTo>
                  <a:pt x="8122" y="12371"/>
                  <a:pt x="8082" y="12431"/>
                  <a:pt x="8023" y="12455"/>
                </a:cubicBezTo>
                <a:cubicBezTo>
                  <a:pt x="7713" y="12579"/>
                  <a:pt x="7444" y="12811"/>
                  <a:pt x="7271" y="13105"/>
                </a:cubicBezTo>
                <a:cubicBezTo>
                  <a:pt x="7247" y="13146"/>
                  <a:pt x="7206" y="13173"/>
                  <a:pt x="7163" y="13173"/>
                </a:cubicBezTo>
                <a:cubicBezTo>
                  <a:pt x="7135" y="13173"/>
                  <a:pt x="7107" y="13162"/>
                  <a:pt x="7083" y="13143"/>
                </a:cubicBezTo>
                <a:cubicBezTo>
                  <a:pt x="7033" y="13101"/>
                  <a:pt x="7021" y="13020"/>
                  <a:pt x="7054" y="12963"/>
                </a:cubicBezTo>
                <a:cubicBezTo>
                  <a:pt x="7139" y="12821"/>
                  <a:pt x="7247" y="12695"/>
                  <a:pt x="7365" y="12582"/>
                </a:cubicBezTo>
                <a:cubicBezTo>
                  <a:pt x="7418" y="12531"/>
                  <a:pt x="7422" y="12448"/>
                  <a:pt x="7380" y="12388"/>
                </a:cubicBezTo>
                <a:cubicBezTo>
                  <a:pt x="7329" y="12317"/>
                  <a:pt x="7232" y="12306"/>
                  <a:pt x="7170" y="12366"/>
                </a:cubicBezTo>
                <a:cubicBezTo>
                  <a:pt x="7111" y="12422"/>
                  <a:pt x="7056" y="12481"/>
                  <a:pt x="7004" y="12545"/>
                </a:cubicBezTo>
                <a:cubicBezTo>
                  <a:pt x="7002" y="12547"/>
                  <a:pt x="6998" y="12550"/>
                  <a:pt x="6997" y="12552"/>
                </a:cubicBezTo>
                <a:cubicBezTo>
                  <a:pt x="6995" y="12554"/>
                  <a:pt x="6991" y="12551"/>
                  <a:pt x="6989" y="12552"/>
                </a:cubicBezTo>
                <a:cubicBezTo>
                  <a:pt x="6837" y="12741"/>
                  <a:pt x="6719" y="12962"/>
                  <a:pt x="6635" y="13202"/>
                </a:cubicBezTo>
                <a:cubicBezTo>
                  <a:pt x="6617" y="13256"/>
                  <a:pt x="6565" y="13285"/>
                  <a:pt x="6513" y="13285"/>
                </a:cubicBezTo>
                <a:cubicBezTo>
                  <a:pt x="6492" y="13285"/>
                  <a:pt x="6475" y="13281"/>
                  <a:pt x="6455" y="13270"/>
                </a:cubicBezTo>
                <a:cubicBezTo>
                  <a:pt x="6399" y="13239"/>
                  <a:pt x="6376" y="13167"/>
                  <a:pt x="6397" y="13105"/>
                </a:cubicBezTo>
                <a:cubicBezTo>
                  <a:pt x="6408" y="13073"/>
                  <a:pt x="6428" y="13047"/>
                  <a:pt x="6440" y="13016"/>
                </a:cubicBezTo>
                <a:cubicBezTo>
                  <a:pt x="6823" y="12679"/>
                  <a:pt x="7150" y="12306"/>
                  <a:pt x="7401" y="11895"/>
                </a:cubicBezTo>
                <a:cubicBezTo>
                  <a:pt x="7714" y="11701"/>
                  <a:pt x="8054" y="11558"/>
                  <a:pt x="8434" y="11536"/>
                </a:cubicBezTo>
                <a:close/>
                <a:moveTo>
                  <a:pt x="14756" y="11536"/>
                </a:moveTo>
                <a:cubicBezTo>
                  <a:pt x="14834" y="11531"/>
                  <a:pt x="14896" y="11595"/>
                  <a:pt x="14887" y="11678"/>
                </a:cubicBezTo>
                <a:cubicBezTo>
                  <a:pt x="14879" y="11743"/>
                  <a:pt x="14827" y="11794"/>
                  <a:pt x="14764" y="11798"/>
                </a:cubicBezTo>
                <a:cubicBezTo>
                  <a:pt x="14741" y="11799"/>
                  <a:pt x="14721" y="11810"/>
                  <a:pt x="14699" y="11813"/>
                </a:cubicBezTo>
                <a:cubicBezTo>
                  <a:pt x="14629" y="11744"/>
                  <a:pt x="14557" y="11680"/>
                  <a:pt x="14496" y="11603"/>
                </a:cubicBezTo>
                <a:cubicBezTo>
                  <a:pt x="14585" y="11587"/>
                  <a:pt x="14665" y="11542"/>
                  <a:pt x="14756" y="11536"/>
                </a:cubicBezTo>
                <a:close/>
                <a:moveTo>
                  <a:pt x="9446" y="11588"/>
                </a:moveTo>
                <a:cubicBezTo>
                  <a:pt x="9518" y="11588"/>
                  <a:pt x="9607" y="11614"/>
                  <a:pt x="9699" y="11656"/>
                </a:cubicBezTo>
                <a:cubicBezTo>
                  <a:pt x="9882" y="11740"/>
                  <a:pt x="10003" y="11877"/>
                  <a:pt x="9966" y="11962"/>
                </a:cubicBezTo>
                <a:cubicBezTo>
                  <a:pt x="9929" y="12047"/>
                  <a:pt x="9752" y="12047"/>
                  <a:pt x="9569" y="11962"/>
                </a:cubicBezTo>
                <a:cubicBezTo>
                  <a:pt x="9386" y="11878"/>
                  <a:pt x="9265" y="11741"/>
                  <a:pt x="9301" y="11656"/>
                </a:cubicBezTo>
                <a:cubicBezTo>
                  <a:pt x="9320" y="11613"/>
                  <a:pt x="9374" y="11589"/>
                  <a:pt x="9446" y="11588"/>
                </a:cubicBezTo>
                <a:close/>
                <a:moveTo>
                  <a:pt x="15768" y="11588"/>
                </a:moveTo>
                <a:cubicBezTo>
                  <a:pt x="15840" y="11588"/>
                  <a:pt x="15929" y="11614"/>
                  <a:pt x="16021" y="11656"/>
                </a:cubicBezTo>
                <a:cubicBezTo>
                  <a:pt x="16067" y="11677"/>
                  <a:pt x="16093" y="11704"/>
                  <a:pt x="16129" y="11730"/>
                </a:cubicBezTo>
                <a:cubicBezTo>
                  <a:pt x="16139" y="11747"/>
                  <a:pt x="16164" y="11748"/>
                  <a:pt x="16165" y="11768"/>
                </a:cubicBezTo>
                <a:cubicBezTo>
                  <a:pt x="16171" y="11848"/>
                  <a:pt x="16114" y="11910"/>
                  <a:pt x="16043" y="11910"/>
                </a:cubicBezTo>
                <a:cubicBezTo>
                  <a:pt x="16037" y="11910"/>
                  <a:pt x="16027" y="11911"/>
                  <a:pt x="16021" y="11910"/>
                </a:cubicBezTo>
                <a:cubicBezTo>
                  <a:pt x="15889" y="11890"/>
                  <a:pt x="15780" y="11823"/>
                  <a:pt x="15660" y="11775"/>
                </a:cubicBezTo>
                <a:cubicBezTo>
                  <a:pt x="15634" y="11734"/>
                  <a:pt x="15610" y="11688"/>
                  <a:pt x="15623" y="11656"/>
                </a:cubicBezTo>
                <a:cubicBezTo>
                  <a:pt x="15642" y="11613"/>
                  <a:pt x="15696" y="11589"/>
                  <a:pt x="15768" y="11588"/>
                </a:cubicBezTo>
                <a:close/>
                <a:moveTo>
                  <a:pt x="13145" y="11596"/>
                </a:moveTo>
                <a:cubicBezTo>
                  <a:pt x="13192" y="11682"/>
                  <a:pt x="13231" y="11774"/>
                  <a:pt x="13283" y="11857"/>
                </a:cubicBezTo>
                <a:cubicBezTo>
                  <a:pt x="13226" y="11904"/>
                  <a:pt x="13154" y="11925"/>
                  <a:pt x="13102" y="11977"/>
                </a:cubicBezTo>
                <a:cubicBezTo>
                  <a:pt x="13043" y="12035"/>
                  <a:pt x="13042" y="12137"/>
                  <a:pt x="13102" y="12194"/>
                </a:cubicBezTo>
                <a:cubicBezTo>
                  <a:pt x="13158" y="12247"/>
                  <a:pt x="13237" y="12246"/>
                  <a:pt x="13290" y="12194"/>
                </a:cubicBezTo>
                <a:cubicBezTo>
                  <a:pt x="13331" y="12153"/>
                  <a:pt x="13390" y="12134"/>
                  <a:pt x="13434" y="12097"/>
                </a:cubicBezTo>
                <a:cubicBezTo>
                  <a:pt x="13507" y="12201"/>
                  <a:pt x="13593" y="12290"/>
                  <a:pt x="13673" y="12388"/>
                </a:cubicBezTo>
                <a:cubicBezTo>
                  <a:pt x="13619" y="12340"/>
                  <a:pt x="13539" y="12314"/>
                  <a:pt x="13485" y="12366"/>
                </a:cubicBezTo>
                <a:cubicBezTo>
                  <a:pt x="13425" y="12422"/>
                  <a:pt x="13371" y="12481"/>
                  <a:pt x="13319" y="12545"/>
                </a:cubicBezTo>
                <a:cubicBezTo>
                  <a:pt x="13317" y="12547"/>
                  <a:pt x="13320" y="12550"/>
                  <a:pt x="13319" y="12552"/>
                </a:cubicBezTo>
                <a:cubicBezTo>
                  <a:pt x="13317" y="12554"/>
                  <a:pt x="13313" y="12551"/>
                  <a:pt x="13311" y="12552"/>
                </a:cubicBezTo>
                <a:cubicBezTo>
                  <a:pt x="13159" y="12741"/>
                  <a:pt x="13034" y="12962"/>
                  <a:pt x="12950" y="13202"/>
                </a:cubicBezTo>
                <a:cubicBezTo>
                  <a:pt x="12932" y="13256"/>
                  <a:pt x="12887" y="13285"/>
                  <a:pt x="12835" y="13285"/>
                </a:cubicBezTo>
                <a:cubicBezTo>
                  <a:pt x="12814" y="13285"/>
                  <a:pt x="12789" y="13281"/>
                  <a:pt x="12770" y="13270"/>
                </a:cubicBezTo>
                <a:cubicBezTo>
                  <a:pt x="12714" y="13239"/>
                  <a:pt x="12690" y="13167"/>
                  <a:pt x="12712" y="13105"/>
                </a:cubicBezTo>
                <a:cubicBezTo>
                  <a:pt x="12777" y="12919"/>
                  <a:pt x="12869" y="12749"/>
                  <a:pt x="12972" y="12590"/>
                </a:cubicBezTo>
                <a:cubicBezTo>
                  <a:pt x="13010" y="12531"/>
                  <a:pt x="12993" y="12450"/>
                  <a:pt x="12943" y="12403"/>
                </a:cubicBezTo>
                <a:cubicBezTo>
                  <a:pt x="12880" y="12343"/>
                  <a:pt x="12781" y="12352"/>
                  <a:pt x="12733" y="12425"/>
                </a:cubicBezTo>
                <a:cubicBezTo>
                  <a:pt x="12659" y="12539"/>
                  <a:pt x="12595" y="12658"/>
                  <a:pt x="12538" y="12784"/>
                </a:cubicBezTo>
                <a:cubicBezTo>
                  <a:pt x="12533" y="12795"/>
                  <a:pt x="12517" y="12790"/>
                  <a:pt x="12509" y="12799"/>
                </a:cubicBezTo>
                <a:cubicBezTo>
                  <a:pt x="12472" y="12717"/>
                  <a:pt x="12429" y="12633"/>
                  <a:pt x="12379" y="12552"/>
                </a:cubicBezTo>
                <a:cubicBezTo>
                  <a:pt x="12475" y="12367"/>
                  <a:pt x="12576" y="12187"/>
                  <a:pt x="12705" y="12029"/>
                </a:cubicBezTo>
                <a:cubicBezTo>
                  <a:pt x="12709" y="12021"/>
                  <a:pt x="12719" y="12014"/>
                  <a:pt x="12726" y="12007"/>
                </a:cubicBezTo>
                <a:cubicBezTo>
                  <a:pt x="12728" y="12005"/>
                  <a:pt x="12724" y="12001"/>
                  <a:pt x="12726" y="11999"/>
                </a:cubicBezTo>
                <a:cubicBezTo>
                  <a:pt x="12851" y="11851"/>
                  <a:pt x="12996" y="11716"/>
                  <a:pt x="13145" y="11596"/>
                </a:cubicBezTo>
                <a:close/>
                <a:moveTo>
                  <a:pt x="14193" y="11872"/>
                </a:moveTo>
                <a:cubicBezTo>
                  <a:pt x="14246" y="11837"/>
                  <a:pt x="14316" y="11854"/>
                  <a:pt x="14359" y="11902"/>
                </a:cubicBezTo>
                <a:cubicBezTo>
                  <a:pt x="14361" y="11905"/>
                  <a:pt x="14364" y="11907"/>
                  <a:pt x="14366" y="11910"/>
                </a:cubicBezTo>
                <a:cubicBezTo>
                  <a:pt x="14304" y="11927"/>
                  <a:pt x="14239" y="11939"/>
                  <a:pt x="14178" y="11962"/>
                </a:cubicBezTo>
                <a:cubicBezTo>
                  <a:pt x="14185" y="11930"/>
                  <a:pt x="14163" y="11893"/>
                  <a:pt x="14193" y="11872"/>
                </a:cubicBezTo>
                <a:close/>
                <a:moveTo>
                  <a:pt x="13702" y="12418"/>
                </a:moveTo>
                <a:cubicBezTo>
                  <a:pt x="13780" y="12512"/>
                  <a:pt x="13848" y="12615"/>
                  <a:pt x="13933" y="12702"/>
                </a:cubicBezTo>
                <a:cubicBezTo>
                  <a:pt x="13798" y="12815"/>
                  <a:pt x="13684" y="12950"/>
                  <a:pt x="13593" y="13105"/>
                </a:cubicBezTo>
                <a:cubicBezTo>
                  <a:pt x="13569" y="13146"/>
                  <a:pt x="13528" y="13173"/>
                  <a:pt x="13485" y="13173"/>
                </a:cubicBezTo>
                <a:cubicBezTo>
                  <a:pt x="13457" y="13173"/>
                  <a:pt x="13429" y="13162"/>
                  <a:pt x="13405" y="13143"/>
                </a:cubicBezTo>
                <a:cubicBezTo>
                  <a:pt x="13355" y="13101"/>
                  <a:pt x="13343" y="13020"/>
                  <a:pt x="13376" y="12963"/>
                </a:cubicBezTo>
                <a:cubicBezTo>
                  <a:pt x="13461" y="12821"/>
                  <a:pt x="13562" y="12695"/>
                  <a:pt x="13680" y="12582"/>
                </a:cubicBezTo>
                <a:cubicBezTo>
                  <a:pt x="13725" y="12539"/>
                  <a:pt x="13725" y="12474"/>
                  <a:pt x="13702" y="12418"/>
                </a:cubicBezTo>
                <a:close/>
                <a:moveTo>
                  <a:pt x="9728" y="12575"/>
                </a:moveTo>
                <a:cubicBezTo>
                  <a:pt x="9758" y="12578"/>
                  <a:pt x="9785" y="12589"/>
                  <a:pt x="9807" y="12612"/>
                </a:cubicBezTo>
                <a:cubicBezTo>
                  <a:pt x="10150" y="12959"/>
                  <a:pt x="10342" y="13423"/>
                  <a:pt x="10342" y="13920"/>
                </a:cubicBezTo>
                <a:cubicBezTo>
                  <a:pt x="10342" y="14024"/>
                  <a:pt x="10330" y="14125"/>
                  <a:pt x="10313" y="14226"/>
                </a:cubicBezTo>
                <a:cubicBezTo>
                  <a:pt x="10267" y="14225"/>
                  <a:pt x="10221" y="14211"/>
                  <a:pt x="10176" y="14211"/>
                </a:cubicBezTo>
                <a:cubicBezTo>
                  <a:pt x="10129" y="14211"/>
                  <a:pt x="10085" y="14217"/>
                  <a:pt x="10038" y="14219"/>
                </a:cubicBezTo>
                <a:cubicBezTo>
                  <a:pt x="10057" y="14120"/>
                  <a:pt x="10082" y="14023"/>
                  <a:pt x="10082" y="13920"/>
                </a:cubicBezTo>
                <a:cubicBezTo>
                  <a:pt x="10082" y="13493"/>
                  <a:pt x="9922" y="13097"/>
                  <a:pt x="9627" y="12799"/>
                </a:cubicBezTo>
                <a:cubicBezTo>
                  <a:pt x="9571" y="12743"/>
                  <a:pt x="9577" y="12647"/>
                  <a:pt x="9641" y="12597"/>
                </a:cubicBezTo>
                <a:cubicBezTo>
                  <a:pt x="9666" y="12578"/>
                  <a:pt x="9698" y="12572"/>
                  <a:pt x="9728" y="12575"/>
                </a:cubicBezTo>
                <a:close/>
                <a:moveTo>
                  <a:pt x="10407" y="12657"/>
                </a:moveTo>
                <a:cubicBezTo>
                  <a:pt x="10465" y="12633"/>
                  <a:pt x="10534" y="12661"/>
                  <a:pt x="10566" y="12717"/>
                </a:cubicBezTo>
                <a:cubicBezTo>
                  <a:pt x="10629" y="12828"/>
                  <a:pt x="10680" y="12948"/>
                  <a:pt x="10725" y="13068"/>
                </a:cubicBezTo>
                <a:cubicBezTo>
                  <a:pt x="10826" y="13341"/>
                  <a:pt x="10877" y="13625"/>
                  <a:pt x="10877" y="13920"/>
                </a:cubicBezTo>
                <a:cubicBezTo>
                  <a:pt x="10876" y="13982"/>
                  <a:pt x="10919" y="14037"/>
                  <a:pt x="10978" y="14047"/>
                </a:cubicBezTo>
                <a:lnTo>
                  <a:pt x="11028" y="14054"/>
                </a:lnTo>
                <a:cubicBezTo>
                  <a:pt x="11100" y="14067"/>
                  <a:pt x="11165" y="14009"/>
                  <a:pt x="11166" y="13935"/>
                </a:cubicBezTo>
                <a:cubicBezTo>
                  <a:pt x="11166" y="13930"/>
                  <a:pt x="11166" y="13925"/>
                  <a:pt x="11166" y="13920"/>
                </a:cubicBezTo>
                <a:cubicBezTo>
                  <a:pt x="11166" y="13909"/>
                  <a:pt x="11185" y="13915"/>
                  <a:pt x="11187" y="13905"/>
                </a:cubicBezTo>
                <a:cubicBezTo>
                  <a:pt x="11216" y="14055"/>
                  <a:pt x="11266" y="14202"/>
                  <a:pt x="11310" y="14353"/>
                </a:cubicBezTo>
                <a:cubicBezTo>
                  <a:pt x="11212" y="14334"/>
                  <a:pt x="11113" y="14330"/>
                  <a:pt x="11014" y="14316"/>
                </a:cubicBezTo>
                <a:lnTo>
                  <a:pt x="10963" y="14308"/>
                </a:lnTo>
                <a:cubicBezTo>
                  <a:pt x="10838" y="14291"/>
                  <a:pt x="10713" y="14273"/>
                  <a:pt x="10588" y="14263"/>
                </a:cubicBezTo>
                <a:cubicBezTo>
                  <a:pt x="10606" y="14149"/>
                  <a:pt x="10624" y="14037"/>
                  <a:pt x="10624" y="13920"/>
                </a:cubicBezTo>
                <a:cubicBezTo>
                  <a:pt x="10624" y="13658"/>
                  <a:pt x="10577" y="13400"/>
                  <a:pt x="10486" y="13158"/>
                </a:cubicBezTo>
                <a:cubicBezTo>
                  <a:pt x="10446" y="13049"/>
                  <a:pt x="10399" y="12944"/>
                  <a:pt x="10342" y="12844"/>
                </a:cubicBezTo>
                <a:cubicBezTo>
                  <a:pt x="10303" y="12775"/>
                  <a:pt x="10332" y="12687"/>
                  <a:pt x="10407" y="12657"/>
                </a:cubicBezTo>
                <a:close/>
                <a:moveTo>
                  <a:pt x="16881" y="12724"/>
                </a:moveTo>
                <a:cubicBezTo>
                  <a:pt x="16919" y="12793"/>
                  <a:pt x="16950" y="12869"/>
                  <a:pt x="16982" y="12941"/>
                </a:cubicBezTo>
                <a:cubicBezTo>
                  <a:pt x="16898" y="12933"/>
                  <a:pt x="16829" y="12909"/>
                  <a:pt x="16816" y="12859"/>
                </a:cubicBezTo>
                <a:cubicBezTo>
                  <a:pt x="16804" y="12817"/>
                  <a:pt x="16832" y="12769"/>
                  <a:pt x="16881" y="12724"/>
                </a:cubicBezTo>
                <a:close/>
                <a:moveTo>
                  <a:pt x="8564" y="12814"/>
                </a:moveTo>
                <a:cubicBezTo>
                  <a:pt x="9156" y="12814"/>
                  <a:pt x="9641" y="13308"/>
                  <a:pt x="9641" y="13920"/>
                </a:cubicBezTo>
                <a:cubicBezTo>
                  <a:pt x="9641" y="14038"/>
                  <a:pt x="9609" y="14149"/>
                  <a:pt x="9576" y="14256"/>
                </a:cubicBezTo>
                <a:cubicBezTo>
                  <a:pt x="9262" y="14296"/>
                  <a:pt x="8955" y="14363"/>
                  <a:pt x="8666" y="14473"/>
                </a:cubicBezTo>
                <a:cubicBezTo>
                  <a:pt x="8308" y="14253"/>
                  <a:pt x="7921" y="14081"/>
                  <a:pt x="7495" y="13935"/>
                </a:cubicBezTo>
                <a:cubicBezTo>
                  <a:pt x="7495" y="13930"/>
                  <a:pt x="7495" y="13925"/>
                  <a:pt x="7495" y="13920"/>
                </a:cubicBezTo>
                <a:cubicBezTo>
                  <a:pt x="7495" y="13308"/>
                  <a:pt x="7973" y="12814"/>
                  <a:pt x="8564" y="12814"/>
                </a:cubicBezTo>
                <a:close/>
                <a:moveTo>
                  <a:pt x="14301" y="13016"/>
                </a:moveTo>
                <a:cubicBezTo>
                  <a:pt x="14491" y="13169"/>
                  <a:pt x="14683" y="13311"/>
                  <a:pt x="14894" y="13419"/>
                </a:cubicBezTo>
                <a:cubicBezTo>
                  <a:pt x="14816" y="13490"/>
                  <a:pt x="14764" y="13588"/>
                  <a:pt x="14764" y="13703"/>
                </a:cubicBezTo>
                <a:cubicBezTo>
                  <a:pt x="14764" y="13917"/>
                  <a:pt x="14933" y="14084"/>
                  <a:pt x="15139" y="14084"/>
                </a:cubicBezTo>
                <a:cubicBezTo>
                  <a:pt x="15346" y="14084"/>
                  <a:pt x="15515" y="13917"/>
                  <a:pt x="15515" y="13703"/>
                </a:cubicBezTo>
                <a:cubicBezTo>
                  <a:pt x="15515" y="13679"/>
                  <a:pt x="15490" y="13666"/>
                  <a:pt x="15486" y="13643"/>
                </a:cubicBezTo>
                <a:cubicBezTo>
                  <a:pt x="15545" y="13658"/>
                  <a:pt x="15599" y="13692"/>
                  <a:pt x="15660" y="13703"/>
                </a:cubicBezTo>
                <a:cubicBezTo>
                  <a:pt x="15744" y="13719"/>
                  <a:pt x="15834" y="13703"/>
                  <a:pt x="15920" y="13711"/>
                </a:cubicBezTo>
                <a:cubicBezTo>
                  <a:pt x="15933" y="13780"/>
                  <a:pt x="15956" y="13846"/>
                  <a:pt x="15956" y="13920"/>
                </a:cubicBezTo>
                <a:cubicBezTo>
                  <a:pt x="15956" y="14532"/>
                  <a:pt x="15478" y="15026"/>
                  <a:pt x="14887" y="15026"/>
                </a:cubicBezTo>
                <a:cubicBezTo>
                  <a:pt x="14295" y="15026"/>
                  <a:pt x="13817" y="14532"/>
                  <a:pt x="13817" y="13920"/>
                </a:cubicBezTo>
                <a:cubicBezTo>
                  <a:pt x="13817" y="13536"/>
                  <a:pt x="14015" y="13214"/>
                  <a:pt x="14301" y="13016"/>
                </a:cubicBezTo>
                <a:close/>
                <a:moveTo>
                  <a:pt x="4778" y="13046"/>
                </a:moveTo>
                <a:cubicBezTo>
                  <a:pt x="4776" y="13146"/>
                  <a:pt x="4801" y="13256"/>
                  <a:pt x="4807" y="13359"/>
                </a:cubicBezTo>
                <a:cubicBezTo>
                  <a:pt x="4778" y="13372"/>
                  <a:pt x="4761" y="13387"/>
                  <a:pt x="4728" y="13397"/>
                </a:cubicBezTo>
                <a:cubicBezTo>
                  <a:pt x="4535" y="13452"/>
                  <a:pt x="4355" y="13427"/>
                  <a:pt x="4331" y="13337"/>
                </a:cubicBezTo>
                <a:cubicBezTo>
                  <a:pt x="4306" y="13247"/>
                  <a:pt x="4448" y="13131"/>
                  <a:pt x="4641" y="13075"/>
                </a:cubicBezTo>
                <a:cubicBezTo>
                  <a:pt x="4689" y="13062"/>
                  <a:pt x="4734" y="13049"/>
                  <a:pt x="4778" y="13046"/>
                </a:cubicBezTo>
                <a:close/>
                <a:moveTo>
                  <a:pt x="18073" y="13150"/>
                </a:moveTo>
                <a:cubicBezTo>
                  <a:pt x="18066" y="13156"/>
                  <a:pt x="18067" y="13177"/>
                  <a:pt x="18058" y="13180"/>
                </a:cubicBezTo>
                <a:cubicBezTo>
                  <a:pt x="18052" y="13182"/>
                  <a:pt x="18043" y="13172"/>
                  <a:pt x="18037" y="13173"/>
                </a:cubicBezTo>
                <a:cubicBezTo>
                  <a:pt x="18049" y="13165"/>
                  <a:pt x="18060" y="13157"/>
                  <a:pt x="18073" y="13150"/>
                </a:cubicBezTo>
                <a:close/>
                <a:moveTo>
                  <a:pt x="8817" y="13314"/>
                </a:moveTo>
                <a:cubicBezTo>
                  <a:pt x="8611" y="13314"/>
                  <a:pt x="8442" y="13489"/>
                  <a:pt x="8442" y="13703"/>
                </a:cubicBezTo>
                <a:cubicBezTo>
                  <a:pt x="8442" y="13917"/>
                  <a:pt x="8611" y="14084"/>
                  <a:pt x="8817" y="14084"/>
                </a:cubicBezTo>
                <a:cubicBezTo>
                  <a:pt x="9024" y="14084"/>
                  <a:pt x="9193" y="13917"/>
                  <a:pt x="9193" y="13703"/>
                </a:cubicBezTo>
                <a:cubicBezTo>
                  <a:pt x="9193" y="13489"/>
                  <a:pt x="9024" y="13314"/>
                  <a:pt x="8817" y="13314"/>
                </a:cubicBezTo>
                <a:close/>
                <a:moveTo>
                  <a:pt x="5739" y="13554"/>
                </a:moveTo>
                <a:cubicBezTo>
                  <a:pt x="5746" y="13564"/>
                  <a:pt x="5748" y="13580"/>
                  <a:pt x="5754" y="13591"/>
                </a:cubicBezTo>
                <a:cubicBezTo>
                  <a:pt x="5730" y="13590"/>
                  <a:pt x="5706" y="13584"/>
                  <a:pt x="5682" y="13583"/>
                </a:cubicBezTo>
                <a:cubicBezTo>
                  <a:pt x="5700" y="13572"/>
                  <a:pt x="5721" y="13565"/>
                  <a:pt x="5739" y="13554"/>
                </a:cubicBezTo>
                <a:close/>
                <a:moveTo>
                  <a:pt x="17134" y="13561"/>
                </a:moveTo>
                <a:cubicBezTo>
                  <a:pt x="17152" y="13682"/>
                  <a:pt x="17199" y="13796"/>
                  <a:pt x="17199" y="13920"/>
                </a:cubicBezTo>
                <a:cubicBezTo>
                  <a:pt x="17199" y="13982"/>
                  <a:pt x="17242" y="14037"/>
                  <a:pt x="17300" y="14047"/>
                </a:cubicBezTo>
                <a:lnTo>
                  <a:pt x="17343" y="14054"/>
                </a:lnTo>
                <a:cubicBezTo>
                  <a:pt x="17414" y="14067"/>
                  <a:pt x="17480" y="14009"/>
                  <a:pt x="17480" y="13935"/>
                </a:cubicBezTo>
                <a:cubicBezTo>
                  <a:pt x="17480" y="13930"/>
                  <a:pt x="17480" y="13925"/>
                  <a:pt x="17480" y="13920"/>
                </a:cubicBezTo>
                <a:cubicBezTo>
                  <a:pt x="17480" y="13840"/>
                  <a:pt x="17553" y="13780"/>
                  <a:pt x="17632" y="13793"/>
                </a:cubicBezTo>
                <a:cubicBezTo>
                  <a:pt x="17694" y="13803"/>
                  <a:pt x="17741" y="13862"/>
                  <a:pt x="17740" y="13927"/>
                </a:cubicBezTo>
                <a:cubicBezTo>
                  <a:pt x="17740" y="14033"/>
                  <a:pt x="17730" y="14137"/>
                  <a:pt x="17719" y="14241"/>
                </a:cubicBezTo>
                <a:cubicBezTo>
                  <a:pt x="17719" y="14244"/>
                  <a:pt x="17719" y="14245"/>
                  <a:pt x="17719" y="14248"/>
                </a:cubicBezTo>
                <a:cubicBezTo>
                  <a:pt x="17719" y="14250"/>
                  <a:pt x="17719" y="14254"/>
                  <a:pt x="17719" y="14256"/>
                </a:cubicBezTo>
                <a:cubicBezTo>
                  <a:pt x="17640" y="14959"/>
                  <a:pt x="17313" y="15619"/>
                  <a:pt x="16801" y="16102"/>
                </a:cubicBezTo>
                <a:cubicBezTo>
                  <a:pt x="16777" y="16124"/>
                  <a:pt x="16752" y="16131"/>
                  <a:pt x="16722" y="16131"/>
                </a:cubicBezTo>
                <a:cubicBezTo>
                  <a:pt x="16685" y="16131"/>
                  <a:pt x="16646" y="16119"/>
                  <a:pt x="16621" y="16087"/>
                </a:cubicBezTo>
                <a:cubicBezTo>
                  <a:pt x="16577" y="16031"/>
                  <a:pt x="16591" y="15948"/>
                  <a:pt x="16642" y="15900"/>
                </a:cubicBezTo>
                <a:cubicBezTo>
                  <a:pt x="17046" y="15517"/>
                  <a:pt x="17319" y="15011"/>
                  <a:pt x="17430" y="14465"/>
                </a:cubicBezTo>
                <a:cubicBezTo>
                  <a:pt x="17444" y="14396"/>
                  <a:pt x="17403" y="14327"/>
                  <a:pt x="17336" y="14316"/>
                </a:cubicBezTo>
                <a:lnTo>
                  <a:pt x="17285" y="14308"/>
                </a:lnTo>
                <a:cubicBezTo>
                  <a:pt x="17223" y="14298"/>
                  <a:pt x="17161" y="14342"/>
                  <a:pt x="17148" y="14405"/>
                </a:cubicBezTo>
                <a:cubicBezTo>
                  <a:pt x="17129" y="14499"/>
                  <a:pt x="17105" y="14591"/>
                  <a:pt x="17076" y="14682"/>
                </a:cubicBezTo>
                <a:cubicBezTo>
                  <a:pt x="17075" y="14684"/>
                  <a:pt x="17076" y="14687"/>
                  <a:pt x="17076" y="14689"/>
                </a:cubicBezTo>
                <a:cubicBezTo>
                  <a:pt x="17007" y="14897"/>
                  <a:pt x="16910" y="15096"/>
                  <a:pt x="16787" y="15280"/>
                </a:cubicBezTo>
                <a:cubicBezTo>
                  <a:pt x="16762" y="15316"/>
                  <a:pt x="16719" y="15339"/>
                  <a:pt x="16678" y="15339"/>
                </a:cubicBezTo>
                <a:cubicBezTo>
                  <a:pt x="16650" y="15339"/>
                  <a:pt x="16623" y="15331"/>
                  <a:pt x="16599" y="15309"/>
                </a:cubicBezTo>
                <a:cubicBezTo>
                  <a:pt x="16547" y="15264"/>
                  <a:pt x="16546" y="15181"/>
                  <a:pt x="16584" y="15123"/>
                </a:cubicBezTo>
                <a:cubicBezTo>
                  <a:pt x="16641" y="15038"/>
                  <a:pt x="16686" y="14952"/>
                  <a:pt x="16729" y="14861"/>
                </a:cubicBezTo>
                <a:cubicBezTo>
                  <a:pt x="16761" y="14794"/>
                  <a:pt x="16733" y="14712"/>
                  <a:pt x="16664" y="14689"/>
                </a:cubicBezTo>
                <a:lnTo>
                  <a:pt x="16613" y="14674"/>
                </a:lnTo>
                <a:cubicBezTo>
                  <a:pt x="16558" y="14656"/>
                  <a:pt x="16502" y="14681"/>
                  <a:pt x="16476" y="14734"/>
                </a:cubicBezTo>
                <a:cubicBezTo>
                  <a:pt x="16362" y="14972"/>
                  <a:pt x="16200" y="15184"/>
                  <a:pt x="15992" y="15354"/>
                </a:cubicBezTo>
                <a:cubicBezTo>
                  <a:pt x="15969" y="15374"/>
                  <a:pt x="15940" y="15384"/>
                  <a:pt x="15913" y="15384"/>
                </a:cubicBezTo>
                <a:cubicBezTo>
                  <a:pt x="15867" y="15384"/>
                  <a:pt x="15821" y="15356"/>
                  <a:pt x="15797" y="15309"/>
                </a:cubicBezTo>
                <a:cubicBezTo>
                  <a:pt x="15768" y="15252"/>
                  <a:pt x="15784" y="15186"/>
                  <a:pt x="15833" y="15145"/>
                </a:cubicBezTo>
                <a:cubicBezTo>
                  <a:pt x="16058" y="14959"/>
                  <a:pt x="16225" y="14715"/>
                  <a:pt x="16317" y="14443"/>
                </a:cubicBezTo>
                <a:cubicBezTo>
                  <a:pt x="16317" y="14442"/>
                  <a:pt x="16317" y="14436"/>
                  <a:pt x="16317" y="14435"/>
                </a:cubicBezTo>
                <a:cubicBezTo>
                  <a:pt x="16372" y="14272"/>
                  <a:pt x="16404" y="14098"/>
                  <a:pt x="16404" y="13920"/>
                </a:cubicBezTo>
                <a:cubicBezTo>
                  <a:pt x="16404" y="13850"/>
                  <a:pt x="16376" y="13786"/>
                  <a:pt x="16368" y="13718"/>
                </a:cubicBezTo>
                <a:cubicBezTo>
                  <a:pt x="16451" y="13712"/>
                  <a:pt x="16530" y="13716"/>
                  <a:pt x="16613" y="13703"/>
                </a:cubicBezTo>
                <a:cubicBezTo>
                  <a:pt x="16622" y="13777"/>
                  <a:pt x="16657" y="13844"/>
                  <a:pt x="16657" y="13920"/>
                </a:cubicBezTo>
                <a:cubicBezTo>
                  <a:pt x="16657" y="14045"/>
                  <a:pt x="16644" y="14166"/>
                  <a:pt x="16621" y="14286"/>
                </a:cubicBezTo>
                <a:cubicBezTo>
                  <a:pt x="16609" y="14346"/>
                  <a:pt x="16643" y="14409"/>
                  <a:pt x="16700" y="14428"/>
                </a:cubicBezTo>
                <a:lnTo>
                  <a:pt x="16751" y="14443"/>
                </a:lnTo>
                <a:cubicBezTo>
                  <a:pt x="16818" y="14465"/>
                  <a:pt x="16888" y="14417"/>
                  <a:pt x="16902" y="14346"/>
                </a:cubicBezTo>
                <a:cubicBezTo>
                  <a:pt x="16931" y="14206"/>
                  <a:pt x="16946" y="14065"/>
                  <a:pt x="16946" y="13920"/>
                </a:cubicBezTo>
                <a:cubicBezTo>
                  <a:pt x="16946" y="13820"/>
                  <a:pt x="16908" y="13726"/>
                  <a:pt x="16895" y="13628"/>
                </a:cubicBezTo>
                <a:cubicBezTo>
                  <a:pt x="16975" y="13610"/>
                  <a:pt x="17054" y="13585"/>
                  <a:pt x="17134" y="13561"/>
                </a:cubicBezTo>
                <a:close/>
                <a:moveTo>
                  <a:pt x="13261" y="13972"/>
                </a:moveTo>
                <a:cubicBezTo>
                  <a:pt x="13325" y="13976"/>
                  <a:pt x="13377" y="14033"/>
                  <a:pt x="13384" y="14099"/>
                </a:cubicBezTo>
                <a:cubicBezTo>
                  <a:pt x="13461" y="14806"/>
                  <a:pt x="13982" y="15371"/>
                  <a:pt x="14663" y="15474"/>
                </a:cubicBezTo>
                <a:cubicBezTo>
                  <a:pt x="14723" y="15483"/>
                  <a:pt x="14774" y="15530"/>
                  <a:pt x="14778" y="15593"/>
                </a:cubicBezTo>
                <a:cubicBezTo>
                  <a:pt x="14784" y="15674"/>
                  <a:pt x="14727" y="15735"/>
                  <a:pt x="14655" y="15735"/>
                </a:cubicBezTo>
                <a:cubicBezTo>
                  <a:pt x="14649" y="15735"/>
                  <a:pt x="14640" y="15736"/>
                  <a:pt x="14634" y="15735"/>
                </a:cubicBezTo>
                <a:cubicBezTo>
                  <a:pt x="14147" y="15664"/>
                  <a:pt x="13730" y="15392"/>
                  <a:pt x="13456" y="15003"/>
                </a:cubicBezTo>
                <a:cubicBezTo>
                  <a:pt x="13417" y="14948"/>
                  <a:pt x="13350" y="14923"/>
                  <a:pt x="13290" y="14951"/>
                </a:cubicBezTo>
                <a:cubicBezTo>
                  <a:pt x="13236" y="14975"/>
                  <a:pt x="13247" y="15037"/>
                  <a:pt x="13246" y="15093"/>
                </a:cubicBezTo>
                <a:cubicBezTo>
                  <a:pt x="13090" y="14999"/>
                  <a:pt x="12941" y="14912"/>
                  <a:pt x="12770" y="14831"/>
                </a:cubicBezTo>
                <a:cubicBezTo>
                  <a:pt x="12733" y="14742"/>
                  <a:pt x="12687" y="14657"/>
                  <a:pt x="12661" y="14562"/>
                </a:cubicBezTo>
                <a:cubicBezTo>
                  <a:pt x="12640" y="14485"/>
                  <a:pt x="12689" y="14407"/>
                  <a:pt x="12770" y="14398"/>
                </a:cubicBezTo>
                <a:cubicBezTo>
                  <a:pt x="12833" y="14391"/>
                  <a:pt x="12889" y="14439"/>
                  <a:pt x="12907" y="14503"/>
                </a:cubicBezTo>
                <a:cubicBezTo>
                  <a:pt x="12920" y="14552"/>
                  <a:pt x="12940" y="14597"/>
                  <a:pt x="12957" y="14644"/>
                </a:cubicBezTo>
                <a:cubicBezTo>
                  <a:pt x="12986" y="14724"/>
                  <a:pt x="13070" y="14761"/>
                  <a:pt x="13145" y="14727"/>
                </a:cubicBezTo>
                <a:cubicBezTo>
                  <a:pt x="13214" y="14695"/>
                  <a:pt x="13250" y="14620"/>
                  <a:pt x="13225" y="14547"/>
                </a:cubicBezTo>
                <a:cubicBezTo>
                  <a:pt x="13177" y="14412"/>
                  <a:pt x="13139" y="14269"/>
                  <a:pt x="13124" y="14121"/>
                </a:cubicBezTo>
                <a:cubicBezTo>
                  <a:pt x="13115" y="14042"/>
                  <a:pt x="13180" y="13967"/>
                  <a:pt x="13261" y="13972"/>
                </a:cubicBezTo>
                <a:close/>
                <a:moveTo>
                  <a:pt x="5826" y="14047"/>
                </a:moveTo>
                <a:cubicBezTo>
                  <a:pt x="5810" y="14112"/>
                  <a:pt x="5788" y="14165"/>
                  <a:pt x="5747" y="14174"/>
                </a:cubicBezTo>
                <a:cubicBezTo>
                  <a:pt x="5700" y="14184"/>
                  <a:pt x="5647" y="14144"/>
                  <a:pt x="5602" y="14077"/>
                </a:cubicBezTo>
                <a:cubicBezTo>
                  <a:pt x="5676" y="14063"/>
                  <a:pt x="5751" y="14054"/>
                  <a:pt x="5826" y="14047"/>
                </a:cubicBezTo>
                <a:close/>
                <a:moveTo>
                  <a:pt x="4966" y="14271"/>
                </a:moveTo>
                <a:cubicBezTo>
                  <a:pt x="4990" y="14358"/>
                  <a:pt x="5017" y="14445"/>
                  <a:pt x="5046" y="14532"/>
                </a:cubicBezTo>
                <a:cubicBezTo>
                  <a:pt x="4778" y="14658"/>
                  <a:pt x="4529" y="14816"/>
                  <a:pt x="4316" y="15026"/>
                </a:cubicBezTo>
                <a:cubicBezTo>
                  <a:pt x="4257" y="15083"/>
                  <a:pt x="4256" y="15178"/>
                  <a:pt x="4316" y="15235"/>
                </a:cubicBezTo>
                <a:cubicBezTo>
                  <a:pt x="4372" y="15288"/>
                  <a:pt x="4451" y="15287"/>
                  <a:pt x="4504" y="15235"/>
                </a:cubicBezTo>
                <a:cubicBezTo>
                  <a:pt x="4687" y="15054"/>
                  <a:pt x="4909" y="14920"/>
                  <a:pt x="5140" y="14809"/>
                </a:cubicBezTo>
                <a:cubicBezTo>
                  <a:pt x="5173" y="14892"/>
                  <a:pt x="5204" y="14973"/>
                  <a:pt x="5241" y="15055"/>
                </a:cubicBezTo>
                <a:cubicBezTo>
                  <a:pt x="5221" y="15065"/>
                  <a:pt x="5195" y="15060"/>
                  <a:pt x="5176" y="15070"/>
                </a:cubicBezTo>
                <a:cubicBezTo>
                  <a:pt x="5098" y="15111"/>
                  <a:pt x="5074" y="15214"/>
                  <a:pt x="5125" y="15287"/>
                </a:cubicBezTo>
                <a:cubicBezTo>
                  <a:pt x="5167" y="15346"/>
                  <a:pt x="5243" y="15365"/>
                  <a:pt x="5306" y="15332"/>
                </a:cubicBezTo>
                <a:cubicBezTo>
                  <a:pt x="5327" y="15321"/>
                  <a:pt x="5350" y="15312"/>
                  <a:pt x="5371" y="15302"/>
                </a:cubicBezTo>
                <a:cubicBezTo>
                  <a:pt x="5411" y="15380"/>
                  <a:pt x="5450" y="15458"/>
                  <a:pt x="5494" y="15534"/>
                </a:cubicBezTo>
                <a:cubicBezTo>
                  <a:pt x="5210" y="15662"/>
                  <a:pt x="4969" y="15878"/>
                  <a:pt x="4807" y="16154"/>
                </a:cubicBezTo>
                <a:cubicBezTo>
                  <a:pt x="4783" y="16194"/>
                  <a:pt x="4742" y="16214"/>
                  <a:pt x="4699" y="16214"/>
                </a:cubicBezTo>
                <a:cubicBezTo>
                  <a:pt x="4671" y="16214"/>
                  <a:pt x="4644" y="16203"/>
                  <a:pt x="4620" y="16184"/>
                </a:cubicBezTo>
                <a:cubicBezTo>
                  <a:pt x="4569" y="16142"/>
                  <a:pt x="4557" y="16069"/>
                  <a:pt x="4591" y="16012"/>
                </a:cubicBezTo>
                <a:cubicBezTo>
                  <a:pt x="4675" y="15869"/>
                  <a:pt x="4776" y="15736"/>
                  <a:pt x="4894" y="15623"/>
                </a:cubicBezTo>
                <a:cubicBezTo>
                  <a:pt x="4947" y="15572"/>
                  <a:pt x="4958" y="15489"/>
                  <a:pt x="4916" y="15429"/>
                </a:cubicBezTo>
                <a:cubicBezTo>
                  <a:pt x="4865" y="15358"/>
                  <a:pt x="4761" y="15347"/>
                  <a:pt x="4699" y="15407"/>
                </a:cubicBezTo>
                <a:cubicBezTo>
                  <a:pt x="4640" y="15463"/>
                  <a:pt x="4585" y="15522"/>
                  <a:pt x="4533" y="15586"/>
                </a:cubicBezTo>
                <a:cubicBezTo>
                  <a:pt x="4531" y="15588"/>
                  <a:pt x="4535" y="15591"/>
                  <a:pt x="4533" y="15593"/>
                </a:cubicBezTo>
                <a:cubicBezTo>
                  <a:pt x="4532" y="15595"/>
                  <a:pt x="4527" y="15599"/>
                  <a:pt x="4526" y="15601"/>
                </a:cubicBezTo>
                <a:cubicBezTo>
                  <a:pt x="4373" y="15789"/>
                  <a:pt x="4248" y="16003"/>
                  <a:pt x="4164" y="16243"/>
                </a:cubicBezTo>
                <a:cubicBezTo>
                  <a:pt x="4146" y="16297"/>
                  <a:pt x="4101" y="16333"/>
                  <a:pt x="4049" y="16333"/>
                </a:cubicBezTo>
                <a:cubicBezTo>
                  <a:pt x="4028" y="16333"/>
                  <a:pt x="4004" y="16329"/>
                  <a:pt x="3984" y="16318"/>
                </a:cubicBezTo>
                <a:cubicBezTo>
                  <a:pt x="3928" y="16287"/>
                  <a:pt x="3904" y="16215"/>
                  <a:pt x="3926" y="16154"/>
                </a:cubicBezTo>
                <a:cubicBezTo>
                  <a:pt x="3991" y="15968"/>
                  <a:pt x="4083" y="15790"/>
                  <a:pt x="4186" y="15631"/>
                </a:cubicBezTo>
                <a:cubicBezTo>
                  <a:pt x="4224" y="15572"/>
                  <a:pt x="4207" y="15499"/>
                  <a:pt x="4157" y="15451"/>
                </a:cubicBezTo>
                <a:cubicBezTo>
                  <a:pt x="4156" y="15450"/>
                  <a:pt x="4158" y="15445"/>
                  <a:pt x="4157" y="15444"/>
                </a:cubicBezTo>
                <a:cubicBezTo>
                  <a:pt x="4094" y="15384"/>
                  <a:pt x="3996" y="15400"/>
                  <a:pt x="3948" y="15474"/>
                </a:cubicBezTo>
                <a:cubicBezTo>
                  <a:pt x="3874" y="15587"/>
                  <a:pt x="3810" y="15706"/>
                  <a:pt x="3753" y="15833"/>
                </a:cubicBezTo>
                <a:cubicBezTo>
                  <a:pt x="3731" y="15880"/>
                  <a:pt x="3685" y="15907"/>
                  <a:pt x="3637" y="15907"/>
                </a:cubicBezTo>
                <a:cubicBezTo>
                  <a:pt x="3615" y="15907"/>
                  <a:pt x="3592" y="15905"/>
                  <a:pt x="3572" y="15892"/>
                </a:cubicBezTo>
                <a:cubicBezTo>
                  <a:pt x="3514" y="15857"/>
                  <a:pt x="3493" y="15776"/>
                  <a:pt x="3521" y="15713"/>
                </a:cubicBezTo>
                <a:cubicBezTo>
                  <a:pt x="3628" y="15480"/>
                  <a:pt x="3762" y="15263"/>
                  <a:pt x="3919" y="15070"/>
                </a:cubicBezTo>
                <a:cubicBezTo>
                  <a:pt x="3923" y="15062"/>
                  <a:pt x="3934" y="15055"/>
                  <a:pt x="3940" y="15048"/>
                </a:cubicBezTo>
                <a:cubicBezTo>
                  <a:pt x="4221" y="14713"/>
                  <a:pt x="4577" y="14448"/>
                  <a:pt x="4966" y="14271"/>
                </a:cubicBezTo>
                <a:close/>
                <a:moveTo>
                  <a:pt x="6982" y="14637"/>
                </a:moveTo>
                <a:cubicBezTo>
                  <a:pt x="7054" y="14637"/>
                  <a:pt x="7144" y="14655"/>
                  <a:pt x="7235" y="14697"/>
                </a:cubicBezTo>
                <a:cubicBezTo>
                  <a:pt x="7260" y="14708"/>
                  <a:pt x="7270" y="14728"/>
                  <a:pt x="7293" y="14742"/>
                </a:cubicBezTo>
                <a:cubicBezTo>
                  <a:pt x="7352" y="14839"/>
                  <a:pt x="7410" y="14937"/>
                  <a:pt x="7488" y="15018"/>
                </a:cubicBezTo>
                <a:cubicBezTo>
                  <a:pt x="7445" y="15082"/>
                  <a:pt x="7313" y="15080"/>
                  <a:pt x="7163" y="15026"/>
                </a:cubicBezTo>
                <a:cubicBezTo>
                  <a:pt x="7157" y="15017"/>
                  <a:pt x="7147" y="15012"/>
                  <a:pt x="7141" y="15003"/>
                </a:cubicBezTo>
                <a:cubicBezTo>
                  <a:pt x="7123" y="14978"/>
                  <a:pt x="7089" y="14990"/>
                  <a:pt x="7062" y="14981"/>
                </a:cubicBezTo>
                <a:cubicBezTo>
                  <a:pt x="6909" y="14896"/>
                  <a:pt x="6804" y="14781"/>
                  <a:pt x="6838" y="14704"/>
                </a:cubicBezTo>
                <a:cubicBezTo>
                  <a:pt x="6856" y="14662"/>
                  <a:pt x="6910" y="14637"/>
                  <a:pt x="6982" y="14637"/>
                </a:cubicBezTo>
                <a:close/>
                <a:moveTo>
                  <a:pt x="10718" y="14659"/>
                </a:moveTo>
                <a:cubicBezTo>
                  <a:pt x="10735" y="14659"/>
                  <a:pt x="10738" y="14683"/>
                  <a:pt x="10754" y="14689"/>
                </a:cubicBezTo>
                <a:cubicBezTo>
                  <a:pt x="10723" y="14782"/>
                  <a:pt x="10665" y="14863"/>
                  <a:pt x="10624" y="14951"/>
                </a:cubicBezTo>
                <a:cubicBezTo>
                  <a:pt x="10521" y="14955"/>
                  <a:pt x="10428" y="14994"/>
                  <a:pt x="10327" y="15011"/>
                </a:cubicBezTo>
                <a:cubicBezTo>
                  <a:pt x="10356" y="14961"/>
                  <a:pt x="10389" y="14913"/>
                  <a:pt x="10414" y="14861"/>
                </a:cubicBezTo>
                <a:cubicBezTo>
                  <a:pt x="10443" y="14800"/>
                  <a:pt x="10406" y="14734"/>
                  <a:pt x="10349" y="14704"/>
                </a:cubicBezTo>
                <a:cubicBezTo>
                  <a:pt x="10471" y="14687"/>
                  <a:pt x="10592" y="14660"/>
                  <a:pt x="10718" y="14659"/>
                </a:cubicBezTo>
                <a:close/>
                <a:moveTo>
                  <a:pt x="10176" y="14727"/>
                </a:moveTo>
                <a:cubicBezTo>
                  <a:pt x="10171" y="14733"/>
                  <a:pt x="10158" y="14726"/>
                  <a:pt x="10154" y="14734"/>
                </a:cubicBezTo>
                <a:cubicBezTo>
                  <a:pt x="10086" y="14875"/>
                  <a:pt x="9967" y="14981"/>
                  <a:pt x="9865" y="15100"/>
                </a:cubicBezTo>
                <a:cubicBezTo>
                  <a:pt x="9779" y="15132"/>
                  <a:pt x="9702" y="15171"/>
                  <a:pt x="9619" y="15212"/>
                </a:cubicBezTo>
                <a:cubicBezTo>
                  <a:pt x="9592" y="15182"/>
                  <a:pt x="9568" y="15152"/>
                  <a:pt x="9540" y="15123"/>
                </a:cubicBezTo>
                <a:cubicBezTo>
                  <a:pt x="9634" y="15041"/>
                  <a:pt x="9714" y="14946"/>
                  <a:pt x="9786" y="14846"/>
                </a:cubicBezTo>
                <a:cubicBezTo>
                  <a:pt x="9914" y="14799"/>
                  <a:pt x="10040" y="14755"/>
                  <a:pt x="10176" y="14727"/>
                </a:cubicBezTo>
                <a:close/>
                <a:moveTo>
                  <a:pt x="10479" y="15257"/>
                </a:moveTo>
                <a:cubicBezTo>
                  <a:pt x="10474" y="15265"/>
                  <a:pt x="10470" y="15272"/>
                  <a:pt x="10465" y="15280"/>
                </a:cubicBezTo>
                <a:cubicBezTo>
                  <a:pt x="10440" y="15316"/>
                  <a:pt x="10404" y="15339"/>
                  <a:pt x="10364" y="15339"/>
                </a:cubicBezTo>
                <a:cubicBezTo>
                  <a:pt x="10335" y="15339"/>
                  <a:pt x="10301" y="15331"/>
                  <a:pt x="10277" y="15309"/>
                </a:cubicBezTo>
                <a:cubicBezTo>
                  <a:pt x="10275" y="15308"/>
                  <a:pt x="10279" y="15304"/>
                  <a:pt x="10277" y="15302"/>
                </a:cubicBezTo>
                <a:cubicBezTo>
                  <a:pt x="10345" y="15288"/>
                  <a:pt x="10409" y="15265"/>
                  <a:pt x="10479" y="15257"/>
                </a:cubicBezTo>
                <a:close/>
                <a:moveTo>
                  <a:pt x="7249" y="15616"/>
                </a:moveTo>
                <a:cubicBezTo>
                  <a:pt x="7222" y="15665"/>
                  <a:pt x="7186" y="15706"/>
                  <a:pt x="7163" y="15758"/>
                </a:cubicBezTo>
                <a:cubicBezTo>
                  <a:pt x="7160" y="15715"/>
                  <a:pt x="7133" y="15674"/>
                  <a:pt x="7170" y="15646"/>
                </a:cubicBezTo>
                <a:cubicBezTo>
                  <a:pt x="7193" y="15628"/>
                  <a:pt x="7222" y="15615"/>
                  <a:pt x="7249" y="15616"/>
                </a:cubicBezTo>
                <a:close/>
                <a:moveTo>
                  <a:pt x="11881" y="15661"/>
                </a:moveTo>
                <a:cubicBezTo>
                  <a:pt x="11887" y="15671"/>
                  <a:pt x="11896" y="15680"/>
                  <a:pt x="11903" y="15691"/>
                </a:cubicBezTo>
                <a:cubicBezTo>
                  <a:pt x="11889" y="15688"/>
                  <a:pt x="11874" y="15687"/>
                  <a:pt x="11859" y="15683"/>
                </a:cubicBezTo>
                <a:cubicBezTo>
                  <a:pt x="11866" y="15675"/>
                  <a:pt x="11874" y="15669"/>
                  <a:pt x="11881" y="15661"/>
                </a:cubicBezTo>
                <a:close/>
                <a:moveTo>
                  <a:pt x="5739" y="15930"/>
                </a:moveTo>
                <a:cubicBezTo>
                  <a:pt x="5868" y="16113"/>
                  <a:pt x="6009" y="16284"/>
                  <a:pt x="6158" y="16445"/>
                </a:cubicBezTo>
                <a:cubicBezTo>
                  <a:pt x="6056" y="16514"/>
                  <a:pt x="5978" y="16608"/>
                  <a:pt x="5978" y="16744"/>
                </a:cubicBezTo>
                <a:cubicBezTo>
                  <a:pt x="5978" y="16958"/>
                  <a:pt x="6147" y="17133"/>
                  <a:pt x="6354" y="17133"/>
                </a:cubicBezTo>
                <a:cubicBezTo>
                  <a:pt x="6504" y="17133"/>
                  <a:pt x="6605" y="17026"/>
                  <a:pt x="6664" y="16894"/>
                </a:cubicBezTo>
                <a:cubicBezTo>
                  <a:pt x="6768" y="16974"/>
                  <a:pt x="6865" y="17065"/>
                  <a:pt x="6975" y="17133"/>
                </a:cubicBezTo>
                <a:cubicBezTo>
                  <a:pt x="6985" y="17257"/>
                  <a:pt x="6996" y="17380"/>
                  <a:pt x="7018" y="17506"/>
                </a:cubicBezTo>
                <a:cubicBezTo>
                  <a:pt x="6833" y="17838"/>
                  <a:pt x="6498" y="18074"/>
                  <a:pt x="6101" y="18074"/>
                </a:cubicBezTo>
                <a:cubicBezTo>
                  <a:pt x="5509" y="18074"/>
                  <a:pt x="5031" y="17580"/>
                  <a:pt x="5031" y="16968"/>
                </a:cubicBezTo>
                <a:cubicBezTo>
                  <a:pt x="5031" y="16488"/>
                  <a:pt x="5326" y="16083"/>
                  <a:pt x="5739" y="15930"/>
                </a:cubicBezTo>
                <a:close/>
                <a:moveTo>
                  <a:pt x="6505" y="15945"/>
                </a:moveTo>
                <a:cubicBezTo>
                  <a:pt x="6674" y="16016"/>
                  <a:pt x="6811" y="16136"/>
                  <a:pt x="6924" y="16281"/>
                </a:cubicBezTo>
                <a:cubicBezTo>
                  <a:pt x="6782" y="16175"/>
                  <a:pt x="6629" y="16079"/>
                  <a:pt x="6505" y="15945"/>
                </a:cubicBezTo>
                <a:close/>
                <a:moveTo>
                  <a:pt x="14316" y="15952"/>
                </a:moveTo>
                <a:cubicBezTo>
                  <a:pt x="14497" y="16008"/>
                  <a:pt x="14684" y="16048"/>
                  <a:pt x="14879" y="16049"/>
                </a:cubicBezTo>
                <a:cubicBezTo>
                  <a:pt x="14943" y="16049"/>
                  <a:pt x="14999" y="16089"/>
                  <a:pt x="15009" y="16154"/>
                </a:cubicBezTo>
                <a:cubicBezTo>
                  <a:pt x="15023" y="16236"/>
                  <a:pt x="14964" y="16311"/>
                  <a:pt x="14887" y="16311"/>
                </a:cubicBezTo>
                <a:cubicBezTo>
                  <a:pt x="14760" y="16311"/>
                  <a:pt x="14647" y="16257"/>
                  <a:pt x="14525" y="16236"/>
                </a:cubicBezTo>
                <a:cubicBezTo>
                  <a:pt x="14464" y="16138"/>
                  <a:pt x="14394" y="16046"/>
                  <a:pt x="14316" y="15952"/>
                </a:cubicBezTo>
                <a:close/>
                <a:moveTo>
                  <a:pt x="8268" y="16154"/>
                </a:moveTo>
                <a:cubicBezTo>
                  <a:pt x="8279" y="16185"/>
                  <a:pt x="8273" y="16220"/>
                  <a:pt x="8283" y="16251"/>
                </a:cubicBezTo>
                <a:cubicBezTo>
                  <a:pt x="8260" y="16248"/>
                  <a:pt x="8240" y="16240"/>
                  <a:pt x="8218" y="16236"/>
                </a:cubicBezTo>
                <a:cubicBezTo>
                  <a:pt x="8233" y="16207"/>
                  <a:pt x="8252" y="16182"/>
                  <a:pt x="8268" y="16154"/>
                </a:cubicBezTo>
                <a:close/>
                <a:moveTo>
                  <a:pt x="13687" y="16154"/>
                </a:moveTo>
                <a:cubicBezTo>
                  <a:pt x="13769" y="16161"/>
                  <a:pt x="13874" y="16289"/>
                  <a:pt x="13933" y="16460"/>
                </a:cubicBezTo>
                <a:cubicBezTo>
                  <a:pt x="13961" y="16541"/>
                  <a:pt x="13968" y="16610"/>
                  <a:pt x="13969" y="16677"/>
                </a:cubicBezTo>
                <a:cubicBezTo>
                  <a:pt x="13850" y="16634"/>
                  <a:pt x="13726" y="16608"/>
                  <a:pt x="13615" y="16550"/>
                </a:cubicBezTo>
                <a:cubicBezTo>
                  <a:pt x="13557" y="16364"/>
                  <a:pt x="13577" y="16191"/>
                  <a:pt x="13658" y="16161"/>
                </a:cubicBezTo>
                <a:cubicBezTo>
                  <a:pt x="13669" y="16157"/>
                  <a:pt x="13676" y="16153"/>
                  <a:pt x="13687" y="16154"/>
                </a:cubicBezTo>
                <a:close/>
                <a:moveTo>
                  <a:pt x="11881" y="16266"/>
                </a:moveTo>
                <a:cubicBezTo>
                  <a:pt x="11911" y="16269"/>
                  <a:pt x="11945" y="16281"/>
                  <a:pt x="11968" y="16303"/>
                </a:cubicBezTo>
                <a:cubicBezTo>
                  <a:pt x="12310" y="16651"/>
                  <a:pt x="12495" y="17114"/>
                  <a:pt x="12495" y="17611"/>
                </a:cubicBezTo>
                <a:cubicBezTo>
                  <a:pt x="12495" y="17736"/>
                  <a:pt x="12483" y="17857"/>
                  <a:pt x="12459" y="17977"/>
                </a:cubicBezTo>
                <a:cubicBezTo>
                  <a:pt x="12447" y="18037"/>
                  <a:pt x="12481" y="18100"/>
                  <a:pt x="12538" y="18119"/>
                </a:cubicBezTo>
                <a:lnTo>
                  <a:pt x="12589" y="18134"/>
                </a:lnTo>
                <a:cubicBezTo>
                  <a:pt x="12656" y="18156"/>
                  <a:pt x="12726" y="18108"/>
                  <a:pt x="12741" y="18037"/>
                </a:cubicBezTo>
                <a:cubicBezTo>
                  <a:pt x="12769" y="17897"/>
                  <a:pt x="12784" y="17756"/>
                  <a:pt x="12784" y="17611"/>
                </a:cubicBezTo>
                <a:cubicBezTo>
                  <a:pt x="12784" y="17349"/>
                  <a:pt x="12737" y="17091"/>
                  <a:pt x="12647" y="16849"/>
                </a:cubicBezTo>
                <a:cubicBezTo>
                  <a:pt x="12606" y="16740"/>
                  <a:pt x="12559" y="16635"/>
                  <a:pt x="12502" y="16535"/>
                </a:cubicBezTo>
                <a:cubicBezTo>
                  <a:pt x="12494" y="16521"/>
                  <a:pt x="12519" y="16513"/>
                  <a:pt x="12517" y="16498"/>
                </a:cubicBezTo>
                <a:cubicBezTo>
                  <a:pt x="12636" y="16622"/>
                  <a:pt x="12769" y="16719"/>
                  <a:pt x="12900" y="16826"/>
                </a:cubicBezTo>
                <a:cubicBezTo>
                  <a:pt x="12986" y="17079"/>
                  <a:pt x="13037" y="17340"/>
                  <a:pt x="13037" y="17611"/>
                </a:cubicBezTo>
                <a:cubicBezTo>
                  <a:pt x="13037" y="17673"/>
                  <a:pt x="13080" y="17728"/>
                  <a:pt x="13138" y="17738"/>
                </a:cubicBezTo>
                <a:lnTo>
                  <a:pt x="13181" y="17745"/>
                </a:lnTo>
                <a:cubicBezTo>
                  <a:pt x="13253" y="17758"/>
                  <a:pt x="13318" y="17701"/>
                  <a:pt x="13319" y="17626"/>
                </a:cubicBezTo>
                <a:cubicBezTo>
                  <a:pt x="13319" y="17621"/>
                  <a:pt x="13319" y="17616"/>
                  <a:pt x="13319" y="17611"/>
                </a:cubicBezTo>
                <a:cubicBezTo>
                  <a:pt x="13319" y="17531"/>
                  <a:pt x="13391" y="17471"/>
                  <a:pt x="13470" y="17484"/>
                </a:cubicBezTo>
                <a:cubicBezTo>
                  <a:pt x="13533" y="17494"/>
                  <a:pt x="13579" y="17553"/>
                  <a:pt x="13579" y="17618"/>
                </a:cubicBezTo>
                <a:cubicBezTo>
                  <a:pt x="13579" y="17724"/>
                  <a:pt x="13568" y="17828"/>
                  <a:pt x="13557" y="17932"/>
                </a:cubicBezTo>
                <a:cubicBezTo>
                  <a:pt x="13557" y="17935"/>
                  <a:pt x="13558" y="17936"/>
                  <a:pt x="13557" y="17940"/>
                </a:cubicBezTo>
                <a:cubicBezTo>
                  <a:pt x="13557" y="17941"/>
                  <a:pt x="13557" y="17945"/>
                  <a:pt x="13557" y="17947"/>
                </a:cubicBezTo>
                <a:cubicBezTo>
                  <a:pt x="13478" y="18650"/>
                  <a:pt x="13151" y="19311"/>
                  <a:pt x="12639" y="19793"/>
                </a:cubicBezTo>
                <a:cubicBezTo>
                  <a:pt x="12615" y="19816"/>
                  <a:pt x="12591" y="19823"/>
                  <a:pt x="12560" y="19822"/>
                </a:cubicBezTo>
                <a:cubicBezTo>
                  <a:pt x="12523" y="19822"/>
                  <a:pt x="12484" y="19810"/>
                  <a:pt x="12459" y="19778"/>
                </a:cubicBezTo>
                <a:cubicBezTo>
                  <a:pt x="12415" y="19722"/>
                  <a:pt x="12429" y="19639"/>
                  <a:pt x="12481" y="19591"/>
                </a:cubicBezTo>
                <a:cubicBezTo>
                  <a:pt x="12884" y="19208"/>
                  <a:pt x="13158" y="18702"/>
                  <a:pt x="13268" y="18156"/>
                </a:cubicBezTo>
                <a:cubicBezTo>
                  <a:pt x="13282" y="18087"/>
                  <a:pt x="13241" y="18018"/>
                  <a:pt x="13174" y="18007"/>
                </a:cubicBezTo>
                <a:lnTo>
                  <a:pt x="13124" y="17999"/>
                </a:lnTo>
                <a:cubicBezTo>
                  <a:pt x="13062" y="17989"/>
                  <a:pt x="12999" y="18033"/>
                  <a:pt x="12986" y="18096"/>
                </a:cubicBezTo>
                <a:cubicBezTo>
                  <a:pt x="12967" y="18190"/>
                  <a:pt x="12943" y="18283"/>
                  <a:pt x="12914" y="18373"/>
                </a:cubicBezTo>
                <a:cubicBezTo>
                  <a:pt x="12913" y="18375"/>
                  <a:pt x="12915" y="18378"/>
                  <a:pt x="12914" y="18380"/>
                </a:cubicBezTo>
                <a:cubicBezTo>
                  <a:pt x="12845" y="18588"/>
                  <a:pt x="12748" y="18787"/>
                  <a:pt x="12625" y="18971"/>
                </a:cubicBezTo>
                <a:cubicBezTo>
                  <a:pt x="12600" y="19007"/>
                  <a:pt x="12557" y="19030"/>
                  <a:pt x="12517" y="19030"/>
                </a:cubicBezTo>
                <a:cubicBezTo>
                  <a:pt x="12488" y="19030"/>
                  <a:pt x="12461" y="19022"/>
                  <a:pt x="12437" y="19001"/>
                </a:cubicBezTo>
                <a:cubicBezTo>
                  <a:pt x="12385" y="18955"/>
                  <a:pt x="12384" y="18872"/>
                  <a:pt x="12423" y="18814"/>
                </a:cubicBezTo>
                <a:cubicBezTo>
                  <a:pt x="12479" y="18730"/>
                  <a:pt x="12524" y="18643"/>
                  <a:pt x="12567" y="18552"/>
                </a:cubicBezTo>
                <a:cubicBezTo>
                  <a:pt x="12599" y="18485"/>
                  <a:pt x="12572" y="18403"/>
                  <a:pt x="12502" y="18380"/>
                </a:cubicBezTo>
                <a:lnTo>
                  <a:pt x="12452" y="18365"/>
                </a:lnTo>
                <a:cubicBezTo>
                  <a:pt x="12397" y="18348"/>
                  <a:pt x="12340" y="18372"/>
                  <a:pt x="12314" y="18425"/>
                </a:cubicBezTo>
                <a:cubicBezTo>
                  <a:pt x="12200" y="18663"/>
                  <a:pt x="12038" y="18875"/>
                  <a:pt x="11830" y="19045"/>
                </a:cubicBezTo>
                <a:cubicBezTo>
                  <a:pt x="11807" y="19065"/>
                  <a:pt x="11779" y="19075"/>
                  <a:pt x="11751" y="19075"/>
                </a:cubicBezTo>
                <a:cubicBezTo>
                  <a:pt x="11706" y="19075"/>
                  <a:pt x="11659" y="19047"/>
                  <a:pt x="11635" y="19001"/>
                </a:cubicBezTo>
                <a:cubicBezTo>
                  <a:pt x="11606" y="18943"/>
                  <a:pt x="11623" y="18877"/>
                  <a:pt x="11671" y="18836"/>
                </a:cubicBezTo>
                <a:cubicBezTo>
                  <a:pt x="11896" y="18650"/>
                  <a:pt x="12063" y="18406"/>
                  <a:pt x="12155" y="18134"/>
                </a:cubicBezTo>
                <a:cubicBezTo>
                  <a:pt x="12156" y="18133"/>
                  <a:pt x="12155" y="18127"/>
                  <a:pt x="12155" y="18126"/>
                </a:cubicBezTo>
                <a:cubicBezTo>
                  <a:pt x="12210" y="17963"/>
                  <a:pt x="12242" y="17789"/>
                  <a:pt x="12242" y="17611"/>
                </a:cubicBezTo>
                <a:cubicBezTo>
                  <a:pt x="12242" y="17184"/>
                  <a:pt x="12083" y="16788"/>
                  <a:pt x="11787" y="16490"/>
                </a:cubicBezTo>
                <a:cubicBezTo>
                  <a:pt x="11732" y="16434"/>
                  <a:pt x="11730" y="16338"/>
                  <a:pt x="11794" y="16288"/>
                </a:cubicBezTo>
                <a:cubicBezTo>
                  <a:pt x="11819" y="16269"/>
                  <a:pt x="11851" y="16263"/>
                  <a:pt x="11881" y="16266"/>
                </a:cubicBezTo>
                <a:close/>
                <a:moveTo>
                  <a:pt x="15876" y="16393"/>
                </a:moveTo>
                <a:cubicBezTo>
                  <a:pt x="16009" y="16382"/>
                  <a:pt x="16111" y="16415"/>
                  <a:pt x="16129" y="16483"/>
                </a:cubicBezTo>
                <a:cubicBezTo>
                  <a:pt x="16153" y="16573"/>
                  <a:pt x="16019" y="16689"/>
                  <a:pt x="15826" y="16744"/>
                </a:cubicBezTo>
                <a:cubicBezTo>
                  <a:pt x="15633" y="16799"/>
                  <a:pt x="15453" y="16774"/>
                  <a:pt x="15428" y="16684"/>
                </a:cubicBezTo>
                <a:cubicBezTo>
                  <a:pt x="15404" y="16594"/>
                  <a:pt x="15546" y="16478"/>
                  <a:pt x="15739" y="16423"/>
                </a:cubicBezTo>
                <a:cubicBezTo>
                  <a:pt x="15787" y="16409"/>
                  <a:pt x="15832" y="16397"/>
                  <a:pt x="15876" y="16393"/>
                </a:cubicBezTo>
                <a:close/>
                <a:moveTo>
                  <a:pt x="3124" y="16483"/>
                </a:moveTo>
                <a:cubicBezTo>
                  <a:pt x="3212" y="16463"/>
                  <a:pt x="3320" y="16616"/>
                  <a:pt x="3362" y="16819"/>
                </a:cubicBezTo>
                <a:cubicBezTo>
                  <a:pt x="3405" y="17021"/>
                  <a:pt x="3371" y="17195"/>
                  <a:pt x="3283" y="17215"/>
                </a:cubicBezTo>
                <a:cubicBezTo>
                  <a:pt x="3195" y="17234"/>
                  <a:pt x="3087" y="17089"/>
                  <a:pt x="3044" y="16886"/>
                </a:cubicBezTo>
                <a:cubicBezTo>
                  <a:pt x="3002" y="16683"/>
                  <a:pt x="3036" y="16502"/>
                  <a:pt x="3124" y="16483"/>
                </a:cubicBezTo>
                <a:close/>
                <a:moveTo>
                  <a:pt x="10985" y="16557"/>
                </a:moveTo>
                <a:cubicBezTo>
                  <a:pt x="11448" y="16680"/>
                  <a:pt x="11794" y="17094"/>
                  <a:pt x="11794" y="17611"/>
                </a:cubicBezTo>
                <a:cubicBezTo>
                  <a:pt x="11794" y="18223"/>
                  <a:pt x="11316" y="18717"/>
                  <a:pt x="10725" y="18717"/>
                </a:cubicBezTo>
                <a:cubicBezTo>
                  <a:pt x="10315" y="18717"/>
                  <a:pt x="9973" y="18476"/>
                  <a:pt x="9793" y="18126"/>
                </a:cubicBezTo>
                <a:cubicBezTo>
                  <a:pt x="9981" y="17785"/>
                  <a:pt x="10111" y="17440"/>
                  <a:pt x="10168" y="17088"/>
                </a:cubicBezTo>
                <a:cubicBezTo>
                  <a:pt x="10456" y="16939"/>
                  <a:pt x="10726" y="16761"/>
                  <a:pt x="10985" y="16557"/>
                </a:cubicBezTo>
                <a:close/>
                <a:moveTo>
                  <a:pt x="10978" y="17006"/>
                </a:moveTo>
                <a:cubicBezTo>
                  <a:pt x="10771" y="17006"/>
                  <a:pt x="10602" y="17180"/>
                  <a:pt x="10602" y="17394"/>
                </a:cubicBezTo>
                <a:cubicBezTo>
                  <a:pt x="10602" y="17608"/>
                  <a:pt x="10771" y="17775"/>
                  <a:pt x="10978" y="17775"/>
                </a:cubicBezTo>
                <a:cubicBezTo>
                  <a:pt x="11184" y="17775"/>
                  <a:pt x="11353" y="17608"/>
                  <a:pt x="11353" y="17394"/>
                </a:cubicBezTo>
                <a:cubicBezTo>
                  <a:pt x="11353" y="17180"/>
                  <a:pt x="11184" y="17006"/>
                  <a:pt x="10978" y="17006"/>
                </a:cubicBezTo>
                <a:close/>
                <a:moveTo>
                  <a:pt x="4475" y="17021"/>
                </a:moveTo>
                <a:cubicBezTo>
                  <a:pt x="4539" y="17025"/>
                  <a:pt x="4591" y="17082"/>
                  <a:pt x="4598" y="17148"/>
                </a:cubicBezTo>
                <a:cubicBezTo>
                  <a:pt x="4676" y="17854"/>
                  <a:pt x="5196" y="18412"/>
                  <a:pt x="5877" y="18515"/>
                </a:cubicBezTo>
                <a:cubicBezTo>
                  <a:pt x="5937" y="18524"/>
                  <a:pt x="5988" y="18571"/>
                  <a:pt x="5992" y="18634"/>
                </a:cubicBezTo>
                <a:cubicBezTo>
                  <a:pt x="5998" y="18715"/>
                  <a:pt x="5941" y="18784"/>
                  <a:pt x="5869" y="18784"/>
                </a:cubicBezTo>
                <a:cubicBezTo>
                  <a:pt x="5864" y="18784"/>
                  <a:pt x="5854" y="18777"/>
                  <a:pt x="5848" y="18776"/>
                </a:cubicBezTo>
                <a:cubicBezTo>
                  <a:pt x="5361" y="18705"/>
                  <a:pt x="4944" y="18434"/>
                  <a:pt x="4670" y="18044"/>
                </a:cubicBezTo>
                <a:cubicBezTo>
                  <a:pt x="4631" y="17989"/>
                  <a:pt x="4565" y="17972"/>
                  <a:pt x="4504" y="17999"/>
                </a:cubicBezTo>
                <a:cubicBezTo>
                  <a:pt x="4422" y="18037"/>
                  <a:pt x="4386" y="18141"/>
                  <a:pt x="4439" y="18216"/>
                </a:cubicBezTo>
                <a:cubicBezTo>
                  <a:pt x="4817" y="18751"/>
                  <a:pt x="5429" y="19087"/>
                  <a:pt x="6093" y="19090"/>
                </a:cubicBezTo>
                <a:cubicBezTo>
                  <a:pt x="6157" y="19091"/>
                  <a:pt x="6213" y="19137"/>
                  <a:pt x="6224" y="19202"/>
                </a:cubicBezTo>
                <a:cubicBezTo>
                  <a:pt x="6237" y="19285"/>
                  <a:pt x="6178" y="19352"/>
                  <a:pt x="6101" y="19352"/>
                </a:cubicBezTo>
                <a:cubicBezTo>
                  <a:pt x="5786" y="19352"/>
                  <a:pt x="5483" y="19287"/>
                  <a:pt x="5205" y="19165"/>
                </a:cubicBezTo>
                <a:cubicBezTo>
                  <a:pt x="5133" y="19133"/>
                  <a:pt x="5047" y="19165"/>
                  <a:pt x="5017" y="19240"/>
                </a:cubicBezTo>
                <a:lnTo>
                  <a:pt x="5017" y="19247"/>
                </a:lnTo>
                <a:cubicBezTo>
                  <a:pt x="4987" y="19322"/>
                  <a:pt x="5024" y="19410"/>
                  <a:pt x="5096" y="19441"/>
                </a:cubicBezTo>
                <a:cubicBezTo>
                  <a:pt x="5239" y="19503"/>
                  <a:pt x="5384" y="19548"/>
                  <a:pt x="5537" y="19583"/>
                </a:cubicBezTo>
                <a:cubicBezTo>
                  <a:pt x="5601" y="19598"/>
                  <a:pt x="5651" y="19658"/>
                  <a:pt x="5646" y="19725"/>
                </a:cubicBezTo>
                <a:cubicBezTo>
                  <a:pt x="5639" y="19796"/>
                  <a:pt x="5586" y="19845"/>
                  <a:pt x="5523" y="19845"/>
                </a:cubicBezTo>
                <a:cubicBezTo>
                  <a:pt x="5514" y="19845"/>
                  <a:pt x="5503" y="19847"/>
                  <a:pt x="5494" y="19845"/>
                </a:cubicBezTo>
                <a:cubicBezTo>
                  <a:pt x="5234" y="19786"/>
                  <a:pt x="4987" y="19689"/>
                  <a:pt x="4757" y="19561"/>
                </a:cubicBezTo>
                <a:cubicBezTo>
                  <a:pt x="4748" y="19557"/>
                  <a:pt x="4735" y="19551"/>
                  <a:pt x="4728" y="19546"/>
                </a:cubicBezTo>
                <a:cubicBezTo>
                  <a:pt x="4454" y="19390"/>
                  <a:pt x="4206" y="19194"/>
                  <a:pt x="3991" y="18948"/>
                </a:cubicBezTo>
                <a:cubicBezTo>
                  <a:pt x="3939" y="18889"/>
                  <a:pt x="3952" y="18792"/>
                  <a:pt x="4020" y="18747"/>
                </a:cubicBezTo>
                <a:cubicBezTo>
                  <a:pt x="4073" y="18711"/>
                  <a:pt x="4143" y="18728"/>
                  <a:pt x="4186" y="18776"/>
                </a:cubicBezTo>
                <a:cubicBezTo>
                  <a:pt x="4311" y="18918"/>
                  <a:pt x="4450" y="19041"/>
                  <a:pt x="4598" y="19150"/>
                </a:cubicBezTo>
                <a:cubicBezTo>
                  <a:pt x="4672" y="19205"/>
                  <a:pt x="4772" y="19169"/>
                  <a:pt x="4807" y="19083"/>
                </a:cubicBezTo>
                <a:cubicBezTo>
                  <a:pt x="4833" y="19019"/>
                  <a:pt x="4817" y="18950"/>
                  <a:pt x="4764" y="18911"/>
                </a:cubicBezTo>
                <a:cubicBezTo>
                  <a:pt x="4472" y="18696"/>
                  <a:pt x="4226" y="18408"/>
                  <a:pt x="4056" y="18074"/>
                </a:cubicBezTo>
                <a:cubicBezTo>
                  <a:pt x="4053" y="18069"/>
                  <a:pt x="4051" y="18065"/>
                  <a:pt x="4049" y="18059"/>
                </a:cubicBezTo>
                <a:cubicBezTo>
                  <a:pt x="4048" y="18056"/>
                  <a:pt x="4050" y="18055"/>
                  <a:pt x="4049" y="18052"/>
                </a:cubicBezTo>
                <a:cubicBezTo>
                  <a:pt x="3980" y="17912"/>
                  <a:pt x="3917" y="17766"/>
                  <a:pt x="3875" y="17611"/>
                </a:cubicBezTo>
                <a:cubicBezTo>
                  <a:pt x="3854" y="17534"/>
                  <a:pt x="3903" y="17455"/>
                  <a:pt x="3984" y="17446"/>
                </a:cubicBezTo>
                <a:cubicBezTo>
                  <a:pt x="4047" y="17439"/>
                  <a:pt x="4103" y="17488"/>
                  <a:pt x="4121" y="17551"/>
                </a:cubicBezTo>
                <a:cubicBezTo>
                  <a:pt x="4135" y="17600"/>
                  <a:pt x="4155" y="17646"/>
                  <a:pt x="4172" y="17693"/>
                </a:cubicBezTo>
                <a:cubicBezTo>
                  <a:pt x="4200" y="17772"/>
                  <a:pt x="4285" y="17809"/>
                  <a:pt x="4359" y="17775"/>
                </a:cubicBezTo>
                <a:cubicBezTo>
                  <a:pt x="4428" y="17744"/>
                  <a:pt x="4465" y="17661"/>
                  <a:pt x="4439" y="17588"/>
                </a:cubicBezTo>
                <a:cubicBezTo>
                  <a:pt x="4391" y="17453"/>
                  <a:pt x="4353" y="17310"/>
                  <a:pt x="4338" y="17163"/>
                </a:cubicBezTo>
                <a:cubicBezTo>
                  <a:pt x="4329" y="17083"/>
                  <a:pt x="4394" y="17015"/>
                  <a:pt x="4475" y="17021"/>
                </a:cubicBezTo>
                <a:close/>
                <a:moveTo>
                  <a:pt x="7669" y="17424"/>
                </a:moveTo>
                <a:cubicBezTo>
                  <a:pt x="7765" y="17453"/>
                  <a:pt x="7851" y="17510"/>
                  <a:pt x="7950" y="17529"/>
                </a:cubicBezTo>
                <a:cubicBezTo>
                  <a:pt x="7962" y="17531"/>
                  <a:pt x="7975" y="17527"/>
                  <a:pt x="7986" y="17529"/>
                </a:cubicBezTo>
                <a:cubicBezTo>
                  <a:pt x="8004" y="17683"/>
                  <a:pt x="7984" y="17806"/>
                  <a:pt x="7921" y="17842"/>
                </a:cubicBezTo>
                <a:cubicBezTo>
                  <a:pt x="7915" y="17798"/>
                  <a:pt x="7924" y="17745"/>
                  <a:pt x="7878" y="17730"/>
                </a:cubicBezTo>
                <a:lnTo>
                  <a:pt x="7828" y="17715"/>
                </a:lnTo>
                <a:cubicBezTo>
                  <a:pt x="7798" y="17706"/>
                  <a:pt x="7781" y="17740"/>
                  <a:pt x="7755" y="17753"/>
                </a:cubicBezTo>
                <a:cubicBezTo>
                  <a:pt x="7719" y="17694"/>
                  <a:pt x="7687" y="17618"/>
                  <a:pt x="7669" y="17529"/>
                </a:cubicBezTo>
                <a:cubicBezTo>
                  <a:pt x="7660" y="17489"/>
                  <a:pt x="7671" y="17461"/>
                  <a:pt x="7669" y="17424"/>
                </a:cubicBezTo>
                <a:close/>
                <a:moveTo>
                  <a:pt x="7156" y="18074"/>
                </a:moveTo>
                <a:cubicBezTo>
                  <a:pt x="7183" y="18167"/>
                  <a:pt x="7209" y="18258"/>
                  <a:pt x="7242" y="18351"/>
                </a:cubicBezTo>
                <a:cubicBezTo>
                  <a:pt x="7226" y="18365"/>
                  <a:pt x="7223" y="18389"/>
                  <a:pt x="7206" y="18403"/>
                </a:cubicBezTo>
                <a:cubicBezTo>
                  <a:pt x="7183" y="18422"/>
                  <a:pt x="7154" y="18425"/>
                  <a:pt x="7127" y="18425"/>
                </a:cubicBezTo>
                <a:cubicBezTo>
                  <a:pt x="7082" y="18425"/>
                  <a:pt x="7035" y="18405"/>
                  <a:pt x="7011" y="18358"/>
                </a:cubicBezTo>
                <a:cubicBezTo>
                  <a:pt x="6982" y="18301"/>
                  <a:pt x="6998" y="18227"/>
                  <a:pt x="7047" y="18186"/>
                </a:cubicBezTo>
                <a:cubicBezTo>
                  <a:pt x="7088" y="18152"/>
                  <a:pt x="7119" y="18111"/>
                  <a:pt x="7156" y="18074"/>
                </a:cubicBezTo>
                <a:close/>
                <a:moveTo>
                  <a:pt x="8608" y="18089"/>
                </a:moveTo>
                <a:cubicBezTo>
                  <a:pt x="8644" y="18085"/>
                  <a:pt x="8661" y="18124"/>
                  <a:pt x="8687" y="18149"/>
                </a:cubicBezTo>
                <a:cubicBezTo>
                  <a:pt x="8648" y="18240"/>
                  <a:pt x="8605" y="18324"/>
                  <a:pt x="8557" y="18410"/>
                </a:cubicBezTo>
                <a:cubicBezTo>
                  <a:pt x="8539" y="18358"/>
                  <a:pt x="8514" y="18308"/>
                  <a:pt x="8499" y="18253"/>
                </a:cubicBezTo>
                <a:cubicBezTo>
                  <a:pt x="8479" y="18176"/>
                  <a:pt x="8527" y="18098"/>
                  <a:pt x="8608" y="18089"/>
                </a:cubicBezTo>
                <a:close/>
                <a:moveTo>
                  <a:pt x="9540" y="18560"/>
                </a:moveTo>
                <a:cubicBezTo>
                  <a:pt x="9774" y="18872"/>
                  <a:pt x="10102" y="19105"/>
                  <a:pt x="10501" y="19165"/>
                </a:cubicBezTo>
                <a:cubicBezTo>
                  <a:pt x="10561" y="19174"/>
                  <a:pt x="10612" y="19221"/>
                  <a:pt x="10616" y="19285"/>
                </a:cubicBezTo>
                <a:cubicBezTo>
                  <a:pt x="10622" y="19365"/>
                  <a:pt x="10565" y="19426"/>
                  <a:pt x="10494" y="19426"/>
                </a:cubicBezTo>
                <a:cubicBezTo>
                  <a:pt x="10488" y="19426"/>
                  <a:pt x="10478" y="19427"/>
                  <a:pt x="10472" y="19426"/>
                </a:cubicBezTo>
                <a:cubicBezTo>
                  <a:pt x="10023" y="19361"/>
                  <a:pt x="9647" y="19104"/>
                  <a:pt x="9374" y="18761"/>
                </a:cubicBezTo>
                <a:cubicBezTo>
                  <a:pt x="9428" y="18694"/>
                  <a:pt x="9490" y="18629"/>
                  <a:pt x="9540" y="18560"/>
                </a:cubicBezTo>
                <a:close/>
                <a:moveTo>
                  <a:pt x="9193" y="18971"/>
                </a:moveTo>
                <a:cubicBezTo>
                  <a:pt x="9574" y="19425"/>
                  <a:pt x="10112" y="19738"/>
                  <a:pt x="10718" y="19740"/>
                </a:cubicBezTo>
                <a:cubicBezTo>
                  <a:pt x="10781" y="19741"/>
                  <a:pt x="10837" y="19780"/>
                  <a:pt x="10848" y="19845"/>
                </a:cubicBezTo>
                <a:cubicBezTo>
                  <a:pt x="10861" y="19928"/>
                  <a:pt x="10802" y="20002"/>
                  <a:pt x="10725" y="20002"/>
                </a:cubicBezTo>
                <a:cubicBezTo>
                  <a:pt x="10410" y="20002"/>
                  <a:pt x="10107" y="19930"/>
                  <a:pt x="9829" y="19808"/>
                </a:cubicBezTo>
                <a:cubicBezTo>
                  <a:pt x="9757" y="19776"/>
                  <a:pt x="9671" y="19815"/>
                  <a:pt x="9641" y="19890"/>
                </a:cubicBezTo>
                <a:cubicBezTo>
                  <a:pt x="9611" y="19965"/>
                  <a:pt x="9648" y="20052"/>
                  <a:pt x="9721" y="20084"/>
                </a:cubicBezTo>
                <a:cubicBezTo>
                  <a:pt x="9863" y="20146"/>
                  <a:pt x="10008" y="20198"/>
                  <a:pt x="10161" y="20233"/>
                </a:cubicBezTo>
                <a:cubicBezTo>
                  <a:pt x="10226" y="20248"/>
                  <a:pt x="10276" y="20308"/>
                  <a:pt x="10270" y="20375"/>
                </a:cubicBezTo>
                <a:cubicBezTo>
                  <a:pt x="10263" y="20446"/>
                  <a:pt x="10210" y="20495"/>
                  <a:pt x="10147" y="20495"/>
                </a:cubicBezTo>
                <a:cubicBezTo>
                  <a:pt x="10138" y="20495"/>
                  <a:pt x="10127" y="20490"/>
                  <a:pt x="10118" y="20487"/>
                </a:cubicBezTo>
                <a:cubicBezTo>
                  <a:pt x="9858" y="20429"/>
                  <a:pt x="9611" y="20332"/>
                  <a:pt x="9381" y="20204"/>
                </a:cubicBezTo>
                <a:cubicBezTo>
                  <a:pt x="9373" y="20200"/>
                  <a:pt x="9359" y="20201"/>
                  <a:pt x="9352" y="20196"/>
                </a:cubicBezTo>
                <a:cubicBezTo>
                  <a:pt x="9078" y="20040"/>
                  <a:pt x="8830" y="19836"/>
                  <a:pt x="8615" y="19591"/>
                </a:cubicBezTo>
                <a:cubicBezTo>
                  <a:pt x="8596" y="19569"/>
                  <a:pt x="8625" y="19543"/>
                  <a:pt x="8622" y="19516"/>
                </a:cubicBezTo>
                <a:cubicBezTo>
                  <a:pt x="8667" y="19479"/>
                  <a:pt x="8717" y="19450"/>
                  <a:pt x="8760" y="19412"/>
                </a:cubicBezTo>
                <a:cubicBezTo>
                  <a:pt x="8776" y="19420"/>
                  <a:pt x="8797" y="19404"/>
                  <a:pt x="8810" y="19419"/>
                </a:cubicBezTo>
                <a:cubicBezTo>
                  <a:pt x="8935" y="19560"/>
                  <a:pt x="9074" y="19684"/>
                  <a:pt x="9222" y="19793"/>
                </a:cubicBezTo>
                <a:cubicBezTo>
                  <a:pt x="9296" y="19847"/>
                  <a:pt x="9397" y="19820"/>
                  <a:pt x="9432" y="19733"/>
                </a:cubicBezTo>
                <a:cubicBezTo>
                  <a:pt x="9457" y="19669"/>
                  <a:pt x="9441" y="19593"/>
                  <a:pt x="9388" y="19554"/>
                </a:cubicBezTo>
                <a:cubicBezTo>
                  <a:pt x="9248" y="19450"/>
                  <a:pt x="9120" y="19328"/>
                  <a:pt x="9005" y="19195"/>
                </a:cubicBezTo>
                <a:cubicBezTo>
                  <a:pt x="9075" y="19125"/>
                  <a:pt x="9128" y="19044"/>
                  <a:pt x="9193" y="18971"/>
                </a:cubicBezTo>
                <a:close/>
                <a:moveTo>
                  <a:pt x="7091" y="19441"/>
                </a:moveTo>
                <a:cubicBezTo>
                  <a:pt x="7223" y="19430"/>
                  <a:pt x="7325" y="19464"/>
                  <a:pt x="7343" y="19531"/>
                </a:cubicBezTo>
                <a:cubicBezTo>
                  <a:pt x="7367" y="19621"/>
                  <a:pt x="7233" y="19737"/>
                  <a:pt x="7040" y="19793"/>
                </a:cubicBezTo>
                <a:cubicBezTo>
                  <a:pt x="6847" y="19848"/>
                  <a:pt x="6667" y="19823"/>
                  <a:pt x="6643" y="19733"/>
                </a:cubicBezTo>
                <a:cubicBezTo>
                  <a:pt x="6619" y="19643"/>
                  <a:pt x="6760" y="19519"/>
                  <a:pt x="6953" y="19464"/>
                </a:cubicBezTo>
                <a:cubicBezTo>
                  <a:pt x="7002" y="19450"/>
                  <a:pt x="7047" y="19445"/>
                  <a:pt x="7091" y="19441"/>
                </a:cubicBezTo>
                <a:close/>
                <a:moveTo>
                  <a:pt x="11715" y="20084"/>
                </a:moveTo>
                <a:cubicBezTo>
                  <a:pt x="11847" y="20073"/>
                  <a:pt x="11949" y="20106"/>
                  <a:pt x="11968" y="20174"/>
                </a:cubicBezTo>
                <a:cubicBezTo>
                  <a:pt x="11992" y="20264"/>
                  <a:pt x="11857" y="20380"/>
                  <a:pt x="11664" y="20435"/>
                </a:cubicBezTo>
                <a:cubicBezTo>
                  <a:pt x="11471" y="20490"/>
                  <a:pt x="11291" y="20465"/>
                  <a:pt x="11267" y="20375"/>
                </a:cubicBezTo>
                <a:cubicBezTo>
                  <a:pt x="11243" y="20285"/>
                  <a:pt x="11384" y="20169"/>
                  <a:pt x="11577" y="20114"/>
                </a:cubicBezTo>
                <a:cubicBezTo>
                  <a:pt x="11626" y="20100"/>
                  <a:pt x="11671" y="20088"/>
                  <a:pt x="11715" y="20084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US" noProof="0" dirty="0"/>
          </a:p>
        </p:txBody>
      </p:sp>
      <p:sp>
        <p:nvSpPr>
          <p:cNvPr id="25" name="Heart">
            <a:extLst>
              <a:ext uri="{FF2B5EF4-FFF2-40B4-BE49-F238E27FC236}">
                <a16:creationId xmlns:a16="http://schemas.microsoft.com/office/drawing/2014/main" id="{55169404-7048-F853-25A6-24BA4982BB9A}"/>
              </a:ext>
            </a:extLst>
          </p:cNvPr>
          <p:cNvSpPr>
            <a:spLocks noChangeAspect="1"/>
          </p:cNvSpPr>
          <p:nvPr/>
        </p:nvSpPr>
        <p:spPr>
          <a:xfrm>
            <a:off x="7495089" y="3436718"/>
            <a:ext cx="345652" cy="512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095" extrusionOk="0">
                <a:moveTo>
                  <a:pt x="11722" y="0"/>
                </a:moveTo>
                <a:cubicBezTo>
                  <a:pt x="11533" y="1"/>
                  <a:pt x="11335" y="18"/>
                  <a:pt x="11113" y="49"/>
                </a:cubicBezTo>
                <a:cubicBezTo>
                  <a:pt x="11034" y="61"/>
                  <a:pt x="10968" y="97"/>
                  <a:pt x="10940" y="147"/>
                </a:cubicBezTo>
                <a:cubicBezTo>
                  <a:pt x="10700" y="567"/>
                  <a:pt x="10586" y="981"/>
                  <a:pt x="10539" y="1363"/>
                </a:cubicBezTo>
                <a:cubicBezTo>
                  <a:pt x="10534" y="1400"/>
                  <a:pt x="10496" y="1432"/>
                  <a:pt x="10443" y="1444"/>
                </a:cubicBezTo>
                <a:cubicBezTo>
                  <a:pt x="10384" y="1459"/>
                  <a:pt x="10326" y="1475"/>
                  <a:pt x="10268" y="1491"/>
                </a:cubicBezTo>
                <a:cubicBezTo>
                  <a:pt x="10195" y="1510"/>
                  <a:pt x="10113" y="1491"/>
                  <a:pt x="10080" y="1444"/>
                </a:cubicBezTo>
                <a:cubicBezTo>
                  <a:pt x="9861" y="1142"/>
                  <a:pt x="9597" y="826"/>
                  <a:pt x="9360" y="557"/>
                </a:cubicBezTo>
                <a:cubicBezTo>
                  <a:pt x="9308" y="497"/>
                  <a:pt x="9190" y="479"/>
                  <a:pt x="9102" y="516"/>
                </a:cubicBezTo>
                <a:cubicBezTo>
                  <a:pt x="8755" y="660"/>
                  <a:pt x="8450" y="818"/>
                  <a:pt x="8197" y="967"/>
                </a:cubicBezTo>
                <a:cubicBezTo>
                  <a:pt x="8123" y="1010"/>
                  <a:pt x="8097" y="1078"/>
                  <a:pt x="8131" y="1139"/>
                </a:cubicBezTo>
                <a:cubicBezTo>
                  <a:pt x="8318" y="1465"/>
                  <a:pt x="8471" y="1824"/>
                  <a:pt x="8580" y="2112"/>
                </a:cubicBezTo>
                <a:cubicBezTo>
                  <a:pt x="8613" y="2199"/>
                  <a:pt x="8582" y="2290"/>
                  <a:pt x="8495" y="2358"/>
                </a:cubicBezTo>
                <a:cubicBezTo>
                  <a:pt x="8154" y="2628"/>
                  <a:pt x="7865" y="2946"/>
                  <a:pt x="7645" y="3310"/>
                </a:cubicBezTo>
                <a:cubicBezTo>
                  <a:pt x="5923" y="6167"/>
                  <a:pt x="7084" y="7798"/>
                  <a:pt x="7545" y="8283"/>
                </a:cubicBezTo>
                <a:cubicBezTo>
                  <a:pt x="7620" y="8362"/>
                  <a:pt x="7793" y="8366"/>
                  <a:pt x="7878" y="8292"/>
                </a:cubicBezTo>
                <a:cubicBezTo>
                  <a:pt x="8362" y="7865"/>
                  <a:pt x="9816" y="6564"/>
                  <a:pt x="11213" y="5125"/>
                </a:cubicBezTo>
                <a:cubicBezTo>
                  <a:pt x="12493" y="3806"/>
                  <a:pt x="14455" y="2936"/>
                  <a:pt x="15077" y="2681"/>
                </a:cubicBezTo>
                <a:cubicBezTo>
                  <a:pt x="15186" y="2636"/>
                  <a:pt x="15216" y="2540"/>
                  <a:pt x="15145" y="2469"/>
                </a:cubicBezTo>
                <a:cubicBezTo>
                  <a:pt x="14897" y="2223"/>
                  <a:pt x="14613" y="2016"/>
                  <a:pt x="14300" y="1848"/>
                </a:cubicBezTo>
                <a:cubicBezTo>
                  <a:pt x="14236" y="1813"/>
                  <a:pt x="14215" y="1755"/>
                  <a:pt x="14247" y="1705"/>
                </a:cubicBezTo>
                <a:cubicBezTo>
                  <a:pt x="14413" y="1449"/>
                  <a:pt x="14590" y="1188"/>
                  <a:pt x="14746" y="965"/>
                </a:cubicBezTo>
                <a:cubicBezTo>
                  <a:pt x="14786" y="907"/>
                  <a:pt x="14763" y="839"/>
                  <a:pt x="14688" y="798"/>
                </a:cubicBezTo>
                <a:cubicBezTo>
                  <a:pt x="14465" y="678"/>
                  <a:pt x="14197" y="558"/>
                  <a:pt x="13881" y="448"/>
                </a:cubicBezTo>
                <a:cubicBezTo>
                  <a:pt x="13788" y="416"/>
                  <a:pt x="13675" y="426"/>
                  <a:pt x="13600" y="474"/>
                </a:cubicBezTo>
                <a:cubicBezTo>
                  <a:pt x="13155" y="761"/>
                  <a:pt x="12868" y="1035"/>
                  <a:pt x="12682" y="1266"/>
                </a:cubicBezTo>
                <a:cubicBezTo>
                  <a:pt x="12652" y="1303"/>
                  <a:pt x="12588" y="1321"/>
                  <a:pt x="12524" y="1314"/>
                </a:cubicBezTo>
                <a:cubicBezTo>
                  <a:pt x="12433" y="1303"/>
                  <a:pt x="12341" y="1297"/>
                  <a:pt x="12249" y="1291"/>
                </a:cubicBezTo>
                <a:cubicBezTo>
                  <a:pt x="12167" y="1285"/>
                  <a:pt x="12109" y="1235"/>
                  <a:pt x="12121" y="1182"/>
                </a:cubicBezTo>
                <a:cubicBezTo>
                  <a:pt x="12204" y="803"/>
                  <a:pt x="12308" y="435"/>
                  <a:pt x="12397" y="172"/>
                </a:cubicBezTo>
                <a:cubicBezTo>
                  <a:pt x="12416" y="115"/>
                  <a:pt x="12361" y="59"/>
                  <a:pt x="12276" y="45"/>
                </a:cubicBezTo>
                <a:cubicBezTo>
                  <a:pt x="12090" y="14"/>
                  <a:pt x="11911" y="-1"/>
                  <a:pt x="11722" y="0"/>
                </a:cubicBezTo>
                <a:close/>
                <a:moveTo>
                  <a:pt x="5960" y="1687"/>
                </a:moveTo>
                <a:cubicBezTo>
                  <a:pt x="5924" y="1687"/>
                  <a:pt x="5887" y="1691"/>
                  <a:pt x="5852" y="1701"/>
                </a:cubicBezTo>
                <a:lnTo>
                  <a:pt x="4125" y="2175"/>
                </a:lnTo>
                <a:cubicBezTo>
                  <a:pt x="3985" y="2213"/>
                  <a:pt x="3918" y="2321"/>
                  <a:pt x="3977" y="2413"/>
                </a:cubicBezTo>
                <a:cubicBezTo>
                  <a:pt x="4284" y="2896"/>
                  <a:pt x="5040" y="4329"/>
                  <a:pt x="3864" y="5259"/>
                </a:cubicBezTo>
                <a:cubicBezTo>
                  <a:pt x="2644" y="6223"/>
                  <a:pt x="1858" y="6915"/>
                  <a:pt x="1795" y="7789"/>
                </a:cubicBezTo>
                <a:cubicBezTo>
                  <a:pt x="1786" y="7916"/>
                  <a:pt x="2018" y="7986"/>
                  <a:pt x="2156" y="7898"/>
                </a:cubicBezTo>
                <a:cubicBezTo>
                  <a:pt x="3586" y="6985"/>
                  <a:pt x="5173" y="6418"/>
                  <a:pt x="5672" y="6252"/>
                </a:cubicBezTo>
                <a:cubicBezTo>
                  <a:pt x="5770" y="6219"/>
                  <a:pt x="5835" y="6156"/>
                  <a:pt x="5845" y="6084"/>
                </a:cubicBezTo>
                <a:cubicBezTo>
                  <a:pt x="5896" y="5710"/>
                  <a:pt x="6110" y="4503"/>
                  <a:pt x="6843" y="3414"/>
                </a:cubicBezTo>
                <a:cubicBezTo>
                  <a:pt x="6936" y="3275"/>
                  <a:pt x="6949" y="3117"/>
                  <a:pt x="6875" y="2973"/>
                </a:cubicBezTo>
                <a:cubicBezTo>
                  <a:pt x="6561" y="2361"/>
                  <a:pt x="6334" y="1990"/>
                  <a:pt x="6211" y="1798"/>
                </a:cubicBezTo>
                <a:cubicBezTo>
                  <a:pt x="6166" y="1729"/>
                  <a:pt x="6067" y="1688"/>
                  <a:pt x="5960" y="1687"/>
                </a:cubicBezTo>
                <a:close/>
                <a:moveTo>
                  <a:pt x="17710" y="2796"/>
                </a:moveTo>
                <a:cubicBezTo>
                  <a:pt x="14128" y="3251"/>
                  <a:pt x="12899" y="4571"/>
                  <a:pt x="10446" y="6897"/>
                </a:cubicBezTo>
                <a:cubicBezTo>
                  <a:pt x="8658" y="8591"/>
                  <a:pt x="6919" y="9692"/>
                  <a:pt x="4739" y="10468"/>
                </a:cubicBezTo>
                <a:cubicBezTo>
                  <a:pt x="4525" y="10544"/>
                  <a:pt x="4337" y="10342"/>
                  <a:pt x="4538" y="10252"/>
                </a:cubicBezTo>
                <a:cubicBezTo>
                  <a:pt x="5703" y="9730"/>
                  <a:pt x="6496" y="9269"/>
                  <a:pt x="6838" y="9060"/>
                </a:cubicBezTo>
                <a:cubicBezTo>
                  <a:pt x="6943" y="8996"/>
                  <a:pt x="6959" y="8891"/>
                  <a:pt x="6875" y="8814"/>
                </a:cubicBezTo>
                <a:cubicBezTo>
                  <a:pt x="6581" y="8543"/>
                  <a:pt x="5949" y="7853"/>
                  <a:pt x="5842" y="6845"/>
                </a:cubicBezTo>
                <a:cubicBezTo>
                  <a:pt x="5834" y="6772"/>
                  <a:pt x="5713" y="6729"/>
                  <a:pt x="5617" y="6766"/>
                </a:cubicBezTo>
                <a:cubicBezTo>
                  <a:pt x="2431" y="7985"/>
                  <a:pt x="0" y="9475"/>
                  <a:pt x="0" y="12423"/>
                </a:cubicBezTo>
                <a:cubicBezTo>
                  <a:pt x="0" y="17020"/>
                  <a:pt x="7570" y="17905"/>
                  <a:pt x="11316" y="20019"/>
                </a:cubicBezTo>
                <a:cubicBezTo>
                  <a:pt x="14094" y="21588"/>
                  <a:pt x="17510" y="21599"/>
                  <a:pt x="18384" y="18991"/>
                </a:cubicBezTo>
                <a:cubicBezTo>
                  <a:pt x="19484" y="15711"/>
                  <a:pt x="21598" y="14918"/>
                  <a:pt x="21599" y="12159"/>
                </a:cubicBezTo>
                <a:cubicBezTo>
                  <a:pt x="21600" y="8407"/>
                  <a:pt x="16913" y="7232"/>
                  <a:pt x="15378" y="6948"/>
                </a:cubicBezTo>
                <a:cubicBezTo>
                  <a:pt x="15111" y="6898"/>
                  <a:pt x="14833" y="6992"/>
                  <a:pt x="14736" y="7163"/>
                </a:cubicBezTo>
                <a:cubicBezTo>
                  <a:pt x="14229" y="8058"/>
                  <a:pt x="13569" y="8963"/>
                  <a:pt x="12931" y="9739"/>
                </a:cubicBezTo>
                <a:cubicBezTo>
                  <a:pt x="12906" y="9770"/>
                  <a:pt x="12897" y="9804"/>
                  <a:pt x="12903" y="9838"/>
                </a:cubicBezTo>
                <a:cubicBezTo>
                  <a:pt x="13041" y="10635"/>
                  <a:pt x="13856" y="12480"/>
                  <a:pt x="18442" y="12514"/>
                </a:cubicBezTo>
                <a:cubicBezTo>
                  <a:pt x="18615" y="12516"/>
                  <a:pt x="18627" y="12684"/>
                  <a:pt x="18454" y="12698"/>
                </a:cubicBezTo>
                <a:cubicBezTo>
                  <a:pt x="15394" y="12942"/>
                  <a:pt x="13494" y="12360"/>
                  <a:pt x="12226" y="10797"/>
                </a:cubicBezTo>
                <a:cubicBezTo>
                  <a:pt x="12180" y="10741"/>
                  <a:pt x="12059" y="10739"/>
                  <a:pt x="12008" y="10794"/>
                </a:cubicBezTo>
                <a:cubicBezTo>
                  <a:pt x="11820" y="10994"/>
                  <a:pt x="11644" y="11173"/>
                  <a:pt x="11486" y="11324"/>
                </a:cubicBezTo>
                <a:cubicBezTo>
                  <a:pt x="11331" y="11473"/>
                  <a:pt x="11233" y="11645"/>
                  <a:pt x="11206" y="11825"/>
                </a:cubicBezTo>
                <a:cubicBezTo>
                  <a:pt x="11076" y="12662"/>
                  <a:pt x="11110" y="13401"/>
                  <a:pt x="11261" y="14060"/>
                </a:cubicBezTo>
                <a:cubicBezTo>
                  <a:pt x="11282" y="14151"/>
                  <a:pt x="11375" y="14228"/>
                  <a:pt x="11506" y="14259"/>
                </a:cubicBezTo>
                <a:cubicBezTo>
                  <a:pt x="12699" y="14545"/>
                  <a:pt x="13970" y="14947"/>
                  <a:pt x="15157" y="15732"/>
                </a:cubicBezTo>
                <a:cubicBezTo>
                  <a:pt x="15273" y="15809"/>
                  <a:pt x="15120" y="15929"/>
                  <a:pt x="14987" y="15866"/>
                </a:cubicBezTo>
                <a:cubicBezTo>
                  <a:pt x="13324" y="15077"/>
                  <a:pt x="12167" y="14894"/>
                  <a:pt x="11629" y="14854"/>
                </a:cubicBezTo>
                <a:cubicBezTo>
                  <a:pt x="11570" y="14850"/>
                  <a:pt x="11526" y="14886"/>
                  <a:pt x="11542" y="14924"/>
                </a:cubicBezTo>
                <a:cubicBezTo>
                  <a:pt x="12090" y="16223"/>
                  <a:pt x="13092" y="17158"/>
                  <a:pt x="14016" y="17895"/>
                </a:cubicBezTo>
                <a:cubicBezTo>
                  <a:pt x="14154" y="18006"/>
                  <a:pt x="13922" y="18148"/>
                  <a:pt x="13766" y="18049"/>
                </a:cubicBezTo>
                <a:cubicBezTo>
                  <a:pt x="12788" y="17436"/>
                  <a:pt x="12083" y="16766"/>
                  <a:pt x="11577" y="16104"/>
                </a:cubicBezTo>
                <a:cubicBezTo>
                  <a:pt x="11543" y="16060"/>
                  <a:pt x="11450" y="16057"/>
                  <a:pt x="11411" y="16099"/>
                </a:cubicBezTo>
                <a:cubicBezTo>
                  <a:pt x="11214" y="16309"/>
                  <a:pt x="10950" y="16720"/>
                  <a:pt x="10875" y="17462"/>
                </a:cubicBezTo>
                <a:cubicBezTo>
                  <a:pt x="10861" y="17592"/>
                  <a:pt x="10571" y="17595"/>
                  <a:pt x="10554" y="17466"/>
                </a:cubicBezTo>
                <a:cubicBezTo>
                  <a:pt x="10475" y="16870"/>
                  <a:pt x="10586" y="16307"/>
                  <a:pt x="11103" y="15573"/>
                </a:cubicBezTo>
                <a:cubicBezTo>
                  <a:pt x="11139" y="15522"/>
                  <a:pt x="11141" y="15463"/>
                  <a:pt x="11110" y="15410"/>
                </a:cubicBezTo>
                <a:cubicBezTo>
                  <a:pt x="10285" y="13990"/>
                  <a:pt x="10284" y="12723"/>
                  <a:pt x="10310" y="12309"/>
                </a:cubicBezTo>
                <a:cubicBezTo>
                  <a:pt x="10313" y="12261"/>
                  <a:pt x="10225" y="12236"/>
                  <a:pt x="10175" y="12271"/>
                </a:cubicBezTo>
                <a:cubicBezTo>
                  <a:pt x="9950" y="12429"/>
                  <a:pt x="9490" y="12748"/>
                  <a:pt x="8939" y="13116"/>
                </a:cubicBezTo>
                <a:cubicBezTo>
                  <a:pt x="8869" y="13162"/>
                  <a:pt x="8838" y="13228"/>
                  <a:pt x="8856" y="13293"/>
                </a:cubicBezTo>
                <a:cubicBezTo>
                  <a:pt x="9208" y="14564"/>
                  <a:pt x="8909" y="15327"/>
                  <a:pt x="8495" y="15826"/>
                </a:cubicBezTo>
                <a:cubicBezTo>
                  <a:pt x="8405" y="15935"/>
                  <a:pt x="8151" y="15863"/>
                  <a:pt x="8207" y="15745"/>
                </a:cubicBezTo>
                <a:cubicBezTo>
                  <a:pt x="8602" y="14908"/>
                  <a:pt x="8457" y="14354"/>
                  <a:pt x="8184" y="13683"/>
                </a:cubicBezTo>
                <a:cubicBezTo>
                  <a:pt x="8172" y="13652"/>
                  <a:pt x="8115" y="13638"/>
                  <a:pt x="8076" y="13658"/>
                </a:cubicBezTo>
                <a:cubicBezTo>
                  <a:pt x="6944" y="14228"/>
                  <a:pt x="6378" y="14971"/>
                  <a:pt x="6095" y="15552"/>
                </a:cubicBezTo>
                <a:cubicBezTo>
                  <a:pt x="6046" y="15654"/>
                  <a:pt x="5815" y="15621"/>
                  <a:pt x="5832" y="15514"/>
                </a:cubicBezTo>
                <a:cubicBezTo>
                  <a:pt x="5922" y="14948"/>
                  <a:pt x="6427" y="14160"/>
                  <a:pt x="7953" y="13152"/>
                </a:cubicBezTo>
                <a:cubicBezTo>
                  <a:pt x="11621" y="10730"/>
                  <a:pt x="12557" y="9223"/>
                  <a:pt x="14011" y="6902"/>
                </a:cubicBezTo>
                <a:cubicBezTo>
                  <a:pt x="15326" y="4803"/>
                  <a:pt x="18598" y="4049"/>
                  <a:pt x="19214" y="3923"/>
                </a:cubicBezTo>
                <a:cubicBezTo>
                  <a:pt x="19263" y="3914"/>
                  <a:pt x="19281" y="3875"/>
                  <a:pt x="19249" y="3849"/>
                </a:cubicBezTo>
                <a:cubicBezTo>
                  <a:pt x="19041" y="3675"/>
                  <a:pt x="18378" y="3131"/>
                  <a:pt x="17868" y="2824"/>
                </a:cubicBezTo>
                <a:cubicBezTo>
                  <a:pt x="17826" y="2799"/>
                  <a:pt x="17765" y="2789"/>
                  <a:pt x="17710" y="2796"/>
                </a:cubicBezTo>
                <a:close/>
              </a:path>
            </a:pathLst>
          </a:custGeom>
          <a:solidFill>
            <a:srgbClr val="B516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US" noProof="0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D3DD65F1-08AB-AED4-3EF6-5009C5E48E27}"/>
              </a:ext>
            </a:extLst>
          </p:cNvPr>
          <p:cNvSpPr txBox="1"/>
          <p:nvPr/>
        </p:nvSpPr>
        <p:spPr>
          <a:xfrm>
            <a:off x="6136884" y="3581400"/>
            <a:ext cx="545342" cy="276999"/>
          </a:xfrm>
          <a:prstGeom prst="rect">
            <a:avLst/>
          </a:prstGeom>
          <a:solidFill>
            <a:srgbClr val="FEA000"/>
          </a:solidFill>
        </p:spPr>
        <p:txBody>
          <a:bodyPr wrap="square" rtlCol="0">
            <a:spAutoFit/>
          </a:bodyPr>
          <a:lstStyle/>
          <a:p>
            <a:r>
              <a:rPr lang="en-US" sz="1200" b="1" noProof="0" dirty="0"/>
              <a:t>IONS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1A9DBD6D-5A59-071B-9F49-BA7858B028D8}"/>
              </a:ext>
            </a:extLst>
          </p:cNvPr>
          <p:cNvSpPr txBox="1"/>
          <p:nvPr/>
        </p:nvSpPr>
        <p:spPr>
          <a:xfrm>
            <a:off x="5950580" y="2912292"/>
            <a:ext cx="890950" cy="276999"/>
          </a:xfrm>
          <a:prstGeom prst="rect">
            <a:avLst/>
          </a:prstGeom>
          <a:solidFill>
            <a:srgbClr val="A8ACAF"/>
          </a:solidFill>
        </p:spPr>
        <p:txBody>
          <a:bodyPr wrap="none" rtlCol="0">
            <a:spAutoFit/>
          </a:bodyPr>
          <a:lstStyle/>
          <a:p>
            <a:r>
              <a:rPr lang="en-US" sz="1200" b="1" noProof="0" dirty="0"/>
              <a:t>PHOTONS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C8312AB4-EBA3-7BEE-0DAC-4A8D59AD8432}"/>
              </a:ext>
            </a:extLst>
          </p:cNvPr>
          <p:cNvSpPr/>
          <p:nvPr/>
        </p:nvSpPr>
        <p:spPr>
          <a:xfrm>
            <a:off x="8936991" y="4259265"/>
            <a:ext cx="295629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U. Amaldi et al., CERN Yellow Reports (2019)</a:t>
            </a:r>
            <a:endParaRPr lang="en-US" sz="1200" noProof="0" dirty="0">
              <a:solidFill>
                <a:srgbClr val="44546A">
                  <a:lumMod val="10000"/>
                </a:srgbClr>
              </a:solidFill>
              <a:latin typeface="Calibri" panose="020F0502020204030204"/>
            </a:endParaRPr>
          </a:p>
        </p:txBody>
      </p:sp>
      <p:pic>
        <p:nvPicPr>
          <p:cNvPr id="46" name="Immagine 45">
            <a:extLst>
              <a:ext uri="{FF2B5EF4-FFF2-40B4-BE49-F238E27FC236}">
                <a16:creationId xmlns:a16="http://schemas.microsoft.com/office/drawing/2014/main" id="{AC36AC87-B2C5-0862-2A0E-67F7508176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02274" y="1850597"/>
            <a:ext cx="3328147" cy="239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93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23" grpId="0"/>
      <p:bldP spid="11" grpId="0" animBg="1"/>
      <p:bldP spid="14" grpId="0" animBg="1"/>
      <p:bldP spid="24" grpId="0" animBg="1"/>
      <p:bldP spid="25" grpId="0" animBg="1"/>
      <p:bldP spid="28" grpId="0" animBg="1"/>
      <p:bldP spid="34" grpId="0" animBg="1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98EC-F06C-36FD-9923-0FE02623E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igura a mano libera: forma 35">
            <a:extLst>
              <a:ext uri="{FF2B5EF4-FFF2-40B4-BE49-F238E27FC236}">
                <a16:creationId xmlns:a16="http://schemas.microsoft.com/office/drawing/2014/main" id="{9BDB902C-6347-5037-9964-CA57D95C2E11}"/>
              </a:ext>
            </a:extLst>
          </p:cNvPr>
          <p:cNvSpPr/>
          <p:nvPr/>
        </p:nvSpPr>
        <p:spPr>
          <a:xfrm>
            <a:off x="8952790" y="898931"/>
            <a:ext cx="2710542" cy="3993865"/>
          </a:xfrm>
          <a:custGeom>
            <a:avLst/>
            <a:gdLst>
              <a:gd name="connsiteX0" fmla="*/ 0 w 1487033"/>
              <a:gd name="connsiteY0" fmla="*/ 118963 h 1189626"/>
              <a:gd name="connsiteX1" fmla="*/ 118963 w 1487033"/>
              <a:gd name="connsiteY1" fmla="*/ 0 h 1189626"/>
              <a:gd name="connsiteX2" fmla="*/ 1368070 w 1487033"/>
              <a:gd name="connsiteY2" fmla="*/ 0 h 1189626"/>
              <a:gd name="connsiteX3" fmla="*/ 1487033 w 1487033"/>
              <a:gd name="connsiteY3" fmla="*/ 118963 h 1189626"/>
              <a:gd name="connsiteX4" fmla="*/ 1487033 w 1487033"/>
              <a:gd name="connsiteY4" fmla="*/ 1070663 h 1189626"/>
              <a:gd name="connsiteX5" fmla="*/ 1368070 w 1487033"/>
              <a:gd name="connsiteY5" fmla="*/ 1189626 h 1189626"/>
              <a:gd name="connsiteX6" fmla="*/ 118963 w 1487033"/>
              <a:gd name="connsiteY6" fmla="*/ 1189626 h 1189626"/>
              <a:gd name="connsiteX7" fmla="*/ 0 w 1487033"/>
              <a:gd name="connsiteY7" fmla="*/ 1070663 h 1189626"/>
              <a:gd name="connsiteX8" fmla="*/ 0 w 1487033"/>
              <a:gd name="connsiteY8" fmla="*/ 118963 h 118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7033" h="1189626">
                <a:moveTo>
                  <a:pt x="0" y="118963"/>
                </a:moveTo>
                <a:cubicBezTo>
                  <a:pt x="0" y="53262"/>
                  <a:pt x="53262" y="0"/>
                  <a:pt x="118963" y="0"/>
                </a:cubicBezTo>
                <a:lnTo>
                  <a:pt x="1368070" y="0"/>
                </a:lnTo>
                <a:cubicBezTo>
                  <a:pt x="1433771" y="0"/>
                  <a:pt x="1487033" y="53262"/>
                  <a:pt x="1487033" y="118963"/>
                </a:cubicBezTo>
                <a:lnTo>
                  <a:pt x="1487033" y="1070663"/>
                </a:lnTo>
                <a:cubicBezTo>
                  <a:pt x="1487033" y="1136364"/>
                  <a:pt x="1433771" y="1189626"/>
                  <a:pt x="1368070" y="1189626"/>
                </a:cubicBezTo>
                <a:lnTo>
                  <a:pt x="118963" y="1189626"/>
                </a:lnTo>
                <a:cubicBezTo>
                  <a:pt x="53262" y="1189626"/>
                  <a:pt x="0" y="1136364"/>
                  <a:pt x="0" y="1070663"/>
                </a:cubicBezTo>
                <a:lnTo>
                  <a:pt x="0" y="118963"/>
                </a:lnTo>
                <a:close/>
              </a:path>
            </a:pathLst>
          </a:custGeom>
          <a:ln w="28575">
            <a:prstDash val="sysDot"/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753" tIns="76753" rIns="76753" bIns="76753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kern="1200" noProof="0" dirty="0"/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noProof="0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C6604F1D-B159-ECF0-565D-A75B0DFE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D6A94-FE70-45EA-859B-A205DD54D9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itolo 1">
            <a:extLst>
              <a:ext uri="{FF2B5EF4-FFF2-40B4-BE49-F238E27FC236}">
                <a16:creationId xmlns:a16="http://schemas.microsoft.com/office/drawing/2014/main" id="{3D309648-496A-74FF-F251-26BF0259421B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NTCP models in literature for standard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RadioTherapy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(RT)  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A24663D-152D-3A76-0B1F-01C5F75EF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F7C3587-5569-99CC-40F2-F627CED4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13" name="Segno di moltiplicazione 12">
            <a:extLst>
              <a:ext uri="{FF2B5EF4-FFF2-40B4-BE49-F238E27FC236}">
                <a16:creationId xmlns:a16="http://schemas.microsoft.com/office/drawing/2014/main" id="{922E3ECA-4952-C69C-87A2-BC7553ECD76A}"/>
              </a:ext>
            </a:extLst>
          </p:cNvPr>
          <p:cNvSpPr/>
          <p:nvPr/>
        </p:nvSpPr>
        <p:spPr>
          <a:xfrm>
            <a:off x="5348815" y="-96376"/>
            <a:ext cx="6523569" cy="1216354"/>
          </a:xfrm>
          <a:prstGeom prst="mathMultiply">
            <a:avLst>
              <a:gd name="adj1" fmla="val 4520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3D660A3-FBB7-45EF-CAAF-89A474F3725E}"/>
              </a:ext>
            </a:extLst>
          </p:cNvPr>
          <p:cNvSpPr txBox="1"/>
          <p:nvPr/>
        </p:nvSpPr>
        <p:spPr>
          <a:xfrm>
            <a:off x="8945205" y="872875"/>
            <a:ext cx="27270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noProof="0" dirty="0">
                <a:solidFill>
                  <a:srgbClr val="C00000"/>
                </a:solidFill>
                <a:latin typeface="+mj-lt"/>
              </a:rPr>
              <a:t>Particle Therapy (PT)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D01F885-E774-C8D8-7F79-B15CF7EDF56D}"/>
              </a:ext>
            </a:extLst>
          </p:cNvPr>
          <p:cNvSpPr txBox="1"/>
          <p:nvPr/>
        </p:nvSpPr>
        <p:spPr>
          <a:xfrm>
            <a:off x="9072060" y="4308021"/>
            <a:ext cx="249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>
                <a:solidFill>
                  <a:srgbClr val="C00000"/>
                </a:solidFill>
              </a:rPr>
              <a:t>Lacking a solid foundation in </a:t>
            </a:r>
            <a:r>
              <a:rPr lang="en-US" sz="1600" b="1" u="sng" noProof="0" dirty="0">
                <a:solidFill>
                  <a:srgbClr val="C00000"/>
                </a:solidFill>
              </a:rPr>
              <a:t>radiation biophysics</a:t>
            </a:r>
          </a:p>
        </p:txBody>
      </p:sp>
      <p:sp>
        <p:nvSpPr>
          <p:cNvPr id="6" name="Arco a tutto sesto 5">
            <a:extLst>
              <a:ext uri="{FF2B5EF4-FFF2-40B4-BE49-F238E27FC236}">
                <a16:creationId xmlns:a16="http://schemas.microsoft.com/office/drawing/2014/main" id="{ED481A41-66A0-A7E6-80F1-218E3CBFDD5C}"/>
              </a:ext>
            </a:extLst>
          </p:cNvPr>
          <p:cNvSpPr/>
          <p:nvPr/>
        </p:nvSpPr>
        <p:spPr>
          <a:xfrm>
            <a:off x="4234696" y="2261617"/>
            <a:ext cx="3832246" cy="3832245"/>
          </a:xfrm>
          <a:prstGeom prst="blockArc">
            <a:avLst>
              <a:gd name="adj1" fmla="val 8875904"/>
              <a:gd name="adj2" fmla="val 16200000"/>
              <a:gd name="adj3" fmla="val 4637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7" name="Arco a tutto sesto 6">
            <a:extLst>
              <a:ext uri="{FF2B5EF4-FFF2-40B4-BE49-F238E27FC236}">
                <a16:creationId xmlns:a16="http://schemas.microsoft.com/office/drawing/2014/main" id="{4164F9A9-7E69-A476-7FBB-D14A244D5112}"/>
              </a:ext>
            </a:extLst>
          </p:cNvPr>
          <p:cNvSpPr/>
          <p:nvPr/>
        </p:nvSpPr>
        <p:spPr>
          <a:xfrm>
            <a:off x="4184071" y="2283732"/>
            <a:ext cx="3832246" cy="3832245"/>
          </a:xfrm>
          <a:prstGeom prst="blockArc">
            <a:avLst>
              <a:gd name="adj1" fmla="val 1800000"/>
              <a:gd name="adj2" fmla="val 9000000"/>
              <a:gd name="adj3" fmla="val 4637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7" name="Arco a tutto sesto 16">
            <a:extLst>
              <a:ext uri="{FF2B5EF4-FFF2-40B4-BE49-F238E27FC236}">
                <a16:creationId xmlns:a16="http://schemas.microsoft.com/office/drawing/2014/main" id="{7F2E4662-8F22-2661-9E80-894CBC24C61B}"/>
              </a:ext>
            </a:extLst>
          </p:cNvPr>
          <p:cNvSpPr/>
          <p:nvPr/>
        </p:nvSpPr>
        <p:spPr>
          <a:xfrm>
            <a:off x="4244981" y="2258826"/>
            <a:ext cx="3832246" cy="3832245"/>
          </a:xfrm>
          <a:prstGeom prst="blockArc">
            <a:avLst>
              <a:gd name="adj1" fmla="val 16200000"/>
              <a:gd name="adj2" fmla="val 1800000"/>
              <a:gd name="adj3" fmla="val 4637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8" name="Figura a mano libera: forma 17">
            <a:extLst>
              <a:ext uri="{FF2B5EF4-FFF2-40B4-BE49-F238E27FC236}">
                <a16:creationId xmlns:a16="http://schemas.microsoft.com/office/drawing/2014/main" id="{C2CDDAA6-0181-5D48-0D5D-C982A017502E}"/>
              </a:ext>
            </a:extLst>
          </p:cNvPr>
          <p:cNvSpPr>
            <a:spLocks noChangeAspect="1"/>
          </p:cNvSpPr>
          <p:nvPr/>
        </p:nvSpPr>
        <p:spPr>
          <a:xfrm>
            <a:off x="5015266" y="3047739"/>
            <a:ext cx="2260005" cy="2260003"/>
          </a:xfrm>
          <a:custGeom>
            <a:avLst/>
            <a:gdLst>
              <a:gd name="connsiteX0" fmla="*/ 0 w 2051843"/>
              <a:gd name="connsiteY0" fmla="*/ 1025922 h 2051843"/>
              <a:gd name="connsiteX1" fmla="*/ 1025922 w 2051843"/>
              <a:gd name="connsiteY1" fmla="*/ 0 h 2051843"/>
              <a:gd name="connsiteX2" fmla="*/ 2051844 w 2051843"/>
              <a:gd name="connsiteY2" fmla="*/ 1025922 h 2051843"/>
              <a:gd name="connsiteX3" fmla="*/ 1025922 w 2051843"/>
              <a:gd name="connsiteY3" fmla="*/ 2051844 h 2051843"/>
              <a:gd name="connsiteX4" fmla="*/ 0 w 2051843"/>
              <a:gd name="connsiteY4" fmla="*/ 1025922 h 2051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61445" tIns="361445" rIns="361445" bIns="361445" numCol="1" spcCol="1270" anchor="ctr" anchorCtr="0">
            <a:noAutofit/>
          </a:bodyPr>
          <a:lstStyle/>
          <a:p>
            <a:pPr marL="0" lvl="0" indent="0" algn="ctr" defTabSz="2133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400" kern="1200" noProof="0" dirty="0">
                <a:solidFill>
                  <a:schemeClr val="tx1"/>
                </a:solidFill>
              </a:rPr>
              <a:t>NTCP</a:t>
            </a:r>
          </a:p>
        </p:txBody>
      </p:sp>
      <p:sp>
        <p:nvSpPr>
          <p:cNvPr id="19" name="Figura a mano libera: forma 18">
            <a:extLst>
              <a:ext uri="{FF2B5EF4-FFF2-40B4-BE49-F238E27FC236}">
                <a16:creationId xmlns:a16="http://schemas.microsoft.com/office/drawing/2014/main" id="{C5E11987-2A88-A4C2-749D-DDBF94FDB0D2}"/>
              </a:ext>
            </a:extLst>
          </p:cNvPr>
          <p:cNvSpPr>
            <a:spLocks noChangeAspect="1"/>
          </p:cNvSpPr>
          <p:nvPr/>
        </p:nvSpPr>
        <p:spPr>
          <a:xfrm>
            <a:off x="5212519" y="898931"/>
            <a:ext cx="1865498" cy="1865498"/>
          </a:xfrm>
          <a:custGeom>
            <a:avLst/>
            <a:gdLst>
              <a:gd name="connsiteX0" fmla="*/ 0 w 1436290"/>
              <a:gd name="connsiteY0" fmla="*/ 718145 h 1436290"/>
              <a:gd name="connsiteX1" fmla="*/ 718145 w 1436290"/>
              <a:gd name="connsiteY1" fmla="*/ 0 h 1436290"/>
              <a:gd name="connsiteX2" fmla="*/ 1436290 w 1436290"/>
              <a:gd name="connsiteY2" fmla="*/ 718145 h 1436290"/>
              <a:gd name="connsiteX3" fmla="*/ 718145 w 1436290"/>
              <a:gd name="connsiteY3" fmla="*/ 1436290 h 1436290"/>
              <a:gd name="connsiteX4" fmla="*/ 0 w 1436290"/>
              <a:gd name="connsiteY4" fmla="*/ 718145 h 143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3040" tIns="223040" rIns="223040" bIns="223040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</a:rPr>
              <a:t>Phenomenological models</a:t>
            </a:r>
          </a:p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noProof="0" dirty="0">
                <a:solidFill>
                  <a:schemeClr val="tx1"/>
                </a:solidFill>
              </a:rPr>
              <a:t>e.g. Lyman-Kutcher-Burman (LKB) model</a:t>
            </a:r>
          </a:p>
        </p:txBody>
      </p:sp>
      <p:sp>
        <p:nvSpPr>
          <p:cNvPr id="20" name="Figura a mano libera: forma 19">
            <a:extLst>
              <a:ext uri="{FF2B5EF4-FFF2-40B4-BE49-F238E27FC236}">
                <a16:creationId xmlns:a16="http://schemas.microsoft.com/office/drawing/2014/main" id="{B628327D-214C-F00B-FC19-CC21D2F5F19B}"/>
              </a:ext>
            </a:extLst>
          </p:cNvPr>
          <p:cNvSpPr>
            <a:spLocks noChangeAspect="1"/>
          </p:cNvSpPr>
          <p:nvPr/>
        </p:nvSpPr>
        <p:spPr>
          <a:xfrm>
            <a:off x="7134193" y="4564301"/>
            <a:ext cx="1865498" cy="1865498"/>
          </a:xfrm>
          <a:custGeom>
            <a:avLst/>
            <a:gdLst>
              <a:gd name="connsiteX0" fmla="*/ 0 w 1436290"/>
              <a:gd name="connsiteY0" fmla="*/ 718145 h 1436290"/>
              <a:gd name="connsiteX1" fmla="*/ 718145 w 1436290"/>
              <a:gd name="connsiteY1" fmla="*/ 0 h 1436290"/>
              <a:gd name="connsiteX2" fmla="*/ 1436290 w 1436290"/>
              <a:gd name="connsiteY2" fmla="*/ 718145 h 1436290"/>
              <a:gd name="connsiteX3" fmla="*/ 718145 w 1436290"/>
              <a:gd name="connsiteY3" fmla="*/ 1436290 h 1436290"/>
              <a:gd name="connsiteX4" fmla="*/ 0 w 1436290"/>
              <a:gd name="connsiteY4" fmla="*/ 718145 h 143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4310" tIns="224310" rIns="224310" bIns="224310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</a:rPr>
              <a:t>Mechanistic models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noProof="0" dirty="0">
                <a:solidFill>
                  <a:srgbClr val="C00000"/>
                </a:solidFill>
              </a:rPr>
              <a:t>e.g.</a:t>
            </a:r>
            <a:r>
              <a:rPr lang="en-US" sz="1400" kern="1200" noProof="0" dirty="0">
                <a:solidFill>
                  <a:schemeClr val="tx1"/>
                </a:solidFill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</a:rPr>
              <a:t>Relative Seriality model</a:t>
            </a:r>
            <a:endParaRPr lang="en-US" sz="1400" b="1" kern="1200" noProof="0" dirty="0">
              <a:solidFill>
                <a:srgbClr val="C00000"/>
              </a:solidFill>
            </a:endParaRPr>
          </a:p>
        </p:txBody>
      </p:sp>
      <p:sp>
        <p:nvSpPr>
          <p:cNvPr id="21" name="Figura a mano libera: forma 20">
            <a:extLst>
              <a:ext uri="{FF2B5EF4-FFF2-40B4-BE49-F238E27FC236}">
                <a16:creationId xmlns:a16="http://schemas.microsoft.com/office/drawing/2014/main" id="{3E2F2B6C-8375-1382-6D7F-E753CF8F96E0}"/>
              </a:ext>
            </a:extLst>
          </p:cNvPr>
          <p:cNvSpPr>
            <a:spLocks noChangeAspect="1"/>
          </p:cNvSpPr>
          <p:nvPr/>
        </p:nvSpPr>
        <p:spPr>
          <a:xfrm>
            <a:off x="3301947" y="4564303"/>
            <a:ext cx="1865498" cy="1865497"/>
          </a:xfrm>
          <a:custGeom>
            <a:avLst/>
            <a:gdLst>
              <a:gd name="connsiteX0" fmla="*/ 0 w 1436290"/>
              <a:gd name="connsiteY0" fmla="*/ 718145 h 1436290"/>
              <a:gd name="connsiteX1" fmla="*/ 718145 w 1436290"/>
              <a:gd name="connsiteY1" fmla="*/ 0 h 1436290"/>
              <a:gd name="connsiteX2" fmla="*/ 1436290 w 1436290"/>
              <a:gd name="connsiteY2" fmla="*/ 718145 h 1436290"/>
              <a:gd name="connsiteX3" fmla="*/ 718145 w 1436290"/>
              <a:gd name="connsiteY3" fmla="*/ 1436290 h 1436290"/>
              <a:gd name="connsiteX4" fmla="*/ 0 w 1436290"/>
              <a:gd name="connsiteY4" fmla="*/ 718145 h 143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4310" tIns="224310" rIns="224310" bIns="224310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</a:rPr>
              <a:t>Statistical models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lang="en-US" sz="1400" kern="1200" noProof="0" dirty="0">
                <a:solidFill>
                  <a:schemeClr val="tx1"/>
                </a:solidFill>
              </a:rPr>
              <a:t>e.g. </a:t>
            </a:r>
            <a:r>
              <a:rPr lang="en-US" sz="1400" kern="1200" noProof="0" dirty="0" err="1">
                <a:solidFill>
                  <a:schemeClr val="tx1"/>
                </a:solidFill>
              </a:rPr>
              <a:t>uni</a:t>
            </a:r>
            <a:r>
              <a:rPr lang="en-US" sz="1400" kern="1200" noProof="0" dirty="0">
                <a:solidFill>
                  <a:schemeClr val="tx1"/>
                </a:solidFill>
              </a:rPr>
              <a:t>- and multi-variate (MVA) logistic analyses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E5B14002-CA1D-3FC8-DCBE-F57F4B56552A}"/>
              </a:ext>
            </a:extLst>
          </p:cNvPr>
          <p:cNvSpPr/>
          <p:nvPr/>
        </p:nvSpPr>
        <p:spPr>
          <a:xfrm>
            <a:off x="7154764" y="4564303"/>
            <a:ext cx="1844927" cy="186549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84D1AB4-272E-2AEF-9941-2E61B702A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420" y="2879502"/>
            <a:ext cx="2358606" cy="750037"/>
          </a:xfrm>
          <a:prstGeom prst="rect">
            <a:avLst/>
          </a:prstGeom>
        </p:spPr>
      </p:pic>
      <p:sp>
        <p:nvSpPr>
          <p:cNvPr id="8" name="Freccia a sinistra 7">
            <a:extLst>
              <a:ext uri="{FF2B5EF4-FFF2-40B4-BE49-F238E27FC236}">
                <a16:creationId xmlns:a16="http://schemas.microsoft.com/office/drawing/2014/main" id="{67B87797-C32A-5EEF-4098-238526F0A61B}"/>
              </a:ext>
            </a:extLst>
          </p:cNvPr>
          <p:cNvSpPr/>
          <p:nvPr/>
        </p:nvSpPr>
        <p:spPr>
          <a:xfrm rot="16200000">
            <a:off x="10070084" y="2335990"/>
            <a:ext cx="485724" cy="403836"/>
          </a:xfrm>
          <a:prstGeom prst="leftArrow">
            <a:avLst>
              <a:gd name="adj1" fmla="val 60000"/>
              <a:gd name="adj2" fmla="val 50000"/>
            </a:avLst>
          </a:prstGeom>
          <a:solidFill>
            <a:srgbClr val="5B9BD5">
              <a:lumMod val="75000"/>
            </a:srgbClr>
          </a:solidFill>
          <a:ln>
            <a:noFill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ccia a sinistra 8">
            <a:extLst>
              <a:ext uri="{FF2B5EF4-FFF2-40B4-BE49-F238E27FC236}">
                <a16:creationId xmlns:a16="http://schemas.microsoft.com/office/drawing/2014/main" id="{E71D13AC-EFB5-22FD-F0FC-9FFCE070FA6F}"/>
              </a:ext>
            </a:extLst>
          </p:cNvPr>
          <p:cNvSpPr/>
          <p:nvPr/>
        </p:nvSpPr>
        <p:spPr>
          <a:xfrm rot="5400000">
            <a:off x="10065861" y="3766862"/>
            <a:ext cx="485724" cy="403836"/>
          </a:xfrm>
          <a:prstGeom prst="leftArrow">
            <a:avLst>
              <a:gd name="adj1" fmla="val 60000"/>
              <a:gd name="adj2" fmla="val 50000"/>
            </a:avLst>
          </a:prstGeom>
          <a:solidFill>
            <a:srgbClr val="5B9BD5">
              <a:lumMod val="75000"/>
            </a:srgbClr>
          </a:solidFill>
          <a:ln>
            <a:noFill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magine 11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807FFEC8-7283-A7D1-4347-791A3776F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02" y="1862270"/>
            <a:ext cx="3832246" cy="2554831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8405AD9-5381-82DD-C31E-25B4511DE7F5}"/>
              </a:ext>
            </a:extLst>
          </p:cNvPr>
          <p:cNvSpPr txBox="1"/>
          <p:nvPr/>
        </p:nvSpPr>
        <p:spPr>
          <a:xfrm>
            <a:off x="162262" y="1276099"/>
            <a:ext cx="41644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Tumor Control Probability (TCP)</a:t>
            </a:r>
          </a:p>
          <a:p>
            <a:pPr algn="ctr"/>
            <a:r>
              <a:rPr lang="en-US" sz="16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 Tissue Complication Probability (NTCP)</a:t>
            </a: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795ED51C-EB58-2D70-7A28-AB63DDF7AC69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2741585" y="2053536"/>
            <a:ext cx="2988" cy="2157963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nettore 24">
            <a:extLst>
              <a:ext uri="{FF2B5EF4-FFF2-40B4-BE49-F238E27FC236}">
                <a16:creationId xmlns:a16="http://schemas.microsoft.com/office/drawing/2014/main" id="{DCDF86CD-C57B-1082-8B53-0E92BE8E31CA}"/>
              </a:ext>
            </a:extLst>
          </p:cNvPr>
          <p:cNvSpPr/>
          <p:nvPr/>
        </p:nvSpPr>
        <p:spPr>
          <a:xfrm>
            <a:off x="2695018" y="1968869"/>
            <a:ext cx="93134" cy="84667"/>
          </a:xfrm>
          <a:prstGeom prst="flowChartConnector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7CD18B4D-A63C-890E-AB26-A3AF3FA156CA}"/>
              </a:ext>
            </a:extLst>
          </p:cNvPr>
          <p:cNvSpPr txBox="1"/>
          <p:nvPr/>
        </p:nvSpPr>
        <p:spPr>
          <a:xfrm>
            <a:off x="2802463" y="2615533"/>
            <a:ext cx="13668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noProof="0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o quantify the quality of treatment plans</a:t>
            </a:r>
            <a:endParaRPr lang="en-US" sz="1400" noProof="0" dirty="0"/>
          </a:p>
        </p:txBody>
      </p:sp>
      <p:sp>
        <p:nvSpPr>
          <p:cNvPr id="34" name="Connettore 33">
            <a:extLst>
              <a:ext uri="{FF2B5EF4-FFF2-40B4-BE49-F238E27FC236}">
                <a16:creationId xmlns:a16="http://schemas.microsoft.com/office/drawing/2014/main" id="{732C5C92-3A0C-A322-363A-714F5714D8FD}"/>
              </a:ext>
            </a:extLst>
          </p:cNvPr>
          <p:cNvSpPr/>
          <p:nvPr/>
        </p:nvSpPr>
        <p:spPr>
          <a:xfrm>
            <a:off x="2695050" y="2736595"/>
            <a:ext cx="93134" cy="84667"/>
          </a:xfrm>
          <a:prstGeom prst="flowChartConnector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8" name="Connettore curvo 37">
            <a:extLst>
              <a:ext uri="{FF2B5EF4-FFF2-40B4-BE49-F238E27FC236}">
                <a16:creationId xmlns:a16="http://schemas.microsoft.com/office/drawing/2014/main" id="{F3EFFCFD-BFB2-E1E8-9BC5-D1FAC6BE63D7}"/>
              </a:ext>
            </a:extLst>
          </p:cNvPr>
          <p:cNvCxnSpPr>
            <a:cxnSpLocks/>
            <a:stCxn id="24" idx="6"/>
            <a:endCxn id="22" idx="2"/>
          </p:cNvCxnSpPr>
          <p:nvPr/>
        </p:nvCxnSpPr>
        <p:spPr>
          <a:xfrm flipV="1">
            <a:off x="8999691" y="4892796"/>
            <a:ext cx="1318983" cy="604255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20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13" grpId="0" animBg="1"/>
      <p:bldP spid="16" grpId="0"/>
      <p:bldP spid="22" grpId="0"/>
      <p:bldP spid="6" grpId="0" animBg="1"/>
      <p:bldP spid="7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4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959F3-20CE-5147-1CFB-C8E4267B1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C2E921-1FDF-7D31-FB57-777E2285C836}"/>
              </a:ext>
            </a:extLst>
          </p:cNvPr>
          <p:cNvSpPr/>
          <p:nvPr/>
        </p:nvSpPr>
        <p:spPr>
          <a:xfrm>
            <a:off x="863689" y="4738167"/>
            <a:ext cx="2814259" cy="14524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73CE9663-A839-BA81-27BE-84C281017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D6A94-FE70-45EA-859B-A205DD54D9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696AD40-4A5C-7BE0-C594-149CE151D9B0}"/>
              </a:ext>
            </a:extLst>
          </p:cNvPr>
          <p:cNvSpPr txBox="1"/>
          <p:nvPr/>
        </p:nvSpPr>
        <p:spPr>
          <a:xfrm>
            <a:off x="4687799" y="5175797"/>
            <a:ext cx="1695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 organ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58CCC11-768F-ECDF-DFB6-7242965D4044}"/>
              </a:ext>
            </a:extLst>
          </p:cNvPr>
          <p:cNvSpPr txBox="1"/>
          <p:nvPr/>
        </p:nvSpPr>
        <p:spPr>
          <a:xfrm>
            <a:off x="6980925" y="4533006"/>
            <a:ext cx="47745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Inactivation of any FSU leads to complication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prstClr val="black"/>
                </a:solidFill>
              </a:rPr>
              <a:t>Toxicity induction linked to </a:t>
            </a:r>
            <a:r>
              <a:rPr lang="en-US" sz="1600" b="1" noProof="0" dirty="0">
                <a:solidFill>
                  <a:prstClr val="black"/>
                </a:solidFill>
              </a:rPr>
              <a:t>maximum dose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prstClr val="black"/>
                </a:solidFill>
              </a:rPr>
              <a:t>Small volume effect</a:t>
            </a:r>
            <a:endParaRPr lang="en-US" sz="1600" b="1" noProof="0" dirty="0">
              <a:solidFill>
                <a:prstClr val="black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spinal cord,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oesophagus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1DDC91-6469-8AE5-2514-C1E3FA2D4830}"/>
              </a:ext>
            </a:extLst>
          </p:cNvPr>
          <p:cNvSpPr txBox="1"/>
          <p:nvPr/>
        </p:nvSpPr>
        <p:spPr>
          <a:xfrm>
            <a:off x="4538477" y="1031530"/>
            <a:ext cx="1927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Parallel organ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7D17D93-29DD-8EB6-8B04-A271F661C7A5}"/>
              </a:ext>
            </a:extLst>
          </p:cNvPr>
          <p:cNvSpPr txBox="1"/>
          <p:nvPr/>
        </p:nvSpPr>
        <p:spPr>
          <a:xfrm>
            <a:off x="6975426" y="1471194"/>
            <a:ext cx="47745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Any FSU remaining preserves organ function 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noProof="0" dirty="0">
                <a:solidFill>
                  <a:prstClr val="black"/>
                </a:solidFill>
              </a:rPr>
              <a:t>Toxicity induction linked to </a:t>
            </a:r>
            <a:r>
              <a:rPr lang="en-US" sz="1600" b="1" noProof="0" dirty="0">
                <a:solidFill>
                  <a:prstClr val="black"/>
                </a:solidFill>
              </a:rPr>
              <a:t>mean dose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prstClr val="black"/>
                </a:solidFill>
              </a:rPr>
              <a:t>Large volume effect</a:t>
            </a:r>
            <a:endParaRPr lang="en-US" sz="1600" b="1" noProof="0" dirty="0">
              <a:solidFill>
                <a:prstClr val="black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e.g. lung, parotid gland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2E04362-67C9-BD80-50CE-BCB1F8C406B4}"/>
              </a:ext>
            </a:extLst>
          </p:cNvPr>
          <p:cNvSpPr txBox="1"/>
          <p:nvPr/>
        </p:nvSpPr>
        <p:spPr>
          <a:xfrm>
            <a:off x="863689" y="4739092"/>
            <a:ext cx="28142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Volume effect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an organ responds to a damage depending on its tissue architecture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D806D27C-ADC3-B447-B00F-D0DFCDF05DEE}"/>
              </a:ext>
            </a:extLst>
          </p:cNvPr>
          <p:cNvCxnSpPr>
            <a:cxnSpLocks/>
          </p:cNvCxnSpPr>
          <p:nvPr/>
        </p:nvCxnSpPr>
        <p:spPr>
          <a:xfrm flipV="1">
            <a:off x="4082641" y="2173493"/>
            <a:ext cx="353157" cy="92554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3F7B14F9-F34F-8E06-180C-0C94882AE677}"/>
              </a:ext>
            </a:extLst>
          </p:cNvPr>
          <p:cNvCxnSpPr>
            <a:cxnSpLocks/>
          </p:cNvCxnSpPr>
          <p:nvPr/>
        </p:nvCxnSpPr>
        <p:spPr>
          <a:xfrm>
            <a:off x="4082640" y="3809167"/>
            <a:ext cx="353158" cy="87524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23F091F-A53E-A3A5-EFEF-37274EFAB561}"/>
              </a:ext>
            </a:extLst>
          </p:cNvPr>
          <p:cNvSpPr txBox="1"/>
          <p:nvPr/>
        </p:nvSpPr>
        <p:spPr>
          <a:xfrm>
            <a:off x="2920927" y="3101281"/>
            <a:ext cx="2323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Functional sub-units 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FSU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s) arrangement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6C387C2A-3372-0EA8-34D8-04FCD2CDF1AB}"/>
              </a:ext>
            </a:extLst>
          </p:cNvPr>
          <p:cNvSpPr/>
          <p:nvPr/>
        </p:nvSpPr>
        <p:spPr>
          <a:xfrm>
            <a:off x="583646" y="3043425"/>
            <a:ext cx="18215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Tissue architecture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8850E46C-29CD-522E-52A7-FB372996D824}"/>
              </a:ext>
            </a:extLst>
          </p:cNvPr>
          <p:cNvCxnSpPr/>
          <p:nvPr/>
        </p:nvCxnSpPr>
        <p:spPr>
          <a:xfrm>
            <a:off x="2360483" y="3452677"/>
            <a:ext cx="541088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Parentesi graffa chiusa 52">
            <a:extLst>
              <a:ext uri="{FF2B5EF4-FFF2-40B4-BE49-F238E27FC236}">
                <a16:creationId xmlns:a16="http://schemas.microsoft.com/office/drawing/2014/main" id="{108F9E96-1A7F-4DEA-E052-C752A1CB824E}"/>
              </a:ext>
            </a:extLst>
          </p:cNvPr>
          <p:cNvSpPr/>
          <p:nvPr/>
        </p:nvSpPr>
        <p:spPr>
          <a:xfrm rot="10800000">
            <a:off x="6691167" y="1543162"/>
            <a:ext cx="292068" cy="923330"/>
          </a:xfrm>
          <a:prstGeom prst="rightBrac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magine 5" descr="Immagine che contiene diagramma, linea&#10;&#10;Descrizione generata automaticamente">
            <a:extLst>
              <a:ext uri="{FF2B5EF4-FFF2-40B4-BE49-F238E27FC236}">
                <a16:creationId xmlns:a16="http://schemas.microsoft.com/office/drawing/2014/main" id="{D9651423-0D8D-DB6C-6236-08CF3F7ACE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0" t="16539" r="48379" b="66842"/>
          <a:stretch/>
        </p:blipFill>
        <p:spPr>
          <a:xfrm>
            <a:off x="4538477" y="4787138"/>
            <a:ext cx="1994109" cy="518632"/>
          </a:xfrm>
          <a:prstGeom prst="rect">
            <a:avLst/>
          </a:prstGeom>
        </p:spPr>
      </p:pic>
      <p:pic>
        <p:nvPicPr>
          <p:cNvPr id="13" name="Immagine 12" descr="Immagine che contiene diagramma, linea&#10;&#10;Descrizione generata automaticamente">
            <a:extLst>
              <a:ext uri="{FF2B5EF4-FFF2-40B4-BE49-F238E27FC236}">
                <a16:creationId xmlns:a16="http://schemas.microsoft.com/office/drawing/2014/main" id="{656A66ED-F81A-06B7-58DD-4913CCAFF1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4" t="6792" r="5686" b="58616"/>
          <a:stretch/>
        </p:blipFill>
        <p:spPr>
          <a:xfrm>
            <a:off x="4933313" y="1493195"/>
            <a:ext cx="1138292" cy="1023670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E05FC01-CE87-E60E-A763-5FB869765955}"/>
              </a:ext>
            </a:extLst>
          </p:cNvPr>
          <p:cNvSpPr txBox="1"/>
          <p:nvPr/>
        </p:nvSpPr>
        <p:spPr>
          <a:xfrm>
            <a:off x="4735581" y="2488220"/>
            <a:ext cx="508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4D91EF06-8542-37C4-3BC5-E937AE6B5C87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5244566" y="2473799"/>
            <a:ext cx="141288" cy="183698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arentesi graffa chiusa 18">
            <a:extLst>
              <a:ext uri="{FF2B5EF4-FFF2-40B4-BE49-F238E27FC236}">
                <a16:creationId xmlns:a16="http://schemas.microsoft.com/office/drawing/2014/main" id="{1884B8F6-6EB2-D122-66EA-AB0F03EF5B8C}"/>
              </a:ext>
            </a:extLst>
          </p:cNvPr>
          <p:cNvSpPr/>
          <p:nvPr/>
        </p:nvSpPr>
        <p:spPr>
          <a:xfrm rot="10800000">
            <a:off x="6688857" y="4584789"/>
            <a:ext cx="292068" cy="923330"/>
          </a:xfrm>
          <a:prstGeom prst="rightBrac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Croce 38">
            <a:extLst>
              <a:ext uri="{FF2B5EF4-FFF2-40B4-BE49-F238E27FC236}">
                <a16:creationId xmlns:a16="http://schemas.microsoft.com/office/drawing/2014/main" id="{CB5C6142-CA33-974C-B1BA-921F5A632B82}"/>
              </a:ext>
            </a:extLst>
          </p:cNvPr>
          <p:cNvSpPr/>
          <p:nvPr/>
        </p:nvSpPr>
        <p:spPr>
          <a:xfrm rot="2643157">
            <a:off x="5390615" y="1760244"/>
            <a:ext cx="223689" cy="223428"/>
          </a:xfrm>
          <a:prstGeom prst="plus">
            <a:avLst>
              <a:gd name="adj" fmla="val 464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Croce 40">
            <a:extLst>
              <a:ext uri="{FF2B5EF4-FFF2-40B4-BE49-F238E27FC236}">
                <a16:creationId xmlns:a16="http://schemas.microsoft.com/office/drawing/2014/main" id="{D9141B00-8DD6-ADB3-E57B-97856E7FEE2C}"/>
              </a:ext>
            </a:extLst>
          </p:cNvPr>
          <p:cNvSpPr/>
          <p:nvPr/>
        </p:nvSpPr>
        <p:spPr>
          <a:xfrm rot="2643157">
            <a:off x="5390614" y="1504844"/>
            <a:ext cx="223689" cy="223428"/>
          </a:xfrm>
          <a:prstGeom prst="plus">
            <a:avLst>
              <a:gd name="adj" fmla="val 464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Croce 41">
            <a:extLst>
              <a:ext uri="{FF2B5EF4-FFF2-40B4-BE49-F238E27FC236}">
                <a16:creationId xmlns:a16="http://schemas.microsoft.com/office/drawing/2014/main" id="{0B8B76D5-D15E-D471-1C12-9D9507CF2348}"/>
              </a:ext>
            </a:extLst>
          </p:cNvPr>
          <p:cNvSpPr/>
          <p:nvPr/>
        </p:nvSpPr>
        <p:spPr>
          <a:xfrm rot="2643157">
            <a:off x="5390613" y="2024907"/>
            <a:ext cx="223689" cy="223428"/>
          </a:xfrm>
          <a:prstGeom prst="plus">
            <a:avLst>
              <a:gd name="adj" fmla="val 464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Croce 42">
            <a:extLst>
              <a:ext uri="{FF2B5EF4-FFF2-40B4-BE49-F238E27FC236}">
                <a16:creationId xmlns:a16="http://schemas.microsoft.com/office/drawing/2014/main" id="{C5E99739-7092-255B-1DAE-5B709169B3DA}"/>
              </a:ext>
            </a:extLst>
          </p:cNvPr>
          <p:cNvSpPr/>
          <p:nvPr/>
        </p:nvSpPr>
        <p:spPr>
          <a:xfrm rot="2643157">
            <a:off x="4821467" y="4934739"/>
            <a:ext cx="223689" cy="223428"/>
          </a:xfrm>
          <a:prstGeom prst="plus">
            <a:avLst>
              <a:gd name="adj" fmla="val 464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itolo 1">
            <a:extLst>
              <a:ext uri="{FF2B5EF4-FFF2-40B4-BE49-F238E27FC236}">
                <a16:creationId xmlns:a16="http://schemas.microsoft.com/office/drawing/2014/main" id="{8AD3CDE4-55B7-03F7-C8DB-1A25AC9DA5E5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Tissue architecture and volume effect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F462CD5-BC12-121D-3703-E164014D4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1CD6C78-2531-91E0-2B17-481361E6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8" name="Saetta 7">
            <a:extLst>
              <a:ext uri="{FF2B5EF4-FFF2-40B4-BE49-F238E27FC236}">
                <a16:creationId xmlns:a16="http://schemas.microsoft.com/office/drawing/2014/main" id="{0880C512-67B8-7CAC-149C-EAE57E81A803}"/>
              </a:ext>
            </a:extLst>
          </p:cNvPr>
          <p:cNvSpPr/>
          <p:nvPr/>
        </p:nvSpPr>
        <p:spPr>
          <a:xfrm rot="9287334" flipV="1">
            <a:off x="5968522" y="1702113"/>
            <a:ext cx="504665" cy="375051"/>
          </a:xfrm>
          <a:prstGeom prst="lightningBol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aetta 15">
            <a:extLst>
              <a:ext uri="{FF2B5EF4-FFF2-40B4-BE49-F238E27FC236}">
                <a16:creationId xmlns:a16="http://schemas.microsoft.com/office/drawing/2014/main" id="{E7255323-A4E5-EFF0-DACB-881AF9BB3942}"/>
              </a:ext>
            </a:extLst>
          </p:cNvPr>
          <p:cNvSpPr/>
          <p:nvPr/>
        </p:nvSpPr>
        <p:spPr>
          <a:xfrm rot="9287334" flipV="1">
            <a:off x="4931070" y="4408654"/>
            <a:ext cx="504665" cy="375051"/>
          </a:xfrm>
          <a:prstGeom prst="lightningBol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45F0DFE-8342-5DDC-312C-FAFAFF1E0E3A}"/>
              </a:ext>
            </a:extLst>
          </p:cNvPr>
          <p:cNvSpPr/>
          <p:nvPr/>
        </p:nvSpPr>
        <p:spPr>
          <a:xfrm>
            <a:off x="7249849" y="6048573"/>
            <a:ext cx="2800575" cy="5257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sng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M. Battestini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 et al., Front. Oncol. (2022)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P. Kallman et al., Int. J.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Radiat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. Biol. (1992)</a:t>
            </a:r>
          </a:p>
        </p:txBody>
      </p:sp>
      <p:pic>
        <p:nvPicPr>
          <p:cNvPr id="26" name="Immagine 25" descr="Immagine che contiene diagramma, linea&#10;&#10;Descrizione generata automaticamente">
            <a:extLst>
              <a:ext uri="{FF2B5EF4-FFF2-40B4-BE49-F238E27FC236}">
                <a16:creationId xmlns:a16="http://schemas.microsoft.com/office/drawing/2014/main" id="{2470DFEC-B270-021C-1B26-DC83FD43AA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45" t="56945" r="18220" b="8193"/>
          <a:stretch>
            <a:fillRect/>
          </a:stretch>
        </p:blipFill>
        <p:spPr>
          <a:xfrm>
            <a:off x="6222812" y="2993559"/>
            <a:ext cx="1409116" cy="1007914"/>
          </a:xfrm>
          <a:prstGeom prst="rect">
            <a:avLst/>
          </a:prstGeom>
        </p:spPr>
      </p:pic>
      <p:sp>
        <p:nvSpPr>
          <p:cNvPr id="27" name="Croce 26">
            <a:extLst>
              <a:ext uri="{FF2B5EF4-FFF2-40B4-BE49-F238E27FC236}">
                <a16:creationId xmlns:a16="http://schemas.microsoft.com/office/drawing/2014/main" id="{2B688396-0DCB-3302-5AB5-D359BF16C359}"/>
              </a:ext>
            </a:extLst>
          </p:cNvPr>
          <p:cNvSpPr/>
          <p:nvPr/>
        </p:nvSpPr>
        <p:spPr>
          <a:xfrm rot="2643157">
            <a:off x="6583988" y="3034772"/>
            <a:ext cx="223689" cy="223428"/>
          </a:xfrm>
          <a:prstGeom prst="plus">
            <a:avLst>
              <a:gd name="adj" fmla="val 464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aetta 27">
            <a:extLst>
              <a:ext uri="{FF2B5EF4-FFF2-40B4-BE49-F238E27FC236}">
                <a16:creationId xmlns:a16="http://schemas.microsoft.com/office/drawing/2014/main" id="{2EAA9BDA-7772-4EB8-D6D2-1A441C4BEEB6}"/>
              </a:ext>
            </a:extLst>
          </p:cNvPr>
          <p:cNvSpPr/>
          <p:nvPr/>
        </p:nvSpPr>
        <p:spPr>
          <a:xfrm rot="9287334" flipV="1">
            <a:off x="6530466" y="2538929"/>
            <a:ext cx="504665" cy="375051"/>
          </a:xfrm>
          <a:prstGeom prst="lightningBol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12E14F3D-3C4C-F25E-1846-D23F514220C3}"/>
              </a:ext>
            </a:extLst>
          </p:cNvPr>
          <p:cNvCxnSpPr>
            <a:cxnSpLocks/>
          </p:cNvCxnSpPr>
          <p:nvPr/>
        </p:nvCxnSpPr>
        <p:spPr>
          <a:xfrm flipV="1">
            <a:off x="5208817" y="3496622"/>
            <a:ext cx="862788" cy="894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08B380D3-1363-8EE2-4C7C-8BEDD5620E3C}"/>
              </a:ext>
            </a:extLst>
          </p:cNvPr>
          <p:cNvSpPr txBox="1"/>
          <p:nvPr/>
        </p:nvSpPr>
        <p:spPr>
          <a:xfrm>
            <a:off x="8269071" y="3315444"/>
            <a:ext cx="24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realistic scenario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A5413724-8330-0DD1-BEE5-6F6ADA8920F6}"/>
              </a:ext>
            </a:extLst>
          </p:cNvPr>
          <p:cNvCxnSpPr>
            <a:cxnSpLocks/>
          </p:cNvCxnSpPr>
          <p:nvPr/>
        </p:nvCxnSpPr>
        <p:spPr>
          <a:xfrm>
            <a:off x="7747599" y="3497516"/>
            <a:ext cx="405801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magine 21">
            <a:extLst>
              <a:ext uri="{FF2B5EF4-FFF2-40B4-BE49-F238E27FC236}">
                <a16:creationId xmlns:a16="http://schemas.microsoft.com/office/drawing/2014/main" id="{C294088C-9363-C5D7-0FBA-D091CFE082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6938" y="4168939"/>
            <a:ext cx="381318" cy="1747905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E1A324D2-7AD6-3165-2CDA-A3E70B738C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7742" y="1458501"/>
            <a:ext cx="939711" cy="108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5" grpId="0"/>
      <p:bldP spid="7" grpId="0"/>
      <p:bldP spid="9" grpId="0"/>
      <p:bldP spid="10" grpId="0"/>
      <p:bldP spid="14" grpId="0"/>
      <p:bldP spid="53" grpId="0" animBg="1"/>
      <p:bldP spid="33" grpId="0"/>
      <p:bldP spid="19" grpId="0" animBg="1"/>
      <p:bldP spid="39" grpId="0" animBg="1"/>
      <p:bldP spid="41" grpId="0" animBg="1"/>
      <p:bldP spid="42" grpId="0" animBg="1"/>
      <p:bldP spid="43" grpId="0" animBg="1"/>
      <p:bldP spid="8" grpId="0" animBg="1"/>
      <p:bldP spid="16" grpId="0" animBg="1"/>
      <p:bldP spid="27" grpId="0" animBg="1"/>
      <p:bldP spid="28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72BB4-ADB3-42EA-9CA1-D3581131D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igura a mano libera: forma 20">
            <a:extLst>
              <a:ext uri="{FF2B5EF4-FFF2-40B4-BE49-F238E27FC236}">
                <a16:creationId xmlns:a16="http://schemas.microsoft.com/office/drawing/2014/main" id="{B997FFB4-6800-7B76-115E-397D9F2EA7AA}"/>
              </a:ext>
            </a:extLst>
          </p:cNvPr>
          <p:cNvSpPr/>
          <p:nvPr/>
        </p:nvSpPr>
        <p:spPr>
          <a:xfrm>
            <a:off x="9046478" y="2320263"/>
            <a:ext cx="2792850" cy="2196195"/>
          </a:xfrm>
          <a:custGeom>
            <a:avLst/>
            <a:gdLst>
              <a:gd name="connsiteX0" fmla="*/ 0 w 1487033"/>
              <a:gd name="connsiteY0" fmla="*/ 118963 h 1189626"/>
              <a:gd name="connsiteX1" fmla="*/ 118963 w 1487033"/>
              <a:gd name="connsiteY1" fmla="*/ 0 h 1189626"/>
              <a:gd name="connsiteX2" fmla="*/ 1368070 w 1487033"/>
              <a:gd name="connsiteY2" fmla="*/ 0 h 1189626"/>
              <a:gd name="connsiteX3" fmla="*/ 1487033 w 1487033"/>
              <a:gd name="connsiteY3" fmla="*/ 118963 h 1189626"/>
              <a:gd name="connsiteX4" fmla="*/ 1487033 w 1487033"/>
              <a:gd name="connsiteY4" fmla="*/ 1070663 h 1189626"/>
              <a:gd name="connsiteX5" fmla="*/ 1368070 w 1487033"/>
              <a:gd name="connsiteY5" fmla="*/ 1189626 h 1189626"/>
              <a:gd name="connsiteX6" fmla="*/ 118963 w 1487033"/>
              <a:gd name="connsiteY6" fmla="*/ 1189626 h 1189626"/>
              <a:gd name="connsiteX7" fmla="*/ 0 w 1487033"/>
              <a:gd name="connsiteY7" fmla="*/ 1070663 h 1189626"/>
              <a:gd name="connsiteX8" fmla="*/ 0 w 1487033"/>
              <a:gd name="connsiteY8" fmla="*/ 118963 h 118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7033" h="1189626">
                <a:moveTo>
                  <a:pt x="0" y="118963"/>
                </a:moveTo>
                <a:cubicBezTo>
                  <a:pt x="0" y="53262"/>
                  <a:pt x="53262" y="0"/>
                  <a:pt x="118963" y="0"/>
                </a:cubicBezTo>
                <a:lnTo>
                  <a:pt x="1368070" y="0"/>
                </a:lnTo>
                <a:cubicBezTo>
                  <a:pt x="1433771" y="0"/>
                  <a:pt x="1487033" y="53262"/>
                  <a:pt x="1487033" y="118963"/>
                </a:cubicBezTo>
                <a:lnTo>
                  <a:pt x="1487033" y="1070663"/>
                </a:lnTo>
                <a:cubicBezTo>
                  <a:pt x="1487033" y="1136364"/>
                  <a:pt x="1433771" y="1189626"/>
                  <a:pt x="1368070" y="1189626"/>
                </a:cubicBezTo>
                <a:lnTo>
                  <a:pt x="118963" y="1189626"/>
                </a:lnTo>
                <a:cubicBezTo>
                  <a:pt x="53262" y="1189626"/>
                  <a:pt x="0" y="1136364"/>
                  <a:pt x="0" y="1070663"/>
                </a:cubicBezTo>
                <a:lnTo>
                  <a:pt x="0" y="118963"/>
                </a:lnTo>
                <a:close/>
              </a:path>
            </a:pathLst>
          </a:custGeom>
          <a:ln w="28575">
            <a:prstDash val="sysDot"/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753" tIns="76753" rIns="76753" bIns="76753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kern="1200" noProof="0" dirty="0"/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noProof="0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85956734-EC14-B69E-C1F0-B7DFCC32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D6A94-FE70-45EA-859B-A205DD54D9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364AC02-C960-BCC5-F8A2-3B66BADBB460}"/>
              </a:ext>
            </a:extLst>
          </p:cNvPr>
          <p:cNvSpPr txBox="1"/>
          <p:nvPr/>
        </p:nvSpPr>
        <p:spPr>
          <a:xfrm>
            <a:off x="4687799" y="5175797"/>
            <a:ext cx="1695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 organ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D22FB61-0152-F2D5-FB65-8BA1FC4B3F6F}"/>
              </a:ext>
            </a:extLst>
          </p:cNvPr>
          <p:cNvSpPr txBox="1"/>
          <p:nvPr/>
        </p:nvSpPr>
        <p:spPr>
          <a:xfrm>
            <a:off x="4538477" y="1031530"/>
            <a:ext cx="1927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Parallel organ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262055BF-982B-9334-6B6B-D41352D7A6AB}"/>
              </a:ext>
            </a:extLst>
          </p:cNvPr>
          <p:cNvCxnSpPr>
            <a:cxnSpLocks/>
          </p:cNvCxnSpPr>
          <p:nvPr/>
        </p:nvCxnSpPr>
        <p:spPr>
          <a:xfrm flipV="1">
            <a:off x="4082641" y="2173493"/>
            <a:ext cx="353157" cy="92554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A2F0B319-EE23-7787-1158-35BEA0E384B7}"/>
              </a:ext>
            </a:extLst>
          </p:cNvPr>
          <p:cNvCxnSpPr>
            <a:cxnSpLocks/>
          </p:cNvCxnSpPr>
          <p:nvPr/>
        </p:nvCxnSpPr>
        <p:spPr>
          <a:xfrm>
            <a:off x="4082640" y="3809167"/>
            <a:ext cx="353158" cy="87524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DAC7F4D-9842-D736-DC6C-311B3F16CF7B}"/>
              </a:ext>
            </a:extLst>
          </p:cNvPr>
          <p:cNvSpPr txBox="1"/>
          <p:nvPr/>
        </p:nvSpPr>
        <p:spPr>
          <a:xfrm>
            <a:off x="2920927" y="3101281"/>
            <a:ext cx="2323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Functional sub-units 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FSU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s) arrangement</a:t>
            </a:r>
          </a:p>
        </p:txBody>
      </p:sp>
      <p:pic>
        <p:nvPicPr>
          <p:cNvPr id="6" name="Immagine 5" descr="Immagine che contiene diagramma, linea&#10;&#10;Descrizione generata automaticamente">
            <a:extLst>
              <a:ext uri="{FF2B5EF4-FFF2-40B4-BE49-F238E27FC236}">
                <a16:creationId xmlns:a16="http://schemas.microsoft.com/office/drawing/2014/main" id="{1465AEDA-8FE4-EEC6-8AFF-2D7F68BC6E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0" t="16539" r="48379" b="66842"/>
          <a:stretch/>
        </p:blipFill>
        <p:spPr>
          <a:xfrm>
            <a:off x="4538477" y="4787138"/>
            <a:ext cx="1994109" cy="518632"/>
          </a:xfrm>
          <a:prstGeom prst="rect">
            <a:avLst/>
          </a:prstGeom>
        </p:spPr>
      </p:pic>
      <p:pic>
        <p:nvPicPr>
          <p:cNvPr id="13" name="Immagine 12" descr="Immagine che contiene diagramma, linea&#10;&#10;Descrizione generata automaticamente">
            <a:extLst>
              <a:ext uri="{FF2B5EF4-FFF2-40B4-BE49-F238E27FC236}">
                <a16:creationId xmlns:a16="http://schemas.microsoft.com/office/drawing/2014/main" id="{017D112C-5D82-8EE4-A0D0-262FCE8CE1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84" t="6792" r="5686" b="58616"/>
          <a:stretch/>
        </p:blipFill>
        <p:spPr>
          <a:xfrm>
            <a:off x="4933313" y="1493195"/>
            <a:ext cx="1138292" cy="1023670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A1457DC3-AE28-478C-7847-373FE16CD737}"/>
              </a:ext>
            </a:extLst>
          </p:cNvPr>
          <p:cNvSpPr txBox="1"/>
          <p:nvPr/>
        </p:nvSpPr>
        <p:spPr>
          <a:xfrm>
            <a:off x="4735581" y="2488220"/>
            <a:ext cx="508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47423191-750F-C2ED-9D48-2B6429D27E61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5244566" y="2473799"/>
            <a:ext cx="141288" cy="183698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roce 38">
            <a:extLst>
              <a:ext uri="{FF2B5EF4-FFF2-40B4-BE49-F238E27FC236}">
                <a16:creationId xmlns:a16="http://schemas.microsoft.com/office/drawing/2014/main" id="{40924532-9D7C-6387-5DAD-2328A70BAE47}"/>
              </a:ext>
            </a:extLst>
          </p:cNvPr>
          <p:cNvSpPr/>
          <p:nvPr/>
        </p:nvSpPr>
        <p:spPr>
          <a:xfrm rot="2643157">
            <a:off x="5390615" y="1760244"/>
            <a:ext cx="223689" cy="223428"/>
          </a:xfrm>
          <a:prstGeom prst="plus">
            <a:avLst>
              <a:gd name="adj" fmla="val 464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Croce 40">
            <a:extLst>
              <a:ext uri="{FF2B5EF4-FFF2-40B4-BE49-F238E27FC236}">
                <a16:creationId xmlns:a16="http://schemas.microsoft.com/office/drawing/2014/main" id="{FFF2B3F9-713D-AB06-7A1D-6E276596675F}"/>
              </a:ext>
            </a:extLst>
          </p:cNvPr>
          <p:cNvSpPr/>
          <p:nvPr/>
        </p:nvSpPr>
        <p:spPr>
          <a:xfrm rot="2643157">
            <a:off x="5390614" y="1504844"/>
            <a:ext cx="223689" cy="223428"/>
          </a:xfrm>
          <a:prstGeom prst="plus">
            <a:avLst>
              <a:gd name="adj" fmla="val 464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Croce 41">
            <a:extLst>
              <a:ext uri="{FF2B5EF4-FFF2-40B4-BE49-F238E27FC236}">
                <a16:creationId xmlns:a16="http://schemas.microsoft.com/office/drawing/2014/main" id="{DA9D2ECF-73FD-35A7-7479-8E3D53731070}"/>
              </a:ext>
            </a:extLst>
          </p:cNvPr>
          <p:cNvSpPr/>
          <p:nvPr/>
        </p:nvSpPr>
        <p:spPr>
          <a:xfrm rot="2643157">
            <a:off x="5390613" y="2024907"/>
            <a:ext cx="223689" cy="223428"/>
          </a:xfrm>
          <a:prstGeom prst="plus">
            <a:avLst>
              <a:gd name="adj" fmla="val 464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Croce 42">
            <a:extLst>
              <a:ext uri="{FF2B5EF4-FFF2-40B4-BE49-F238E27FC236}">
                <a16:creationId xmlns:a16="http://schemas.microsoft.com/office/drawing/2014/main" id="{3A040E47-BE8A-84A7-6452-E29D4367398A}"/>
              </a:ext>
            </a:extLst>
          </p:cNvPr>
          <p:cNvSpPr/>
          <p:nvPr/>
        </p:nvSpPr>
        <p:spPr>
          <a:xfrm rot="2643157">
            <a:off x="4821467" y="4934739"/>
            <a:ext cx="223689" cy="223428"/>
          </a:xfrm>
          <a:prstGeom prst="plus">
            <a:avLst>
              <a:gd name="adj" fmla="val 464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itolo 1">
            <a:extLst>
              <a:ext uri="{FF2B5EF4-FFF2-40B4-BE49-F238E27FC236}">
                <a16:creationId xmlns:a16="http://schemas.microsoft.com/office/drawing/2014/main" id="{DFCC4B61-4C7C-1BEB-61C1-CFE3FDC44EE8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Mechanistic NTCP: the Relative Seriality model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7C212E1-72D7-2C7C-78FC-40BF5A71F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33F2A78-9B0B-9897-3E5E-D3029E891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8" name="Saetta 7">
            <a:extLst>
              <a:ext uri="{FF2B5EF4-FFF2-40B4-BE49-F238E27FC236}">
                <a16:creationId xmlns:a16="http://schemas.microsoft.com/office/drawing/2014/main" id="{D4D97F7B-0A27-4338-86AD-F7B236083F73}"/>
              </a:ext>
            </a:extLst>
          </p:cNvPr>
          <p:cNvSpPr/>
          <p:nvPr/>
        </p:nvSpPr>
        <p:spPr>
          <a:xfrm rot="9287334" flipV="1">
            <a:off x="5968522" y="1702113"/>
            <a:ext cx="504665" cy="375051"/>
          </a:xfrm>
          <a:prstGeom prst="lightningBol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aetta 15">
            <a:extLst>
              <a:ext uri="{FF2B5EF4-FFF2-40B4-BE49-F238E27FC236}">
                <a16:creationId xmlns:a16="http://schemas.microsoft.com/office/drawing/2014/main" id="{C56AA890-C6EB-A498-3C43-E14903636EA1}"/>
              </a:ext>
            </a:extLst>
          </p:cNvPr>
          <p:cNvSpPr/>
          <p:nvPr/>
        </p:nvSpPr>
        <p:spPr>
          <a:xfrm rot="9287334" flipV="1">
            <a:off x="4931070" y="4408654"/>
            <a:ext cx="504665" cy="375051"/>
          </a:xfrm>
          <a:prstGeom prst="lightningBol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DEF9364-5662-2F2E-1BD9-3403F1C89D15}"/>
              </a:ext>
            </a:extLst>
          </p:cNvPr>
          <p:cNvSpPr/>
          <p:nvPr/>
        </p:nvSpPr>
        <p:spPr>
          <a:xfrm>
            <a:off x="6106553" y="3415872"/>
            <a:ext cx="1576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P. Kallman et al., Int. J.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Radiat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. Biol. (1992)</a:t>
            </a:r>
          </a:p>
        </p:txBody>
      </p:sp>
      <p:sp>
        <p:nvSpPr>
          <p:cNvPr id="25" name="Parentesi graffa chiusa 24">
            <a:extLst>
              <a:ext uri="{FF2B5EF4-FFF2-40B4-BE49-F238E27FC236}">
                <a16:creationId xmlns:a16="http://schemas.microsoft.com/office/drawing/2014/main" id="{39D3365E-F66D-20D0-B37A-DBE56B94C4DB}"/>
              </a:ext>
            </a:extLst>
          </p:cNvPr>
          <p:cNvSpPr/>
          <p:nvPr/>
        </p:nvSpPr>
        <p:spPr>
          <a:xfrm rot="10800000">
            <a:off x="5384955" y="2993559"/>
            <a:ext cx="292068" cy="923330"/>
          </a:xfrm>
          <a:prstGeom prst="rightBrac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ED5F343-0DC6-B85B-9B7E-F5E316EF9FC4}"/>
              </a:ext>
            </a:extLst>
          </p:cNvPr>
          <p:cNvSpPr txBox="1"/>
          <p:nvPr/>
        </p:nvSpPr>
        <p:spPr>
          <a:xfrm>
            <a:off x="5553421" y="3007938"/>
            <a:ext cx="2676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Poisson statistical model</a:t>
            </a:r>
          </a:p>
        </p:txBody>
      </p:sp>
      <p:sp>
        <p:nvSpPr>
          <p:cNvPr id="3" name="Segno di moltiplicazione 2">
            <a:extLst>
              <a:ext uri="{FF2B5EF4-FFF2-40B4-BE49-F238E27FC236}">
                <a16:creationId xmlns:a16="http://schemas.microsoft.com/office/drawing/2014/main" id="{EA81CC94-A4AC-00BD-FDA5-5F920E79C900}"/>
              </a:ext>
            </a:extLst>
          </p:cNvPr>
          <p:cNvSpPr/>
          <p:nvPr/>
        </p:nvSpPr>
        <p:spPr>
          <a:xfrm>
            <a:off x="5333051" y="2847047"/>
            <a:ext cx="3108811" cy="1216354"/>
          </a:xfrm>
          <a:prstGeom prst="mathMultiply">
            <a:avLst>
              <a:gd name="adj1" fmla="val 4520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854BBB-0C8D-0BA8-DE19-D74E181CEBA2}"/>
              </a:ext>
            </a:extLst>
          </p:cNvPr>
          <p:cNvSpPr txBox="1"/>
          <p:nvPr/>
        </p:nvSpPr>
        <p:spPr>
          <a:xfrm>
            <a:off x="9065032" y="3290643"/>
            <a:ext cx="2743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  <a:latin typeface="Calibri" panose="020F0502020204030204"/>
              </a:rPr>
              <a:t>Physical and biological </a:t>
            </a:r>
            <a:r>
              <a:rPr lang="en-US" b="1" u="sng" noProof="0" dirty="0" err="1">
                <a:solidFill>
                  <a:srgbClr val="C00000"/>
                </a:solidFill>
                <a:latin typeface="Calibri" panose="020F0502020204030204"/>
              </a:rPr>
              <a:t>stochasticities</a:t>
            </a:r>
            <a:r>
              <a:rPr lang="en-US" noProof="0" dirty="0">
                <a:solidFill>
                  <a:srgbClr val="C00000"/>
                </a:solidFill>
                <a:latin typeface="Calibri" panose="020F0502020204030204"/>
              </a:rPr>
              <a:t> and bio-chemical </a:t>
            </a:r>
            <a:r>
              <a:rPr lang="en-US" noProof="0" dirty="0">
                <a:solidFill>
                  <a:srgbClr val="C00000"/>
                </a:solidFill>
              </a:rPr>
              <a:t>environmental</a:t>
            </a:r>
            <a:r>
              <a:rPr lang="en-US" noProof="0" dirty="0">
                <a:solidFill>
                  <a:srgbClr val="C00000"/>
                </a:solidFill>
                <a:latin typeface="Calibri" panose="020F0502020204030204"/>
              </a:rPr>
              <a:t> </a:t>
            </a:r>
            <a:r>
              <a:rPr lang="en-US" b="1" u="sng" noProof="0" dirty="0">
                <a:solidFill>
                  <a:srgbClr val="C00000"/>
                </a:solidFill>
                <a:latin typeface="Calibri" panose="020F0502020204030204"/>
              </a:rPr>
              <a:t>heterogeneities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BEF3418-7DE5-ED52-FF5A-B73EFF0A5A91}"/>
              </a:ext>
            </a:extLst>
          </p:cNvPr>
          <p:cNvSpPr/>
          <p:nvPr/>
        </p:nvSpPr>
        <p:spPr>
          <a:xfrm>
            <a:off x="583646" y="3043425"/>
            <a:ext cx="18215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Tissue architecture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E69024D3-6D88-91FB-D4C2-3DAF93552DC6}"/>
              </a:ext>
            </a:extLst>
          </p:cNvPr>
          <p:cNvCxnSpPr/>
          <p:nvPr/>
        </p:nvCxnSpPr>
        <p:spPr>
          <a:xfrm>
            <a:off x="2360483" y="3452677"/>
            <a:ext cx="541088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magine 19">
            <a:extLst>
              <a:ext uri="{FF2B5EF4-FFF2-40B4-BE49-F238E27FC236}">
                <a16:creationId xmlns:a16="http://schemas.microsoft.com/office/drawing/2014/main" id="{9F91FDB6-DA9B-5643-534F-3E7F64068E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329" y="2464963"/>
            <a:ext cx="2358606" cy="750037"/>
          </a:xfrm>
          <a:prstGeom prst="rect">
            <a:avLst/>
          </a:prstGeom>
        </p:spPr>
      </p:pic>
      <p:sp>
        <p:nvSpPr>
          <p:cNvPr id="22" name="Freccia a sinistra 21">
            <a:extLst>
              <a:ext uri="{FF2B5EF4-FFF2-40B4-BE49-F238E27FC236}">
                <a16:creationId xmlns:a16="http://schemas.microsoft.com/office/drawing/2014/main" id="{C31D8FF3-75E7-4C5F-26AF-09826433A039}"/>
              </a:ext>
            </a:extLst>
          </p:cNvPr>
          <p:cNvSpPr/>
          <p:nvPr/>
        </p:nvSpPr>
        <p:spPr>
          <a:xfrm rot="10800000">
            <a:off x="8288156" y="3226054"/>
            <a:ext cx="641897" cy="403836"/>
          </a:xfrm>
          <a:prstGeom prst="leftArrow">
            <a:avLst>
              <a:gd name="adj1" fmla="val 60000"/>
              <a:gd name="adj2" fmla="val 50000"/>
            </a:avLst>
          </a:prstGeom>
          <a:solidFill>
            <a:srgbClr val="5B9BD5">
              <a:lumMod val="75000"/>
            </a:srgbClr>
          </a:solidFill>
          <a:ln>
            <a:noFill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92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8" grpId="0"/>
      <p:bldP spid="25" grpId="0" animBg="1"/>
      <p:bldP spid="27" grpId="0"/>
      <p:bldP spid="3" grpId="0" animBg="1"/>
      <p:bldP spid="14" grpId="0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9A344-15FB-0915-809B-429EBF6DD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igura a mano libera: forma 78">
            <a:extLst>
              <a:ext uri="{FF2B5EF4-FFF2-40B4-BE49-F238E27FC236}">
                <a16:creationId xmlns:a16="http://schemas.microsoft.com/office/drawing/2014/main" id="{FCC2BB60-B20F-F828-DC26-C896629A7D0A}"/>
              </a:ext>
            </a:extLst>
          </p:cNvPr>
          <p:cNvSpPr/>
          <p:nvPr/>
        </p:nvSpPr>
        <p:spPr>
          <a:xfrm>
            <a:off x="2552523" y="930251"/>
            <a:ext cx="9029876" cy="5426099"/>
          </a:xfrm>
          <a:custGeom>
            <a:avLst/>
            <a:gdLst>
              <a:gd name="connsiteX0" fmla="*/ 0 w 1487033"/>
              <a:gd name="connsiteY0" fmla="*/ 118963 h 1189626"/>
              <a:gd name="connsiteX1" fmla="*/ 118963 w 1487033"/>
              <a:gd name="connsiteY1" fmla="*/ 0 h 1189626"/>
              <a:gd name="connsiteX2" fmla="*/ 1368070 w 1487033"/>
              <a:gd name="connsiteY2" fmla="*/ 0 h 1189626"/>
              <a:gd name="connsiteX3" fmla="*/ 1487033 w 1487033"/>
              <a:gd name="connsiteY3" fmla="*/ 118963 h 1189626"/>
              <a:gd name="connsiteX4" fmla="*/ 1487033 w 1487033"/>
              <a:gd name="connsiteY4" fmla="*/ 1070663 h 1189626"/>
              <a:gd name="connsiteX5" fmla="*/ 1368070 w 1487033"/>
              <a:gd name="connsiteY5" fmla="*/ 1189626 h 1189626"/>
              <a:gd name="connsiteX6" fmla="*/ 118963 w 1487033"/>
              <a:gd name="connsiteY6" fmla="*/ 1189626 h 1189626"/>
              <a:gd name="connsiteX7" fmla="*/ 0 w 1487033"/>
              <a:gd name="connsiteY7" fmla="*/ 1070663 h 1189626"/>
              <a:gd name="connsiteX8" fmla="*/ 0 w 1487033"/>
              <a:gd name="connsiteY8" fmla="*/ 118963 h 118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7033" h="1189626">
                <a:moveTo>
                  <a:pt x="0" y="118963"/>
                </a:moveTo>
                <a:cubicBezTo>
                  <a:pt x="0" y="53262"/>
                  <a:pt x="53262" y="0"/>
                  <a:pt x="118963" y="0"/>
                </a:cubicBezTo>
                <a:lnTo>
                  <a:pt x="1368070" y="0"/>
                </a:lnTo>
                <a:cubicBezTo>
                  <a:pt x="1433771" y="0"/>
                  <a:pt x="1487033" y="53262"/>
                  <a:pt x="1487033" y="118963"/>
                </a:cubicBezTo>
                <a:lnTo>
                  <a:pt x="1487033" y="1070663"/>
                </a:lnTo>
                <a:cubicBezTo>
                  <a:pt x="1487033" y="1136364"/>
                  <a:pt x="1433771" y="1189626"/>
                  <a:pt x="1368070" y="1189626"/>
                </a:cubicBezTo>
                <a:lnTo>
                  <a:pt x="118963" y="1189626"/>
                </a:lnTo>
                <a:cubicBezTo>
                  <a:pt x="53262" y="1189626"/>
                  <a:pt x="0" y="1136364"/>
                  <a:pt x="0" y="1070663"/>
                </a:cubicBezTo>
                <a:lnTo>
                  <a:pt x="0" y="118963"/>
                </a:lnTo>
                <a:close/>
              </a:path>
            </a:pathLst>
          </a:custGeom>
          <a:ln w="28575">
            <a:prstDash val="sysDot"/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753" tIns="76753" rIns="76753" bIns="76753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kern="1200" noProof="0" dirty="0"/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noProof="0" dirty="0"/>
          </a:p>
        </p:txBody>
      </p:sp>
      <p:sp>
        <p:nvSpPr>
          <p:cNvPr id="5" name="Segnaposto data 1">
            <a:extLst>
              <a:ext uri="{FF2B5EF4-FFF2-40B4-BE49-F238E27FC236}">
                <a16:creationId xmlns:a16="http://schemas.microsoft.com/office/drawing/2014/main" id="{350E04BA-A099-D1DE-5F65-AE3EC4D9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9B6B495-B71B-18D0-1603-33D9C5EEA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31D63F-A50C-B134-6F30-CA0E1FBF8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D26BA2A2-E6B4-8791-0F15-4C17912884D1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Radiation-induced skin toxicity</a:t>
            </a:r>
          </a:p>
        </p:txBody>
      </p:sp>
      <p:pic>
        <p:nvPicPr>
          <p:cNvPr id="57" name="Immagine 56">
            <a:extLst>
              <a:ext uri="{FF2B5EF4-FFF2-40B4-BE49-F238E27FC236}">
                <a16:creationId xmlns:a16="http://schemas.microsoft.com/office/drawing/2014/main" id="{AE7D34A2-BA51-E9A0-B0DB-87D1765AB7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29" b="6283"/>
          <a:stretch/>
        </p:blipFill>
        <p:spPr>
          <a:xfrm>
            <a:off x="2587172" y="2058438"/>
            <a:ext cx="5970679" cy="3873127"/>
          </a:xfrm>
          <a:prstGeom prst="rect">
            <a:avLst/>
          </a:prstGeom>
        </p:spPr>
      </p:pic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624C264E-5E67-D11F-9EF9-2BE504B67B8B}"/>
              </a:ext>
            </a:extLst>
          </p:cNvPr>
          <p:cNvSpPr txBox="1"/>
          <p:nvPr/>
        </p:nvSpPr>
        <p:spPr>
          <a:xfrm>
            <a:off x="3090040" y="5932221"/>
            <a:ext cx="2636179" cy="2778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i="1">
                <a:solidFill>
                  <a:srgbClr val="44546A">
                    <a:lumMod val="10000"/>
                  </a:srgbClr>
                </a:solidFill>
                <a:latin typeface="Calibri-Italic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Rübe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 et al., Int</a:t>
            </a:r>
            <a:r>
              <a:rPr lang="en-US" sz="1200" noProof="0" dirty="0"/>
              <a:t>.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 J. Mol. Sci. (2024)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B094E29-0EA7-FF61-F71F-BCA153F1A061}"/>
              </a:ext>
            </a:extLst>
          </p:cNvPr>
          <p:cNvSpPr txBox="1"/>
          <p:nvPr/>
        </p:nvSpPr>
        <p:spPr>
          <a:xfrm>
            <a:off x="4187724" y="4984626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/>
              <a:t>Hypodermis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2D66F19-FBAF-865D-462C-57EFFD3B682B}"/>
              </a:ext>
            </a:extLst>
          </p:cNvPr>
          <p:cNvSpPr txBox="1"/>
          <p:nvPr/>
        </p:nvSpPr>
        <p:spPr>
          <a:xfrm>
            <a:off x="4187724" y="4638771"/>
            <a:ext cx="5533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/>
              <a:t>Dermis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93EB8EC-5211-139F-90F9-2C8326124694}"/>
              </a:ext>
            </a:extLst>
          </p:cNvPr>
          <p:cNvSpPr txBox="1"/>
          <p:nvPr/>
        </p:nvSpPr>
        <p:spPr>
          <a:xfrm>
            <a:off x="4187724" y="4316827"/>
            <a:ext cx="70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/>
              <a:t>Epidermis</a:t>
            </a:r>
          </a:p>
        </p:txBody>
      </p:sp>
      <p:sp>
        <p:nvSpPr>
          <p:cNvPr id="67" name="Parentesi graffa chiusa 66">
            <a:extLst>
              <a:ext uri="{FF2B5EF4-FFF2-40B4-BE49-F238E27FC236}">
                <a16:creationId xmlns:a16="http://schemas.microsoft.com/office/drawing/2014/main" id="{2DB83B13-32A3-519C-0A46-C9590965977E}"/>
              </a:ext>
            </a:extLst>
          </p:cNvPr>
          <p:cNvSpPr/>
          <p:nvPr/>
        </p:nvSpPr>
        <p:spPr>
          <a:xfrm>
            <a:off x="4145513" y="4361855"/>
            <a:ext cx="103695" cy="167927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8" name="Parentesi graffa chiusa 67">
            <a:extLst>
              <a:ext uri="{FF2B5EF4-FFF2-40B4-BE49-F238E27FC236}">
                <a16:creationId xmlns:a16="http://schemas.microsoft.com/office/drawing/2014/main" id="{2E776ED8-8E3C-1A52-1B45-A00405C14743}"/>
              </a:ext>
            </a:extLst>
          </p:cNvPr>
          <p:cNvSpPr/>
          <p:nvPr/>
        </p:nvSpPr>
        <p:spPr>
          <a:xfrm>
            <a:off x="4145512" y="4528622"/>
            <a:ext cx="103695" cy="473499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9" name="Parentesi graffa chiusa 68">
            <a:extLst>
              <a:ext uri="{FF2B5EF4-FFF2-40B4-BE49-F238E27FC236}">
                <a16:creationId xmlns:a16="http://schemas.microsoft.com/office/drawing/2014/main" id="{A620670C-DC42-E639-88CA-96EF75A00CF3}"/>
              </a:ext>
            </a:extLst>
          </p:cNvPr>
          <p:cNvSpPr/>
          <p:nvPr/>
        </p:nvSpPr>
        <p:spPr>
          <a:xfrm>
            <a:off x="4145511" y="5006606"/>
            <a:ext cx="103695" cy="207310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Figura a mano libera: forma 3">
            <a:extLst>
              <a:ext uri="{FF2B5EF4-FFF2-40B4-BE49-F238E27FC236}">
                <a16:creationId xmlns:a16="http://schemas.microsoft.com/office/drawing/2014/main" id="{15F18027-85AA-7D36-BEC2-CCEB1BA59DE5}"/>
              </a:ext>
            </a:extLst>
          </p:cNvPr>
          <p:cNvSpPr/>
          <p:nvPr/>
        </p:nvSpPr>
        <p:spPr>
          <a:xfrm>
            <a:off x="617306" y="3244244"/>
            <a:ext cx="1390650" cy="931250"/>
          </a:xfrm>
          <a:custGeom>
            <a:avLst/>
            <a:gdLst>
              <a:gd name="connsiteX0" fmla="*/ 0 w 1524190"/>
              <a:gd name="connsiteY0" fmla="*/ 121935 h 1219352"/>
              <a:gd name="connsiteX1" fmla="*/ 121935 w 1524190"/>
              <a:gd name="connsiteY1" fmla="*/ 0 h 1219352"/>
              <a:gd name="connsiteX2" fmla="*/ 1402255 w 1524190"/>
              <a:gd name="connsiteY2" fmla="*/ 0 h 1219352"/>
              <a:gd name="connsiteX3" fmla="*/ 1524190 w 1524190"/>
              <a:gd name="connsiteY3" fmla="*/ 121935 h 1219352"/>
              <a:gd name="connsiteX4" fmla="*/ 1524190 w 1524190"/>
              <a:gd name="connsiteY4" fmla="*/ 1097417 h 1219352"/>
              <a:gd name="connsiteX5" fmla="*/ 1402255 w 1524190"/>
              <a:gd name="connsiteY5" fmla="*/ 1219352 h 1219352"/>
              <a:gd name="connsiteX6" fmla="*/ 121935 w 1524190"/>
              <a:gd name="connsiteY6" fmla="*/ 1219352 h 1219352"/>
              <a:gd name="connsiteX7" fmla="*/ 0 w 1524190"/>
              <a:gd name="connsiteY7" fmla="*/ 1097417 h 1219352"/>
              <a:gd name="connsiteX8" fmla="*/ 0 w 1524190"/>
              <a:gd name="connsiteY8" fmla="*/ 121935 h 121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190" h="1219352">
                <a:moveTo>
                  <a:pt x="0" y="121935"/>
                </a:moveTo>
                <a:cubicBezTo>
                  <a:pt x="0" y="54592"/>
                  <a:pt x="54592" y="0"/>
                  <a:pt x="121935" y="0"/>
                </a:cubicBezTo>
                <a:lnTo>
                  <a:pt x="1402255" y="0"/>
                </a:lnTo>
                <a:cubicBezTo>
                  <a:pt x="1469598" y="0"/>
                  <a:pt x="1524190" y="54592"/>
                  <a:pt x="1524190" y="121935"/>
                </a:cubicBezTo>
                <a:lnTo>
                  <a:pt x="1524190" y="1097417"/>
                </a:lnTo>
                <a:cubicBezTo>
                  <a:pt x="1524190" y="1164760"/>
                  <a:pt x="1469598" y="1219352"/>
                  <a:pt x="1402255" y="1219352"/>
                </a:cubicBezTo>
                <a:lnTo>
                  <a:pt x="121935" y="1219352"/>
                </a:lnTo>
                <a:cubicBezTo>
                  <a:pt x="54592" y="1219352"/>
                  <a:pt x="0" y="1164760"/>
                  <a:pt x="0" y="1097417"/>
                </a:cubicBezTo>
                <a:lnTo>
                  <a:pt x="0" y="121935"/>
                </a:lnTo>
                <a:close/>
              </a:path>
            </a:pathLst>
          </a:custGeom>
        </p:spPr>
        <p:style>
          <a:lnRef idx="3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3814" tIns="73814" rIns="73814" bIns="73814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1600" b="1" noProof="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NTCP models in literature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3DEF2DF4-9BF1-9D3A-5550-B372CEB96098}"/>
              </a:ext>
            </a:extLst>
          </p:cNvPr>
          <p:cNvCxnSpPr>
            <a:cxnSpLocks/>
          </p:cNvCxnSpPr>
          <p:nvPr/>
        </p:nvCxnSpPr>
        <p:spPr>
          <a:xfrm>
            <a:off x="2007956" y="3706335"/>
            <a:ext cx="544568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egno di moltiplicazione 17">
            <a:extLst>
              <a:ext uri="{FF2B5EF4-FFF2-40B4-BE49-F238E27FC236}">
                <a16:creationId xmlns:a16="http://schemas.microsoft.com/office/drawing/2014/main" id="{C3EB8FD1-1C12-07E2-11AE-DD83AFFBD23F}"/>
              </a:ext>
            </a:extLst>
          </p:cNvPr>
          <p:cNvSpPr/>
          <p:nvPr/>
        </p:nvSpPr>
        <p:spPr>
          <a:xfrm>
            <a:off x="1414611" y="3048005"/>
            <a:ext cx="1390650" cy="1313850"/>
          </a:xfrm>
          <a:prstGeom prst="mathMultiply">
            <a:avLst>
              <a:gd name="adj1" fmla="val 4520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9F5C840A-1D0F-B781-FE6C-1B09996AFC59}"/>
              </a:ext>
            </a:extLst>
          </p:cNvPr>
          <p:cNvCxnSpPr>
            <a:cxnSpLocks/>
            <a:stCxn id="57" idx="3"/>
            <a:endCxn id="28" idx="1"/>
          </p:cNvCxnSpPr>
          <p:nvPr/>
        </p:nvCxnSpPr>
        <p:spPr>
          <a:xfrm flipV="1">
            <a:off x="8557851" y="2820186"/>
            <a:ext cx="617927" cy="1174816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CE33B1D8-78EE-CB51-9E51-1CF2C6B0A0D3}"/>
              </a:ext>
            </a:extLst>
          </p:cNvPr>
          <p:cNvSpPr txBox="1"/>
          <p:nvPr/>
        </p:nvSpPr>
        <p:spPr>
          <a:xfrm>
            <a:off x="9175778" y="2281577"/>
            <a:ext cx="22857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1600" noProof="0" dirty="0">
                <a:solidFill>
                  <a:prstClr val="black"/>
                </a:solidFill>
              </a:rPr>
              <a:t>Complex </a:t>
            </a:r>
            <a:r>
              <a:rPr lang="en-US" sz="1600" b="1" noProof="0" dirty="0">
                <a:solidFill>
                  <a:prstClr val="black"/>
                </a:solidFill>
              </a:rPr>
              <a:t>multi-layered architecture </a:t>
            </a:r>
            <a:r>
              <a:rPr lang="en-US" sz="1600" noProof="0" dirty="0">
                <a:solidFill>
                  <a:prstClr val="black"/>
                </a:solidFill>
              </a:rPr>
              <a:t>with specific bio-chemical properties and functions</a:t>
            </a:r>
            <a:r>
              <a:rPr lang="en-US" sz="1600" noProof="0" dirty="0">
                <a:latin typeface="Calibri" panose="020F0502020204030204"/>
              </a:rPr>
              <a:t> </a:t>
            </a:r>
            <a:endParaRPr lang="en-US" sz="1600" noProof="0" dirty="0">
              <a:solidFill>
                <a:prstClr val="black"/>
              </a:solidFill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2973A8B4-397D-C7AF-82EE-0F67EF6873CB}"/>
              </a:ext>
            </a:extLst>
          </p:cNvPr>
          <p:cNvSpPr txBox="1"/>
          <p:nvPr/>
        </p:nvSpPr>
        <p:spPr>
          <a:xfrm>
            <a:off x="9175778" y="4637067"/>
            <a:ext cx="22857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1600" noProof="0" dirty="0"/>
              <a:t>Radiation toxicity influenced by </a:t>
            </a:r>
            <a:r>
              <a:rPr lang="en-US" sz="1600" b="1" noProof="0" dirty="0"/>
              <a:t>radiation chemistry </a:t>
            </a:r>
            <a:r>
              <a:rPr lang="en-US" sz="1600" noProof="0" dirty="0"/>
              <a:t>(free radicals, ROS, XSH, O</a:t>
            </a:r>
            <a:r>
              <a:rPr lang="en-US" sz="1600" baseline="-25000" noProof="0" dirty="0"/>
              <a:t>2</a:t>
            </a:r>
            <a:r>
              <a:rPr lang="en-US" sz="1600" noProof="0" dirty="0"/>
              <a:t>)</a:t>
            </a:r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08A291C0-4D4D-0399-A024-F494C52F782B}"/>
              </a:ext>
            </a:extLst>
          </p:cNvPr>
          <p:cNvCxnSpPr>
            <a:cxnSpLocks/>
            <a:stCxn id="57" idx="3"/>
            <a:endCxn id="30" idx="1"/>
          </p:cNvCxnSpPr>
          <p:nvPr/>
        </p:nvCxnSpPr>
        <p:spPr>
          <a:xfrm>
            <a:off x="8557851" y="3995002"/>
            <a:ext cx="617927" cy="1180674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magine 1">
            <a:extLst>
              <a:ext uri="{FF2B5EF4-FFF2-40B4-BE49-F238E27FC236}">
                <a16:creationId xmlns:a16="http://schemas.microsoft.com/office/drawing/2014/main" id="{AC40B190-1346-83B0-6492-4C7745067C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716" y="1166003"/>
            <a:ext cx="2358606" cy="750037"/>
          </a:xfrm>
          <a:prstGeom prst="rect">
            <a:avLst/>
          </a:prstGeom>
        </p:spPr>
      </p:pic>
      <p:grpSp>
        <p:nvGrpSpPr>
          <p:cNvPr id="11" name="Gruppo 10">
            <a:extLst>
              <a:ext uri="{FF2B5EF4-FFF2-40B4-BE49-F238E27FC236}">
                <a16:creationId xmlns:a16="http://schemas.microsoft.com/office/drawing/2014/main" id="{BBB896E0-BB0C-3594-1C5C-994D6C6694D5}"/>
              </a:ext>
            </a:extLst>
          </p:cNvPr>
          <p:cNvGrpSpPr/>
          <p:nvPr/>
        </p:nvGrpSpPr>
        <p:grpSpPr>
          <a:xfrm>
            <a:off x="2710011" y="2108723"/>
            <a:ext cx="2375807" cy="1550906"/>
            <a:chOff x="2152650" y="2108718"/>
            <a:chExt cx="2375807" cy="1550906"/>
          </a:xfrm>
        </p:grpSpPr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5E64AB1A-058B-2016-0875-162C1A0F09D2}"/>
                </a:ext>
              </a:extLst>
            </p:cNvPr>
            <p:cNvSpPr/>
            <p:nvPr/>
          </p:nvSpPr>
          <p:spPr>
            <a:xfrm>
              <a:off x="2152650" y="2108718"/>
              <a:ext cx="2375807" cy="1374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sp>
          <p:nvSpPr>
            <p:cNvPr id="10" name="Triangolo rettangolo 9">
              <a:extLst>
                <a:ext uri="{FF2B5EF4-FFF2-40B4-BE49-F238E27FC236}">
                  <a16:creationId xmlns:a16="http://schemas.microsoft.com/office/drawing/2014/main" id="{176F9389-397D-7CD9-9ADB-EFBDD2069B01}"/>
                </a:ext>
              </a:extLst>
            </p:cNvPr>
            <p:cNvSpPr/>
            <p:nvPr/>
          </p:nvSpPr>
          <p:spPr>
            <a:xfrm flipH="1">
              <a:off x="3651563" y="2345774"/>
              <a:ext cx="876893" cy="1313850"/>
            </a:xfrm>
            <a:prstGeom prst="rtTriangle">
              <a:avLst/>
            </a:prstGeom>
            <a:solidFill>
              <a:srgbClr val="FFF5F4"/>
            </a:solidFill>
            <a:ln>
              <a:solidFill>
                <a:srgbClr val="FFF5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16" name="Elemento grafico 15" descr="Coppa con riempimento a tinta unita">
            <a:extLst>
              <a:ext uri="{FF2B5EF4-FFF2-40B4-BE49-F238E27FC236}">
                <a16:creationId xmlns:a16="http://schemas.microsoft.com/office/drawing/2014/main" id="{2007558C-F0E0-E811-6023-FEB1DC87F5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9949" y="5031451"/>
            <a:ext cx="410860" cy="410860"/>
          </a:xfrm>
          <a:prstGeom prst="rect">
            <a:avLst/>
          </a:prstGeom>
        </p:spPr>
      </p:pic>
      <p:pic>
        <p:nvPicPr>
          <p:cNvPr id="17" name="Elemento grafico 16" descr="Polmoni con riempimento a tinta unita">
            <a:extLst>
              <a:ext uri="{FF2B5EF4-FFF2-40B4-BE49-F238E27FC236}">
                <a16:creationId xmlns:a16="http://schemas.microsoft.com/office/drawing/2014/main" id="{711DF344-BFFE-611B-50D6-B3D06E97A9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59948" y="2568536"/>
            <a:ext cx="410861" cy="410861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2BF51CDE-63DE-F69D-3166-B409BF74D506}"/>
              </a:ext>
            </a:extLst>
          </p:cNvPr>
          <p:cNvSpPr txBox="1"/>
          <p:nvPr/>
        </p:nvSpPr>
        <p:spPr>
          <a:xfrm>
            <a:off x="3090040" y="1871626"/>
            <a:ext cx="16090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Skin toxicity</a:t>
            </a:r>
          </a:p>
          <a:p>
            <a:pPr algn="ctr"/>
            <a:endParaRPr lang="en-US" noProof="0" dirty="0">
              <a:solidFill>
                <a:schemeClr val="tx1"/>
              </a:solidFill>
            </a:endParaRPr>
          </a:p>
          <a:p>
            <a:pPr algn="ctr"/>
            <a:r>
              <a:rPr lang="en-US" b="1" noProof="0" dirty="0">
                <a:solidFill>
                  <a:schemeClr val="tx1"/>
                </a:solidFill>
              </a:rPr>
              <a:t>Common in all radiation treatments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D4C68EFC-AEC3-75AD-4D47-ECC96E1575E9}"/>
              </a:ext>
            </a:extLst>
          </p:cNvPr>
          <p:cNvCxnSpPr>
            <a:cxnSpLocks/>
          </p:cNvCxnSpPr>
          <p:nvPr/>
        </p:nvCxnSpPr>
        <p:spPr>
          <a:xfrm>
            <a:off x="3888388" y="2237391"/>
            <a:ext cx="0" cy="27700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losione: 8 punte 7">
            <a:extLst>
              <a:ext uri="{FF2B5EF4-FFF2-40B4-BE49-F238E27FC236}">
                <a16:creationId xmlns:a16="http://schemas.microsoft.com/office/drawing/2014/main" id="{5035340A-CB03-3EE7-84A7-53A3FFBE7016}"/>
              </a:ext>
            </a:extLst>
          </p:cNvPr>
          <p:cNvSpPr/>
          <p:nvPr/>
        </p:nvSpPr>
        <p:spPr>
          <a:xfrm>
            <a:off x="5671094" y="3630718"/>
            <a:ext cx="876893" cy="544776"/>
          </a:xfrm>
          <a:prstGeom prst="irregularSeal1">
            <a:avLst/>
          </a:prstGeom>
          <a:solidFill>
            <a:srgbClr val="9954CC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/>
              <a:t>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BA1D469F-CFF2-4C27-73EB-262FECC0D39A}"/>
                  </a:ext>
                </a:extLst>
              </p:cNvPr>
              <p:cNvSpPr/>
              <p:nvPr/>
            </p:nvSpPr>
            <p:spPr>
              <a:xfrm>
                <a:off x="7030868" y="4039691"/>
                <a:ext cx="328833" cy="320992"/>
              </a:xfrm>
              <a:prstGeom prst="ellipse">
                <a:avLst/>
              </a:prstGeom>
              <a:solidFill>
                <a:srgbClr val="9954CC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1" i="0" noProof="0" smtClean="0">
                              <a:latin typeface="Cambria Math" panose="02040503050406030204" pitchFamily="18" charset="0"/>
                            </a:rPr>
                            <m:t>𝐎𝐇</m:t>
                          </m:r>
                        </m:e>
                        <m:sup>
                          <m:r>
                            <a:rPr lang="en-US" sz="1400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p>
                      </m:sSup>
                    </m:oMath>
                  </m:oMathPara>
                </a14:m>
                <a:endParaRPr lang="en-US" sz="1400" b="1" noProof="0" dirty="0"/>
              </a:p>
            </p:txBody>
          </p:sp>
        </mc:Choice>
        <mc:Fallback xmlns="">
          <p:sp>
            <p:nvSpPr>
              <p:cNvPr id="21" name="Ovale 20">
                <a:extLst>
                  <a:ext uri="{FF2B5EF4-FFF2-40B4-BE49-F238E27FC236}">
                    <a16:creationId xmlns:a16="http://schemas.microsoft.com/office/drawing/2014/main" id="{BA1D469F-CFF2-4C27-73EB-262FECC0D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868" y="4039691"/>
                <a:ext cx="328833" cy="320992"/>
              </a:xfrm>
              <a:prstGeom prst="ellipse">
                <a:avLst/>
              </a:prstGeom>
              <a:blipFill>
                <a:blip r:embed="rId9"/>
                <a:stretch>
                  <a:fillRect l="-10526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e 22">
                <a:extLst>
                  <a:ext uri="{FF2B5EF4-FFF2-40B4-BE49-F238E27FC236}">
                    <a16:creationId xmlns:a16="http://schemas.microsoft.com/office/drawing/2014/main" id="{2730CD4D-8097-C038-D192-D3E56E352FCB}"/>
                  </a:ext>
                </a:extLst>
              </p:cNvPr>
              <p:cNvSpPr/>
              <p:nvPr/>
            </p:nvSpPr>
            <p:spPr>
              <a:xfrm>
                <a:off x="5794711" y="4547501"/>
                <a:ext cx="328833" cy="320992"/>
              </a:xfrm>
              <a:prstGeom prst="ellipse">
                <a:avLst/>
              </a:prstGeom>
              <a:solidFill>
                <a:srgbClr val="9954CC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1400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1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1" i="0" noProof="0" smtClean="0"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en-US" sz="1400" b="1" i="0" noProof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sz="1400" b="1" i="0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sup>
                          </m:sSubSup>
                        </m:e>
                        <m:sup>
                          <m:r>
                            <a:rPr lang="en-US" sz="1400" b="1" i="0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1400" b="1" noProof="0" dirty="0"/>
              </a:p>
            </p:txBody>
          </p:sp>
        </mc:Choice>
        <mc:Fallback xmlns="">
          <p:sp>
            <p:nvSpPr>
              <p:cNvPr id="23" name="Ovale 22">
                <a:extLst>
                  <a:ext uri="{FF2B5EF4-FFF2-40B4-BE49-F238E27FC236}">
                    <a16:creationId xmlns:a16="http://schemas.microsoft.com/office/drawing/2014/main" id="{2730CD4D-8097-C038-D192-D3E56E352F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711" y="4547501"/>
                <a:ext cx="328833" cy="320992"/>
              </a:xfrm>
              <a:prstGeom prst="ellipse">
                <a:avLst/>
              </a:prstGeom>
              <a:blipFill>
                <a:blip r:embed="rId10"/>
                <a:stretch>
                  <a:fillRect l="-14035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Esplosione: 8 punte 23">
            <a:extLst>
              <a:ext uri="{FF2B5EF4-FFF2-40B4-BE49-F238E27FC236}">
                <a16:creationId xmlns:a16="http://schemas.microsoft.com/office/drawing/2014/main" id="{0C9AFD2D-74D2-AB71-7F02-70A72FD78046}"/>
              </a:ext>
            </a:extLst>
          </p:cNvPr>
          <p:cNvSpPr/>
          <p:nvPr/>
        </p:nvSpPr>
        <p:spPr>
          <a:xfrm>
            <a:off x="6482808" y="4732561"/>
            <a:ext cx="876893" cy="544776"/>
          </a:xfrm>
          <a:prstGeom prst="irregularSeal1">
            <a:avLst/>
          </a:prstGeom>
          <a:solidFill>
            <a:srgbClr val="9954CC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/>
              <a:t>XSH</a:t>
            </a:r>
          </a:p>
        </p:txBody>
      </p:sp>
      <p:pic>
        <p:nvPicPr>
          <p:cNvPr id="26" name="Elemento grafico 25" descr="Fulmine con riempimento a tinta unita">
            <a:extLst>
              <a:ext uri="{FF2B5EF4-FFF2-40B4-BE49-F238E27FC236}">
                <a16:creationId xmlns:a16="http://schemas.microsoft.com/office/drawing/2014/main" id="{7B33FA89-05CD-E09F-49C3-CA6F4D91AC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59696" y="2157746"/>
            <a:ext cx="638332" cy="638332"/>
          </a:xfrm>
          <a:prstGeom prst="rect">
            <a:avLst/>
          </a:prstGeom>
        </p:spPr>
      </p:pic>
      <p:pic>
        <p:nvPicPr>
          <p:cNvPr id="29" name="Elemento grafico 28" descr="Fulmine con riempimento a tinta unita">
            <a:extLst>
              <a:ext uri="{FF2B5EF4-FFF2-40B4-BE49-F238E27FC236}">
                <a16:creationId xmlns:a16="http://schemas.microsoft.com/office/drawing/2014/main" id="{BADDFA9F-6B3B-668E-0699-E7A20C6AB6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93584" y="2340257"/>
            <a:ext cx="638332" cy="638332"/>
          </a:xfrm>
          <a:prstGeom prst="rect">
            <a:avLst/>
          </a:prstGeom>
        </p:spPr>
      </p:pic>
      <p:pic>
        <p:nvPicPr>
          <p:cNvPr id="31" name="Elemento grafico 30" descr="Fulmine con riempimento a tinta unita">
            <a:extLst>
              <a:ext uri="{FF2B5EF4-FFF2-40B4-BE49-F238E27FC236}">
                <a16:creationId xmlns:a16="http://schemas.microsoft.com/office/drawing/2014/main" id="{7F56A79C-02AD-AD25-51E4-057899C2CF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81649" y="2257714"/>
            <a:ext cx="638332" cy="6383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e 34">
                <a:extLst>
                  <a:ext uri="{FF2B5EF4-FFF2-40B4-BE49-F238E27FC236}">
                    <a16:creationId xmlns:a16="http://schemas.microsoft.com/office/drawing/2014/main" id="{1AE0AD26-3C40-1091-8BB2-0BFC57B8254A}"/>
                  </a:ext>
                </a:extLst>
              </p:cNvPr>
              <p:cNvSpPr/>
              <p:nvPr/>
            </p:nvSpPr>
            <p:spPr>
              <a:xfrm>
                <a:off x="6791148" y="3268504"/>
                <a:ext cx="328833" cy="320992"/>
              </a:xfrm>
              <a:prstGeom prst="ellipse">
                <a:avLst/>
              </a:prstGeom>
              <a:solidFill>
                <a:srgbClr val="9954CC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1" i="0" noProof="0" smtClean="0"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sz="1400" b="1" i="0" noProof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00" b="1" noProof="0" dirty="0"/>
              </a:p>
            </p:txBody>
          </p:sp>
        </mc:Choice>
        <mc:Fallback xmlns="">
          <p:sp>
            <p:nvSpPr>
              <p:cNvPr id="35" name="Ovale 34">
                <a:extLst>
                  <a:ext uri="{FF2B5EF4-FFF2-40B4-BE49-F238E27FC236}">
                    <a16:creationId xmlns:a16="http://schemas.microsoft.com/office/drawing/2014/main" id="{1AE0AD26-3C40-1091-8BB2-0BFC57B825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148" y="3268504"/>
                <a:ext cx="328833" cy="320992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ttangolo 18">
            <a:extLst>
              <a:ext uri="{FF2B5EF4-FFF2-40B4-BE49-F238E27FC236}">
                <a16:creationId xmlns:a16="http://schemas.microsoft.com/office/drawing/2014/main" id="{B8C2DDFF-D05C-4EAF-AB97-7C76823F7C10}"/>
              </a:ext>
            </a:extLst>
          </p:cNvPr>
          <p:cNvSpPr/>
          <p:nvPr/>
        </p:nvSpPr>
        <p:spPr>
          <a:xfrm>
            <a:off x="5671094" y="5832177"/>
            <a:ext cx="4430165" cy="52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50"/>
              </a:spcBef>
              <a:defRPr>
                <a:effectLst/>
              </a:defRPr>
            </a:pPr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Y. Shindo et al., J. Invest. Dermatol. (1994</a:t>
            </a:r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  <a:sym typeface="Calibri"/>
              </a:rPr>
              <a:t>)</a:t>
            </a:r>
            <a:endParaRPr lang="en-US" sz="1200" i="1" noProof="0" dirty="0">
              <a:solidFill>
                <a:srgbClr val="44546A">
                  <a:lumMod val="10000"/>
                </a:srgbClr>
              </a:solidFill>
              <a:latin typeface="Calibri-Italic"/>
            </a:endParaRPr>
          </a:p>
          <a:p>
            <a:pPr lvl="0" algn="ctr">
              <a:spcBef>
                <a:spcPts val="450"/>
              </a:spcBef>
              <a:defRPr>
                <a:effectLst/>
              </a:defRPr>
            </a:pPr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N</a:t>
            </a:r>
            <a:r>
              <a:rPr kumimoji="0" lang="en-US" sz="1200" b="0" i="1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</a:rPr>
              <a:t>. </a:t>
            </a:r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Chettouh-Hammas</a:t>
            </a:r>
            <a:r>
              <a:rPr kumimoji="0" lang="en-US" sz="1200" b="0" i="1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</a:rPr>
              <a:t>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et al., </a:t>
            </a:r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Oxid. Med. Cell. </a:t>
            </a:r>
            <a:r>
              <a:rPr lang="en-US" sz="1200" i="1" noProof="0" dirty="0" err="1">
                <a:solidFill>
                  <a:srgbClr val="44546A">
                    <a:lumMod val="10000"/>
                  </a:srgbClr>
                </a:solidFill>
                <a:latin typeface="Calibri-Italic"/>
              </a:rPr>
              <a:t>Longev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. (2024)</a:t>
            </a:r>
          </a:p>
        </p:txBody>
      </p:sp>
    </p:spTree>
    <p:extLst>
      <p:ext uri="{BB962C8B-B14F-4D97-AF65-F5344CB8AC3E}">
        <p14:creationId xmlns:p14="http://schemas.microsoft.com/office/powerpoint/2010/main" val="249968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4" grpId="0" animBg="1"/>
      <p:bldP spid="18" grpId="0" animBg="1"/>
      <p:bldP spid="28" grpId="0"/>
      <p:bldP spid="30" grpId="0"/>
      <p:bldP spid="8" grpId="0" animBg="1"/>
      <p:bldP spid="21" grpId="0" animBg="1"/>
      <p:bldP spid="23" grpId="0" animBg="1"/>
      <p:bldP spid="24" grpId="0" animBg="1"/>
      <p:bldP spid="35" grpId="0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DBF82-CA99-FB9D-0E39-F2B24CD38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data 1">
            <a:extLst>
              <a:ext uri="{FF2B5EF4-FFF2-40B4-BE49-F238E27FC236}">
                <a16:creationId xmlns:a16="http://schemas.microsoft.com/office/drawing/2014/main" id="{8A365F99-F696-C4AE-CDF9-AEF700D3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11" name="Segnaposto piè di pagina 3">
            <a:extLst>
              <a:ext uri="{FF2B5EF4-FFF2-40B4-BE49-F238E27FC236}">
                <a16:creationId xmlns:a16="http://schemas.microsoft.com/office/drawing/2014/main" id="{E76DBEBE-D284-E1A9-4FF9-54B2B1B78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9" name="Segnaposto numero diapositiva 10">
            <a:extLst>
              <a:ext uri="{FF2B5EF4-FFF2-40B4-BE49-F238E27FC236}">
                <a16:creationId xmlns:a16="http://schemas.microsoft.com/office/drawing/2014/main" id="{08ED4651-32A3-6DAB-5F30-3E9D34ECD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D6A94-FE70-45EA-859B-A205DD54D9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0801229F-368B-E7A2-6F84-41E51FDE1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5" t="6153" r="33201" b="1331"/>
          <a:stretch>
            <a:fillRect/>
          </a:stretch>
        </p:blipFill>
        <p:spPr>
          <a:xfrm>
            <a:off x="3962933" y="683491"/>
            <a:ext cx="5027237" cy="5098473"/>
          </a:xfrm>
          <a:prstGeom prst="rect">
            <a:avLst/>
          </a:prstGeom>
        </p:spPr>
      </p:pic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A372D57-9F5E-7C6B-99BE-6994BE2CA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675" y="3923303"/>
            <a:ext cx="4112493" cy="860400"/>
          </a:xfrm>
        </p:spPr>
        <p:txBody>
          <a:bodyPr/>
          <a:lstStyle/>
          <a:p>
            <a:r>
              <a:rPr lang="en-US" noProof="0" dirty="0">
                <a:solidFill>
                  <a:schemeClr val="tx1"/>
                </a:solidFill>
                <a:latin typeface="Calibri (Corpo)"/>
              </a:rPr>
              <a:t>The Generalized Stochastic </a:t>
            </a:r>
            <a:r>
              <a:rPr lang="en-US" noProof="0" dirty="0" err="1">
                <a:solidFill>
                  <a:schemeClr val="tx1"/>
                </a:solidFill>
                <a:latin typeface="Calibri (Corpo)"/>
              </a:rPr>
              <a:t>Microdosimetric</a:t>
            </a:r>
            <a:r>
              <a:rPr lang="en-US" noProof="0" dirty="0">
                <a:solidFill>
                  <a:schemeClr val="tx1"/>
                </a:solidFill>
                <a:latin typeface="Calibri (Corpo)"/>
              </a:rPr>
              <a:t> Model (GSM</a:t>
            </a:r>
            <a:r>
              <a:rPr lang="en-US" baseline="30000" noProof="0" dirty="0">
                <a:solidFill>
                  <a:schemeClr val="tx1"/>
                </a:solidFill>
                <a:latin typeface="Calibri (Corpo)"/>
              </a:rPr>
              <a:t>2</a:t>
            </a:r>
            <a:r>
              <a:rPr lang="en-US" noProof="0" dirty="0">
                <a:solidFill>
                  <a:schemeClr val="tx1"/>
                </a:solidFill>
                <a:latin typeface="Calibri (Corpo)"/>
              </a:rPr>
              <a:t>)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7591DDF-A06F-8B9D-5A0C-65C54CAF9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675" y="2035996"/>
            <a:ext cx="4112494" cy="1887307"/>
          </a:xfrm>
        </p:spPr>
        <p:txBody>
          <a:bodyPr anchor="t">
            <a:normAutofit/>
          </a:bodyPr>
          <a:lstStyle/>
          <a:p>
            <a:r>
              <a:rPr lang="en-US" sz="5400" b="1" noProof="0" dirty="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Modeling starting point</a:t>
            </a:r>
            <a:endParaRPr lang="en-US" sz="5400" noProof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753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C5CD3-6B6D-3C8B-E275-55300D57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1FCABBCC-AA98-9D4E-203E-56ED0D81C5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31" t="1" b="45367"/>
          <a:stretch>
            <a:fillRect/>
          </a:stretch>
        </p:blipFill>
        <p:spPr>
          <a:xfrm>
            <a:off x="2488677" y="1823440"/>
            <a:ext cx="3582710" cy="35995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1FF7A8A4-2133-4B7A-2280-A21163262B53}"/>
                  </a:ext>
                </a:extLst>
              </p:cNvPr>
              <p:cNvSpPr/>
              <p:nvPr/>
            </p:nvSpPr>
            <p:spPr>
              <a:xfrm>
                <a:off x="3501105" y="2180520"/>
                <a:ext cx="3609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2"/>
                        </m:rP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𝒓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1FF7A8A4-2133-4B7A-2280-A21163262B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105" y="2180520"/>
                <a:ext cx="36099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BDE17E14-EB86-597A-1481-14C2994B2B3F}"/>
                  </a:ext>
                </a:extLst>
              </p:cNvPr>
              <p:cNvSpPr/>
              <p:nvPr/>
            </p:nvSpPr>
            <p:spPr>
              <a:xfrm>
                <a:off x="3904423" y="4412473"/>
                <a:ext cx="3802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2"/>
                        </m:rP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𝒂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BDE17E14-EB86-597A-1481-14C2994B2B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423" y="4412473"/>
                <a:ext cx="3802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tangolo 10">
                <a:extLst>
                  <a:ext uri="{FF2B5EF4-FFF2-40B4-BE49-F238E27FC236}">
                    <a16:creationId xmlns:a16="http://schemas.microsoft.com/office/drawing/2014/main" id="{1918BBB4-B216-BC5D-C629-44B999680C68}"/>
                  </a:ext>
                </a:extLst>
              </p:cNvPr>
              <p:cNvSpPr/>
              <p:nvPr/>
            </p:nvSpPr>
            <p:spPr>
              <a:xfrm>
                <a:off x="3976707" y="3615258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𝒃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Rettangolo 10">
                <a:extLst>
                  <a:ext uri="{FF2B5EF4-FFF2-40B4-BE49-F238E27FC236}">
                    <a16:creationId xmlns:a16="http://schemas.microsoft.com/office/drawing/2014/main" id="{1918BBB4-B216-BC5D-C629-44B999680C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707" y="3615258"/>
                <a:ext cx="3770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530" name="Picture 2" descr="16.900 Segnale Di Pericolo Di Radiazioni Illustrazioni stock, grafiche  vettoriali royalty-free e clip art - iStock | Radiazione">
            <a:extLst>
              <a:ext uri="{FF2B5EF4-FFF2-40B4-BE49-F238E27FC236}">
                <a16:creationId xmlns:a16="http://schemas.microsoft.com/office/drawing/2014/main" id="{EE32E868-DB4C-DC2F-2D3C-701C4DB19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291" y="3254114"/>
            <a:ext cx="482762" cy="4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A571F458-DCE6-380D-4F3D-8514BE58C28B}"/>
              </a:ext>
            </a:extLst>
          </p:cNvPr>
          <p:cNvCxnSpPr>
            <a:cxnSpLocks/>
            <a:stCxn id="22530" idx="3"/>
          </p:cNvCxnSpPr>
          <p:nvPr/>
        </p:nvCxnSpPr>
        <p:spPr>
          <a:xfrm flipV="1">
            <a:off x="2374053" y="3139174"/>
            <a:ext cx="548184" cy="356321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31D4B855-A6B9-8D25-6E26-AAC6BDF23B19}"/>
              </a:ext>
            </a:extLst>
          </p:cNvPr>
          <p:cNvCxnSpPr>
            <a:cxnSpLocks/>
            <a:stCxn id="22530" idx="3"/>
          </p:cNvCxnSpPr>
          <p:nvPr/>
        </p:nvCxnSpPr>
        <p:spPr>
          <a:xfrm>
            <a:off x="2374053" y="3495495"/>
            <a:ext cx="565303" cy="104892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e 22">
            <a:extLst>
              <a:ext uri="{FF2B5EF4-FFF2-40B4-BE49-F238E27FC236}">
                <a16:creationId xmlns:a16="http://schemas.microsoft.com/office/drawing/2014/main" id="{8468AC96-124B-5ECD-0732-41EAA234984E}"/>
              </a:ext>
            </a:extLst>
          </p:cNvPr>
          <p:cNvSpPr/>
          <p:nvPr/>
        </p:nvSpPr>
        <p:spPr>
          <a:xfrm>
            <a:off x="2915415" y="2925083"/>
            <a:ext cx="316097" cy="356321"/>
          </a:xfrm>
          <a:prstGeom prst="ellipse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988486EE-E36A-6468-0380-C18B11F4ACD6}"/>
              </a:ext>
            </a:extLst>
          </p:cNvPr>
          <p:cNvSpPr/>
          <p:nvPr/>
        </p:nvSpPr>
        <p:spPr>
          <a:xfrm>
            <a:off x="2915415" y="4468211"/>
            <a:ext cx="316097" cy="356321"/>
          </a:xfrm>
          <a:prstGeom prst="ellipse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C36EEAAE-6082-0041-1BA3-C2CD17FD4544}"/>
              </a:ext>
            </a:extLst>
          </p:cNvPr>
          <p:cNvSpPr/>
          <p:nvPr/>
        </p:nvSpPr>
        <p:spPr>
          <a:xfrm rot="1272522">
            <a:off x="2776462" y="3857988"/>
            <a:ext cx="1469326" cy="489967"/>
          </a:xfrm>
          <a:prstGeom prst="ellipse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FDF0104F-C748-D074-7057-98A36279C91D}"/>
              </a:ext>
            </a:extLst>
          </p:cNvPr>
          <p:cNvSpPr/>
          <p:nvPr/>
        </p:nvSpPr>
        <p:spPr>
          <a:xfrm rot="20491271">
            <a:off x="2817322" y="2572714"/>
            <a:ext cx="1874725" cy="687394"/>
          </a:xfrm>
          <a:prstGeom prst="ellipse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9ED29978-6FA0-AE75-C124-E750E607135D}"/>
              </a:ext>
            </a:extLst>
          </p:cNvPr>
          <p:cNvSpPr/>
          <p:nvPr/>
        </p:nvSpPr>
        <p:spPr>
          <a:xfrm>
            <a:off x="2756715" y="2862414"/>
            <a:ext cx="1286091" cy="129005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73CBA36-6E8D-4172-6530-53215DBF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12" name="Segnaposto piè di pagina 6">
            <a:extLst>
              <a:ext uri="{FF2B5EF4-FFF2-40B4-BE49-F238E27FC236}">
                <a16:creationId xmlns:a16="http://schemas.microsoft.com/office/drawing/2014/main" id="{86DA5C0C-62AF-57D8-054B-673A6345D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13" name="Segnaposto numero diapositiva 7">
            <a:extLst>
              <a:ext uri="{FF2B5EF4-FFF2-40B4-BE49-F238E27FC236}">
                <a16:creationId xmlns:a16="http://schemas.microsoft.com/office/drawing/2014/main" id="{C2E62E48-7BA1-142A-6B50-CC62A3A8F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D6A94-FE70-45EA-859B-A205DD54D9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80011FAB-CDE0-3BA3-4335-07F30ABF7403}"/>
              </a:ext>
            </a:extLst>
          </p:cNvPr>
          <p:cNvCxnSpPr/>
          <p:nvPr/>
        </p:nvCxnSpPr>
        <p:spPr>
          <a:xfrm>
            <a:off x="5812397" y="3538029"/>
            <a:ext cx="4430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9C5DF1B-99BF-30AC-9DF4-333A5A0BEC40}"/>
              </a:ext>
            </a:extLst>
          </p:cNvPr>
          <p:cNvSpPr txBox="1"/>
          <p:nvPr/>
        </p:nvSpPr>
        <p:spPr>
          <a:xfrm>
            <a:off x="6190384" y="3215728"/>
            <a:ext cx="954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Cell survival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E16B2B7-D4BE-FAB7-20F1-FDD1990D4FE6}"/>
              </a:ext>
            </a:extLst>
          </p:cNvPr>
          <p:cNvCxnSpPr/>
          <p:nvPr/>
        </p:nvCxnSpPr>
        <p:spPr>
          <a:xfrm>
            <a:off x="4161803" y="3487500"/>
            <a:ext cx="988291" cy="6569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tangolo 13">
            <a:extLst>
              <a:ext uri="{FF2B5EF4-FFF2-40B4-BE49-F238E27FC236}">
                <a16:creationId xmlns:a16="http://schemas.microsoft.com/office/drawing/2014/main" id="{EBC0C092-791C-F307-9F51-1E62BB13C819}"/>
              </a:ext>
            </a:extLst>
          </p:cNvPr>
          <p:cNvSpPr/>
          <p:nvPr/>
        </p:nvSpPr>
        <p:spPr>
          <a:xfrm>
            <a:off x="429139" y="5713007"/>
            <a:ext cx="27450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GSM</a:t>
            </a:r>
            <a:r>
              <a:rPr kumimoji="0" 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 fully probabilistic radiation biophysical model</a:t>
            </a:r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4B4BB46D-7FA3-C404-1356-0A51F1BDDB93}"/>
              </a:ext>
            </a:extLst>
          </p:cNvPr>
          <p:cNvSpPr/>
          <p:nvPr/>
        </p:nvSpPr>
        <p:spPr>
          <a:xfrm>
            <a:off x="8315407" y="2531296"/>
            <a:ext cx="3782284" cy="1023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F. G.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Cordoni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 et al., Phys. Rev. E (2021)</a:t>
            </a:r>
            <a:endParaRPr lang="en-US" sz="1200" i="1" noProof="0" dirty="0">
              <a:solidFill>
                <a:srgbClr val="44546A">
                  <a:lumMod val="10000"/>
                </a:srgbClr>
              </a:solidFill>
              <a:latin typeface="Calibri-Italic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F. G.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Cordoni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 et al.,  Rad. Res. (2022)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 F. G.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Cordoni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 et al.,  Int. J.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Radiat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. Biol. (2023)</a:t>
            </a:r>
          </a:p>
          <a:p>
            <a:pPr algn="ctr">
              <a:spcBef>
                <a:spcPts val="450"/>
              </a:spcBef>
              <a:defRPr>
                <a:effectLst/>
              </a:defRPr>
            </a:pPr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G. Bordieri,…, </a:t>
            </a:r>
            <a:r>
              <a:rPr lang="en-US" sz="1200" i="1" u="sng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M. Battestini</a:t>
            </a:r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, et al., Phys. Med. Biol. (2024)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Rettangolo 140">
                <a:extLst>
                  <a:ext uri="{FF2B5EF4-FFF2-40B4-BE49-F238E27FC236}">
                    <a16:creationId xmlns:a16="http://schemas.microsoft.com/office/drawing/2014/main" id="{93E2EA6E-D55F-1641-C5F6-25EAA9F023E4}"/>
                  </a:ext>
                </a:extLst>
              </p:cNvPr>
              <p:cNvSpPr/>
              <p:nvPr/>
            </p:nvSpPr>
            <p:spPr>
              <a:xfrm>
                <a:off x="442683" y="1403607"/>
                <a:ext cx="300095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ED7D3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number of </a:t>
                </a: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sub-lethal lesions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 number of </a:t>
                </a: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lethal lesions</a:t>
                </a:r>
              </a:p>
            </p:txBody>
          </p:sp>
        </mc:Choice>
        <mc:Fallback xmlns="">
          <p:sp>
            <p:nvSpPr>
              <p:cNvPr id="141" name="Rettangolo 140">
                <a:extLst>
                  <a:ext uri="{FF2B5EF4-FFF2-40B4-BE49-F238E27FC236}">
                    <a16:creationId xmlns:a16="http://schemas.microsoft.com/office/drawing/2014/main" id="{93E2EA6E-D55F-1641-C5F6-25EAA9F023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83" y="1403607"/>
                <a:ext cx="3000958" cy="584775"/>
              </a:xfrm>
              <a:prstGeom prst="rect">
                <a:avLst/>
              </a:prstGeom>
              <a:blipFill>
                <a:blip r:embed="rId8"/>
                <a:stretch>
                  <a:fillRect t="-3125" b="-125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08AE8B97-CA81-ECEA-3E4E-7F826B51E163}"/>
              </a:ext>
            </a:extLst>
          </p:cNvPr>
          <p:cNvSpPr txBox="1"/>
          <p:nvPr/>
        </p:nvSpPr>
        <p:spPr>
          <a:xfrm>
            <a:off x="5918397" y="1045303"/>
            <a:ext cx="2282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3) Biological endpoint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A8EBFD5-A245-5464-4AAC-DF04DE77C1D7}"/>
              </a:ext>
            </a:extLst>
          </p:cNvPr>
          <p:cNvSpPr txBox="1"/>
          <p:nvPr/>
        </p:nvSpPr>
        <p:spPr>
          <a:xfrm>
            <a:off x="439013" y="1045303"/>
            <a:ext cx="2688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1) DNA damage 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45A786BD-F988-6E00-823A-94EB087EA4D2}"/>
                  </a:ext>
                </a:extLst>
              </p:cNvPr>
              <p:cNvSpPr txBox="1"/>
              <p:nvPr/>
            </p:nvSpPr>
            <p:spPr>
              <a:xfrm>
                <a:off x="3383801" y="1402383"/>
                <a:ext cx="220675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𝒓</m:t>
                    </m:r>
                    <m:r>
                      <a:rPr kumimoji="0" lang="en-US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r>
                      <a:rPr kumimoji="0" lang="en-US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𝒂</m:t>
                    </m:r>
                    <m:r>
                      <a:rPr kumimoji="0" lang="en-US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r>
                      <a:rPr kumimoji="0" lang="en-US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𝒃</m:t>
                    </m:r>
                  </m:oMath>
                </a14:m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depend on cell type</a:t>
                </a:r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45A786BD-F988-6E00-823A-94EB087EA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801" y="1402383"/>
                <a:ext cx="2206758" cy="246221"/>
              </a:xfrm>
              <a:prstGeom prst="rect">
                <a:avLst/>
              </a:prstGeom>
              <a:blipFill>
                <a:blip r:embed="rId9"/>
                <a:stretch>
                  <a:fillRect l="-2210" t="-25000" r="-4420" b="-525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DF8548F-5D6C-C376-EFC3-52D7E7AA083A}"/>
              </a:ext>
            </a:extLst>
          </p:cNvPr>
          <p:cNvSpPr txBox="1"/>
          <p:nvPr/>
        </p:nvSpPr>
        <p:spPr>
          <a:xfrm>
            <a:off x="3280495" y="1045372"/>
            <a:ext cx="2637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2) DNA damage evolution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C1AD9D8D-86C5-539A-F761-305BB7D75C32}"/>
              </a:ext>
            </a:extLst>
          </p:cNvPr>
          <p:cNvCxnSpPr>
            <a:cxnSpLocks/>
          </p:cNvCxnSpPr>
          <p:nvPr/>
        </p:nvCxnSpPr>
        <p:spPr>
          <a:xfrm>
            <a:off x="3266176" y="1186714"/>
            <a:ext cx="0" cy="427017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17E3630F-3C37-F104-3D08-C3FEDD49E3C3}"/>
              </a:ext>
            </a:extLst>
          </p:cNvPr>
          <p:cNvCxnSpPr>
            <a:cxnSpLocks/>
          </p:cNvCxnSpPr>
          <p:nvPr/>
        </p:nvCxnSpPr>
        <p:spPr>
          <a:xfrm>
            <a:off x="5890471" y="1183961"/>
            <a:ext cx="0" cy="427017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Elemento grafico 25" descr="DNA con riempimento a tinta unita">
            <a:extLst>
              <a:ext uri="{FF2B5EF4-FFF2-40B4-BE49-F238E27FC236}">
                <a16:creationId xmlns:a16="http://schemas.microsoft.com/office/drawing/2014/main" id="{A40A88C6-E4CE-0718-1046-B9FAFA9B8D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05889" y="5174264"/>
            <a:ext cx="526949" cy="526949"/>
          </a:xfrm>
          <a:prstGeom prst="rect">
            <a:avLst/>
          </a:prstGeom>
        </p:spPr>
      </p:pic>
      <p:pic>
        <p:nvPicPr>
          <p:cNvPr id="30" name="Elemento grafico 29" descr="Matematica per formazione da remoto con riempimento a tinta unita">
            <a:extLst>
              <a:ext uri="{FF2B5EF4-FFF2-40B4-BE49-F238E27FC236}">
                <a16:creationId xmlns:a16="http://schemas.microsoft.com/office/drawing/2014/main" id="{331486CC-8856-C130-57E1-0D338609511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141" y="5174585"/>
            <a:ext cx="526949" cy="526949"/>
          </a:xfrm>
          <a:prstGeom prst="rect">
            <a:avLst/>
          </a:prstGeom>
        </p:spPr>
      </p:pic>
      <p:pic>
        <p:nvPicPr>
          <p:cNvPr id="31" name="Elemento grafico 30" descr="Atomo con riempimento a tinta unita">
            <a:extLst>
              <a:ext uri="{FF2B5EF4-FFF2-40B4-BE49-F238E27FC236}">
                <a16:creationId xmlns:a16="http://schemas.microsoft.com/office/drawing/2014/main" id="{9B532FED-8FB0-3D2F-8C89-E3246BC0EBB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40840" y="5174585"/>
            <a:ext cx="526949" cy="526949"/>
          </a:xfrm>
          <a:prstGeom prst="rect">
            <a:avLst/>
          </a:prstGeom>
        </p:spPr>
      </p:pic>
      <p:pic>
        <p:nvPicPr>
          <p:cNvPr id="34" name="Picture 2" descr="Kick-off Meeting Microbe_IT (3 February 2021) · Agenda (Indico)">
            <a:extLst>
              <a:ext uri="{FF2B5EF4-FFF2-40B4-BE49-F238E27FC236}">
                <a16:creationId xmlns:a16="http://schemas.microsoft.com/office/drawing/2014/main" id="{AB50737E-314A-1B73-88C0-4BE1DC3D4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0932" y="1801108"/>
            <a:ext cx="1628619" cy="91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MIRO">
            <a:extLst>
              <a:ext uri="{FF2B5EF4-FFF2-40B4-BE49-F238E27FC236}">
                <a16:creationId xmlns:a16="http://schemas.microsoft.com/office/drawing/2014/main" id="{2F12FE6D-58FC-522D-5E7C-9AE9EA02A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2699" y="4341312"/>
            <a:ext cx="1397052" cy="651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5F4E23FD-AA96-1421-AD1F-C9016FFD6DD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428" y="4157690"/>
            <a:ext cx="1397051" cy="916098"/>
          </a:xfrm>
          <a:prstGeom prst="rect">
            <a:avLst/>
          </a:prstGeom>
        </p:spPr>
      </p:pic>
      <p:sp>
        <p:nvSpPr>
          <p:cNvPr id="37" name="Rettangolo 36">
            <a:extLst>
              <a:ext uri="{FF2B5EF4-FFF2-40B4-BE49-F238E27FC236}">
                <a16:creationId xmlns:a16="http://schemas.microsoft.com/office/drawing/2014/main" id="{7DDB3DC7-3247-CB36-54A0-EEE09F710D10}"/>
              </a:ext>
            </a:extLst>
          </p:cNvPr>
          <p:cNvSpPr/>
          <p:nvPr/>
        </p:nvSpPr>
        <p:spPr>
          <a:xfrm>
            <a:off x="8740621" y="5160064"/>
            <a:ext cx="2912785" cy="5257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sng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M. Battestini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 et al., Front. Phys. (2023)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sng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M. Battestini</a:t>
            </a:r>
            <a:r>
              <a:rPr kumimoji="0" lang="en-US" sz="1200" b="0" i="1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et al.,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Radiother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. Oncol. (2025)</a:t>
            </a:r>
          </a:p>
        </p:txBody>
      </p:sp>
      <p:pic>
        <p:nvPicPr>
          <p:cNvPr id="39" name="Immagine 38">
            <a:extLst>
              <a:ext uri="{FF2B5EF4-FFF2-40B4-BE49-F238E27FC236}">
                <a16:creationId xmlns:a16="http://schemas.microsoft.com/office/drawing/2014/main" id="{618F91A4-AE69-04A4-99C2-6CF6E2E5E89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376" y="1876387"/>
            <a:ext cx="1090145" cy="605030"/>
          </a:xfrm>
          <a:prstGeom prst="rect">
            <a:avLst/>
          </a:prstGeom>
        </p:spPr>
      </p:pic>
      <p:pic>
        <p:nvPicPr>
          <p:cNvPr id="41" name="Immagine 40">
            <a:extLst>
              <a:ext uri="{FF2B5EF4-FFF2-40B4-BE49-F238E27FC236}">
                <a16:creationId xmlns:a16="http://schemas.microsoft.com/office/drawing/2014/main" id="{16655C21-51D5-4C09-25AD-6340059101A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595" y="4313224"/>
            <a:ext cx="1090145" cy="605030"/>
          </a:xfrm>
          <a:prstGeom prst="rect">
            <a:avLst/>
          </a:prstGeom>
        </p:spPr>
      </p:pic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186DDE20-D479-0BAE-57C6-9642291691EA}"/>
              </a:ext>
            </a:extLst>
          </p:cNvPr>
          <p:cNvSpPr txBox="1"/>
          <p:nvPr/>
        </p:nvSpPr>
        <p:spPr>
          <a:xfrm>
            <a:off x="8404277" y="1514777"/>
            <a:ext cx="358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noProof="0" dirty="0">
                <a:solidFill>
                  <a:prstClr val="black"/>
                </a:solidFill>
                <a:latin typeface="Calibri" panose="020F0502020204030204"/>
              </a:rPr>
              <a:t>Development and validation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2545377F-2410-E1F7-E42A-FAF576610CB5}"/>
              </a:ext>
            </a:extLst>
          </p:cNvPr>
          <p:cNvSpPr txBox="1"/>
          <p:nvPr/>
        </p:nvSpPr>
        <p:spPr>
          <a:xfrm>
            <a:off x="8404277" y="3799924"/>
            <a:ext cx="361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noProof="0" dirty="0">
                <a:solidFill>
                  <a:prstClr val="black"/>
                </a:solidFill>
                <a:latin typeface="Calibri" panose="020F0502020204030204"/>
              </a:rPr>
              <a:t>Extensions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A40B20A7-1821-4AB8-C395-03CE23057A1B}"/>
              </a:ext>
            </a:extLst>
          </p:cNvPr>
          <p:cNvSpPr txBox="1"/>
          <p:nvPr/>
        </p:nvSpPr>
        <p:spPr>
          <a:xfrm>
            <a:off x="10726087" y="1977897"/>
            <a:ext cx="1263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noProof="0" dirty="0"/>
              <a:t>MUSICA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CD562F17-21A9-CC01-639D-DA5FC425A2E1}"/>
              </a:ext>
            </a:extLst>
          </p:cNvPr>
          <p:cNvSpPr txBox="1"/>
          <p:nvPr/>
        </p:nvSpPr>
        <p:spPr>
          <a:xfrm>
            <a:off x="3672336" y="5713007"/>
            <a:ext cx="3471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noProof="0" dirty="0">
                <a:solidFill>
                  <a:prstClr val="black"/>
                </a:solidFill>
                <a:latin typeface="Calibri" panose="020F0502020204030204"/>
              </a:rPr>
              <a:t>Different levels of </a:t>
            </a:r>
            <a:r>
              <a:rPr lang="en-US" b="1" noProof="0" dirty="0" err="1">
                <a:solidFill>
                  <a:prstClr val="black"/>
                </a:solidFill>
                <a:latin typeface="Calibri" panose="020F0502020204030204"/>
              </a:rPr>
              <a:t>spatio</a:t>
            </a:r>
            <a:r>
              <a:rPr lang="en-US" b="1" noProof="0" dirty="0">
                <a:solidFill>
                  <a:prstClr val="black"/>
                </a:solidFill>
                <a:latin typeface="Calibri" panose="020F0502020204030204"/>
              </a:rPr>
              <a:t>-temporal stochasticity</a:t>
            </a:r>
            <a:r>
              <a:rPr lang="en-US" noProof="0" dirty="0">
                <a:solidFill>
                  <a:prstClr val="black"/>
                </a:solidFill>
                <a:latin typeface="Calibri" panose="020F0502020204030204"/>
              </a:rPr>
              <a:t> in physics and biology</a:t>
            </a:r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DA81E0BB-D6D6-E045-4E4F-ACE0A9950350}"/>
              </a:ext>
            </a:extLst>
          </p:cNvPr>
          <p:cNvCxnSpPr>
            <a:cxnSpLocks/>
            <a:stCxn id="14" idx="3"/>
            <a:endCxn id="38" idx="1"/>
          </p:cNvCxnSpPr>
          <p:nvPr/>
        </p:nvCxnSpPr>
        <p:spPr>
          <a:xfrm>
            <a:off x="3174200" y="6036173"/>
            <a:ext cx="498136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olo 1">
            <a:extLst>
              <a:ext uri="{FF2B5EF4-FFF2-40B4-BE49-F238E27FC236}">
                <a16:creationId xmlns:a16="http://schemas.microsoft.com/office/drawing/2014/main" id="{3C33B0F8-C791-F4CC-3D0E-E437927B3E43}"/>
              </a:ext>
            </a:extLst>
          </p:cNvPr>
          <p:cNvSpPr txBox="1">
            <a:spLocks/>
          </p:cNvSpPr>
          <p:nvPr/>
        </p:nvSpPr>
        <p:spPr>
          <a:xfrm>
            <a:off x="0" y="3"/>
            <a:ext cx="12192000" cy="102359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The Generalized Stochastic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Microdosimetric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Model (GSM</a:t>
            </a:r>
            <a:r>
              <a:rPr kumimoji="0" lang="en-US" sz="4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) </a:t>
            </a:r>
          </a:p>
        </p:txBody>
      </p:sp>
      <p:sp>
        <p:nvSpPr>
          <p:cNvPr id="21" name="Parentesi graffa chiusa 20">
            <a:extLst>
              <a:ext uri="{FF2B5EF4-FFF2-40B4-BE49-F238E27FC236}">
                <a16:creationId xmlns:a16="http://schemas.microsoft.com/office/drawing/2014/main" id="{4F3ED3E0-B123-39FB-6190-E03AAB9335D0}"/>
              </a:ext>
            </a:extLst>
          </p:cNvPr>
          <p:cNvSpPr/>
          <p:nvPr/>
        </p:nvSpPr>
        <p:spPr>
          <a:xfrm rot="10800000">
            <a:off x="8117381" y="1514777"/>
            <a:ext cx="292068" cy="4171072"/>
          </a:xfrm>
          <a:prstGeom prst="rightBrac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29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23" grpId="0" animBg="1"/>
      <p:bldP spid="24" grpId="0" animBg="1"/>
      <p:bldP spid="25" grpId="0" animBg="1"/>
      <p:bldP spid="27" grpId="0" animBg="1"/>
      <p:bldP spid="28" grpId="0" animBg="1"/>
      <p:bldP spid="15" grpId="0"/>
      <p:bldP spid="56" grpId="0"/>
      <p:bldP spid="141" grpId="0"/>
      <p:bldP spid="6" grpId="0"/>
      <p:bldP spid="8" grpId="0"/>
      <p:bldP spid="20" grpId="0"/>
      <p:bldP spid="18" grpId="0"/>
      <p:bldP spid="37" grpId="0"/>
      <p:bldP spid="42" grpId="0"/>
      <p:bldP spid="44" grpId="0"/>
      <p:bldP spid="45" grpId="0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48982" y="2859397"/>
            <a:ext cx="8596668" cy="1139206"/>
          </a:xfrm>
        </p:spPr>
        <p:txBody>
          <a:bodyPr anchor="t">
            <a:normAutofit/>
          </a:bodyPr>
          <a:lstStyle/>
          <a:p>
            <a:r>
              <a:rPr lang="en-US" sz="6600" b="1" noProof="0" dirty="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 						project</a:t>
            </a:r>
            <a:endParaRPr lang="en-US" sz="6600" noProof="0" dirty="0">
              <a:solidFill>
                <a:srgbClr val="002060"/>
              </a:solidFill>
            </a:endParaRPr>
          </a:p>
        </p:txBody>
      </p:sp>
      <p:sp>
        <p:nvSpPr>
          <p:cNvPr id="10" name="Segnaposto data 1">
            <a:extLst>
              <a:ext uri="{FF2B5EF4-FFF2-40B4-BE49-F238E27FC236}">
                <a16:creationId xmlns:a16="http://schemas.microsoft.com/office/drawing/2014/main" id="{ECC72452-C90F-6677-B20E-AC922D9EBC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11" name="Segnaposto piè di pagina 3">
            <a:extLst>
              <a:ext uri="{FF2B5EF4-FFF2-40B4-BE49-F238E27FC236}">
                <a16:creationId xmlns:a16="http://schemas.microsoft.com/office/drawing/2014/main" id="{C3EFA456-5085-EA44-A336-E8064BDCD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9" name="Segnaposto numero diapositiva 10">
            <a:extLst>
              <a:ext uri="{FF2B5EF4-FFF2-40B4-BE49-F238E27FC236}">
                <a16:creationId xmlns:a16="http://schemas.microsoft.com/office/drawing/2014/main" id="{6B1E5C13-F415-2CF2-F649-1BC83CAF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D6A94-FE70-45EA-859B-A205DD54D9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477EC05-83E6-40FA-5B3A-E309E10E2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072" y="3168072"/>
            <a:ext cx="2553644" cy="81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60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AE629-215D-43FE-AEA0-2EFB6F88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7BA4B8D-4D2C-2EC7-8A52-D77068373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12" name="Segnaposto piè di pagina 6">
            <a:extLst>
              <a:ext uri="{FF2B5EF4-FFF2-40B4-BE49-F238E27FC236}">
                <a16:creationId xmlns:a16="http://schemas.microsoft.com/office/drawing/2014/main" id="{FD1D5611-B6A7-888B-F4D9-B527F05CD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13" name="Segnaposto numero diapositiva 7">
            <a:extLst>
              <a:ext uri="{FF2B5EF4-FFF2-40B4-BE49-F238E27FC236}">
                <a16:creationId xmlns:a16="http://schemas.microsoft.com/office/drawing/2014/main" id="{C94BE02E-8E89-E312-D598-A599ABBE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D6A94-FE70-45EA-859B-A205DD54D9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74" name="Figura a mano libera: forma 22573">
            <a:extLst>
              <a:ext uri="{FF2B5EF4-FFF2-40B4-BE49-F238E27FC236}">
                <a16:creationId xmlns:a16="http://schemas.microsoft.com/office/drawing/2014/main" id="{C9E51852-61E2-7C19-EA79-2EDC09115AC0}"/>
              </a:ext>
            </a:extLst>
          </p:cNvPr>
          <p:cNvSpPr/>
          <p:nvPr/>
        </p:nvSpPr>
        <p:spPr>
          <a:xfrm>
            <a:off x="1450109" y="903123"/>
            <a:ext cx="9282546" cy="2514314"/>
          </a:xfrm>
          <a:custGeom>
            <a:avLst/>
            <a:gdLst>
              <a:gd name="connsiteX0" fmla="*/ 0 w 1487033"/>
              <a:gd name="connsiteY0" fmla="*/ 118963 h 1189626"/>
              <a:gd name="connsiteX1" fmla="*/ 118963 w 1487033"/>
              <a:gd name="connsiteY1" fmla="*/ 0 h 1189626"/>
              <a:gd name="connsiteX2" fmla="*/ 1368070 w 1487033"/>
              <a:gd name="connsiteY2" fmla="*/ 0 h 1189626"/>
              <a:gd name="connsiteX3" fmla="*/ 1487033 w 1487033"/>
              <a:gd name="connsiteY3" fmla="*/ 118963 h 1189626"/>
              <a:gd name="connsiteX4" fmla="*/ 1487033 w 1487033"/>
              <a:gd name="connsiteY4" fmla="*/ 1070663 h 1189626"/>
              <a:gd name="connsiteX5" fmla="*/ 1368070 w 1487033"/>
              <a:gd name="connsiteY5" fmla="*/ 1189626 h 1189626"/>
              <a:gd name="connsiteX6" fmla="*/ 118963 w 1487033"/>
              <a:gd name="connsiteY6" fmla="*/ 1189626 h 1189626"/>
              <a:gd name="connsiteX7" fmla="*/ 0 w 1487033"/>
              <a:gd name="connsiteY7" fmla="*/ 1070663 h 1189626"/>
              <a:gd name="connsiteX8" fmla="*/ 0 w 1487033"/>
              <a:gd name="connsiteY8" fmla="*/ 118963 h 118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7033" h="1189626">
                <a:moveTo>
                  <a:pt x="0" y="118963"/>
                </a:moveTo>
                <a:cubicBezTo>
                  <a:pt x="0" y="53262"/>
                  <a:pt x="53262" y="0"/>
                  <a:pt x="118963" y="0"/>
                </a:cubicBezTo>
                <a:lnTo>
                  <a:pt x="1368070" y="0"/>
                </a:lnTo>
                <a:cubicBezTo>
                  <a:pt x="1433771" y="0"/>
                  <a:pt x="1487033" y="53262"/>
                  <a:pt x="1487033" y="118963"/>
                </a:cubicBezTo>
                <a:lnTo>
                  <a:pt x="1487033" y="1070663"/>
                </a:lnTo>
                <a:cubicBezTo>
                  <a:pt x="1487033" y="1136364"/>
                  <a:pt x="1433771" y="1189626"/>
                  <a:pt x="1368070" y="1189626"/>
                </a:cubicBezTo>
                <a:lnTo>
                  <a:pt x="118963" y="1189626"/>
                </a:lnTo>
                <a:cubicBezTo>
                  <a:pt x="53262" y="1189626"/>
                  <a:pt x="0" y="1136364"/>
                  <a:pt x="0" y="1070663"/>
                </a:cubicBezTo>
                <a:lnTo>
                  <a:pt x="0" y="118963"/>
                </a:lnTo>
                <a:close/>
              </a:path>
            </a:pathLst>
          </a:custGeom>
          <a:ln w="28575">
            <a:prstDash val="sysDot"/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753" tIns="76753" rIns="76753" bIns="76753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kern="1200" noProof="0" dirty="0"/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noProof="0" dirty="0"/>
          </a:p>
        </p:txBody>
      </p:sp>
      <p:grpSp>
        <p:nvGrpSpPr>
          <p:cNvPr id="22575" name="Gruppo 22574">
            <a:extLst>
              <a:ext uri="{FF2B5EF4-FFF2-40B4-BE49-F238E27FC236}">
                <a16:creationId xmlns:a16="http://schemas.microsoft.com/office/drawing/2014/main" id="{0A513B1F-BD1C-DA2C-D7D1-C7D3602AD112}"/>
              </a:ext>
            </a:extLst>
          </p:cNvPr>
          <p:cNvGrpSpPr>
            <a:grpSpLocks noChangeAspect="1"/>
          </p:cNvGrpSpPr>
          <p:nvPr/>
        </p:nvGrpSpPr>
        <p:grpSpPr>
          <a:xfrm>
            <a:off x="1533236" y="959258"/>
            <a:ext cx="8999562" cy="880222"/>
            <a:chOff x="-268926" y="5010042"/>
            <a:chExt cx="9590551" cy="938025"/>
          </a:xfrm>
        </p:grpSpPr>
        <p:pic>
          <p:nvPicPr>
            <p:cNvPr id="22576" name="Picture 2" descr="MIRO">
              <a:extLst>
                <a:ext uri="{FF2B5EF4-FFF2-40B4-BE49-F238E27FC236}">
                  <a16:creationId xmlns:a16="http://schemas.microsoft.com/office/drawing/2014/main" id="{D7F579A4-EE57-D267-9912-71F682C1FA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166" y="5164181"/>
              <a:ext cx="1397051" cy="6516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577" name="Immagine 22576">
              <a:extLst>
                <a:ext uri="{FF2B5EF4-FFF2-40B4-BE49-F238E27FC236}">
                  <a16:creationId xmlns:a16="http://schemas.microsoft.com/office/drawing/2014/main" id="{A4085DA1-3A5F-71E0-655A-E17BBEF60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1831" y="5010042"/>
              <a:ext cx="1324793" cy="868716"/>
            </a:xfrm>
            <a:prstGeom prst="rect">
              <a:avLst/>
            </a:prstGeom>
          </p:spPr>
        </p:pic>
        <p:pic>
          <p:nvPicPr>
            <p:cNvPr id="22578" name="Picture 4" descr="TIFPA Trento Institute for Fundamental Physics and Applications">
              <a:extLst>
                <a:ext uri="{FF2B5EF4-FFF2-40B4-BE49-F238E27FC236}">
                  <a16:creationId xmlns:a16="http://schemas.microsoft.com/office/drawing/2014/main" id="{55D53B8F-26F2-D929-6BC8-B5CECD6CE9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533" y="5149650"/>
              <a:ext cx="1628618" cy="5879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579" name="Picture 2" descr="Kick-off Meeting Microbe_IT (3 February 2021) · Agenda (Indico)">
              <a:extLst>
                <a:ext uri="{FF2B5EF4-FFF2-40B4-BE49-F238E27FC236}">
                  <a16:creationId xmlns:a16="http://schemas.microsoft.com/office/drawing/2014/main" id="{EB8103D0-0472-3BB1-FBD5-76FED3F674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1251" y="5031969"/>
              <a:ext cx="1628619" cy="9160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580" name="CasellaDiTesto 22579">
              <a:extLst>
                <a:ext uri="{FF2B5EF4-FFF2-40B4-BE49-F238E27FC236}">
                  <a16:creationId xmlns:a16="http://schemas.microsoft.com/office/drawing/2014/main" id="{426DD36A-FFA0-DDC9-C2A1-87E39147DC54}"/>
                </a:ext>
              </a:extLst>
            </p:cNvPr>
            <p:cNvSpPr txBox="1"/>
            <p:nvPr/>
          </p:nvSpPr>
          <p:spPr>
            <a:xfrm>
              <a:off x="8186058" y="5125857"/>
              <a:ext cx="11355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ARES</a:t>
              </a:r>
            </a:p>
          </p:txBody>
        </p:sp>
        <p:sp>
          <p:nvSpPr>
            <p:cNvPr id="22581" name="CasellaDiTesto 22580">
              <a:extLst>
                <a:ext uri="{FF2B5EF4-FFF2-40B4-BE49-F238E27FC236}">
                  <a16:creationId xmlns:a16="http://schemas.microsoft.com/office/drawing/2014/main" id="{0A96D113-73AD-8478-28FF-A6E036E59166}"/>
                </a:ext>
              </a:extLst>
            </p:cNvPr>
            <p:cNvSpPr txBox="1"/>
            <p:nvPr/>
          </p:nvSpPr>
          <p:spPr>
            <a:xfrm>
              <a:off x="3880555" y="5125857"/>
              <a:ext cx="1650531" cy="6231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MUSICA</a:t>
              </a:r>
            </a:p>
          </p:txBody>
        </p:sp>
        <p:pic>
          <p:nvPicPr>
            <p:cNvPr id="22582" name="Immagine 22581">
              <a:extLst>
                <a:ext uri="{FF2B5EF4-FFF2-40B4-BE49-F238E27FC236}">
                  <a16:creationId xmlns:a16="http://schemas.microsoft.com/office/drawing/2014/main" id="{9BBD2EBC-F58F-4999-CE72-D573E10E8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68926" y="5126846"/>
              <a:ext cx="1157414" cy="642365"/>
            </a:xfrm>
            <a:prstGeom prst="rect">
              <a:avLst/>
            </a:prstGeom>
          </p:spPr>
        </p:pic>
      </p:grpSp>
      <p:sp>
        <p:nvSpPr>
          <p:cNvPr id="22584" name="Freccia a sinistra 22583">
            <a:extLst>
              <a:ext uri="{FF2B5EF4-FFF2-40B4-BE49-F238E27FC236}">
                <a16:creationId xmlns:a16="http://schemas.microsoft.com/office/drawing/2014/main" id="{D96B4806-D0EA-E3F9-A296-548DFDE046D9}"/>
              </a:ext>
            </a:extLst>
          </p:cNvPr>
          <p:cNvSpPr/>
          <p:nvPr/>
        </p:nvSpPr>
        <p:spPr>
          <a:xfrm rot="16200000">
            <a:off x="5516409" y="4575810"/>
            <a:ext cx="1166838" cy="580430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2585" name="Freccia a sinistra 22584">
            <a:extLst>
              <a:ext uri="{FF2B5EF4-FFF2-40B4-BE49-F238E27FC236}">
                <a16:creationId xmlns:a16="http://schemas.microsoft.com/office/drawing/2014/main" id="{C4B352AD-676B-95DB-E3AC-8F5603717EEC}"/>
              </a:ext>
            </a:extLst>
          </p:cNvPr>
          <p:cNvSpPr/>
          <p:nvPr/>
        </p:nvSpPr>
        <p:spPr>
          <a:xfrm rot="19538950">
            <a:off x="7535468" y="2870886"/>
            <a:ext cx="1166838" cy="580430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2586" name="Freccia a sinistra 22585">
            <a:extLst>
              <a:ext uri="{FF2B5EF4-FFF2-40B4-BE49-F238E27FC236}">
                <a16:creationId xmlns:a16="http://schemas.microsoft.com/office/drawing/2014/main" id="{37B0C349-9C3A-5241-A20E-56B4314B310E}"/>
              </a:ext>
            </a:extLst>
          </p:cNvPr>
          <p:cNvSpPr/>
          <p:nvPr/>
        </p:nvSpPr>
        <p:spPr>
          <a:xfrm rot="12780086">
            <a:off x="3495043" y="2887729"/>
            <a:ext cx="1166838" cy="580430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2587" name="Freccia a sinistra 22586">
            <a:extLst>
              <a:ext uri="{FF2B5EF4-FFF2-40B4-BE49-F238E27FC236}">
                <a16:creationId xmlns:a16="http://schemas.microsoft.com/office/drawing/2014/main" id="{95A248BB-2A1E-B7BD-3B79-0287B7A2BC5B}"/>
              </a:ext>
            </a:extLst>
          </p:cNvPr>
          <p:cNvSpPr/>
          <p:nvPr/>
        </p:nvSpPr>
        <p:spPr>
          <a:xfrm rot="14119617">
            <a:off x="4571564" y="2216185"/>
            <a:ext cx="1166838" cy="580430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2588" name="Figura a mano libera: forma 22587">
            <a:extLst>
              <a:ext uri="{FF2B5EF4-FFF2-40B4-BE49-F238E27FC236}">
                <a16:creationId xmlns:a16="http://schemas.microsoft.com/office/drawing/2014/main" id="{755B91E1-8B1C-10BF-C620-929497D20EA0}"/>
              </a:ext>
            </a:extLst>
          </p:cNvPr>
          <p:cNvSpPr/>
          <p:nvPr/>
        </p:nvSpPr>
        <p:spPr>
          <a:xfrm rot="16200000">
            <a:off x="5081530" y="2315931"/>
            <a:ext cx="2036598" cy="3294728"/>
          </a:xfrm>
          <a:custGeom>
            <a:avLst/>
            <a:gdLst>
              <a:gd name="connsiteX0" fmla="*/ 0 w 2036598"/>
              <a:gd name="connsiteY0" fmla="*/ 1018299 h 2036598"/>
              <a:gd name="connsiteX1" fmla="*/ 1018299 w 2036598"/>
              <a:gd name="connsiteY1" fmla="*/ 0 h 2036598"/>
              <a:gd name="connsiteX2" fmla="*/ 2036598 w 2036598"/>
              <a:gd name="connsiteY2" fmla="*/ 1018299 h 2036598"/>
              <a:gd name="connsiteX3" fmla="*/ 1018299 w 2036598"/>
              <a:gd name="connsiteY3" fmla="*/ 2036598 h 2036598"/>
              <a:gd name="connsiteX4" fmla="*/ 0 w 2036598"/>
              <a:gd name="connsiteY4" fmla="*/ 1018299 h 203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6598" h="2036598">
                <a:moveTo>
                  <a:pt x="0" y="1018299"/>
                </a:moveTo>
                <a:cubicBezTo>
                  <a:pt x="0" y="455908"/>
                  <a:pt x="455908" y="0"/>
                  <a:pt x="1018299" y="0"/>
                </a:cubicBezTo>
                <a:cubicBezTo>
                  <a:pt x="1580690" y="0"/>
                  <a:pt x="2036598" y="455908"/>
                  <a:pt x="2036598" y="1018299"/>
                </a:cubicBezTo>
                <a:cubicBezTo>
                  <a:pt x="2036598" y="1580690"/>
                  <a:pt x="1580690" y="2036598"/>
                  <a:pt x="1018299" y="2036598"/>
                </a:cubicBezTo>
                <a:cubicBezTo>
                  <a:pt x="455908" y="2036598"/>
                  <a:pt x="0" y="1580690"/>
                  <a:pt x="0" y="1018299"/>
                </a:cubicBezTo>
                <a:close/>
              </a:path>
            </a:pathLst>
          </a:custGeom>
          <a:ln w="28575"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20478" tIns="320478" rIns="320478" bIns="320478" numCol="1" spcCol="1270" anchor="ctr" anchorCtr="0">
            <a:noAutofit/>
          </a:bodyPr>
          <a:lstStyle/>
          <a:p>
            <a:pPr marL="0" lvl="0" indent="0" algn="ctr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3500" kern="1200" noProof="0" dirty="0"/>
          </a:p>
        </p:txBody>
      </p:sp>
      <p:sp>
        <p:nvSpPr>
          <p:cNvPr id="22589" name="Freccia a sinistra 22588">
            <a:extLst>
              <a:ext uri="{FF2B5EF4-FFF2-40B4-BE49-F238E27FC236}">
                <a16:creationId xmlns:a16="http://schemas.microsoft.com/office/drawing/2014/main" id="{B5304BEC-9173-D274-6B7B-9E7E569DA472}"/>
              </a:ext>
            </a:extLst>
          </p:cNvPr>
          <p:cNvSpPr/>
          <p:nvPr/>
        </p:nvSpPr>
        <p:spPr>
          <a:xfrm rot="18126980">
            <a:off x="6464033" y="2197251"/>
            <a:ext cx="1166838" cy="580430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2590" name="Figura a mano libera: forma 22589">
            <a:extLst>
              <a:ext uri="{FF2B5EF4-FFF2-40B4-BE49-F238E27FC236}">
                <a16:creationId xmlns:a16="http://schemas.microsoft.com/office/drawing/2014/main" id="{F4295BD4-D14A-496E-6AF7-B4206E9A18FF}"/>
              </a:ext>
            </a:extLst>
          </p:cNvPr>
          <p:cNvSpPr/>
          <p:nvPr/>
        </p:nvSpPr>
        <p:spPr>
          <a:xfrm>
            <a:off x="8121196" y="2581530"/>
            <a:ext cx="2164302" cy="689804"/>
          </a:xfrm>
          <a:custGeom>
            <a:avLst/>
            <a:gdLst>
              <a:gd name="connsiteX0" fmla="*/ 0 w 1934768"/>
              <a:gd name="connsiteY0" fmla="*/ 154781 h 1547814"/>
              <a:gd name="connsiteX1" fmla="*/ 154781 w 1934768"/>
              <a:gd name="connsiteY1" fmla="*/ 0 h 1547814"/>
              <a:gd name="connsiteX2" fmla="*/ 1779987 w 1934768"/>
              <a:gd name="connsiteY2" fmla="*/ 0 h 1547814"/>
              <a:gd name="connsiteX3" fmla="*/ 1934768 w 1934768"/>
              <a:gd name="connsiteY3" fmla="*/ 154781 h 1547814"/>
              <a:gd name="connsiteX4" fmla="*/ 1934768 w 1934768"/>
              <a:gd name="connsiteY4" fmla="*/ 1393033 h 1547814"/>
              <a:gd name="connsiteX5" fmla="*/ 1779987 w 1934768"/>
              <a:gd name="connsiteY5" fmla="*/ 1547814 h 1547814"/>
              <a:gd name="connsiteX6" fmla="*/ 154781 w 1934768"/>
              <a:gd name="connsiteY6" fmla="*/ 1547814 h 1547814"/>
              <a:gd name="connsiteX7" fmla="*/ 0 w 1934768"/>
              <a:gd name="connsiteY7" fmla="*/ 1393033 h 1547814"/>
              <a:gd name="connsiteX8" fmla="*/ 0 w 1934768"/>
              <a:gd name="connsiteY8" fmla="*/ 154781 h 1547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4768" h="1547814">
                <a:moveTo>
                  <a:pt x="0" y="154781"/>
                </a:moveTo>
                <a:cubicBezTo>
                  <a:pt x="0" y="69298"/>
                  <a:pt x="69298" y="0"/>
                  <a:pt x="154781" y="0"/>
                </a:cubicBezTo>
                <a:lnTo>
                  <a:pt x="1779987" y="0"/>
                </a:lnTo>
                <a:cubicBezTo>
                  <a:pt x="1865470" y="0"/>
                  <a:pt x="1934768" y="69298"/>
                  <a:pt x="1934768" y="154781"/>
                </a:cubicBezTo>
                <a:lnTo>
                  <a:pt x="1934768" y="1393033"/>
                </a:lnTo>
                <a:cubicBezTo>
                  <a:pt x="1934768" y="1478516"/>
                  <a:pt x="1865470" y="1547814"/>
                  <a:pt x="1779987" y="1547814"/>
                </a:cubicBezTo>
                <a:lnTo>
                  <a:pt x="154781" y="1547814"/>
                </a:lnTo>
                <a:cubicBezTo>
                  <a:pt x="69298" y="1547814"/>
                  <a:pt x="0" y="1478516"/>
                  <a:pt x="0" y="1393033"/>
                </a:cubicBezTo>
                <a:lnTo>
                  <a:pt x="0" y="154781"/>
                </a:lnTo>
                <a:close/>
              </a:path>
            </a:pathLst>
          </a:custGeom>
          <a:ln w="28575"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7244" tIns="87244" rIns="87244" bIns="87244" numCol="1" spcCol="1270" anchor="ctr" anchorCtr="0">
            <a:noAutofit/>
          </a:bodyPr>
          <a:lstStyle/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Radiation-induced toxicities studies</a:t>
            </a:r>
          </a:p>
        </p:txBody>
      </p:sp>
      <p:sp>
        <p:nvSpPr>
          <p:cNvPr id="22591" name="Figura a mano libera: forma 22590">
            <a:extLst>
              <a:ext uri="{FF2B5EF4-FFF2-40B4-BE49-F238E27FC236}">
                <a16:creationId xmlns:a16="http://schemas.microsoft.com/office/drawing/2014/main" id="{6500DB8E-4860-C095-88C0-36C37C687913}"/>
              </a:ext>
            </a:extLst>
          </p:cNvPr>
          <p:cNvSpPr/>
          <p:nvPr/>
        </p:nvSpPr>
        <p:spPr>
          <a:xfrm>
            <a:off x="3834263" y="1816940"/>
            <a:ext cx="2164301" cy="689803"/>
          </a:xfrm>
          <a:custGeom>
            <a:avLst/>
            <a:gdLst>
              <a:gd name="connsiteX0" fmla="*/ 0 w 1934768"/>
              <a:gd name="connsiteY0" fmla="*/ 154781 h 1547814"/>
              <a:gd name="connsiteX1" fmla="*/ 154781 w 1934768"/>
              <a:gd name="connsiteY1" fmla="*/ 0 h 1547814"/>
              <a:gd name="connsiteX2" fmla="*/ 1779987 w 1934768"/>
              <a:gd name="connsiteY2" fmla="*/ 0 h 1547814"/>
              <a:gd name="connsiteX3" fmla="*/ 1934768 w 1934768"/>
              <a:gd name="connsiteY3" fmla="*/ 154781 h 1547814"/>
              <a:gd name="connsiteX4" fmla="*/ 1934768 w 1934768"/>
              <a:gd name="connsiteY4" fmla="*/ 1393033 h 1547814"/>
              <a:gd name="connsiteX5" fmla="*/ 1779987 w 1934768"/>
              <a:gd name="connsiteY5" fmla="*/ 1547814 h 1547814"/>
              <a:gd name="connsiteX6" fmla="*/ 154781 w 1934768"/>
              <a:gd name="connsiteY6" fmla="*/ 1547814 h 1547814"/>
              <a:gd name="connsiteX7" fmla="*/ 0 w 1934768"/>
              <a:gd name="connsiteY7" fmla="*/ 1393033 h 1547814"/>
              <a:gd name="connsiteX8" fmla="*/ 0 w 1934768"/>
              <a:gd name="connsiteY8" fmla="*/ 154781 h 1547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4768" h="1547814">
                <a:moveTo>
                  <a:pt x="0" y="154781"/>
                </a:moveTo>
                <a:cubicBezTo>
                  <a:pt x="0" y="69298"/>
                  <a:pt x="69298" y="0"/>
                  <a:pt x="154781" y="0"/>
                </a:cubicBezTo>
                <a:lnTo>
                  <a:pt x="1779987" y="0"/>
                </a:lnTo>
                <a:cubicBezTo>
                  <a:pt x="1865470" y="0"/>
                  <a:pt x="1934768" y="69298"/>
                  <a:pt x="1934768" y="154781"/>
                </a:cubicBezTo>
                <a:lnTo>
                  <a:pt x="1934768" y="1393033"/>
                </a:lnTo>
                <a:cubicBezTo>
                  <a:pt x="1934768" y="1478516"/>
                  <a:pt x="1865470" y="1547814"/>
                  <a:pt x="1779987" y="1547814"/>
                </a:cubicBezTo>
                <a:lnTo>
                  <a:pt x="154781" y="1547814"/>
                </a:lnTo>
                <a:cubicBezTo>
                  <a:pt x="69298" y="1547814"/>
                  <a:pt x="0" y="1478516"/>
                  <a:pt x="0" y="1393033"/>
                </a:cubicBezTo>
                <a:lnTo>
                  <a:pt x="0" y="154781"/>
                </a:lnTo>
                <a:close/>
              </a:path>
            </a:pathLst>
          </a:custGeom>
          <a:ln w="28575"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7244" tIns="87244" rIns="87244" bIns="87244" numCol="1" spcCol="1270" anchor="ctr" anchorCtr="0">
            <a:noAutofit/>
          </a:bodyPr>
          <a:lstStyle/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Mechanistic radiation biophysical models</a:t>
            </a:r>
          </a:p>
        </p:txBody>
      </p:sp>
      <p:sp>
        <p:nvSpPr>
          <p:cNvPr id="128" name="Figura a mano libera: forma 127">
            <a:extLst>
              <a:ext uri="{FF2B5EF4-FFF2-40B4-BE49-F238E27FC236}">
                <a16:creationId xmlns:a16="http://schemas.microsoft.com/office/drawing/2014/main" id="{275484CE-7ABC-C2D2-5F5E-7994FA10857C}"/>
              </a:ext>
            </a:extLst>
          </p:cNvPr>
          <p:cNvSpPr/>
          <p:nvPr/>
        </p:nvSpPr>
        <p:spPr>
          <a:xfrm>
            <a:off x="1914160" y="2581530"/>
            <a:ext cx="2164302" cy="689804"/>
          </a:xfrm>
          <a:custGeom>
            <a:avLst/>
            <a:gdLst>
              <a:gd name="connsiteX0" fmla="*/ 0 w 1934768"/>
              <a:gd name="connsiteY0" fmla="*/ 154781 h 1547814"/>
              <a:gd name="connsiteX1" fmla="*/ 154781 w 1934768"/>
              <a:gd name="connsiteY1" fmla="*/ 0 h 1547814"/>
              <a:gd name="connsiteX2" fmla="*/ 1779987 w 1934768"/>
              <a:gd name="connsiteY2" fmla="*/ 0 h 1547814"/>
              <a:gd name="connsiteX3" fmla="*/ 1934768 w 1934768"/>
              <a:gd name="connsiteY3" fmla="*/ 154781 h 1547814"/>
              <a:gd name="connsiteX4" fmla="*/ 1934768 w 1934768"/>
              <a:gd name="connsiteY4" fmla="*/ 1393033 h 1547814"/>
              <a:gd name="connsiteX5" fmla="*/ 1779987 w 1934768"/>
              <a:gd name="connsiteY5" fmla="*/ 1547814 h 1547814"/>
              <a:gd name="connsiteX6" fmla="*/ 154781 w 1934768"/>
              <a:gd name="connsiteY6" fmla="*/ 1547814 h 1547814"/>
              <a:gd name="connsiteX7" fmla="*/ 0 w 1934768"/>
              <a:gd name="connsiteY7" fmla="*/ 1393033 h 1547814"/>
              <a:gd name="connsiteX8" fmla="*/ 0 w 1934768"/>
              <a:gd name="connsiteY8" fmla="*/ 154781 h 1547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4768" h="1547814">
                <a:moveTo>
                  <a:pt x="0" y="154781"/>
                </a:moveTo>
                <a:cubicBezTo>
                  <a:pt x="0" y="69298"/>
                  <a:pt x="69298" y="0"/>
                  <a:pt x="154781" y="0"/>
                </a:cubicBezTo>
                <a:lnTo>
                  <a:pt x="1779987" y="0"/>
                </a:lnTo>
                <a:cubicBezTo>
                  <a:pt x="1865470" y="0"/>
                  <a:pt x="1934768" y="69298"/>
                  <a:pt x="1934768" y="154781"/>
                </a:cubicBezTo>
                <a:lnTo>
                  <a:pt x="1934768" y="1393033"/>
                </a:lnTo>
                <a:cubicBezTo>
                  <a:pt x="1934768" y="1478516"/>
                  <a:pt x="1865470" y="1547814"/>
                  <a:pt x="1779987" y="1547814"/>
                </a:cubicBezTo>
                <a:lnTo>
                  <a:pt x="154781" y="1547814"/>
                </a:lnTo>
                <a:cubicBezTo>
                  <a:pt x="69298" y="1547814"/>
                  <a:pt x="0" y="1478516"/>
                  <a:pt x="0" y="1393033"/>
                </a:cubicBezTo>
                <a:lnTo>
                  <a:pt x="0" y="154781"/>
                </a:lnTo>
                <a:close/>
              </a:path>
            </a:pathLst>
          </a:custGeom>
          <a:ln w="28575"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7244" tIns="87244" rIns="87244" bIns="87244" numCol="1" spcCol="1270" anchor="ctr" anchorCtr="0">
            <a:noAutofit/>
          </a:bodyPr>
          <a:lstStyle/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Treatment planning approaches</a:t>
            </a:r>
          </a:p>
        </p:txBody>
      </p:sp>
      <p:pic>
        <p:nvPicPr>
          <p:cNvPr id="129" name="Immagine 128">
            <a:extLst>
              <a:ext uri="{FF2B5EF4-FFF2-40B4-BE49-F238E27FC236}">
                <a16:creationId xmlns:a16="http://schemas.microsoft.com/office/drawing/2014/main" id="{FEDFF710-2068-92B1-2AFD-EEF7A9FEA9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259" y="3499144"/>
            <a:ext cx="2851140" cy="906663"/>
          </a:xfrm>
          <a:prstGeom prst="rect">
            <a:avLst/>
          </a:prstGeom>
        </p:spPr>
      </p:pic>
      <p:sp>
        <p:nvSpPr>
          <p:cNvPr id="130" name="Figura a mano libera: forma 129">
            <a:extLst>
              <a:ext uri="{FF2B5EF4-FFF2-40B4-BE49-F238E27FC236}">
                <a16:creationId xmlns:a16="http://schemas.microsoft.com/office/drawing/2014/main" id="{27B75268-CCBB-39CA-5BD9-7525846D82B9}"/>
              </a:ext>
            </a:extLst>
          </p:cNvPr>
          <p:cNvSpPr/>
          <p:nvPr/>
        </p:nvSpPr>
        <p:spPr>
          <a:xfrm>
            <a:off x="6182511" y="1816226"/>
            <a:ext cx="2164302" cy="689802"/>
          </a:xfrm>
          <a:custGeom>
            <a:avLst/>
            <a:gdLst>
              <a:gd name="connsiteX0" fmla="*/ 0 w 1934768"/>
              <a:gd name="connsiteY0" fmla="*/ 154781 h 1547814"/>
              <a:gd name="connsiteX1" fmla="*/ 154781 w 1934768"/>
              <a:gd name="connsiteY1" fmla="*/ 0 h 1547814"/>
              <a:gd name="connsiteX2" fmla="*/ 1779987 w 1934768"/>
              <a:gd name="connsiteY2" fmla="*/ 0 h 1547814"/>
              <a:gd name="connsiteX3" fmla="*/ 1934768 w 1934768"/>
              <a:gd name="connsiteY3" fmla="*/ 154781 h 1547814"/>
              <a:gd name="connsiteX4" fmla="*/ 1934768 w 1934768"/>
              <a:gd name="connsiteY4" fmla="*/ 1393033 h 1547814"/>
              <a:gd name="connsiteX5" fmla="*/ 1779987 w 1934768"/>
              <a:gd name="connsiteY5" fmla="*/ 1547814 h 1547814"/>
              <a:gd name="connsiteX6" fmla="*/ 154781 w 1934768"/>
              <a:gd name="connsiteY6" fmla="*/ 1547814 h 1547814"/>
              <a:gd name="connsiteX7" fmla="*/ 0 w 1934768"/>
              <a:gd name="connsiteY7" fmla="*/ 1393033 h 1547814"/>
              <a:gd name="connsiteX8" fmla="*/ 0 w 1934768"/>
              <a:gd name="connsiteY8" fmla="*/ 154781 h 1547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4768" h="1547814">
                <a:moveTo>
                  <a:pt x="0" y="154781"/>
                </a:moveTo>
                <a:cubicBezTo>
                  <a:pt x="0" y="69298"/>
                  <a:pt x="69298" y="0"/>
                  <a:pt x="154781" y="0"/>
                </a:cubicBezTo>
                <a:lnTo>
                  <a:pt x="1779987" y="0"/>
                </a:lnTo>
                <a:cubicBezTo>
                  <a:pt x="1865470" y="0"/>
                  <a:pt x="1934768" y="69298"/>
                  <a:pt x="1934768" y="154781"/>
                </a:cubicBezTo>
                <a:lnTo>
                  <a:pt x="1934768" y="1393033"/>
                </a:lnTo>
                <a:cubicBezTo>
                  <a:pt x="1934768" y="1478516"/>
                  <a:pt x="1865470" y="1547814"/>
                  <a:pt x="1779987" y="1547814"/>
                </a:cubicBezTo>
                <a:lnTo>
                  <a:pt x="154781" y="1547814"/>
                </a:lnTo>
                <a:cubicBezTo>
                  <a:pt x="69298" y="1547814"/>
                  <a:pt x="0" y="1478516"/>
                  <a:pt x="0" y="1393033"/>
                </a:cubicBezTo>
                <a:lnTo>
                  <a:pt x="0" y="154781"/>
                </a:lnTo>
                <a:close/>
              </a:path>
            </a:pathLst>
          </a:custGeom>
          <a:ln w="28575"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7244" tIns="87244" rIns="87244" bIns="87244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Innovative experimental methods  </a:t>
            </a:r>
            <a:endParaRPr lang="en-US" sz="1600" kern="12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Figura a mano libera: forma 130">
            <a:extLst>
              <a:ext uri="{FF2B5EF4-FFF2-40B4-BE49-F238E27FC236}">
                <a16:creationId xmlns:a16="http://schemas.microsoft.com/office/drawing/2014/main" id="{825811F7-59A0-A62E-AD55-AD3B79A793EC}"/>
              </a:ext>
            </a:extLst>
          </p:cNvPr>
          <p:cNvSpPr/>
          <p:nvPr/>
        </p:nvSpPr>
        <p:spPr>
          <a:xfrm>
            <a:off x="4603777" y="5513353"/>
            <a:ext cx="2999648" cy="915151"/>
          </a:xfrm>
          <a:custGeom>
            <a:avLst/>
            <a:gdLst>
              <a:gd name="connsiteX0" fmla="*/ 0 w 1934768"/>
              <a:gd name="connsiteY0" fmla="*/ 154781 h 1547814"/>
              <a:gd name="connsiteX1" fmla="*/ 154781 w 1934768"/>
              <a:gd name="connsiteY1" fmla="*/ 0 h 1547814"/>
              <a:gd name="connsiteX2" fmla="*/ 1779987 w 1934768"/>
              <a:gd name="connsiteY2" fmla="*/ 0 h 1547814"/>
              <a:gd name="connsiteX3" fmla="*/ 1934768 w 1934768"/>
              <a:gd name="connsiteY3" fmla="*/ 154781 h 1547814"/>
              <a:gd name="connsiteX4" fmla="*/ 1934768 w 1934768"/>
              <a:gd name="connsiteY4" fmla="*/ 1393033 h 1547814"/>
              <a:gd name="connsiteX5" fmla="*/ 1779987 w 1934768"/>
              <a:gd name="connsiteY5" fmla="*/ 1547814 h 1547814"/>
              <a:gd name="connsiteX6" fmla="*/ 154781 w 1934768"/>
              <a:gd name="connsiteY6" fmla="*/ 1547814 h 1547814"/>
              <a:gd name="connsiteX7" fmla="*/ 0 w 1934768"/>
              <a:gd name="connsiteY7" fmla="*/ 1393033 h 1547814"/>
              <a:gd name="connsiteX8" fmla="*/ 0 w 1934768"/>
              <a:gd name="connsiteY8" fmla="*/ 154781 h 1547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4768" h="1547814">
                <a:moveTo>
                  <a:pt x="0" y="154781"/>
                </a:moveTo>
                <a:cubicBezTo>
                  <a:pt x="0" y="69298"/>
                  <a:pt x="69298" y="0"/>
                  <a:pt x="154781" y="0"/>
                </a:cubicBezTo>
                <a:lnTo>
                  <a:pt x="1779987" y="0"/>
                </a:lnTo>
                <a:cubicBezTo>
                  <a:pt x="1865470" y="0"/>
                  <a:pt x="1934768" y="69298"/>
                  <a:pt x="1934768" y="154781"/>
                </a:cubicBezTo>
                <a:lnTo>
                  <a:pt x="1934768" y="1393033"/>
                </a:lnTo>
                <a:cubicBezTo>
                  <a:pt x="1934768" y="1478516"/>
                  <a:pt x="1865470" y="1547814"/>
                  <a:pt x="1779987" y="1547814"/>
                </a:cubicBezTo>
                <a:lnTo>
                  <a:pt x="154781" y="1547814"/>
                </a:lnTo>
                <a:cubicBezTo>
                  <a:pt x="69298" y="1547814"/>
                  <a:pt x="0" y="1478516"/>
                  <a:pt x="0" y="1393033"/>
                </a:cubicBezTo>
                <a:lnTo>
                  <a:pt x="0" y="154781"/>
                </a:lnTo>
                <a:close/>
              </a:path>
            </a:pathLst>
          </a:custGeom>
          <a:ln w="28575"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7244" tIns="87244" rIns="87244" bIns="87244" numCol="1" spcCol="1270" anchor="ctr" anchorCtr="0">
            <a:noAutofit/>
          </a:bodyPr>
          <a:lstStyle/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novel combined mathematical modeling- experimental approach for PT</a:t>
            </a:r>
          </a:p>
        </p:txBody>
      </p:sp>
      <p:sp>
        <p:nvSpPr>
          <p:cNvPr id="133" name="Titolo 1">
            <a:extLst>
              <a:ext uri="{FF2B5EF4-FFF2-40B4-BE49-F238E27FC236}">
                <a16:creationId xmlns:a16="http://schemas.microsoft.com/office/drawing/2014/main" id="{2B2387FD-08F1-B2E2-C3AB-35F311EB8332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n-US" sz="4000" b="1" noProof="0" dirty="0">
                <a:solidFill>
                  <a:prstClr val="black"/>
                </a:solidFill>
              </a:rPr>
              <a:t>The main goal of the project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367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74" grpId="0" animBg="1"/>
      <p:bldP spid="22584" grpId="0" animBg="1"/>
      <p:bldP spid="22585" grpId="0" animBg="1"/>
      <p:bldP spid="22586" grpId="0" animBg="1"/>
      <p:bldP spid="22587" grpId="0" animBg="1"/>
      <p:bldP spid="22589" grpId="0" animBg="1"/>
      <p:bldP spid="22590" grpId="0" animBg="1"/>
      <p:bldP spid="22591" grpId="0" animBg="1"/>
      <p:bldP spid="128" grpId="0" animBg="1"/>
      <p:bldP spid="130" grpId="0" animBg="1"/>
      <p:bldP spid="1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C1BE-BB1F-3BE9-6399-E71838178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1">
            <a:extLst>
              <a:ext uri="{FF2B5EF4-FFF2-40B4-BE49-F238E27FC236}">
                <a16:creationId xmlns:a16="http://schemas.microsoft.com/office/drawing/2014/main" id="{CAEAEF4F-B058-6157-A5A6-F5A444547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ACF2684-B17A-3386-D111-9A234E7A3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90897B6-0843-B962-147D-0B76C7C6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56F96DEE-5371-2AD2-6928-83697759741E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n-US" sz="4000" b="1" noProof="0" dirty="0" err="1">
                <a:solidFill>
                  <a:prstClr val="black"/>
                </a:solidFill>
              </a:rPr>
              <a:t>Workpackages</a:t>
            </a:r>
            <a:r>
              <a:rPr lang="en-US" sz="4000" b="1" noProof="0" dirty="0">
                <a:solidFill>
                  <a:prstClr val="black"/>
                </a:solidFill>
              </a:rPr>
              <a:t> organization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4" name="Figura a mano libera: forma 33">
            <a:extLst>
              <a:ext uri="{FF2B5EF4-FFF2-40B4-BE49-F238E27FC236}">
                <a16:creationId xmlns:a16="http://schemas.microsoft.com/office/drawing/2014/main" id="{9EC4C4B5-E027-4DAA-449F-FBF5651220D7}"/>
              </a:ext>
            </a:extLst>
          </p:cNvPr>
          <p:cNvSpPr/>
          <p:nvPr/>
        </p:nvSpPr>
        <p:spPr>
          <a:xfrm>
            <a:off x="704451" y="1872756"/>
            <a:ext cx="1759066" cy="1450861"/>
          </a:xfrm>
          <a:custGeom>
            <a:avLst/>
            <a:gdLst>
              <a:gd name="connsiteX0" fmla="*/ 0 w 1759066"/>
              <a:gd name="connsiteY0" fmla="*/ 145086 h 1450861"/>
              <a:gd name="connsiteX1" fmla="*/ 145086 w 1759066"/>
              <a:gd name="connsiteY1" fmla="*/ 0 h 1450861"/>
              <a:gd name="connsiteX2" fmla="*/ 1613980 w 1759066"/>
              <a:gd name="connsiteY2" fmla="*/ 0 h 1450861"/>
              <a:gd name="connsiteX3" fmla="*/ 1759066 w 1759066"/>
              <a:gd name="connsiteY3" fmla="*/ 145086 h 1450861"/>
              <a:gd name="connsiteX4" fmla="*/ 1759066 w 1759066"/>
              <a:gd name="connsiteY4" fmla="*/ 1305775 h 1450861"/>
              <a:gd name="connsiteX5" fmla="*/ 1613980 w 1759066"/>
              <a:gd name="connsiteY5" fmla="*/ 1450861 h 1450861"/>
              <a:gd name="connsiteX6" fmla="*/ 145086 w 1759066"/>
              <a:gd name="connsiteY6" fmla="*/ 1450861 h 1450861"/>
              <a:gd name="connsiteX7" fmla="*/ 0 w 1759066"/>
              <a:gd name="connsiteY7" fmla="*/ 1305775 h 1450861"/>
              <a:gd name="connsiteX8" fmla="*/ 0 w 1759066"/>
              <a:gd name="connsiteY8" fmla="*/ 145086 h 145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9066" h="1450861">
                <a:moveTo>
                  <a:pt x="0" y="145086"/>
                </a:moveTo>
                <a:cubicBezTo>
                  <a:pt x="0" y="64957"/>
                  <a:pt x="64957" y="0"/>
                  <a:pt x="145086" y="0"/>
                </a:cubicBezTo>
                <a:lnTo>
                  <a:pt x="1613980" y="0"/>
                </a:lnTo>
                <a:cubicBezTo>
                  <a:pt x="1694109" y="0"/>
                  <a:pt x="1759066" y="64957"/>
                  <a:pt x="1759066" y="145086"/>
                </a:cubicBezTo>
                <a:lnTo>
                  <a:pt x="1759066" y="1305775"/>
                </a:lnTo>
                <a:cubicBezTo>
                  <a:pt x="1759066" y="1385904"/>
                  <a:pt x="1694109" y="1450861"/>
                  <a:pt x="1613980" y="1450861"/>
                </a:cubicBezTo>
                <a:lnTo>
                  <a:pt x="145086" y="1450861"/>
                </a:lnTo>
                <a:cubicBezTo>
                  <a:pt x="64957" y="1450861"/>
                  <a:pt x="0" y="1385904"/>
                  <a:pt x="0" y="1305775"/>
                </a:cubicBezTo>
                <a:lnTo>
                  <a:pt x="0" y="145086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7678" tIns="67678" rIns="67678" bIns="378577" numCol="1" spcCol="1270" anchor="t" anchorCtr="0">
            <a:noAutofit/>
          </a:bodyPr>
          <a:lstStyle/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300" kern="1200" noProof="0" dirty="0"/>
              <a:t>Development of a general mechanistic-driven NTCP model</a:t>
            </a:r>
          </a:p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300" kern="1200" noProof="0" dirty="0"/>
              <a:t>Systematic analysis of model parameters</a:t>
            </a:r>
          </a:p>
        </p:txBody>
      </p:sp>
      <p:sp>
        <p:nvSpPr>
          <p:cNvPr id="35" name="Forma 34">
            <a:extLst>
              <a:ext uri="{FF2B5EF4-FFF2-40B4-BE49-F238E27FC236}">
                <a16:creationId xmlns:a16="http://schemas.microsoft.com/office/drawing/2014/main" id="{B161FC5D-D8D8-D3AD-AFB7-51C24FB8816C}"/>
              </a:ext>
            </a:extLst>
          </p:cNvPr>
          <p:cNvSpPr/>
          <p:nvPr/>
        </p:nvSpPr>
        <p:spPr>
          <a:xfrm>
            <a:off x="1703208" y="2254967"/>
            <a:ext cx="1885764" cy="1885764"/>
          </a:xfrm>
          <a:prstGeom prst="leftCircularArrow">
            <a:avLst>
              <a:gd name="adj1" fmla="val 2869"/>
              <a:gd name="adj2" fmla="val 350729"/>
              <a:gd name="adj3" fmla="val 2126240"/>
              <a:gd name="adj4" fmla="val 9024489"/>
              <a:gd name="adj5" fmla="val 3347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6" name="Figura a mano libera: forma 35">
            <a:extLst>
              <a:ext uri="{FF2B5EF4-FFF2-40B4-BE49-F238E27FC236}">
                <a16:creationId xmlns:a16="http://schemas.microsoft.com/office/drawing/2014/main" id="{2C5A5575-0E03-D15E-C757-3F0548F5BBE5}"/>
              </a:ext>
            </a:extLst>
          </p:cNvPr>
          <p:cNvSpPr/>
          <p:nvPr/>
        </p:nvSpPr>
        <p:spPr>
          <a:xfrm>
            <a:off x="1095355" y="3012718"/>
            <a:ext cx="1563614" cy="621797"/>
          </a:xfrm>
          <a:custGeom>
            <a:avLst/>
            <a:gdLst>
              <a:gd name="connsiteX0" fmla="*/ 0 w 1563614"/>
              <a:gd name="connsiteY0" fmla="*/ 62180 h 621797"/>
              <a:gd name="connsiteX1" fmla="*/ 62180 w 1563614"/>
              <a:gd name="connsiteY1" fmla="*/ 0 h 621797"/>
              <a:gd name="connsiteX2" fmla="*/ 1501434 w 1563614"/>
              <a:gd name="connsiteY2" fmla="*/ 0 h 621797"/>
              <a:gd name="connsiteX3" fmla="*/ 1563614 w 1563614"/>
              <a:gd name="connsiteY3" fmla="*/ 62180 h 621797"/>
              <a:gd name="connsiteX4" fmla="*/ 1563614 w 1563614"/>
              <a:gd name="connsiteY4" fmla="*/ 559617 h 621797"/>
              <a:gd name="connsiteX5" fmla="*/ 1501434 w 1563614"/>
              <a:gd name="connsiteY5" fmla="*/ 621797 h 621797"/>
              <a:gd name="connsiteX6" fmla="*/ 62180 w 1563614"/>
              <a:gd name="connsiteY6" fmla="*/ 621797 h 621797"/>
              <a:gd name="connsiteX7" fmla="*/ 0 w 1563614"/>
              <a:gd name="connsiteY7" fmla="*/ 559617 h 621797"/>
              <a:gd name="connsiteX8" fmla="*/ 0 w 1563614"/>
              <a:gd name="connsiteY8" fmla="*/ 62180 h 621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3614" h="621797">
                <a:moveTo>
                  <a:pt x="0" y="62180"/>
                </a:moveTo>
                <a:cubicBezTo>
                  <a:pt x="0" y="27839"/>
                  <a:pt x="27839" y="0"/>
                  <a:pt x="62180" y="0"/>
                </a:cubicBezTo>
                <a:lnTo>
                  <a:pt x="1501434" y="0"/>
                </a:lnTo>
                <a:cubicBezTo>
                  <a:pt x="1535775" y="0"/>
                  <a:pt x="1563614" y="27839"/>
                  <a:pt x="1563614" y="62180"/>
                </a:cubicBezTo>
                <a:lnTo>
                  <a:pt x="1563614" y="559617"/>
                </a:lnTo>
                <a:cubicBezTo>
                  <a:pt x="1563614" y="593958"/>
                  <a:pt x="1535775" y="621797"/>
                  <a:pt x="1501434" y="621797"/>
                </a:cubicBezTo>
                <a:lnTo>
                  <a:pt x="62180" y="621797"/>
                </a:lnTo>
                <a:cubicBezTo>
                  <a:pt x="27839" y="621797"/>
                  <a:pt x="0" y="593958"/>
                  <a:pt x="0" y="559617"/>
                </a:cubicBezTo>
                <a:lnTo>
                  <a:pt x="0" y="621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4887" tIns="62662" rIns="84887" bIns="62662" numCol="1" spcCol="1270" anchor="ctr" anchorCtr="0">
            <a:noAutofit/>
          </a:bodyPr>
          <a:lstStyle/>
          <a:p>
            <a:pPr marL="0" lvl="0" indent="0" algn="ctr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500" kern="1200" noProof="0" dirty="0"/>
              <a:t>WP1.1</a:t>
            </a:r>
          </a:p>
        </p:txBody>
      </p:sp>
      <p:sp>
        <p:nvSpPr>
          <p:cNvPr id="37" name="Figura a mano libera: forma 36">
            <a:extLst>
              <a:ext uri="{FF2B5EF4-FFF2-40B4-BE49-F238E27FC236}">
                <a16:creationId xmlns:a16="http://schemas.microsoft.com/office/drawing/2014/main" id="{69FBA2B6-BF29-BE91-0A8B-A588D36CBFAD}"/>
              </a:ext>
            </a:extLst>
          </p:cNvPr>
          <p:cNvSpPr/>
          <p:nvPr/>
        </p:nvSpPr>
        <p:spPr>
          <a:xfrm>
            <a:off x="2916616" y="1872756"/>
            <a:ext cx="1759066" cy="1450861"/>
          </a:xfrm>
          <a:custGeom>
            <a:avLst/>
            <a:gdLst>
              <a:gd name="connsiteX0" fmla="*/ 0 w 1759066"/>
              <a:gd name="connsiteY0" fmla="*/ 145086 h 1450861"/>
              <a:gd name="connsiteX1" fmla="*/ 145086 w 1759066"/>
              <a:gd name="connsiteY1" fmla="*/ 0 h 1450861"/>
              <a:gd name="connsiteX2" fmla="*/ 1613980 w 1759066"/>
              <a:gd name="connsiteY2" fmla="*/ 0 h 1450861"/>
              <a:gd name="connsiteX3" fmla="*/ 1759066 w 1759066"/>
              <a:gd name="connsiteY3" fmla="*/ 145086 h 1450861"/>
              <a:gd name="connsiteX4" fmla="*/ 1759066 w 1759066"/>
              <a:gd name="connsiteY4" fmla="*/ 1305775 h 1450861"/>
              <a:gd name="connsiteX5" fmla="*/ 1613980 w 1759066"/>
              <a:gd name="connsiteY5" fmla="*/ 1450861 h 1450861"/>
              <a:gd name="connsiteX6" fmla="*/ 145086 w 1759066"/>
              <a:gd name="connsiteY6" fmla="*/ 1450861 h 1450861"/>
              <a:gd name="connsiteX7" fmla="*/ 0 w 1759066"/>
              <a:gd name="connsiteY7" fmla="*/ 1305775 h 1450861"/>
              <a:gd name="connsiteX8" fmla="*/ 0 w 1759066"/>
              <a:gd name="connsiteY8" fmla="*/ 145086 h 145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9066" h="1450861">
                <a:moveTo>
                  <a:pt x="0" y="145086"/>
                </a:moveTo>
                <a:cubicBezTo>
                  <a:pt x="0" y="64957"/>
                  <a:pt x="64957" y="0"/>
                  <a:pt x="145086" y="0"/>
                </a:cubicBezTo>
                <a:lnTo>
                  <a:pt x="1613980" y="0"/>
                </a:lnTo>
                <a:cubicBezTo>
                  <a:pt x="1694109" y="0"/>
                  <a:pt x="1759066" y="64957"/>
                  <a:pt x="1759066" y="145086"/>
                </a:cubicBezTo>
                <a:lnTo>
                  <a:pt x="1759066" y="1305775"/>
                </a:lnTo>
                <a:cubicBezTo>
                  <a:pt x="1759066" y="1385904"/>
                  <a:pt x="1694109" y="1450861"/>
                  <a:pt x="1613980" y="1450861"/>
                </a:cubicBezTo>
                <a:lnTo>
                  <a:pt x="145086" y="1450861"/>
                </a:lnTo>
                <a:cubicBezTo>
                  <a:pt x="64957" y="1450861"/>
                  <a:pt x="0" y="1385904"/>
                  <a:pt x="0" y="1305775"/>
                </a:cubicBezTo>
                <a:lnTo>
                  <a:pt x="0" y="145086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7678" tIns="378577" rIns="67678" bIns="67678" numCol="1" spcCol="1270" anchor="t" anchorCtr="0">
            <a:noAutofit/>
          </a:bodyPr>
          <a:lstStyle/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300" kern="1200" noProof="0" dirty="0"/>
              <a:t>Applications of the NTCP model to </a:t>
            </a:r>
            <a:r>
              <a:rPr lang="en-US" sz="1300" i="1" kern="1200" noProof="0" dirty="0"/>
              <a:t>in-vivo</a:t>
            </a:r>
            <a:r>
              <a:rPr lang="en-US" sz="1300" kern="1200" noProof="0" dirty="0"/>
              <a:t> experimental data from literature</a:t>
            </a:r>
          </a:p>
        </p:txBody>
      </p:sp>
      <p:sp>
        <p:nvSpPr>
          <p:cNvPr id="38" name="Freccia circolare 37">
            <a:extLst>
              <a:ext uri="{FF2B5EF4-FFF2-40B4-BE49-F238E27FC236}">
                <a16:creationId xmlns:a16="http://schemas.microsoft.com/office/drawing/2014/main" id="{FF471770-76EC-566F-9B24-7504EDA789CD}"/>
              </a:ext>
            </a:extLst>
          </p:cNvPr>
          <p:cNvSpPr/>
          <p:nvPr/>
        </p:nvSpPr>
        <p:spPr>
          <a:xfrm>
            <a:off x="3900715" y="998755"/>
            <a:ext cx="2110533" cy="2110533"/>
          </a:xfrm>
          <a:prstGeom prst="circularArrow">
            <a:avLst>
              <a:gd name="adj1" fmla="val 2564"/>
              <a:gd name="adj2" fmla="val 311151"/>
              <a:gd name="adj3" fmla="val 19513338"/>
              <a:gd name="adj4" fmla="val 12575511"/>
              <a:gd name="adj5" fmla="val 2991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9" name="Figura a mano libera: forma 38">
            <a:extLst>
              <a:ext uri="{FF2B5EF4-FFF2-40B4-BE49-F238E27FC236}">
                <a16:creationId xmlns:a16="http://schemas.microsoft.com/office/drawing/2014/main" id="{6EDAC518-B64B-3177-1191-D48E28A45469}"/>
              </a:ext>
            </a:extLst>
          </p:cNvPr>
          <p:cNvSpPr/>
          <p:nvPr/>
        </p:nvSpPr>
        <p:spPr>
          <a:xfrm>
            <a:off x="3307520" y="1561857"/>
            <a:ext cx="1563614" cy="621797"/>
          </a:xfrm>
          <a:custGeom>
            <a:avLst/>
            <a:gdLst>
              <a:gd name="connsiteX0" fmla="*/ 0 w 1563614"/>
              <a:gd name="connsiteY0" fmla="*/ 62180 h 621797"/>
              <a:gd name="connsiteX1" fmla="*/ 62180 w 1563614"/>
              <a:gd name="connsiteY1" fmla="*/ 0 h 621797"/>
              <a:gd name="connsiteX2" fmla="*/ 1501434 w 1563614"/>
              <a:gd name="connsiteY2" fmla="*/ 0 h 621797"/>
              <a:gd name="connsiteX3" fmla="*/ 1563614 w 1563614"/>
              <a:gd name="connsiteY3" fmla="*/ 62180 h 621797"/>
              <a:gd name="connsiteX4" fmla="*/ 1563614 w 1563614"/>
              <a:gd name="connsiteY4" fmla="*/ 559617 h 621797"/>
              <a:gd name="connsiteX5" fmla="*/ 1501434 w 1563614"/>
              <a:gd name="connsiteY5" fmla="*/ 621797 h 621797"/>
              <a:gd name="connsiteX6" fmla="*/ 62180 w 1563614"/>
              <a:gd name="connsiteY6" fmla="*/ 621797 h 621797"/>
              <a:gd name="connsiteX7" fmla="*/ 0 w 1563614"/>
              <a:gd name="connsiteY7" fmla="*/ 559617 h 621797"/>
              <a:gd name="connsiteX8" fmla="*/ 0 w 1563614"/>
              <a:gd name="connsiteY8" fmla="*/ 62180 h 621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3614" h="621797">
                <a:moveTo>
                  <a:pt x="0" y="62180"/>
                </a:moveTo>
                <a:cubicBezTo>
                  <a:pt x="0" y="27839"/>
                  <a:pt x="27839" y="0"/>
                  <a:pt x="62180" y="0"/>
                </a:cubicBezTo>
                <a:lnTo>
                  <a:pt x="1501434" y="0"/>
                </a:lnTo>
                <a:cubicBezTo>
                  <a:pt x="1535775" y="0"/>
                  <a:pt x="1563614" y="27839"/>
                  <a:pt x="1563614" y="62180"/>
                </a:cubicBezTo>
                <a:lnTo>
                  <a:pt x="1563614" y="559617"/>
                </a:lnTo>
                <a:cubicBezTo>
                  <a:pt x="1563614" y="593958"/>
                  <a:pt x="1535775" y="621797"/>
                  <a:pt x="1501434" y="621797"/>
                </a:cubicBezTo>
                <a:lnTo>
                  <a:pt x="62180" y="621797"/>
                </a:lnTo>
                <a:cubicBezTo>
                  <a:pt x="27839" y="621797"/>
                  <a:pt x="0" y="593958"/>
                  <a:pt x="0" y="559617"/>
                </a:cubicBezTo>
                <a:lnTo>
                  <a:pt x="0" y="621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4887" tIns="62662" rIns="84887" bIns="62662" numCol="1" spcCol="1270" anchor="ctr" anchorCtr="0">
            <a:noAutofit/>
          </a:bodyPr>
          <a:lstStyle/>
          <a:p>
            <a:pPr marL="0" lvl="0" indent="0" algn="ctr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500" kern="1200" noProof="0" dirty="0"/>
              <a:t>WP1.2</a:t>
            </a:r>
          </a:p>
        </p:txBody>
      </p:sp>
      <p:sp>
        <p:nvSpPr>
          <p:cNvPr id="40" name="Figura a mano libera: forma 39">
            <a:extLst>
              <a:ext uri="{FF2B5EF4-FFF2-40B4-BE49-F238E27FC236}">
                <a16:creationId xmlns:a16="http://schemas.microsoft.com/office/drawing/2014/main" id="{6B5220FC-98B4-D9D6-84D9-2314BA09540C}"/>
              </a:ext>
            </a:extLst>
          </p:cNvPr>
          <p:cNvSpPr/>
          <p:nvPr/>
        </p:nvSpPr>
        <p:spPr>
          <a:xfrm>
            <a:off x="5128782" y="1872756"/>
            <a:ext cx="1759066" cy="1450861"/>
          </a:xfrm>
          <a:custGeom>
            <a:avLst/>
            <a:gdLst>
              <a:gd name="connsiteX0" fmla="*/ 0 w 1759066"/>
              <a:gd name="connsiteY0" fmla="*/ 145086 h 1450861"/>
              <a:gd name="connsiteX1" fmla="*/ 145086 w 1759066"/>
              <a:gd name="connsiteY1" fmla="*/ 0 h 1450861"/>
              <a:gd name="connsiteX2" fmla="*/ 1613980 w 1759066"/>
              <a:gd name="connsiteY2" fmla="*/ 0 h 1450861"/>
              <a:gd name="connsiteX3" fmla="*/ 1759066 w 1759066"/>
              <a:gd name="connsiteY3" fmla="*/ 145086 h 1450861"/>
              <a:gd name="connsiteX4" fmla="*/ 1759066 w 1759066"/>
              <a:gd name="connsiteY4" fmla="*/ 1305775 h 1450861"/>
              <a:gd name="connsiteX5" fmla="*/ 1613980 w 1759066"/>
              <a:gd name="connsiteY5" fmla="*/ 1450861 h 1450861"/>
              <a:gd name="connsiteX6" fmla="*/ 145086 w 1759066"/>
              <a:gd name="connsiteY6" fmla="*/ 1450861 h 1450861"/>
              <a:gd name="connsiteX7" fmla="*/ 0 w 1759066"/>
              <a:gd name="connsiteY7" fmla="*/ 1305775 h 1450861"/>
              <a:gd name="connsiteX8" fmla="*/ 0 w 1759066"/>
              <a:gd name="connsiteY8" fmla="*/ 145086 h 145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9066" h="1450861">
                <a:moveTo>
                  <a:pt x="0" y="145086"/>
                </a:moveTo>
                <a:cubicBezTo>
                  <a:pt x="0" y="64957"/>
                  <a:pt x="64957" y="0"/>
                  <a:pt x="145086" y="0"/>
                </a:cubicBezTo>
                <a:lnTo>
                  <a:pt x="1613980" y="0"/>
                </a:lnTo>
                <a:cubicBezTo>
                  <a:pt x="1694109" y="0"/>
                  <a:pt x="1759066" y="64957"/>
                  <a:pt x="1759066" y="145086"/>
                </a:cubicBezTo>
                <a:lnTo>
                  <a:pt x="1759066" y="1305775"/>
                </a:lnTo>
                <a:cubicBezTo>
                  <a:pt x="1759066" y="1385904"/>
                  <a:pt x="1694109" y="1450861"/>
                  <a:pt x="1613980" y="1450861"/>
                </a:cubicBezTo>
                <a:lnTo>
                  <a:pt x="145086" y="1450861"/>
                </a:lnTo>
                <a:cubicBezTo>
                  <a:pt x="64957" y="1450861"/>
                  <a:pt x="0" y="1385904"/>
                  <a:pt x="0" y="1305775"/>
                </a:cubicBezTo>
                <a:lnTo>
                  <a:pt x="0" y="145086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058" tIns="60058" rIns="60058" bIns="370957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300" kern="1200" noProof="0" dirty="0"/>
              <a:t>Model extension towards clinically relevant predictions for simple geometries</a:t>
            </a:r>
          </a:p>
        </p:txBody>
      </p:sp>
      <p:sp>
        <p:nvSpPr>
          <p:cNvPr id="41" name="Figura a mano libera: forma 40">
            <a:extLst>
              <a:ext uri="{FF2B5EF4-FFF2-40B4-BE49-F238E27FC236}">
                <a16:creationId xmlns:a16="http://schemas.microsoft.com/office/drawing/2014/main" id="{81D1A1A9-43F3-8C53-FAD9-E872E31FF97E}"/>
              </a:ext>
            </a:extLst>
          </p:cNvPr>
          <p:cNvSpPr/>
          <p:nvPr/>
        </p:nvSpPr>
        <p:spPr>
          <a:xfrm>
            <a:off x="5519685" y="3012718"/>
            <a:ext cx="1563614" cy="621797"/>
          </a:xfrm>
          <a:custGeom>
            <a:avLst/>
            <a:gdLst>
              <a:gd name="connsiteX0" fmla="*/ 0 w 1563614"/>
              <a:gd name="connsiteY0" fmla="*/ 62180 h 621797"/>
              <a:gd name="connsiteX1" fmla="*/ 62180 w 1563614"/>
              <a:gd name="connsiteY1" fmla="*/ 0 h 621797"/>
              <a:gd name="connsiteX2" fmla="*/ 1501434 w 1563614"/>
              <a:gd name="connsiteY2" fmla="*/ 0 h 621797"/>
              <a:gd name="connsiteX3" fmla="*/ 1563614 w 1563614"/>
              <a:gd name="connsiteY3" fmla="*/ 62180 h 621797"/>
              <a:gd name="connsiteX4" fmla="*/ 1563614 w 1563614"/>
              <a:gd name="connsiteY4" fmla="*/ 559617 h 621797"/>
              <a:gd name="connsiteX5" fmla="*/ 1501434 w 1563614"/>
              <a:gd name="connsiteY5" fmla="*/ 621797 h 621797"/>
              <a:gd name="connsiteX6" fmla="*/ 62180 w 1563614"/>
              <a:gd name="connsiteY6" fmla="*/ 621797 h 621797"/>
              <a:gd name="connsiteX7" fmla="*/ 0 w 1563614"/>
              <a:gd name="connsiteY7" fmla="*/ 559617 h 621797"/>
              <a:gd name="connsiteX8" fmla="*/ 0 w 1563614"/>
              <a:gd name="connsiteY8" fmla="*/ 62180 h 621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3614" h="621797">
                <a:moveTo>
                  <a:pt x="0" y="62180"/>
                </a:moveTo>
                <a:cubicBezTo>
                  <a:pt x="0" y="27839"/>
                  <a:pt x="27839" y="0"/>
                  <a:pt x="62180" y="0"/>
                </a:cubicBezTo>
                <a:lnTo>
                  <a:pt x="1501434" y="0"/>
                </a:lnTo>
                <a:cubicBezTo>
                  <a:pt x="1535775" y="0"/>
                  <a:pt x="1563614" y="27839"/>
                  <a:pt x="1563614" y="62180"/>
                </a:cubicBezTo>
                <a:lnTo>
                  <a:pt x="1563614" y="559617"/>
                </a:lnTo>
                <a:cubicBezTo>
                  <a:pt x="1563614" y="593958"/>
                  <a:pt x="1535775" y="621797"/>
                  <a:pt x="1501434" y="621797"/>
                </a:cubicBezTo>
                <a:lnTo>
                  <a:pt x="62180" y="621797"/>
                </a:lnTo>
                <a:cubicBezTo>
                  <a:pt x="27839" y="621797"/>
                  <a:pt x="0" y="593958"/>
                  <a:pt x="0" y="559617"/>
                </a:cubicBezTo>
                <a:lnTo>
                  <a:pt x="0" y="621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4887" tIns="62662" rIns="84887" bIns="62662" numCol="1" spcCol="1270" anchor="ctr" anchorCtr="0">
            <a:noAutofit/>
          </a:bodyPr>
          <a:lstStyle/>
          <a:p>
            <a:pPr marL="0" lvl="0" indent="0" algn="ctr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500" kern="1200" noProof="0" dirty="0"/>
              <a:t>WP1.3</a:t>
            </a:r>
          </a:p>
        </p:txBody>
      </p:sp>
      <p:sp>
        <p:nvSpPr>
          <p:cNvPr id="4" name="Figura a mano libera: forma 3">
            <a:extLst>
              <a:ext uri="{FF2B5EF4-FFF2-40B4-BE49-F238E27FC236}">
                <a16:creationId xmlns:a16="http://schemas.microsoft.com/office/drawing/2014/main" id="{20C639F3-4827-919C-C64E-6E62E2527E32}"/>
              </a:ext>
            </a:extLst>
          </p:cNvPr>
          <p:cNvSpPr/>
          <p:nvPr/>
        </p:nvSpPr>
        <p:spPr>
          <a:xfrm>
            <a:off x="5134936" y="3975951"/>
            <a:ext cx="1759066" cy="1450861"/>
          </a:xfrm>
          <a:custGeom>
            <a:avLst/>
            <a:gdLst>
              <a:gd name="connsiteX0" fmla="*/ 0 w 1759066"/>
              <a:gd name="connsiteY0" fmla="*/ 145086 h 1450861"/>
              <a:gd name="connsiteX1" fmla="*/ 145086 w 1759066"/>
              <a:gd name="connsiteY1" fmla="*/ 0 h 1450861"/>
              <a:gd name="connsiteX2" fmla="*/ 1613980 w 1759066"/>
              <a:gd name="connsiteY2" fmla="*/ 0 h 1450861"/>
              <a:gd name="connsiteX3" fmla="*/ 1759066 w 1759066"/>
              <a:gd name="connsiteY3" fmla="*/ 145086 h 1450861"/>
              <a:gd name="connsiteX4" fmla="*/ 1759066 w 1759066"/>
              <a:gd name="connsiteY4" fmla="*/ 1305775 h 1450861"/>
              <a:gd name="connsiteX5" fmla="*/ 1613980 w 1759066"/>
              <a:gd name="connsiteY5" fmla="*/ 1450861 h 1450861"/>
              <a:gd name="connsiteX6" fmla="*/ 145086 w 1759066"/>
              <a:gd name="connsiteY6" fmla="*/ 1450861 h 1450861"/>
              <a:gd name="connsiteX7" fmla="*/ 0 w 1759066"/>
              <a:gd name="connsiteY7" fmla="*/ 1305775 h 1450861"/>
              <a:gd name="connsiteX8" fmla="*/ 0 w 1759066"/>
              <a:gd name="connsiteY8" fmla="*/ 145086 h 145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9066" h="1450861">
                <a:moveTo>
                  <a:pt x="0" y="145086"/>
                </a:moveTo>
                <a:cubicBezTo>
                  <a:pt x="0" y="64957"/>
                  <a:pt x="64957" y="0"/>
                  <a:pt x="145086" y="0"/>
                </a:cubicBezTo>
                <a:lnTo>
                  <a:pt x="1613980" y="0"/>
                </a:lnTo>
                <a:cubicBezTo>
                  <a:pt x="1694109" y="0"/>
                  <a:pt x="1759066" y="64957"/>
                  <a:pt x="1759066" y="145086"/>
                </a:cubicBezTo>
                <a:lnTo>
                  <a:pt x="1759066" y="1305775"/>
                </a:lnTo>
                <a:cubicBezTo>
                  <a:pt x="1759066" y="1385904"/>
                  <a:pt x="1694109" y="1450861"/>
                  <a:pt x="1613980" y="1450861"/>
                </a:cubicBezTo>
                <a:lnTo>
                  <a:pt x="145086" y="1450861"/>
                </a:lnTo>
                <a:cubicBezTo>
                  <a:pt x="64957" y="1450861"/>
                  <a:pt x="0" y="1385904"/>
                  <a:pt x="0" y="1305775"/>
                </a:cubicBezTo>
                <a:lnTo>
                  <a:pt x="0" y="145086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8153" tIns="58153" rIns="58153" bIns="369052" numCol="1" spcCol="1270" anchor="t" anchorCtr="0">
            <a:noAutofit/>
          </a:bodyPr>
          <a:lstStyle/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300" kern="1200" noProof="0" dirty="0"/>
              <a:t>Irradiation of multi-layer tissues with X-ray and proton beams</a:t>
            </a:r>
          </a:p>
          <a:p>
            <a:pPr marL="114300" lvl="1" indent="-114300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300" kern="1200" noProof="0" dirty="0"/>
              <a:t>Bio-chemical </a:t>
            </a:r>
            <a:r>
              <a:rPr lang="en-US" sz="1300" noProof="0" dirty="0"/>
              <a:t>and histological </a:t>
            </a:r>
            <a:r>
              <a:rPr lang="en-US" sz="1300" kern="1200" noProof="0" dirty="0"/>
              <a:t>analyses</a:t>
            </a:r>
          </a:p>
        </p:txBody>
      </p:sp>
      <p:sp>
        <p:nvSpPr>
          <p:cNvPr id="8" name="Forma 7">
            <a:extLst>
              <a:ext uri="{FF2B5EF4-FFF2-40B4-BE49-F238E27FC236}">
                <a16:creationId xmlns:a16="http://schemas.microsoft.com/office/drawing/2014/main" id="{4692B4DB-5469-3DE9-21BE-7D9D31B3DF4F}"/>
              </a:ext>
            </a:extLst>
          </p:cNvPr>
          <p:cNvSpPr/>
          <p:nvPr/>
        </p:nvSpPr>
        <p:spPr>
          <a:xfrm>
            <a:off x="6133693" y="4358162"/>
            <a:ext cx="1885764" cy="1885764"/>
          </a:xfrm>
          <a:prstGeom prst="leftCircularArrow">
            <a:avLst>
              <a:gd name="adj1" fmla="val 2869"/>
              <a:gd name="adj2" fmla="val 350729"/>
              <a:gd name="adj3" fmla="val 2126240"/>
              <a:gd name="adj4" fmla="val 9024489"/>
              <a:gd name="adj5" fmla="val 3347"/>
            </a:avLst>
          </a:prstGeom>
        </p:spPr>
        <p:style>
          <a:lnRef idx="0">
            <a:schemeClr val="accent6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1" name="Figura a mano libera: forma 10">
            <a:extLst>
              <a:ext uri="{FF2B5EF4-FFF2-40B4-BE49-F238E27FC236}">
                <a16:creationId xmlns:a16="http://schemas.microsoft.com/office/drawing/2014/main" id="{703BD26C-28D2-1F59-1620-8B6540B03A44}"/>
              </a:ext>
            </a:extLst>
          </p:cNvPr>
          <p:cNvSpPr/>
          <p:nvPr/>
        </p:nvSpPr>
        <p:spPr>
          <a:xfrm>
            <a:off x="5525840" y="5115913"/>
            <a:ext cx="1563614" cy="621797"/>
          </a:xfrm>
          <a:custGeom>
            <a:avLst/>
            <a:gdLst>
              <a:gd name="connsiteX0" fmla="*/ 0 w 1563614"/>
              <a:gd name="connsiteY0" fmla="*/ 62180 h 621797"/>
              <a:gd name="connsiteX1" fmla="*/ 62180 w 1563614"/>
              <a:gd name="connsiteY1" fmla="*/ 0 h 621797"/>
              <a:gd name="connsiteX2" fmla="*/ 1501434 w 1563614"/>
              <a:gd name="connsiteY2" fmla="*/ 0 h 621797"/>
              <a:gd name="connsiteX3" fmla="*/ 1563614 w 1563614"/>
              <a:gd name="connsiteY3" fmla="*/ 62180 h 621797"/>
              <a:gd name="connsiteX4" fmla="*/ 1563614 w 1563614"/>
              <a:gd name="connsiteY4" fmla="*/ 559617 h 621797"/>
              <a:gd name="connsiteX5" fmla="*/ 1501434 w 1563614"/>
              <a:gd name="connsiteY5" fmla="*/ 621797 h 621797"/>
              <a:gd name="connsiteX6" fmla="*/ 62180 w 1563614"/>
              <a:gd name="connsiteY6" fmla="*/ 621797 h 621797"/>
              <a:gd name="connsiteX7" fmla="*/ 0 w 1563614"/>
              <a:gd name="connsiteY7" fmla="*/ 559617 h 621797"/>
              <a:gd name="connsiteX8" fmla="*/ 0 w 1563614"/>
              <a:gd name="connsiteY8" fmla="*/ 62180 h 621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3614" h="621797">
                <a:moveTo>
                  <a:pt x="0" y="62180"/>
                </a:moveTo>
                <a:cubicBezTo>
                  <a:pt x="0" y="27839"/>
                  <a:pt x="27839" y="0"/>
                  <a:pt x="62180" y="0"/>
                </a:cubicBezTo>
                <a:lnTo>
                  <a:pt x="1501434" y="0"/>
                </a:lnTo>
                <a:cubicBezTo>
                  <a:pt x="1535775" y="0"/>
                  <a:pt x="1563614" y="27839"/>
                  <a:pt x="1563614" y="62180"/>
                </a:cubicBezTo>
                <a:lnTo>
                  <a:pt x="1563614" y="559617"/>
                </a:lnTo>
                <a:cubicBezTo>
                  <a:pt x="1563614" y="593958"/>
                  <a:pt x="1535775" y="621797"/>
                  <a:pt x="1501434" y="621797"/>
                </a:cubicBezTo>
                <a:lnTo>
                  <a:pt x="62180" y="621797"/>
                </a:lnTo>
                <a:cubicBezTo>
                  <a:pt x="27839" y="621797"/>
                  <a:pt x="0" y="593958"/>
                  <a:pt x="0" y="559617"/>
                </a:cubicBezTo>
                <a:lnTo>
                  <a:pt x="0" y="621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4887" tIns="62662" rIns="84887" bIns="62662" numCol="1" spcCol="1270" anchor="ctr" anchorCtr="0">
            <a:noAutofit/>
          </a:bodyPr>
          <a:lstStyle/>
          <a:p>
            <a:pPr marL="0" lvl="0" indent="0" algn="ctr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500" kern="1200" noProof="0" dirty="0"/>
              <a:t>WP2.1</a:t>
            </a:r>
          </a:p>
        </p:txBody>
      </p:sp>
      <p:sp>
        <p:nvSpPr>
          <p:cNvPr id="12" name="Figura a mano libera: forma 11">
            <a:extLst>
              <a:ext uri="{FF2B5EF4-FFF2-40B4-BE49-F238E27FC236}">
                <a16:creationId xmlns:a16="http://schemas.microsoft.com/office/drawing/2014/main" id="{AC376D3D-8154-8E4C-373A-CB1BCF2FDC4B}"/>
              </a:ext>
            </a:extLst>
          </p:cNvPr>
          <p:cNvSpPr/>
          <p:nvPr/>
        </p:nvSpPr>
        <p:spPr>
          <a:xfrm>
            <a:off x="7347101" y="3975951"/>
            <a:ext cx="1759066" cy="1450861"/>
          </a:xfrm>
          <a:custGeom>
            <a:avLst/>
            <a:gdLst>
              <a:gd name="connsiteX0" fmla="*/ 0 w 1759066"/>
              <a:gd name="connsiteY0" fmla="*/ 145086 h 1450861"/>
              <a:gd name="connsiteX1" fmla="*/ 145086 w 1759066"/>
              <a:gd name="connsiteY1" fmla="*/ 0 h 1450861"/>
              <a:gd name="connsiteX2" fmla="*/ 1613980 w 1759066"/>
              <a:gd name="connsiteY2" fmla="*/ 0 h 1450861"/>
              <a:gd name="connsiteX3" fmla="*/ 1759066 w 1759066"/>
              <a:gd name="connsiteY3" fmla="*/ 145086 h 1450861"/>
              <a:gd name="connsiteX4" fmla="*/ 1759066 w 1759066"/>
              <a:gd name="connsiteY4" fmla="*/ 1305775 h 1450861"/>
              <a:gd name="connsiteX5" fmla="*/ 1613980 w 1759066"/>
              <a:gd name="connsiteY5" fmla="*/ 1450861 h 1450861"/>
              <a:gd name="connsiteX6" fmla="*/ 145086 w 1759066"/>
              <a:gd name="connsiteY6" fmla="*/ 1450861 h 1450861"/>
              <a:gd name="connsiteX7" fmla="*/ 0 w 1759066"/>
              <a:gd name="connsiteY7" fmla="*/ 1305775 h 1450861"/>
              <a:gd name="connsiteX8" fmla="*/ 0 w 1759066"/>
              <a:gd name="connsiteY8" fmla="*/ 145086 h 145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9066" h="1450861">
                <a:moveTo>
                  <a:pt x="0" y="145086"/>
                </a:moveTo>
                <a:cubicBezTo>
                  <a:pt x="0" y="64957"/>
                  <a:pt x="64957" y="0"/>
                  <a:pt x="145086" y="0"/>
                </a:cubicBezTo>
                <a:lnTo>
                  <a:pt x="1613980" y="0"/>
                </a:lnTo>
                <a:cubicBezTo>
                  <a:pt x="1694109" y="0"/>
                  <a:pt x="1759066" y="64957"/>
                  <a:pt x="1759066" y="145086"/>
                </a:cubicBezTo>
                <a:lnTo>
                  <a:pt x="1759066" y="1305775"/>
                </a:lnTo>
                <a:cubicBezTo>
                  <a:pt x="1759066" y="1385904"/>
                  <a:pt x="1694109" y="1450861"/>
                  <a:pt x="1613980" y="1450861"/>
                </a:cubicBezTo>
                <a:lnTo>
                  <a:pt x="145086" y="1450861"/>
                </a:lnTo>
                <a:cubicBezTo>
                  <a:pt x="64957" y="1450861"/>
                  <a:pt x="0" y="1385904"/>
                  <a:pt x="0" y="1305775"/>
                </a:cubicBezTo>
                <a:lnTo>
                  <a:pt x="0" y="145086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8153" tIns="369052" rIns="58153" bIns="58153" numCol="1" spcCol="1270" anchor="t" anchorCtr="0">
            <a:noAutofit/>
          </a:bodyPr>
          <a:lstStyle/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300" kern="1200" noProof="0" dirty="0"/>
              <a:t>Development of a specific mechanistic-driven model for skin lesions</a:t>
            </a:r>
          </a:p>
        </p:txBody>
      </p:sp>
      <p:sp>
        <p:nvSpPr>
          <p:cNvPr id="13" name="Freccia circolare 12">
            <a:extLst>
              <a:ext uri="{FF2B5EF4-FFF2-40B4-BE49-F238E27FC236}">
                <a16:creationId xmlns:a16="http://schemas.microsoft.com/office/drawing/2014/main" id="{66B54C90-3A54-B444-FF0C-980769241830}"/>
              </a:ext>
            </a:extLst>
          </p:cNvPr>
          <p:cNvSpPr/>
          <p:nvPr/>
        </p:nvSpPr>
        <p:spPr>
          <a:xfrm>
            <a:off x="8331200" y="3101950"/>
            <a:ext cx="2110533" cy="2110533"/>
          </a:xfrm>
          <a:prstGeom prst="circularArrow">
            <a:avLst>
              <a:gd name="adj1" fmla="val 2564"/>
              <a:gd name="adj2" fmla="val 311151"/>
              <a:gd name="adj3" fmla="val 19513338"/>
              <a:gd name="adj4" fmla="val 12575511"/>
              <a:gd name="adj5" fmla="val 2991"/>
            </a:avLst>
          </a:prstGeom>
        </p:spPr>
        <p:style>
          <a:lnRef idx="0">
            <a:schemeClr val="accent6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4" name="Figura a mano libera: forma 13">
            <a:extLst>
              <a:ext uri="{FF2B5EF4-FFF2-40B4-BE49-F238E27FC236}">
                <a16:creationId xmlns:a16="http://schemas.microsoft.com/office/drawing/2014/main" id="{3082D46B-4752-F3AD-B108-7CD3547C9898}"/>
              </a:ext>
            </a:extLst>
          </p:cNvPr>
          <p:cNvSpPr/>
          <p:nvPr/>
        </p:nvSpPr>
        <p:spPr>
          <a:xfrm>
            <a:off x="7738005" y="3665052"/>
            <a:ext cx="1563614" cy="621797"/>
          </a:xfrm>
          <a:custGeom>
            <a:avLst/>
            <a:gdLst>
              <a:gd name="connsiteX0" fmla="*/ 0 w 1563614"/>
              <a:gd name="connsiteY0" fmla="*/ 62180 h 621797"/>
              <a:gd name="connsiteX1" fmla="*/ 62180 w 1563614"/>
              <a:gd name="connsiteY1" fmla="*/ 0 h 621797"/>
              <a:gd name="connsiteX2" fmla="*/ 1501434 w 1563614"/>
              <a:gd name="connsiteY2" fmla="*/ 0 h 621797"/>
              <a:gd name="connsiteX3" fmla="*/ 1563614 w 1563614"/>
              <a:gd name="connsiteY3" fmla="*/ 62180 h 621797"/>
              <a:gd name="connsiteX4" fmla="*/ 1563614 w 1563614"/>
              <a:gd name="connsiteY4" fmla="*/ 559617 h 621797"/>
              <a:gd name="connsiteX5" fmla="*/ 1501434 w 1563614"/>
              <a:gd name="connsiteY5" fmla="*/ 621797 h 621797"/>
              <a:gd name="connsiteX6" fmla="*/ 62180 w 1563614"/>
              <a:gd name="connsiteY6" fmla="*/ 621797 h 621797"/>
              <a:gd name="connsiteX7" fmla="*/ 0 w 1563614"/>
              <a:gd name="connsiteY7" fmla="*/ 559617 h 621797"/>
              <a:gd name="connsiteX8" fmla="*/ 0 w 1563614"/>
              <a:gd name="connsiteY8" fmla="*/ 62180 h 621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3614" h="621797">
                <a:moveTo>
                  <a:pt x="0" y="62180"/>
                </a:moveTo>
                <a:cubicBezTo>
                  <a:pt x="0" y="27839"/>
                  <a:pt x="27839" y="0"/>
                  <a:pt x="62180" y="0"/>
                </a:cubicBezTo>
                <a:lnTo>
                  <a:pt x="1501434" y="0"/>
                </a:lnTo>
                <a:cubicBezTo>
                  <a:pt x="1535775" y="0"/>
                  <a:pt x="1563614" y="27839"/>
                  <a:pt x="1563614" y="62180"/>
                </a:cubicBezTo>
                <a:lnTo>
                  <a:pt x="1563614" y="559617"/>
                </a:lnTo>
                <a:cubicBezTo>
                  <a:pt x="1563614" y="593958"/>
                  <a:pt x="1535775" y="621797"/>
                  <a:pt x="1501434" y="621797"/>
                </a:cubicBezTo>
                <a:lnTo>
                  <a:pt x="62180" y="621797"/>
                </a:lnTo>
                <a:cubicBezTo>
                  <a:pt x="27839" y="621797"/>
                  <a:pt x="0" y="593958"/>
                  <a:pt x="0" y="559617"/>
                </a:cubicBezTo>
                <a:lnTo>
                  <a:pt x="0" y="621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4887" tIns="62662" rIns="84887" bIns="62662" numCol="1" spcCol="1270" anchor="ctr" anchorCtr="0">
            <a:noAutofit/>
          </a:bodyPr>
          <a:lstStyle/>
          <a:p>
            <a:pPr marL="0" lvl="0" indent="0" algn="ctr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500" kern="1200" noProof="0" dirty="0"/>
              <a:t>WP2.2</a:t>
            </a:r>
          </a:p>
        </p:txBody>
      </p:sp>
      <p:sp>
        <p:nvSpPr>
          <p:cNvPr id="16" name="Figura a mano libera: forma 15">
            <a:extLst>
              <a:ext uri="{FF2B5EF4-FFF2-40B4-BE49-F238E27FC236}">
                <a16:creationId xmlns:a16="http://schemas.microsoft.com/office/drawing/2014/main" id="{78C20C4B-07E4-D130-61A4-8CFB56F7EF0D}"/>
              </a:ext>
            </a:extLst>
          </p:cNvPr>
          <p:cNvSpPr/>
          <p:nvPr/>
        </p:nvSpPr>
        <p:spPr>
          <a:xfrm>
            <a:off x="9559267" y="3975951"/>
            <a:ext cx="1759066" cy="1450861"/>
          </a:xfrm>
          <a:custGeom>
            <a:avLst/>
            <a:gdLst>
              <a:gd name="connsiteX0" fmla="*/ 0 w 1759066"/>
              <a:gd name="connsiteY0" fmla="*/ 145086 h 1450861"/>
              <a:gd name="connsiteX1" fmla="*/ 145086 w 1759066"/>
              <a:gd name="connsiteY1" fmla="*/ 0 h 1450861"/>
              <a:gd name="connsiteX2" fmla="*/ 1613980 w 1759066"/>
              <a:gd name="connsiteY2" fmla="*/ 0 h 1450861"/>
              <a:gd name="connsiteX3" fmla="*/ 1759066 w 1759066"/>
              <a:gd name="connsiteY3" fmla="*/ 145086 h 1450861"/>
              <a:gd name="connsiteX4" fmla="*/ 1759066 w 1759066"/>
              <a:gd name="connsiteY4" fmla="*/ 1305775 h 1450861"/>
              <a:gd name="connsiteX5" fmla="*/ 1613980 w 1759066"/>
              <a:gd name="connsiteY5" fmla="*/ 1450861 h 1450861"/>
              <a:gd name="connsiteX6" fmla="*/ 145086 w 1759066"/>
              <a:gd name="connsiteY6" fmla="*/ 1450861 h 1450861"/>
              <a:gd name="connsiteX7" fmla="*/ 0 w 1759066"/>
              <a:gd name="connsiteY7" fmla="*/ 1305775 h 1450861"/>
              <a:gd name="connsiteX8" fmla="*/ 0 w 1759066"/>
              <a:gd name="connsiteY8" fmla="*/ 145086 h 145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9066" h="1450861">
                <a:moveTo>
                  <a:pt x="0" y="145086"/>
                </a:moveTo>
                <a:cubicBezTo>
                  <a:pt x="0" y="64957"/>
                  <a:pt x="64957" y="0"/>
                  <a:pt x="145086" y="0"/>
                </a:cubicBezTo>
                <a:lnTo>
                  <a:pt x="1613980" y="0"/>
                </a:lnTo>
                <a:cubicBezTo>
                  <a:pt x="1694109" y="0"/>
                  <a:pt x="1759066" y="64957"/>
                  <a:pt x="1759066" y="145086"/>
                </a:cubicBezTo>
                <a:lnTo>
                  <a:pt x="1759066" y="1305775"/>
                </a:lnTo>
                <a:cubicBezTo>
                  <a:pt x="1759066" y="1385904"/>
                  <a:pt x="1694109" y="1450861"/>
                  <a:pt x="1613980" y="1450861"/>
                </a:cubicBezTo>
                <a:lnTo>
                  <a:pt x="145086" y="1450861"/>
                </a:lnTo>
                <a:cubicBezTo>
                  <a:pt x="64957" y="1450861"/>
                  <a:pt x="0" y="1385904"/>
                  <a:pt x="0" y="1305775"/>
                </a:cubicBezTo>
                <a:lnTo>
                  <a:pt x="0" y="145086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8153" tIns="58153" rIns="58153" bIns="369052" numCol="1" spcCol="1270" anchor="t" anchorCtr="0">
            <a:noAutofit/>
          </a:bodyPr>
          <a:lstStyle/>
          <a:p>
            <a:pPr marL="114300" lvl="1" indent="-114300" algn="l" defTabSz="5778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300" kern="1200" noProof="0" dirty="0"/>
              <a:t>Calibration of bio-chemical model parameters on in-house skin data</a:t>
            </a:r>
          </a:p>
        </p:txBody>
      </p:sp>
      <p:sp>
        <p:nvSpPr>
          <p:cNvPr id="17" name="Figura a mano libera: forma 16">
            <a:extLst>
              <a:ext uri="{FF2B5EF4-FFF2-40B4-BE49-F238E27FC236}">
                <a16:creationId xmlns:a16="http://schemas.microsoft.com/office/drawing/2014/main" id="{00406A30-1A20-C95E-EA54-1CFD8886B4DE}"/>
              </a:ext>
            </a:extLst>
          </p:cNvPr>
          <p:cNvSpPr/>
          <p:nvPr/>
        </p:nvSpPr>
        <p:spPr>
          <a:xfrm>
            <a:off x="9950170" y="5115913"/>
            <a:ext cx="1563614" cy="621797"/>
          </a:xfrm>
          <a:custGeom>
            <a:avLst/>
            <a:gdLst>
              <a:gd name="connsiteX0" fmla="*/ 0 w 1563614"/>
              <a:gd name="connsiteY0" fmla="*/ 62180 h 621797"/>
              <a:gd name="connsiteX1" fmla="*/ 62180 w 1563614"/>
              <a:gd name="connsiteY1" fmla="*/ 0 h 621797"/>
              <a:gd name="connsiteX2" fmla="*/ 1501434 w 1563614"/>
              <a:gd name="connsiteY2" fmla="*/ 0 h 621797"/>
              <a:gd name="connsiteX3" fmla="*/ 1563614 w 1563614"/>
              <a:gd name="connsiteY3" fmla="*/ 62180 h 621797"/>
              <a:gd name="connsiteX4" fmla="*/ 1563614 w 1563614"/>
              <a:gd name="connsiteY4" fmla="*/ 559617 h 621797"/>
              <a:gd name="connsiteX5" fmla="*/ 1501434 w 1563614"/>
              <a:gd name="connsiteY5" fmla="*/ 621797 h 621797"/>
              <a:gd name="connsiteX6" fmla="*/ 62180 w 1563614"/>
              <a:gd name="connsiteY6" fmla="*/ 621797 h 621797"/>
              <a:gd name="connsiteX7" fmla="*/ 0 w 1563614"/>
              <a:gd name="connsiteY7" fmla="*/ 559617 h 621797"/>
              <a:gd name="connsiteX8" fmla="*/ 0 w 1563614"/>
              <a:gd name="connsiteY8" fmla="*/ 62180 h 621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3614" h="621797">
                <a:moveTo>
                  <a:pt x="0" y="62180"/>
                </a:moveTo>
                <a:cubicBezTo>
                  <a:pt x="0" y="27839"/>
                  <a:pt x="27839" y="0"/>
                  <a:pt x="62180" y="0"/>
                </a:cubicBezTo>
                <a:lnTo>
                  <a:pt x="1501434" y="0"/>
                </a:lnTo>
                <a:cubicBezTo>
                  <a:pt x="1535775" y="0"/>
                  <a:pt x="1563614" y="27839"/>
                  <a:pt x="1563614" y="62180"/>
                </a:cubicBezTo>
                <a:lnTo>
                  <a:pt x="1563614" y="559617"/>
                </a:lnTo>
                <a:cubicBezTo>
                  <a:pt x="1563614" y="593958"/>
                  <a:pt x="1535775" y="621797"/>
                  <a:pt x="1501434" y="621797"/>
                </a:cubicBezTo>
                <a:lnTo>
                  <a:pt x="62180" y="621797"/>
                </a:lnTo>
                <a:cubicBezTo>
                  <a:pt x="27839" y="621797"/>
                  <a:pt x="0" y="593958"/>
                  <a:pt x="0" y="559617"/>
                </a:cubicBezTo>
                <a:lnTo>
                  <a:pt x="0" y="6218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4887" tIns="62662" rIns="84887" bIns="62662" numCol="1" spcCol="1270" anchor="ctr" anchorCtr="0">
            <a:noAutofit/>
          </a:bodyPr>
          <a:lstStyle/>
          <a:p>
            <a:pPr marL="0" lvl="0" indent="0" algn="ctr" defTabSz="1555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500" kern="1200" noProof="0" dirty="0"/>
              <a:t>WP2.3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E3DE3A5-C4FF-3AEF-AF84-77FFC571575D}"/>
              </a:ext>
            </a:extLst>
          </p:cNvPr>
          <p:cNvSpPr txBox="1"/>
          <p:nvPr/>
        </p:nvSpPr>
        <p:spPr>
          <a:xfrm>
            <a:off x="703664" y="854324"/>
            <a:ext cx="2451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>
                <a:solidFill>
                  <a:srgbClr val="3C78D8"/>
                </a:solidFill>
              </a:rPr>
              <a:t>WP1</a:t>
            </a:r>
            <a:r>
              <a:rPr lang="en-US" b="1" noProof="0" dirty="0"/>
              <a:t>: NTCP modeling for particle therapy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869328B-4FC9-4937-5596-D9FA169B4AB7}"/>
              </a:ext>
            </a:extLst>
          </p:cNvPr>
          <p:cNvSpPr txBox="1"/>
          <p:nvPr/>
        </p:nvSpPr>
        <p:spPr>
          <a:xfrm>
            <a:off x="8450664" y="5771575"/>
            <a:ext cx="3063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>
                <a:solidFill>
                  <a:srgbClr val="6AA84F"/>
                </a:solidFill>
              </a:rPr>
              <a:t>WP2</a:t>
            </a:r>
            <a:r>
              <a:rPr lang="en-US" b="1" noProof="0" dirty="0"/>
              <a:t>: Skin toxicity modeling and proton beam experiments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CFE69445-D09A-139D-BF19-663AB03A624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4" t="31839" r="19668" b="31464"/>
          <a:stretch/>
        </p:blipFill>
        <p:spPr>
          <a:xfrm>
            <a:off x="1659129" y="4279539"/>
            <a:ext cx="1161421" cy="397067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D9CD26FD-E1D7-5FEF-EA43-EC57733552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64" y="4172553"/>
            <a:ext cx="992820" cy="619901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43C6469F-C752-6D84-BF0E-9F675F31F3F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8" r="22355" b="6883"/>
          <a:stretch/>
        </p:blipFill>
        <p:spPr>
          <a:xfrm>
            <a:off x="750171" y="4783592"/>
            <a:ext cx="1274446" cy="402401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1EF3104A-E4C2-5A7F-9ECA-DB0CE85982E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4" t="31839" r="19668" b="31464"/>
          <a:stretch/>
        </p:blipFill>
        <p:spPr>
          <a:xfrm>
            <a:off x="10187266" y="1656687"/>
            <a:ext cx="1161421" cy="397067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8059E62E-53E6-A45B-D688-0375F2833F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557" y="1582693"/>
            <a:ext cx="992820" cy="619901"/>
          </a:xfrm>
          <a:prstGeom prst="rect">
            <a:avLst/>
          </a:prstGeom>
        </p:spPr>
      </p:pic>
      <p:grpSp>
        <p:nvGrpSpPr>
          <p:cNvPr id="26" name="Gruppo 25">
            <a:extLst>
              <a:ext uri="{FF2B5EF4-FFF2-40B4-BE49-F238E27FC236}">
                <a16:creationId xmlns:a16="http://schemas.microsoft.com/office/drawing/2014/main" id="{10B8A0FE-5E80-CE75-438B-A97B9C37BE64}"/>
              </a:ext>
            </a:extLst>
          </p:cNvPr>
          <p:cNvGrpSpPr>
            <a:grpSpLocks noChangeAspect="1"/>
          </p:cNvGrpSpPr>
          <p:nvPr/>
        </p:nvGrpSpPr>
        <p:grpSpPr>
          <a:xfrm>
            <a:off x="9227557" y="2170733"/>
            <a:ext cx="745565" cy="365125"/>
            <a:chOff x="2491255" y="6297394"/>
            <a:chExt cx="1090145" cy="533876"/>
          </a:xfrm>
        </p:grpSpPr>
        <p:pic>
          <p:nvPicPr>
            <p:cNvPr id="27" name="Immagine 26">
              <a:extLst>
                <a:ext uri="{FF2B5EF4-FFF2-40B4-BE49-F238E27FC236}">
                  <a16:creationId xmlns:a16="http://schemas.microsoft.com/office/drawing/2014/main" id="{34EA68BD-3BCF-FE46-B278-72E5D724D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941"/>
            <a:stretch>
              <a:fillRect/>
            </a:stretch>
          </p:blipFill>
          <p:spPr>
            <a:xfrm>
              <a:off x="2491255" y="6297394"/>
              <a:ext cx="1090145" cy="460181"/>
            </a:xfrm>
            <a:prstGeom prst="rect">
              <a:avLst/>
            </a:prstGeom>
          </p:spPr>
        </p:pic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D5AF2297-3BC9-E8C9-3809-DBB7829C6B25}"/>
                </a:ext>
              </a:extLst>
            </p:cNvPr>
            <p:cNvSpPr txBox="1"/>
            <p:nvPr/>
          </p:nvSpPr>
          <p:spPr>
            <a:xfrm>
              <a:off x="3036327" y="6615826"/>
              <a:ext cx="47000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noProof="0" dirty="0">
                  <a:solidFill>
                    <a:srgbClr val="4E92A9"/>
                  </a:solidFill>
                </a:rPr>
                <a:t>PAVIA</a:t>
              </a:r>
            </a:p>
          </p:txBody>
        </p:sp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A8DFAB0C-43B1-29F1-A24E-5C8AFB048BB8}"/>
              </a:ext>
            </a:extLst>
          </p:cNvPr>
          <p:cNvGrpSpPr>
            <a:grpSpLocks noChangeAspect="1"/>
          </p:cNvGrpSpPr>
          <p:nvPr/>
        </p:nvGrpSpPr>
        <p:grpSpPr>
          <a:xfrm>
            <a:off x="9227556" y="2578167"/>
            <a:ext cx="745565" cy="365125"/>
            <a:chOff x="3679890" y="6270239"/>
            <a:chExt cx="1090145" cy="533876"/>
          </a:xfrm>
        </p:grpSpPr>
        <p:pic>
          <p:nvPicPr>
            <p:cNvPr id="30" name="Immagine 29">
              <a:extLst>
                <a:ext uri="{FF2B5EF4-FFF2-40B4-BE49-F238E27FC236}">
                  <a16:creationId xmlns:a16="http://schemas.microsoft.com/office/drawing/2014/main" id="{11892C1E-1213-C613-39CC-25A5D04AC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941"/>
            <a:stretch>
              <a:fillRect/>
            </a:stretch>
          </p:blipFill>
          <p:spPr>
            <a:xfrm>
              <a:off x="3679890" y="6270239"/>
              <a:ext cx="1090145" cy="460181"/>
            </a:xfrm>
            <a:prstGeom prst="rect">
              <a:avLst/>
            </a:prstGeom>
          </p:spPr>
        </p:pic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FB284942-2184-D8AA-0727-357C4E06A31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24962" y="6588671"/>
              <a:ext cx="5373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noProof="0" dirty="0">
                  <a:solidFill>
                    <a:srgbClr val="4E92A9"/>
                  </a:solidFill>
                </a:rPr>
                <a:t>NAPOLI</a:t>
              </a:r>
            </a:p>
          </p:txBody>
        </p:sp>
      </p:grpSp>
      <p:pic>
        <p:nvPicPr>
          <p:cNvPr id="32" name="Picture 4" descr="Brand Identity | Università di Pavia">
            <a:extLst>
              <a:ext uri="{FF2B5EF4-FFF2-40B4-BE49-F238E27FC236}">
                <a16:creationId xmlns:a16="http://schemas.microsoft.com/office/drawing/2014/main" id="{D2E039AB-0C10-C7D9-9161-6403394FE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864"/>
          <a:stretch>
            <a:fillRect/>
          </a:stretch>
        </p:blipFill>
        <p:spPr bwMode="auto">
          <a:xfrm>
            <a:off x="10181621" y="2138517"/>
            <a:ext cx="926373" cy="42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 descr="UniParthenope: info sull'Università degli studi di Napoli Parthenope">
            <a:extLst>
              <a:ext uri="{FF2B5EF4-FFF2-40B4-BE49-F238E27FC236}">
                <a16:creationId xmlns:a16="http://schemas.microsoft.com/office/drawing/2014/main" id="{D782DF04-0A01-E837-19C0-4FD3510EC1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6" t="28342" r="8139" b="27335"/>
          <a:stretch>
            <a:fillRect/>
          </a:stretch>
        </p:blipFill>
        <p:spPr bwMode="auto">
          <a:xfrm>
            <a:off x="10181621" y="2586426"/>
            <a:ext cx="1332163" cy="397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69AEAE41-B572-4186-8F7C-8D4F624FBE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399" y="137073"/>
            <a:ext cx="2358606" cy="750037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94573127-D091-A82C-0F11-AEFC039450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7027" y="4798811"/>
            <a:ext cx="1421702" cy="36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8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29B4-634F-BEFE-C36C-9D96E67CE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BFC615D-45AF-F542-282E-8A983C6B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5580EEE-8A66-1658-BA86-D851273EA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FB20A15-F2D0-B5C1-E312-EB43951E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B94F1BF6-D5B6-D139-0A9C-B5F32EF17185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The workflow of the GSM</a:t>
            </a:r>
            <a:r>
              <a:rPr kumimoji="0" lang="en-US" sz="4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-based NTCP model </a:t>
            </a:r>
          </a:p>
        </p:txBody>
      </p:sp>
      <p:pic>
        <p:nvPicPr>
          <p:cNvPr id="57" name="Immagine 56">
            <a:extLst>
              <a:ext uri="{FF2B5EF4-FFF2-40B4-BE49-F238E27FC236}">
                <a16:creationId xmlns:a16="http://schemas.microsoft.com/office/drawing/2014/main" id="{30517D99-F350-3C77-E0DA-0F3B9CB29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154" y="970834"/>
            <a:ext cx="7516274" cy="5382376"/>
          </a:xfrm>
          <a:prstGeom prst="rect">
            <a:avLst/>
          </a:prstGeom>
        </p:spPr>
      </p:pic>
      <p:pic>
        <p:nvPicPr>
          <p:cNvPr id="58" name="Immagine 57" descr="Immagine che contiene testo, diagramma, cerchio, schermata&#10;&#10;Il contenuto generato dall'IA potrebbe non essere corretto.">
            <a:extLst>
              <a:ext uri="{FF2B5EF4-FFF2-40B4-BE49-F238E27FC236}">
                <a16:creationId xmlns:a16="http://schemas.microsoft.com/office/drawing/2014/main" id="{03986C98-938D-6EE5-85CC-A8BC7950A3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"/>
          <a:stretch/>
        </p:blipFill>
        <p:spPr>
          <a:xfrm>
            <a:off x="2334154" y="970835"/>
            <a:ext cx="7523691" cy="5385514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3F1872D4-55E8-444B-F138-26328933C0C4}"/>
              </a:ext>
            </a:extLst>
          </p:cNvPr>
          <p:cNvSpPr txBox="1"/>
          <p:nvPr/>
        </p:nvSpPr>
        <p:spPr>
          <a:xfrm>
            <a:off x="1697634" y="1213363"/>
            <a:ext cx="247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Energy deposition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F68771CC-E923-6899-D24A-92578DF63FD2}"/>
              </a:ext>
            </a:extLst>
          </p:cNvPr>
          <p:cNvSpPr txBox="1"/>
          <p:nvPr/>
        </p:nvSpPr>
        <p:spPr>
          <a:xfrm>
            <a:off x="6833819" y="5928114"/>
            <a:ext cx="3097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(iii) Single-cell response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B2E43238-C481-6ABE-A836-FD9A115CDBDF}"/>
              </a:ext>
            </a:extLst>
          </p:cNvPr>
          <p:cNvSpPr txBox="1"/>
          <p:nvPr/>
        </p:nvSpPr>
        <p:spPr>
          <a:xfrm>
            <a:off x="2028669" y="4376459"/>
            <a:ext cx="2994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(ii) DNA damage formation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85134010-0A45-72AE-1E83-707B14A914CF}"/>
              </a:ext>
            </a:extLst>
          </p:cNvPr>
          <p:cNvSpPr txBox="1"/>
          <p:nvPr/>
        </p:nvSpPr>
        <p:spPr>
          <a:xfrm>
            <a:off x="8870207" y="838935"/>
            <a:ext cx="287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(iv) Whole organ effect</a:t>
            </a:r>
          </a:p>
        </p:txBody>
      </p:sp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5B063F9C-0CBB-5EC0-3D15-3EE6041E5766}"/>
              </a:ext>
            </a:extLst>
          </p:cNvPr>
          <p:cNvCxnSpPr/>
          <p:nvPr/>
        </p:nvCxnSpPr>
        <p:spPr>
          <a:xfrm>
            <a:off x="7289612" y="4984683"/>
            <a:ext cx="4430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668B17F2-5F12-C0A2-3388-A15EC8329F77}"/>
              </a:ext>
            </a:extLst>
          </p:cNvPr>
          <p:cNvSpPr txBox="1"/>
          <p:nvPr/>
        </p:nvSpPr>
        <p:spPr>
          <a:xfrm>
            <a:off x="7667599" y="4662382"/>
            <a:ext cx="954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Cell survival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ttangolo 64">
                <a:extLst>
                  <a:ext uri="{FF2B5EF4-FFF2-40B4-BE49-F238E27FC236}">
                    <a16:creationId xmlns:a16="http://schemas.microsoft.com/office/drawing/2014/main" id="{0ED1785E-0608-9CF1-9531-29F8E726C161}"/>
                  </a:ext>
                </a:extLst>
              </p:cNvPr>
              <p:cNvSpPr/>
              <p:nvPr/>
            </p:nvSpPr>
            <p:spPr>
              <a:xfrm>
                <a:off x="5527290" y="4464181"/>
                <a:ext cx="33695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2"/>
                        </m:rPr>
                        <a:rPr kumimoji="0" lang="en-US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𝒓</m:t>
                      </m:r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5" name="Rettangolo 64">
                <a:extLst>
                  <a:ext uri="{FF2B5EF4-FFF2-40B4-BE49-F238E27FC236}">
                    <a16:creationId xmlns:a16="http://schemas.microsoft.com/office/drawing/2014/main" id="{0ED1785E-0608-9CF1-9531-29F8E726C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290" y="4464181"/>
                <a:ext cx="33695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ttangolo 65">
                <a:extLst>
                  <a:ext uri="{FF2B5EF4-FFF2-40B4-BE49-F238E27FC236}">
                    <a16:creationId xmlns:a16="http://schemas.microsoft.com/office/drawing/2014/main" id="{892C0AA2-59CC-6818-2486-5AC67BBF70A2}"/>
                  </a:ext>
                </a:extLst>
              </p:cNvPr>
              <p:cNvSpPr/>
              <p:nvPr/>
            </p:nvSpPr>
            <p:spPr>
              <a:xfrm>
                <a:off x="5509657" y="5247157"/>
                <a:ext cx="35939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2"/>
                        </m:rPr>
                        <a:rPr kumimoji="0" lang="en-US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𝒂</m:t>
                      </m:r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6" name="Rettangolo 65">
                <a:extLst>
                  <a:ext uri="{FF2B5EF4-FFF2-40B4-BE49-F238E27FC236}">
                    <a16:creationId xmlns:a16="http://schemas.microsoft.com/office/drawing/2014/main" id="{892C0AA2-59CC-6818-2486-5AC67BBF70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657" y="5247157"/>
                <a:ext cx="35939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ttangolo 66">
                <a:extLst>
                  <a:ext uri="{FF2B5EF4-FFF2-40B4-BE49-F238E27FC236}">
                    <a16:creationId xmlns:a16="http://schemas.microsoft.com/office/drawing/2014/main" id="{BDA17AEC-0793-628B-5145-7615BFDA4E38}"/>
                  </a:ext>
                </a:extLst>
              </p:cNvPr>
              <p:cNvSpPr/>
              <p:nvPr/>
            </p:nvSpPr>
            <p:spPr>
              <a:xfrm>
                <a:off x="5293979" y="4892674"/>
                <a:ext cx="35137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𝒃</m:t>
                      </m:r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7" name="Rettangolo 66">
                <a:extLst>
                  <a:ext uri="{FF2B5EF4-FFF2-40B4-BE49-F238E27FC236}">
                    <a16:creationId xmlns:a16="http://schemas.microsoft.com/office/drawing/2014/main" id="{BDA17AEC-0793-628B-5145-7615BFDA4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79" y="4892674"/>
                <a:ext cx="35137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ttangolo 68">
                <a:extLst>
                  <a:ext uri="{FF2B5EF4-FFF2-40B4-BE49-F238E27FC236}">
                    <a16:creationId xmlns:a16="http://schemas.microsoft.com/office/drawing/2014/main" id="{E03AA3B4-998C-8A82-E175-5D85D7A0EC81}"/>
                  </a:ext>
                </a:extLst>
              </p:cNvPr>
              <p:cNvSpPr/>
              <p:nvPr/>
            </p:nvSpPr>
            <p:spPr>
              <a:xfrm>
                <a:off x="3067676" y="2081929"/>
                <a:ext cx="33214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𝒛</m:t>
                      </m:r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9" name="Rettangolo 68">
                <a:extLst>
                  <a:ext uri="{FF2B5EF4-FFF2-40B4-BE49-F238E27FC236}">
                    <a16:creationId xmlns:a16="http://schemas.microsoft.com/office/drawing/2014/main" id="{E03AA3B4-998C-8A82-E175-5D85D7A0EC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676" y="2081929"/>
                <a:ext cx="332142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ttangolo arrotondato 55">
            <a:extLst>
              <a:ext uri="{FF2B5EF4-FFF2-40B4-BE49-F238E27FC236}">
                <a16:creationId xmlns:a16="http://schemas.microsoft.com/office/drawing/2014/main" id="{B7F93306-DE4C-9A43-255C-1151FE7D4C50}"/>
              </a:ext>
            </a:extLst>
          </p:cNvPr>
          <p:cNvSpPr/>
          <p:nvPr/>
        </p:nvSpPr>
        <p:spPr>
          <a:xfrm>
            <a:off x="6698824" y="860138"/>
            <a:ext cx="5047697" cy="3301071"/>
          </a:xfrm>
          <a:prstGeom prst="roundRect">
            <a:avLst>
              <a:gd name="adj" fmla="val 20941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D7AB0353-671D-EDC7-75EB-DAD3AFBF1594}"/>
              </a:ext>
            </a:extLst>
          </p:cNvPr>
          <p:cNvSpPr txBox="1"/>
          <p:nvPr/>
        </p:nvSpPr>
        <p:spPr>
          <a:xfrm>
            <a:off x="9556117" y="1791665"/>
            <a:ext cx="22055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NTCP/TCP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Relative Seriality model 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2435ACCE-E7B5-5C5A-8BB1-6BEEDAE23F42}"/>
              </a:ext>
            </a:extLst>
          </p:cNvPr>
          <p:cNvSpPr txBox="1"/>
          <p:nvPr/>
        </p:nvSpPr>
        <p:spPr>
          <a:xfrm>
            <a:off x="9875790" y="2417710"/>
            <a:ext cx="1562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P. Kallman et al., Int. J.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Radiat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. Biol. (1992)</a:t>
            </a:r>
          </a:p>
        </p:txBody>
      </p:sp>
      <p:sp>
        <p:nvSpPr>
          <p:cNvPr id="7" name="Freccia a sinistra 6">
            <a:extLst>
              <a:ext uri="{FF2B5EF4-FFF2-40B4-BE49-F238E27FC236}">
                <a16:creationId xmlns:a16="http://schemas.microsoft.com/office/drawing/2014/main" id="{BF0A3D37-0CF8-73F3-480B-9F1717999398}"/>
              </a:ext>
            </a:extLst>
          </p:cNvPr>
          <p:cNvSpPr/>
          <p:nvPr/>
        </p:nvSpPr>
        <p:spPr>
          <a:xfrm rot="16200000">
            <a:off x="10222214" y="4363787"/>
            <a:ext cx="597459" cy="473940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6BEF5E56-8C26-7F12-174D-615497113D65}"/>
              </a:ext>
            </a:extLst>
          </p:cNvPr>
          <p:cNvCxnSpPr>
            <a:cxnSpLocks/>
          </p:cNvCxnSpPr>
          <p:nvPr/>
        </p:nvCxnSpPr>
        <p:spPr>
          <a:xfrm>
            <a:off x="8115766" y="2907075"/>
            <a:ext cx="580272" cy="23375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ECC27B94-4050-F616-D72A-F793CAA8C86B}"/>
              </a:ext>
            </a:extLst>
          </p:cNvPr>
          <p:cNvCxnSpPr>
            <a:cxnSpLocks/>
          </p:cNvCxnSpPr>
          <p:nvPr/>
        </p:nvCxnSpPr>
        <p:spPr>
          <a:xfrm flipH="1">
            <a:off x="8679668" y="2751418"/>
            <a:ext cx="294739" cy="39159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AE314104-20E4-3DEA-33A4-44E82DDB5230}"/>
              </a:ext>
            </a:extLst>
          </p:cNvPr>
          <p:cNvCxnSpPr>
            <a:cxnSpLocks/>
          </p:cNvCxnSpPr>
          <p:nvPr/>
        </p:nvCxnSpPr>
        <p:spPr>
          <a:xfrm flipH="1">
            <a:off x="8115766" y="2561646"/>
            <a:ext cx="357959" cy="350909"/>
          </a:xfrm>
          <a:prstGeom prst="line">
            <a:avLst/>
          </a:prstGeom>
          <a:ln w="1905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2D483277-9779-A077-2A2A-C9A92CE4990E}"/>
              </a:ext>
            </a:extLst>
          </p:cNvPr>
          <p:cNvCxnSpPr>
            <a:cxnSpLocks/>
          </p:cNvCxnSpPr>
          <p:nvPr/>
        </p:nvCxnSpPr>
        <p:spPr>
          <a:xfrm>
            <a:off x="8462985" y="2563510"/>
            <a:ext cx="500644" cy="187761"/>
          </a:xfrm>
          <a:prstGeom prst="line">
            <a:avLst/>
          </a:prstGeom>
          <a:ln w="1905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8B14E2E5-3F46-ADED-73B7-051F7A0E2BCB}"/>
              </a:ext>
            </a:extLst>
          </p:cNvPr>
          <p:cNvCxnSpPr>
            <a:cxnSpLocks/>
          </p:cNvCxnSpPr>
          <p:nvPr/>
        </p:nvCxnSpPr>
        <p:spPr>
          <a:xfrm>
            <a:off x="8113427" y="2378209"/>
            <a:ext cx="580272" cy="23375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0508C843-7728-ACE2-C2C4-7C1FB9082D7A}"/>
              </a:ext>
            </a:extLst>
          </p:cNvPr>
          <p:cNvCxnSpPr>
            <a:cxnSpLocks/>
          </p:cNvCxnSpPr>
          <p:nvPr/>
        </p:nvCxnSpPr>
        <p:spPr>
          <a:xfrm flipH="1">
            <a:off x="8677329" y="2225844"/>
            <a:ext cx="313450" cy="38830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2883B420-2F61-A6FE-DF53-8EC2CAA28492}"/>
              </a:ext>
            </a:extLst>
          </p:cNvPr>
          <p:cNvCxnSpPr>
            <a:cxnSpLocks/>
          </p:cNvCxnSpPr>
          <p:nvPr/>
        </p:nvCxnSpPr>
        <p:spPr>
          <a:xfrm flipH="1">
            <a:off x="8113427" y="2032780"/>
            <a:ext cx="357959" cy="35090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BC9652C1-4795-4FBD-2EA4-B1F2E79F1AE5}"/>
              </a:ext>
            </a:extLst>
          </p:cNvPr>
          <p:cNvCxnSpPr>
            <a:cxnSpLocks/>
          </p:cNvCxnSpPr>
          <p:nvPr/>
        </p:nvCxnSpPr>
        <p:spPr>
          <a:xfrm>
            <a:off x="8460646" y="2034644"/>
            <a:ext cx="530133" cy="1912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84790E65-C830-648C-B583-8250BAB6A51A}"/>
              </a:ext>
            </a:extLst>
          </p:cNvPr>
          <p:cNvCxnSpPr>
            <a:cxnSpLocks/>
          </p:cNvCxnSpPr>
          <p:nvPr/>
        </p:nvCxnSpPr>
        <p:spPr>
          <a:xfrm>
            <a:off x="8462985" y="2053320"/>
            <a:ext cx="11684" cy="510145"/>
          </a:xfrm>
          <a:prstGeom prst="line">
            <a:avLst/>
          </a:prstGeom>
          <a:ln w="1905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262195F5-7910-848F-B909-78D58C4CE44E}"/>
              </a:ext>
            </a:extLst>
          </p:cNvPr>
          <p:cNvCxnSpPr>
            <a:cxnSpLocks/>
          </p:cNvCxnSpPr>
          <p:nvPr/>
        </p:nvCxnSpPr>
        <p:spPr>
          <a:xfrm>
            <a:off x="8113427" y="2378209"/>
            <a:ext cx="12978" cy="53434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6AB18EE4-A7AA-53B8-8F93-D1CC9ADBD9F4}"/>
              </a:ext>
            </a:extLst>
          </p:cNvPr>
          <p:cNvCxnSpPr>
            <a:cxnSpLocks/>
          </p:cNvCxnSpPr>
          <p:nvPr/>
        </p:nvCxnSpPr>
        <p:spPr>
          <a:xfrm>
            <a:off x="8679261" y="2596527"/>
            <a:ext cx="3731" cy="54429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8CE2288C-7EEE-172C-4354-917F14C3D5D6}"/>
              </a:ext>
            </a:extLst>
          </p:cNvPr>
          <p:cNvCxnSpPr>
            <a:cxnSpLocks/>
          </p:cNvCxnSpPr>
          <p:nvPr/>
        </p:nvCxnSpPr>
        <p:spPr>
          <a:xfrm flipH="1">
            <a:off x="8963629" y="2232843"/>
            <a:ext cx="23296" cy="5288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4CBBD1D9-B3C8-03D6-640E-797692D27FD3}"/>
              </a:ext>
            </a:extLst>
          </p:cNvPr>
          <p:cNvSpPr txBox="1"/>
          <p:nvPr/>
        </p:nvSpPr>
        <p:spPr>
          <a:xfrm>
            <a:off x="7247273" y="998523"/>
            <a:ext cx="628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AC13A39A-91CE-45F3-8BFD-F3AD0041144A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7875920" y="1152412"/>
            <a:ext cx="530133" cy="4302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AF91E98-00AD-D8DC-C494-AF6B73C89324}"/>
              </a:ext>
            </a:extLst>
          </p:cNvPr>
          <p:cNvSpPr txBox="1"/>
          <p:nvPr/>
        </p:nvSpPr>
        <p:spPr>
          <a:xfrm>
            <a:off x="6912760" y="3566523"/>
            <a:ext cx="1303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Functional sub-unit (FSU)</a:t>
            </a: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9807D0DB-D717-3FEA-C2E7-FDA89C766E15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7564552" y="2991733"/>
            <a:ext cx="676740" cy="5747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0E00B4D3-F4AD-7865-3D0D-9BB0DB2CFD79}"/>
              </a:ext>
            </a:extLst>
          </p:cNvPr>
          <p:cNvSpPr txBox="1"/>
          <p:nvPr/>
        </p:nvSpPr>
        <p:spPr>
          <a:xfrm>
            <a:off x="6697880" y="2546141"/>
            <a:ext cx="5037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56E23ED6-F04E-6675-287D-6DA9616CA286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7201581" y="2618825"/>
            <a:ext cx="202661" cy="812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E2114724-ED5C-47CD-AAC6-1EA6036F21CC}"/>
              </a:ext>
            </a:extLst>
          </p:cNvPr>
          <p:cNvGrpSpPr>
            <a:grpSpLocks noChangeAspect="1"/>
          </p:cNvGrpSpPr>
          <p:nvPr/>
        </p:nvGrpSpPr>
        <p:grpSpPr>
          <a:xfrm>
            <a:off x="10097560" y="2947215"/>
            <a:ext cx="1129705" cy="1091919"/>
            <a:chOff x="-18374" y="2574183"/>
            <a:chExt cx="1551654" cy="1499755"/>
          </a:xfrm>
        </p:grpSpPr>
        <p:pic>
          <p:nvPicPr>
            <p:cNvPr id="81" name="Immagine 80" descr="Immagine che contiene diagramma, linea&#10;&#10;Descrizione generata automaticamente">
              <a:extLst>
                <a:ext uri="{FF2B5EF4-FFF2-40B4-BE49-F238E27FC236}">
                  <a16:creationId xmlns:a16="http://schemas.microsoft.com/office/drawing/2014/main" id="{06C6C45F-F956-EC98-5F9B-BC554B173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971" t="56945" r="18220" b="8193"/>
            <a:stretch>
              <a:fillRect/>
            </a:stretch>
          </p:blipFill>
          <p:spPr>
            <a:xfrm>
              <a:off x="106260" y="3066024"/>
              <a:ext cx="1427020" cy="1007914"/>
            </a:xfrm>
            <a:prstGeom prst="rect">
              <a:avLst/>
            </a:prstGeom>
          </p:spPr>
        </p:pic>
        <p:sp>
          <p:nvSpPr>
            <p:cNvPr id="82" name="Croce 81">
              <a:extLst>
                <a:ext uri="{FF2B5EF4-FFF2-40B4-BE49-F238E27FC236}">
                  <a16:creationId xmlns:a16="http://schemas.microsoft.com/office/drawing/2014/main" id="{D4C946B9-11AA-F0A5-B1E0-7E3A46FC9C91}"/>
                </a:ext>
              </a:extLst>
            </p:cNvPr>
            <p:cNvSpPr/>
            <p:nvPr/>
          </p:nvSpPr>
          <p:spPr>
            <a:xfrm rot="2643157">
              <a:off x="476068" y="3106804"/>
              <a:ext cx="223689" cy="223428"/>
            </a:xfrm>
            <a:prstGeom prst="plus">
              <a:avLst>
                <a:gd name="adj" fmla="val 46409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CasellaDiTesto 82">
              <a:extLst>
                <a:ext uri="{FF2B5EF4-FFF2-40B4-BE49-F238E27FC236}">
                  <a16:creationId xmlns:a16="http://schemas.microsoft.com/office/drawing/2014/main" id="{F6ABCCF2-8F35-4D87-3E22-5A9BF6E9C10C}"/>
                </a:ext>
              </a:extLst>
            </p:cNvPr>
            <p:cNvSpPr txBox="1"/>
            <p:nvPr/>
          </p:nvSpPr>
          <p:spPr>
            <a:xfrm>
              <a:off x="-18374" y="2827486"/>
              <a:ext cx="706420" cy="4227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FSU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Saetta 83">
              <a:extLst>
                <a:ext uri="{FF2B5EF4-FFF2-40B4-BE49-F238E27FC236}">
                  <a16:creationId xmlns:a16="http://schemas.microsoft.com/office/drawing/2014/main" id="{1677EE8E-B086-B9D6-9BCC-44522F78A7B4}"/>
                </a:ext>
              </a:extLst>
            </p:cNvPr>
            <p:cNvSpPr/>
            <p:nvPr/>
          </p:nvSpPr>
          <p:spPr>
            <a:xfrm rot="9287334" flipV="1">
              <a:off x="780860" y="2574183"/>
              <a:ext cx="504665" cy="375051"/>
            </a:xfrm>
            <a:prstGeom prst="lightningBol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43485D14-5C4A-CCB4-6F79-EA8A39ADA3E6}"/>
              </a:ext>
            </a:extLst>
          </p:cNvPr>
          <p:cNvGrpSpPr/>
          <p:nvPr/>
        </p:nvGrpSpPr>
        <p:grpSpPr>
          <a:xfrm>
            <a:off x="135586" y="1564421"/>
            <a:ext cx="1539844" cy="3729158"/>
            <a:chOff x="135586" y="1856553"/>
            <a:chExt cx="1539844" cy="3729158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A51C597C-3BBA-0AE0-01C5-07B74B66FF55}"/>
                </a:ext>
              </a:extLst>
            </p:cNvPr>
            <p:cNvGrpSpPr/>
            <p:nvPr/>
          </p:nvGrpSpPr>
          <p:grpSpPr>
            <a:xfrm>
              <a:off x="135586" y="1856553"/>
              <a:ext cx="1535626" cy="1022218"/>
              <a:chOff x="634124" y="734039"/>
              <a:chExt cx="1535626" cy="1022218"/>
            </a:xfrm>
          </p:grpSpPr>
          <p:sp>
            <p:nvSpPr>
              <p:cNvPr id="8" name="Figura a mano libera: forma 7">
                <a:extLst>
                  <a:ext uri="{FF2B5EF4-FFF2-40B4-BE49-F238E27FC236}">
                    <a16:creationId xmlns:a16="http://schemas.microsoft.com/office/drawing/2014/main" id="{3C086B19-7EFC-CE0C-705D-0BF10673D6C0}"/>
                  </a:ext>
                </a:extLst>
              </p:cNvPr>
              <p:cNvSpPr/>
              <p:nvPr/>
            </p:nvSpPr>
            <p:spPr>
              <a:xfrm>
                <a:off x="634124" y="734039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kern="1200" noProof="0" dirty="0"/>
                  <a:t>General model development</a:t>
                </a:r>
              </a:p>
            </p:txBody>
          </p:sp>
          <p:sp>
            <p:nvSpPr>
              <p:cNvPr id="9" name="Figura a mano libera: forma 8">
                <a:extLst>
                  <a:ext uri="{FF2B5EF4-FFF2-40B4-BE49-F238E27FC236}">
                    <a16:creationId xmlns:a16="http://schemas.microsoft.com/office/drawing/2014/main" id="{74AEB0B3-3B5B-C54B-E3FC-A409D06CD945}"/>
                  </a:ext>
                </a:extLst>
              </p:cNvPr>
              <p:cNvSpPr/>
              <p:nvPr/>
            </p:nvSpPr>
            <p:spPr>
              <a:xfrm>
                <a:off x="941249" y="1267723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WP1.1</a:t>
                </a:r>
              </a:p>
            </p:txBody>
          </p:sp>
        </p:grpSp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442F1300-7F41-340E-EBF0-0ECEC166117F}"/>
                </a:ext>
              </a:extLst>
            </p:cNvPr>
            <p:cNvGrpSpPr/>
            <p:nvPr/>
          </p:nvGrpSpPr>
          <p:grpSpPr>
            <a:xfrm>
              <a:off x="139804" y="3210023"/>
              <a:ext cx="1535626" cy="1022219"/>
              <a:chOff x="634124" y="2426465"/>
              <a:chExt cx="1535626" cy="1022219"/>
            </a:xfrm>
          </p:grpSpPr>
          <p:sp>
            <p:nvSpPr>
              <p:cNvPr id="11" name="Figura a mano libera: forma 10">
                <a:extLst>
                  <a:ext uri="{FF2B5EF4-FFF2-40B4-BE49-F238E27FC236}">
                    <a16:creationId xmlns:a16="http://schemas.microsoft.com/office/drawing/2014/main" id="{0F23DE30-2A56-FDDD-20A4-B457652A4511}"/>
                  </a:ext>
                </a:extLst>
              </p:cNvPr>
              <p:cNvSpPr/>
              <p:nvPr/>
            </p:nvSpPr>
            <p:spPr>
              <a:xfrm>
                <a:off x="634124" y="2426465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General model validation</a:t>
                </a:r>
              </a:p>
            </p:txBody>
          </p:sp>
          <p:sp>
            <p:nvSpPr>
              <p:cNvPr id="12" name="Figura a mano libera: forma 11">
                <a:extLst>
                  <a:ext uri="{FF2B5EF4-FFF2-40B4-BE49-F238E27FC236}">
                    <a16:creationId xmlns:a16="http://schemas.microsoft.com/office/drawing/2014/main" id="{9AD35519-1618-D96C-C47C-AE696AAE6906}"/>
                  </a:ext>
                </a:extLst>
              </p:cNvPr>
              <p:cNvSpPr/>
              <p:nvPr/>
            </p:nvSpPr>
            <p:spPr>
              <a:xfrm>
                <a:off x="941249" y="2960150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WP1.2</a:t>
                </a:r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8EB3E771-97FF-A3C4-3984-CDBF6F1DF2E8}"/>
                </a:ext>
              </a:extLst>
            </p:cNvPr>
            <p:cNvGrpSpPr/>
            <p:nvPr/>
          </p:nvGrpSpPr>
          <p:grpSpPr>
            <a:xfrm>
              <a:off x="135586" y="4563492"/>
              <a:ext cx="1535626" cy="1022219"/>
              <a:chOff x="634124" y="3980710"/>
              <a:chExt cx="1535626" cy="1022219"/>
            </a:xfrm>
          </p:grpSpPr>
          <p:sp>
            <p:nvSpPr>
              <p:cNvPr id="14" name="Figura a mano libera: forma 13">
                <a:extLst>
                  <a:ext uri="{FF2B5EF4-FFF2-40B4-BE49-F238E27FC236}">
                    <a16:creationId xmlns:a16="http://schemas.microsoft.com/office/drawing/2014/main" id="{57D5F2AA-54E1-DDED-EA97-0BF215D2A59D}"/>
                  </a:ext>
                </a:extLst>
              </p:cNvPr>
              <p:cNvSpPr/>
              <p:nvPr/>
            </p:nvSpPr>
            <p:spPr>
              <a:xfrm>
                <a:off x="634124" y="3980710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Model extension to clinic</a:t>
                </a:r>
              </a:p>
            </p:txBody>
          </p:sp>
          <p:sp>
            <p:nvSpPr>
              <p:cNvPr id="16" name="Figura a mano libera: forma 15">
                <a:extLst>
                  <a:ext uri="{FF2B5EF4-FFF2-40B4-BE49-F238E27FC236}">
                    <a16:creationId xmlns:a16="http://schemas.microsoft.com/office/drawing/2014/main" id="{2D652057-55B9-4A75-12F7-1993D2FC1B19}"/>
                  </a:ext>
                </a:extLst>
              </p:cNvPr>
              <p:cNvSpPr/>
              <p:nvPr/>
            </p:nvSpPr>
            <p:spPr>
              <a:xfrm>
                <a:off x="941249" y="4514395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WP1.3</a:t>
                </a:r>
              </a:p>
            </p:txBody>
          </p:sp>
        </p:grpSp>
        <p:sp>
          <p:nvSpPr>
            <p:cNvPr id="17" name="Freccia in giù 16">
              <a:extLst>
                <a:ext uri="{FF2B5EF4-FFF2-40B4-BE49-F238E27FC236}">
                  <a16:creationId xmlns:a16="http://schemas.microsoft.com/office/drawing/2014/main" id="{B30AE403-66F4-641B-9E6D-35BF7D285951}"/>
                </a:ext>
              </a:extLst>
            </p:cNvPr>
            <p:cNvSpPr/>
            <p:nvPr/>
          </p:nvSpPr>
          <p:spPr>
            <a:xfrm>
              <a:off x="725632" y="2923921"/>
              <a:ext cx="201969" cy="244268"/>
            </a:xfrm>
            <a:prstGeom prst="downArrow">
              <a:avLst/>
            </a:prstGeom>
            <a:solidFill>
              <a:srgbClr val="B5CBE7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  <p:sp>
          <p:nvSpPr>
            <p:cNvPr id="18" name="Freccia in giù 17">
              <a:extLst>
                <a:ext uri="{FF2B5EF4-FFF2-40B4-BE49-F238E27FC236}">
                  <a16:creationId xmlns:a16="http://schemas.microsoft.com/office/drawing/2014/main" id="{F97AA490-858D-8F46-2F7D-E8AF7D872DF1}"/>
                </a:ext>
              </a:extLst>
            </p:cNvPr>
            <p:cNvSpPr/>
            <p:nvPr/>
          </p:nvSpPr>
          <p:spPr>
            <a:xfrm>
              <a:off x="725632" y="4275733"/>
              <a:ext cx="201969" cy="244268"/>
            </a:xfrm>
            <a:prstGeom prst="downArrow">
              <a:avLst/>
            </a:prstGeom>
            <a:solidFill>
              <a:srgbClr val="B5CBE7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DE6E200E-9FAA-0D20-B548-CD47F4BF699C}"/>
              </a:ext>
            </a:extLst>
          </p:cNvPr>
          <p:cNvSpPr/>
          <p:nvPr/>
        </p:nvSpPr>
        <p:spPr>
          <a:xfrm>
            <a:off x="102990" y="2611959"/>
            <a:ext cx="1568222" cy="2723915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B9B3654B-55D4-2787-E623-70A45F4FA303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4" t="31839" r="19668" b="31464"/>
          <a:stretch/>
        </p:blipFill>
        <p:spPr>
          <a:xfrm>
            <a:off x="81522" y="5914247"/>
            <a:ext cx="1161421" cy="397067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092177F7-3F0F-9967-DB20-A6FD4C99912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0" y="5335874"/>
            <a:ext cx="992820" cy="619901"/>
          </a:xfrm>
          <a:prstGeom prst="rect">
            <a:avLst/>
          </a:prstGeom>
        </p:spPr>
      </p:pic>
      <p:pic>
        <p:nvPicPr>
          <p:cNvPr id="21" name="Elemento grafico 20" descr="Polmoni con riempimento a tinta unita">
            <a:extLst>
              <a:ext uri="{FF2B5EF4-FFF2-40B4-BE49-F238E27FC236}">
                <a16:creationId xmlns:a16="http://schemas.microsoft.com/office/drawing/2014/main" id="{0AC3F653-AA34-1FFF-46E3-F59C527FDB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93625" y="1264716"/>
            <a:ext cx="526949" cy="526949"/>
          </a:xfrm>
          <a:prstGeom prst="rect">
            <a:avLst/>
          </a:prstGeom>
        </p:spPr>
      </p:pic>
      <p:pic>
        <p:nvPicPr>
          <p:cNvPr id="43" name="Elemento grafico 42" descr="DNA con riempimento a tinta unita">
            <a:extLst>
              <a:ext uri="{FF2B5EF4-FFF2-40B4-BE49-F238E27FC236}">
                <a16:creationId xmlns:a16="http://schemas.microsoft.com/office/drawing/2014/main" id="{0E3CC14E-5027-DDD3-024F-2D9942FFE9E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59689" y="3163434"/>
            <a:ext cx="371335" cy="371335"/>
          </a:xfrm>
          <a:prstGeom prst="rect">
            <a:avLst/>
          </a:prstGeom>
        </p:spPr>
      </p:pic>
      <p:sp>
        <p:nvSpPr>
          <p:cNvPr id="22" name="Figura a mano libera: forma 21">
            <a:extLst>
              <a:ext uri="{FF2B5EF4-FFF2-40B4-BE49-F238E27FC236}">
                <a16:creationId xmlns:a16="http://schemas.microsoft.com/office/drawing/2014/main" id="{419CE447-E6A8-E24E-8F89-B57567822577}"/>
              </a:ext>
            </a:extLst>
          </p:cNvPr>
          <p:cNvSpPr/>
          <p:nvPr/>
        </p:nvSpPr>
        <p:spPr>
          <a:xfrm>
            <a:off x="9646563" y="5008921"/>
            <a:ext cx="1791845" cy="1344290"/>
          </a:xfrm>
          <a:custGeom>
            <a:avLst/>
            <a:gdLst>
              <a:gd name="connsiteX0" fmla="*/ 0 w 1487033"/>
              <a:gd name="connsiteY0" fmla="*/ 118963 h 1189626"/>
              <a:gd name="connsiteX1" fmla="*/ 118963 w 1487033"/>
              <a:gd name="connsiteY1" fmla="*/ 0 h 1189626"/>
              <a:gd name="connsiteX2" fmla="*/ 1368070 w 1487033"/>
              <a:gd name="connsiteY2" fmla="*/ 0 h 1189626"/>
              <a:gd name="connsiteX3" fmla="*/ 1487033 w 1487033"/>
              <a:gd name="connsiteY3" fmla="*/ 118963 h 1189626"/>
              <a:gd name="connsiteX4" fmla="*/ 1487033 w 1487033"/>
              <a:gd name="connsiteY4" fmla="*/ 1070663 h 1189626"/>
              <a:gd name="connsiteX5" fmla="*/ 1368070 w 1487033"/>
              <a:gd name="connsiteY5" fmla="*/ 1189626 h 1189626"/>
              <a:gd name="connsiteX6" fmla="*/ 118963 w 1487033"/>
              <a:gd name="connsiteY6" fmla="*/ 1189626 h 1189626"/>
              <a:gd name="connsiteX7" fmla="*/ 0 w 1487033"/>
              <a:gd name="connsiteY7" fmla="*/ 1070663 h 1189626"/>
              <a:gd name="connsiteX8" fmla="*/ 0 w 1487033"/>
              <a:gd name="connsiteY8" fmla="*/ 118963 h 118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7033" h="1189626">
                <a:moveTo>
                  <a:pt x="0" y="118963"/>
                </a:moveTo>
                <a:cubicBezTo>
                  <a:pt x="0" y="53262"/>
                  <a:pt x="53262" y="0"/>
                  <a:pt x="118963" y="0"/>
                </a:cubicBezTo>
                <a:lnTo>
                  <a:pt x="1368070" y="0"/>
                </a:lnTo>
                <a:cubicBezTo>
                  <a:pt x="1433771" y="0"/>
                  <a:pt x="1487033" y="53262"/>
                  <a:pt x="1487033" y="118963"/>
                </a:cubicBezTo>
                <a:lnTo>
                  <a:pt x="1487033" y="1070663"/>
                </a:lnTo>
                <a:cubicBezTo>
                  <a:pt x="1487033" y="1136364"/>
                  <a:pt x="1433771" y="1189626"/>
                  <a:pt x="1368070" y="1189626"/>
                </a:cubicBezTo>
                <a:lnTo>
                  <a:pt x="118963" y="1189626"/>
                </a:lnTo>
                <a:cubicBezTo>
                  <a:pt x="53262" y="1189626"/>
                  <a:pt x="0" y="1136364"/>
                  <a:pt x="0" y="1070663"/>
                </a:cubicBezTo>
                <a:lnTo>
                  <a:pt x="0" y="118963"/>
                </a:lnTo>
                <a:close/>
              </a:path>
            </a:pathLst>
          </a:custGeom>
          <a:ln w="28575">
            <a:prstDash val="sysDot"/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753" tIns="76753" rIns="76753" bIns="76753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kern="1200" noProof="0" dirty="0"/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noProof="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A1EB0CE-C97B-5AA7-CB2C-BC67CDEED644}"/>
              </a:ext>
            </a:extLst>
          </p:cNvPr>
          <p:cNvSpPr txBox="1"/>
          <p:nvPr/>
        </p:nvSpPr>
        <p:spPr>
          <a:xfrm>
            <a:off x="9646563" y="5080402"/>
            <a:ext cx="17848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 advantage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inclusion of intra- and inter- cellular effects</a:t>
            </a:r>
          </a:p>
        </p:txBody>
      </p:sp>
    </p:spTree>
    <p:extLst>
      <p:ext uri="{BB962C8B-B14F-4D97-AF65-F5344CB8AC3E}">
        <p14:creationId xmlns:p14="http://schemas.microsoft.com/office/powerpoint/2010/main" val="409959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70" grpId="0" animBg="1"/>
      <p:bldP spid="71" grpId="0"/>
      <p:bldP spid="72" grpId="0"/>
      <p:bldP spid="7" grpId="0" animBg="1"/>
      <p:bldP spid="36" grpId="0"/>
      <p:bldP spid="38" grpId="0"/>
      <p:bldP spid="40" grpId="0"/>
      <p:bldP spid="22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0E085-A88D-C67D-AFD8-D0D3B517E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1">
            <a:extLst>
              <a:ext uri="{FF2B5EF4-FFF2-40B4-BE49-F238E27FC236}">
                <a16:creationId xmlns:a16="http://schemas.microsoft.com/office/drawing/2014/main" id="{877E95FB-D2E3-156E-7155-BD77EEA22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3A8FEDF-26AC-157B-A5DD-EA2D5D7F8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4E92FB78-B10B-4915-C9CF-30C9F942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9F99D49B-20C8-27B6-9EFC-2162034267DF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From single cell description to multi-cellular response</a:t>
            </a:r>
          </a:p>
        </p:txBody>
      </p:sp>
      <p:sp>
        <p:nvSpPr>
          <p:cNvPr id="2" name="Freccia a sinistra 1">
            <a:extLst>
              <a:ext uri="{FF2B5EF4-FFF2-40B4-BE49-F238E27FC236}">
                <a16:creationId xmlns:a16="http://schemas.microsoft.com/office/drawing/2014/main" id="{6808153D-B3D8-96D2-6BC1-6B47DEE67BC8}"/>
              </a:ext>
            </a:extLst>
          </p:cNvPr>
          <p:cNvSpPr/>
          <p:nvPr/>
        </p:nvSpPr>
        <p:spPr>
          <a:xfrm rot="16200000">
            <a:off x="4807558" y="4211372"/>
            <a:ext cx="1596717" cy="473940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1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ccia a sinistra 6">
            <a:extLst>
              <a:ext uri="{FF2B5EF4-FFF2-40B4-BE49-F238E27FC236}">
                <a16:creationId xmlns:a16="http://schemas.microsoft.com/office/drawing/2014/main" id="{C839CEA1-E0DA-C665-8C82-32E563C9960F}"/>
              </a:ext>
            </a:extLst>
          </p:cNvPr>
          <p:cNvSpPr/>
          <p:nvPr/>
        </p:nvSpPr>
        <p:spPr>
          <a:xfrm rot="10800000">
            <a:off x="3084795" y="3649985"/>
            <a:ext cx="1596717" cy="473940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ccia a sinistra 22">
            <a:extLst>
              <a:ext uri="{FF2B5EF4-FFF2-40B4-BE49-F238E27FC236}">
                <a16:creationId xmlns:a16="http://schemas.microsoft.com/office/drawing/2014/main" id="{81E7F603-F1D0-9432-B341-EF8D8D33E87E}"/>
              </a:ext>
            </a:extLst>
          </p:cNvPr>
          <p:cNvSpPr/>
          <p:nvPr/>
        </p:nvSpPr>
        <p:spPr>
          <a:xfrm rot="12960000">
            <a:off x="3413813" y="2637370"/>
            <a:ext cx="1596717" cy="473940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ccia a sinistra 24">
            <a:extLst>
              <a:ext uri="{FF2B5EF4-FFF2-40B4-BE49-F238E27FC236}">
                <a16:creationId xmlns:a16="http://schemas.microsoft.com/office/drawing/2014/main" id="{11F73155-7A8C-A1A8-8779-914CAD9BC614}"/>
              </a:ext>
            </a:extLst>
          </p:cNvPr>
          <p:cNvSpPr/>
          <p:nvPr/>
        </p:nvSpPr>
        <p:spPr>
          <a:xfrm rot="15120000">
            <a:off x="4275194" y="2011540"/>
            <a:ext cx="1596717" cy="473940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reccia a sinistra 26">
            <a:extLst>
              <a:ext uri="{FF2B5EF4-FFF2-40B4-BE49-F238E27FC236}">
                <a16:creationId xmlns:a16="http://schemas.microsoft.com/office/drawing/2014/main" id="{5B54C240-8C9F-2051-DEF5-89DAD5BF04A0}"/>
              </a:ext>
            </a:extLst>
          </p:cNvPr>
          <p:cNvSpPr/>
          <p:nvPr/>
        </p:nvSpPr>
        <p:spPr>
          <a:xfrm rot="17280000">
            <a:off x="5339921" y="2011540"/>
            <a:ext cx="1596717" cy="473940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ccia a sinistra 28">
            <a:extLst>
              <a:ext uri="{FF2B5EF4-FFF2-40B4-BE49-F238E27FC236}">
                <a16:creationId xmlns:a16="http://schemas.microsoft.com/office/drawing/2014/main" id="{346C07F2-10C2-CC01-9C00-2AD9E92FCC1A}"/>
              </a:ext>
            </a:extLst>
          </p:cNvPr>
          <p:cNvSpPr/>
          <p:nvPr/>
        </p:nvSpPr>
        <p:spPr>
          <a:xfrm rot="19440000">
            <a:off x="6201301" y="2637370"/>
            <a:ext cx="1596717" cy="473940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ccia a sinistra 30">
            <a:extLst>
              <a:ext uri="{FF2B5EF4-FFF2-40B4-BE49-F238E27FC236}">
                <a16:creationId xmlns:a16="http://schemas.microsoft.com/office/drawing/2014/main" id="{E030A660-31C7-F976-86FC-9B402CADF214}"/>
              </a:ext>
            </a:extLst>
          </p:cNvPr>
          <p:cNvSpPr/>
          <p:nvPr/>
        </p:nvSpPr>
        <p:spPr>
          <a:xfrm>
            <a:off x="6530320" y="3649985"/>
            <a:ext cx="1596717" cy="473940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igura a mano libera: forma 32">
            <a:extLst>
              <a:ext uri="{FF2B5EF4-FFF2-40B4-BE49-F238E27FC236}">
                <a16:creationId xmlns:a16="http://schemas.microsoft.com/office/drawing/2014/main" id="{75D494EE-CCA0-8DF7-DF62-76AFEFA16059}"/>
              </a:ext>
            </a:extLst>
          </p:cNvPr>
          <p:cNvSpPr/>
          <p:nvPr/>
        </p:nvSpPr>
        <p:spPr>
          <a:xfrm>
            <a:off x="5023885" y="5353432"/>
            <a:ext cx="1164062" cy="931250"/>
          </a:xfrm>
          <a:custGeom>
            <a:avLst/>
            <a:gdLst>
              <a:gd name="connsiteX0" fmla="*/ 0 w 1524190"/>
              <a:gd name="connsiteY0" fmla="*/ 121935 h 1219352"/>
              <a:gd name="connsiteX1" fmla="*/ 121935 w 1524190"/>
              <a:gd name="connsiteY1" fmla="*/ 0 h 1219352"/>
              <a:gd name="connsiteX2" fmla="*/ 1402255 w 1524190"/>
              <a:gd name="connsiteY2" fmla="*/ 0 h 1219352"/>
              <a:gd name="connsiteX3" fmla="*/ 1524190 w 1524190"/>
              <a:gd name="connsiteY3" fmla="*/ 121935 h 1219352"/>
              <a:gd name="connsiteX4" fmla="*/ 1524190 w 1524190"/>
              <a:gd name="connsiteY4" fmla="*/ 1097417 h 1219352"/>
              <a:gd name="connsiteX5" fmla="*/ 1402255 w 1524190"/>
              <a:gd name="connsiteY5" fmla="*/ 1219352 h 1219352"/>
              <a:gd name="connsiteX6" fmla="*/ 121935 w 1524190"/>
              <a:gd name="connsiteY6" fmla="*/ 1219352 h 1219352"/>
              <a:gd name="connsiteX7" fmla="*/ 0 w 1524190"/>
              <a:gd name="connsiteY7" fmla="*/ 1097417 h 1219352"/>
              <a:gd name="connsiteX8" fmla="*/ 0 w 1524190"/>
              <a:gd name="connsiteY8" fmla="*/ 121935 h 121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190" h="1219352">
                <a:moveTo>
                  <a:pt x="0" y="121935"/>
                </a:moveTo>
                <a:cubicBezTo>
                  <a:pt x="0" y="54592"/>
                  <a:pt x="54592" y="0"/>
                  <a:pt x="121935" y="0"/>
                </a:cubicBezTo>
                <a:lnTo>
                  <a:pt x="1402255" y="0"/>
                </a:lnTo>
                <a:cubicBezTo>
                  <a:pt x="1469598" y="0"/>
                  <a:pt x="1524190" y="54592"/>
                  <a:pt x="1524190" y="121935"/>
                </a:cubicBezTo>
                <a:lnTo>
                  <a:pt x="1524190" y="1097417"/>
                </a:lnTo>
                <a:cubicBezTo>
                  <a:pt x="1524190" y="1164760"/>
                  <a:pt x="1469598" y="1219352"/>
                  <a:pt x="1402255" y="1219352"/>
                </a:cubicBezTo>
                <a:lnTo>
                  <a:pt x="121935" y="1219352"/>
                </a:lnTo>
                <a:cubicBezTo>
                  <a:pt x="54592" y="1219352"/>
                  <a:pt x="0" y="1164760"/>
                  <a:pt x="0" y="1097417"/>
                </a:cubicBezTo>
                <a:lnTo>
                  <a:pt x="0" y="121935"/>
                </a:lnTo>
                <a:close/>
              </a:path>
            </a:pathLst>
          </a:custGeom>
          <a:ln>
            <a:solidFill>
              <a:srgbClr val="002060"/>
            </a:solidFill>
          </a:ln>
        </p:spPr>
        <p:style>
          <a:lnRef idx="3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3814" tIns="73814" rIns="73814" bIns="73814" numCol="1" spcCol="1270" anchor="ctr" anchorCtr="0">
            <a:noAutofit/>
          </a:bodyPr>
          <a:lstStyle/>
          <a:p>
            <a:pPr marL="0" marR="0" lvl="0" indent="0" algn="ctr" defTabSz="8890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NTCP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144450AA-4675-EE43-5E72-5A0E1451A98D}"/>
              </a:ext>
            </a:extLst>
          </p:cNvPr>
          <p:cNvGrpSpPr/>
          <p:nvPr/>
        </p:nvGrpSpPr>
        <p:grpSpPr>
          <a:xfrm>
            <a:off x="135586" y="1564421"/>
            <a:ext cx="1539844" cy="3729158"/>
            <a:chOff x="135586" y="1856553"/>
            <a:chExt cx="1539844" cy="3729158"/>
          </a:xfrm>
        </p:grpSpPr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304C2295-B1BB-F867-26D0-33A525485805}"/>
                </a:ext>
              </a:extLst>
            </p:cNvPr>
            <p:cNvGrpSpPr/>
            <p:nvPr/>
          </p:nvGrpSpPr>
          <p:grpSpPr>
            <a:xfrm>
              <a:off x="135586" y="1856553"/>
              <a:ext cx="1535626" cy="1022218"/>
              <a:chOff x="634124" y="734039"/>
              <a:chExt cx="1535626" cy="1022218"/>
            </a:xfrm>
          </p:grpSpPr>
          <p:sp>
            <p:nvSpPr>
              <p:cNvPr id="19" name="Figura a mano libera: forma 18">
                <a:extLst>
                  <a:ext uri="{FF2B5EF4-FFF2-40B4-BE49-F238E27FC236}">
                    <a16:creationId xmlns:a16="http://schemas.microsoft.com/office/drawing/2014/main" id="{AC1EEA81-032E-0D78-A4EA-D6594A0F2092}"/>
                  </a:ext>
                </a:extLst>
              </p:cNvPr>
              <p:cNvSpPr/>
              <p:nvPr/>
            </p:nvSpPr>
            <p:spPr>
              <a:xfrm>
                <a:off x="634124" y="734039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kern="1200" noProof="0" dirty="0"/>
                  <a:t>General model development</a:t>
                </a:r>
              </a:p>
            </p:txBody>
          </p:sp>
          <p:sp>
            <p:nvSpPr>
              <p:cNvPr id="20" name="Figura a mano libera: forma 19">
                <a:extLst>
                  <a:ext uri="{FF2B5EF4-FFF2-40B4-BE49-F238E27FC236}">
                    <a16:creationId xmlns:a16="http://schemas.microsoft.com/office/drawing/2014/main" id="{A5A447C0-0666-0928-BF0C-66EAEBB4DD64}"/>
                  </a:ext>
                </a:extLst>
              </p:cNvPr>
              <p:cNvSpPr/>
              <p:nvPr/>
            </p:nvSpPr>
            <p:spPr>
              <a:xfrm>
                <a:off x="941249" y="1267723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WP1.1</a:t>
                </a:r>
              </a:p>
            </p:txBody>
          </p:sp>
        </p:grpSp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E91A94F2-2D41-80AF-BE93-8175AD951A87}"/>
                </a:ext>
              </a:extLst>
            </p:cNvPr>
            <p:cNvGrpSpPr/>
            <p:nvPr/>
          </p:nvGrpSpPr>
          <p:grpSpPr>
            <a:xfrm>
              <a:off x="139804" y="3210023"/>
              <a:ext cx="1535626" cy="1022219"/>
              <a:chOff x="634124" y="2426465"/>
              <a:chExt cx="1535626" cy="1022219"/>
            </a:xfrm>
          </p:grpSpPr>
          <p:sp>
            <p:nvSpPr>
              <p:cNvPr id="17" name="Figura a mano libera: forma 16">
                <a:extLst>
                  <a:ext uri="{FF2B5EF4-FFF2-40B4-BE49-F238E27FC236}">
                    <a16:creationId xmlns:a16="http://schemas.microsoft.com/office/drawing/2014/main" id="{8C36628C-8203-F060-FB85-C97510B13D27}"/>
                  </a:ext>
                </a:extLst>
              </p:cNvPr>
              <p:cNvSpPr/>
              <p:nvPr/>
            </p:nvSpPr>
            <p:spPr>
              <a:xfrm>
                <a:off x="634124" y="2426465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General model validation</a:t>
                </a:r>
              </a:p>
            </p:txBody>
          </p:sp>
          <p:sp>
            <p:nvSpPr>
              <p:cNvPr id="18" name="Figura a mano libera: forma 17">
                <a:extLst>
                  <a:ext uri="{FF2B5EF4-FFF2-40B4-BE49-F238E27FC236}">
                    <a16:creationId xmlns:a16="http://schemas.microsoft.com/office/drawing/2014/main" id="{8E48CEF3-381C-C109-E402-052DE4BBD09D}"/>
                  </a:ext>
                </a:extLst>
              </p:cNvPr>
              <p:cNvSpPr/>
              <p:nvPr/>
            </p:nvSpPr>
            <p:spPr>
              <a:xfrm>
                <a:off x="941249" y="2960150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WP1.2</a:t>
                </a:r>
              </a:p>
            </p:txBody>
          </p:sp>
        </p:grpSp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58D5BD28-CD71-1360-9D67-C5DE66C6E071}"/>
                </a:ext>
              </a:extLst>
            </p:cNvPr>
            <p:cNvGrpSpPr/>
            <p:nvPr/>
          </p:nvGrpSpPr>
          <p:grpSpPr>
            <a:xfrm>
              <a:off x="135586" y="4563492"/>
              <a:ext cx="1535626" cy="1022219"/>
              <a:chOff x="634124" y="3980710"/>
              <a:chExt cx="1535626" cy="1022219"/>
            </a:xfrm>
          </p:grpSpPr>
          <p:sp>
            <p:nvSpPr>
              <p:cNvPr id="14" name="Figura a mano libera: forma 13">
                <a:extLst>
                  <a:ext uri="{FF2B5EF4-FFF2-40B4-BE49-F238E27FC236}">
                    <a16:creationId xmlns:a16="http://schemas.microsoft.com/office/drawing/2014/main" id="{3BB66B2C-97D8-9A00-9749-C9253DC51D79}"/>
                  </a:ext>
                </a:extLst>
              </p:cNvPr>
              <p:cNvSpPr/>
              <p:nvPr/>
            </p:nvSpPr>
            <p:spPr>
              <a:xfrm>
                <a:off x="634124" y="3980710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Model extension to clinic</a:t>
                </a:r>
              </a:p>
            </p:txBody>
          </p:sp>
          <p:sp>
            <p:nvSpPr>
              <p:cNvPr id="16" name="Figura a mano libera: forma 15">
                <a:extLst>
                  <a:ext uri="{FF2B5EF4-FFF2-40B4-BE49-F238E27FC236}">
                    <a16:creationId xmlns:a16="http://schemas.microsoft.com/office/drawing/2014/main" id="{F0FF1EB0-08D4-4B39-264F-C537099896D1}"/>
                  </a:ext>
                </a:extLst>
              </p:cNvPr>
              <p:cNvSpPr/>
              <p:nvPr/>
            </p:nvSpPr>
            <p:spPr>
              <a:xfrm>
                <a:off x="941249" y="4514395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WP1.3</a:t>
                </a:r>
              </a:p>
            </p:txBody>
          </p:sp>
        </p:grpSp>
        <p:sp>
          <p:nvSpPr>
            <p:cNvPr id="12" name="Freccia in giù 11">
              <a:extLst>
                <a:ext uri="{FF2B5EF4-FFF2-40B4-BE49-F238E27FC236}">
                  <a16:creationId xmlns:a16="http://schemas.microsoft.com/office/drawing/2014/main" id="{B1684B85-5ED7-33CF-2BFE-D049593C866D}"/>
                </a:ext>
              </a:extLst>
            </p:cNvPr>
            <p:cNvSpPr/>
            <p:nvPr/>
          </p:nvSpPr>
          <p:spPr>
            <a:xfrm>
              <a:off x="725632" y="2923921"/>
              <a:ext cx="201969" cy="244268"/>
            </a:xfrm>
            <a:prstGeom prst="downArrow">
              <a:avLst/>
            </a:prstGeom>
            <a:solidFill>
              <a:srgbClr val="B5CBE7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  <p:sp>
          <p:nvSpPr>
            <p:cNvPr id="13" name="Freccia in giù 12">
              <a:extLst>
                <a:ext uri="{FF2B5EF4-FFF2-40B4-BE49-F238E27FC236}">
                  <a16:creationId xmlns:a16="http://schemas.microsoft.com/office/drawing/2014/main" id="{47DD71D0-C606-DFF2-7157-7AE913729CD8}"/>
                </a:ext>
              </a:extLst>
            </p:cNvPr>
            <p:cNvSpPr/>
            <p:nvPr/>
          </p:nvSpPr>
          <p:spPr>
            <a:xfrm>
              <a:off x="725632" y="4275733"/>
              <a:ext cx="201969" cy="244268"/>
            </a:xfrm>
            <a:prstGeom prst="downArrow">
              <a:avLst/>
            </a:prstGeom>
            <a:solidFill>
              <a:srgbClr val="B5CBE7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</p:grpSp>
      <p:sp>
        <p:nvSpPr>
          <p:cNvPr id="21" name="Rettangolo 20">
            <a:extLst>
              <a:ext uri="{FF2B5EF4-FFF2-40B4-BE49-F238E27FC236}">
                <a16:creationId xmlns:a16="http://schemas.microsoft.com/office/drawing/2014/main" id="{3BC61B90-F2A4-CA21-B209-DBC2A8E76644}"/>
              </a:ext>
            </a:extLst>
          </p:cNvPr>
          <p:cNvSpPr/>
          <p:nvPr/>
        </p:nvSpPr>
        <p:spPr>
          <a:xfrm>
            <a:off x="102990" y="2628934"/>
            <a:ext cx="1568222" cy="2724498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72CD876B-6A7B-4C8B-A04B-2EDDBC6550C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4" t="31839" r="19668" b="31464"/>
          <a:stretch/>
        </p:blipFill>
        <p:spPr>
          <a:xfrm>
            <a:off x="81522" y="5914247"/>
            <a:ext cx="1161421" cy="397067"/>
          </a:xfrm>
          <a:prstGeom prst="rect">
            <a:avLst/>
          </a:prstGeom>
        </p:spPr>
      </p:pic>
      <p:pic>
        <p:nvPicPr>
          <p:cNvPr id="37" name="Immagine 36">
            <a:extLst>
              <a:ext uri="{FF2B5EF4-FFF2-40B4-BE49-F238E27FC236}">
                <a16:creationId xmlns:a16="http://schemas.microsoft.com/office/drawing/2014/main" id="{E6D76415-9C34-0979-3BF7-532D536B62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0" y="5335874"/>
            <a:ext cx="992820" cy="619901"/>
          </a:xfrm>
          <a:prstGeom prst="rect">
            <a:avLst/>
          </a:prstGeom>
        </p:spPr>
      </p:pic>
      <p:grpSp>
        <p:nvGrpSpPr>
          <p:cNvPr id="66" name="Gruppo 65">
            <a:extLst>
              <a:ext uri="{FF2B5EF4-FFF2-40B4-BE49-F238E27FC236}">
                <a16:creationId xmlns:a16="http://schemas.microsoft.com/office/drawing/2014/main" id="{13E2C6B8-2A98-9A8E-1E11-2DAA2C35C587}"/>
              </a:ext>
            </a:extLst>
          </p:cNvPr>
          <p:cNvGrpSpPr/>
          <p:nvPr/>
        </p:nvGrpSpPr>
        <p:grpSpPr>
          <a:xfrm>
            <a:off x="4866136" y="3152690"/>
            <a:ext cx="1479559" cy="1479559"/>
            <a:chOff x="4645044" y="3152690"/>
            <a:chExt cx="1479559" cy="1479559"/>
          </a:xfrm>
        </p:grpSpPr>
        <p:sp>
          <p:nvSpPr>
            <p:cNvPr id="34" name="Figura a mano libera: forma 33">
              <a:extLst>
                <a:ext uri="{FF2B5EF4-FFF2-40B4-BE49-F238E27FC236}">
                  <a16:creationId xmlns:a16="http://schemas.microsoft.com/office/drawing/2014/main" id="{72A3A0A3-F2C2-8089-57CC-3E7A991FB3FD}"/>
                </a:ext>
              </a:extLst>
            </p:cNvPr>
            <p:cNvSpPr/>
            <p:nvPr/>
          </p:nvSpPr>
          <p:spPr>
            <a:xfrm>
              <a:off x="4645044" y="3152690"/>
              <a:ext cx="1479559" cy="1479559"/>
            </a:xfrm>
            <a:custGeom>
              <a:avLst/>
              <a:gdLst>
                <a:gd name="connsiteX0" fmla="*/ 0 w 1479559"/>
                <a:gd name="connsiteY0" fmla="*/ 739780 h 1479559"/>
                <a:gd name="connsiteX1" fmla="*/ 739780 w 1479559"/>
                <a:gd name="connsiteY1" fmla="*/ 0 h 1479559"/>
                <a:gd name="connsiteX2" fmla="*/ 1479560 w 1479559"/>
                <a:gd name="connsiteY2" fmla="*/ 739780 h 1479559"/>
                <a:gd name="connsiteX3" fmla="*/ 739780 w 1479559"/>
                <a:gd name="connsiteY3" fmla="*/ 1479560 h 1479559"/>
                <a:gd name="connsiteX4" fmla="*/ 0 w 1479559"/>
                <a:gd name="connsiteY4" fmla="*/ 739780 h 1479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9559" h="1479559">
                  <a:moveTo>
                    <a:pt x="0" y="739780"/>
                  </a:moveTo>
                  <a:cubicBezTo>
                    <a:pt x="0" y="331211"/>
                    <a:pt x="331211" y="0"/>
                    <a:pt x="739780" y="0"/>
                  </a:cubicBezTo>
                  <a:cubicBezTo>
                    <a:pt x="1148349" y="0"/>
                    <a:pt x="1479560" y="331211"/>
                    <a:pt x="1479560" y="739780"/>
                  </a:cubicBezTo>
                  <a:cubicBezTo>
                    <a:pt x="1479560" y="1148349"/>
                    <a:pt x="1148349" y="1479560"/>
                    <a:pt x="739780" y="1479560"/>
                  </a:cubicBezTo>
                  <a:cubicBezTo>
                    <a:pt x="331211" y="1479560"/>
                    <a:pt x="0" y="1148349"/>
                    <a:pt x="0" y="739780"/>
                  </a:cubicBezTo>
                  <a:close/>
                </a:path>
              </a:pathLst>
            </a:cu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3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39536" tIns="239536" rIns="239536" bIns="239536" numCol="1" spcCol="1270" anchor="ctr" anchorCtr="0">
              <a:noAutofit/>
            </a:bodyPr>
            <a:lstStyle/>
            <a:p>
              <a:pPr marL="0" marR="0" lvl="0" indent="0" algn="ctr" defTabSz="1600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GSM</a:t>
              </a:r>
              <a:r>
                <a:rPr kumimoji="0" lang="en-US" sz="3200" b="1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  <a:p>
              <a:pPr marL="0" marR="0" lvl="0" indent="0" algn="ctr" defTabSz="1600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2" name="Elemento grafico 21" descr="Matematica per formazione da remoto con riempimento a tinta unita">
              <a:extLst>
                <a:ext uri="{FF2B5EF4-FFF2-40B4-BE49-F238E27FC236}">
                  <a16:creationId xmlns:a16="http://schemas.microsoft.com/office/drawing/2014/main" id="{6ED6B1C3-A9A9-6F10-CD4E-BDC59D574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116611" y="3983601"/>
              <a:ext cx="526949" cy="52694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DC3A761C-8B93-13C1-6247-684C7577E9D1}"/>
              </a:ext>
            </a:extLst>
          </p:cNvPr>
          <p:cNvGrpSpPr/>
          <p:nvPr/>
        </p:nvGrpSpPr>
        <p:grpSpPr>
          <a:xfrm>
            <a:off x="2470543" y="3421330"/>
            <a:ext cx="1228501" cy="931250"/>
            <a:chOff x="2249451" y="3421330"/>
            <a:chExt cx="1228501" cy="931250"/>
          </a:xfrm>
        </p:grpSpPr>
        <p:sp>
          <p:nvSpPr>
            <p:cNvPr id="8" name="Figura a mano libera: forma 7">
              <a:extLst>
                <a:ext uri="{FF2B5EF4-FFF2-40B4-BE49-F238E27FC236}">
                  <a16:creationId xmlns:a16="http://schemas.microsoft.com/office/drawing/2014/main" id="{A5707E5A-99CB-FBB1-BCCA-71B89186F507}"/>
                </a:ext>
              </a:extLst>
            </p:cNvPr>
            <p:cNvSpPr/>
            <p:nvPr/>
          </p:nvSpPr>
          <p:spPr>
            <a:xfrm>
              <a:off x="2281672" y="3421330"/>
              <a:ext cx="1164062" cy="931250"/>
            </a:xfrm>
            <a:custGeom>
              <a:avLst/>
              <a:gdLst>
                <a:gd name="connsiteX0" fmla="*/ 0 w 1524190"/>
                <a:gd name="connsiteY0" fmla="*/ 121935 h 1219352"/>
                <a:gd name="connsiteX1" fmla="*/ 121935 w 1524190"/>
                <a:gd name="connsiteY1" fmla="*/ 0 h 1219352"/>
                <a:gd name="connsiteX2" fmla="*/ 1402255 w 1524190"/>
                <a:gd name="connsiteY2" fmla="*/ 0 h 1219352"/>
                <a:gd name="connsiteX3" fmla="*/ 1524190 w 1524190"/>
                <a:gd name="connsiteY3" fmla="*/ 121935 h 1219352"/>
                <a:gd name="connsiteX4" fmla="*/ 1524190 w 1524190"/>
                <a:gd name="connsiteY4" fmla="*/ 1097417 h 1219352"/>
                <a:gd name="connsiteX5" fmla="*/ 1402255 w 1524190"/>
                <a:gd name="connsiteY5" fmla="*/ 1219352 h 1219352"/>
                <a:gd name="connsiteX6" fmla="*/ 121935 w 1524190"/>
                <a:gd name="connsiteY6" fmla="*/ 1219352 h 1219352"/>
                <a:gd name="connsiteX7" fmla="*/ 0 w 1524190"/>
                <a:gd name="connsiteY7" fmla="*/ 1097417 h 1219352"/>
                <a:gd name="connsiteX8" fmla="*/ 0 w 1524190"/>
                <a:gd name="connsiteY8" fmla="*/ 121935 h 121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190" h="1219352">
                  <a:moveTo>
                    <a:pt x="0" y="121935"/>
                  </a:moveTo>
                  <a:cubicBezTo>
                    <a:pt x="0" y="54592"/>
                    <a:pt x="54592" y="0"/>
                    <a:pt x="121935" y="0"/>
                  </a:cubicBezTo>
                  <a:lnTo>
                    <a:pt x="1402255" y="0"/>
                  </a:lnTo>
                  <a:cubicBezTo>
                    <a:pt x="1469598" y="0"/>
                    <a:pt x="1524190" y="54592"/>
                    <a:pt x="1524190" y="121935"/>
                  </a:cubicBezTo>
                  <a:lnTo>
                    <a:pt x="1524190" y="1097417"/>
                  </a:lnTo>
                  <a:cubicBezTo>
                    <a:pt x="1524190" y="1164760"/>
                    <a:pt x="1469598" y="1219352"/>
                    <a:pt x="1402255" y="1219352"/>
                  </a:cubicBezTo>
                  <a:lnTo>
                    <a:pt x="121935" y="1219352"/>
                  </a:lnTo>
                  <a:cubicBezTo>
                    <a:pt x="54592" y="1219352"/>
                    <a:pt x="0" y="1164760"/>
                    <a:pt x="0" y="1097417"/>
                  </a:cubicBezTo>
                  <a:lnTo>
                    <a:pt x="0" y="121935"/>
                  </a:lnTo>
                  <a:close/>
                </a:path>
              </a:pathLst>
            </a:custGeom>
          </p:spPr>
          <p:style>
            <a:lnRef idx="3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814" tIns="73814" rIns="73814" bIns="73814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9" name="Elemento grafico 38" descr="Atomo con riempimento a tinta unita">
              <a:extLst>
                <a:ext uri="{FF2B5EF4-FFF2-40B4-BE49-F238E27FC236}">
                  <a16:creationId xmlns:a16="http://schemas.microsoft.com/office/drawing/2014/main" id="{BE258648-0434-7C5D-721E-FD746DB45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04458" y="3817962"/>
              <a:ext cx="526949" cy="526949"/>
            </a:xfrm>
            <a:prstGeom prst="rect">
              <a:avLst/>
            </a:prstGeom>
          </p:spPr>
        </p:pic>
        <p:sp>
          <p:nvSpPr>
            <p:cNvPr id="41" name="CasellaDiTesto 40">
              <a:extLst>
                <a:ext uri="{FF2B5EF4-FFF2-40B4-BE49-F238E27FC236}">
                  <a16:creationId xmlns:a16="http://schemas.microsoft.com/office/drawing/2014/main" id="{82082187-DD66-2C4A-4177-6F4FFCB3B096}"/>
                </a:ext>
              </a:extLst>
            </p:cNvPr>
            <p:cNvSpPr txBox="1"/>
            <p:nvPr/>
          </p:nvSpPr>
          <p:spPr>
            <a:xfrm>
              <a:off x="2249451" y="3429000"/>
              <a:ext cx="1228501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Dose prescription</a:t>
              </a:r>
            </a:p>
          </p:txBody>
        </p:sp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94E83C31-E266-1CCB-CCA8-5CC89C5F72D5}"/>
              </a:ext>
            </a:extLst>
          </p:cNvPr>
          <p:cNvGrpSpPr/>
          <p:nvPr/>
        </p:nvGrpSpPr>
        <p:grpSpPr>
          <a:xfrm>
            <a:off x="2983591" y="1939451"/>
            <a:ext cx="1164726" cy="931250"/>
            <a:chOff x="2762499" y="1939451"/>
            <a:chExt cx="1164726" cy="931250"/>
          </a:xfrm>
        </p:grpSpPr>
        <p:sp>
          <p:nvSpPr>
            <p:cNvPr id="24" name="Figura a mano libera: forma 23">
              <a:extLst>
                <a:ext uri="{FF2B5EF4-FFF2-40B4-BE49-F238E27FC236}">
                  <a16:creationId xmlns:a16="http://schemas.microsoft.com/office/drawing/2014/main" id="{163E786E-7331-C539-9AF8-97A4EF79BB2E}"/>
                </a:ext>
              </a:extLst>
            </p:cNvPr>
            <p:cNvSpPr/>
            <p:nvPr/>
          </p:nvSpPr>
          <p:spPr>
            <a:xfrm>
              <a:off x="2763163" y="1939451"/>
              <a:ext cx="1164062" cy="931250"/>
            </a:xfrm>
            <a:custGeom>
              <a:avLst/>
              <a:gdLst>
                <a:gd name="connsiteX0" fmla="*/ 0 w 1524190"/>
                <a:gd name="connsiteY0" fmla="*/ 121935 h 1219352"/>
                <a:gd name="connsiteX1" fmla="*/ 121935 w 1524190"/>
                <a:gd name="connsiteY1" fmla="*/ 0 h 1219352"/>
                <a:gd name="connsiteX2" fmla="*/ 1402255 w 1524190"/>
                <a:gd name="connsiteY2" fmla="*/ 0 h 1219352"/>
                <a:gd name="connsiteX3" fmla="*/ 1524190 w 1524190"/>
                <a:gd name="connsiteY3" fmla="*/ 121935 h 1219352"/>
                <a:gd name="connsiteX4" fmla="*/ 1524190 w 1524190"/>
                <a:gd name="connsiteY4" fmla="*/ 1097417 h 1219352"/>
                <a:gd name="connsiteX5" fmla="*/ 1402255 w 1524190"/>
                <a:gd name="connsiteY5" fmla="*/ 1219352 h 1219352"/>
                <a:gd name="connsiteX6" fmla="*/ 121935 w 1524190"/>
                <a:gd name="connsiteY6" fmla="*/ 1219352 h 1219352"/>
                <a:gd name="connsiteX7" fmla="*/ 0 w 1524190"/>
                <a:gd name="connsiteY7" fmla="*/ 1097417 h 1219352"/>
                <a:gd name="connsiteX8" fmla="*/ 0 w 1524190"/>
                <a:gd name="connsiteY8" fmla="*/ 121935 h 121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190" h="1219352">
                  <a:moveTo>
                    <a:pt x="0" y="121935"/>
                  </a:moveTo>
                  <a:cubicBezTo>
                    <a:pt x="0" y="54592"/>
                    <a:pt x="54592" y="0"/>
                    <a:pt x="121935" y="0"/>
                  </a:cubicBezTo>
                  <a:lnTo>
                    <a:pt x="1402255" y="0"/>
                  </a:lnTo>
                  <a:cubicBezTo>
                    <a:pt x="1469598" y="0"/>
                    <a:pt x="1524190" y="54592"/>
                    <a:pt x="1524190" y="121935"/>
                  </a:cubicBezTo>
                  <a:lnTo>
                    <a:pt x="1524190" y="1097417"/>
                  </a:lnTo>
                  <a:cubicBezTo>
                    <a:pt x="1524190" y="1164760"/>
                    <a:pt x="1469598" y="1219352"/>
                    <a:pt x="1402255" y="1219352"/>
                  </a:cubicBezTo>
                  <a:lnTo>
                    <a:pt x="121935" y="1219352"/>
                  </a:lnTo>
                  <a:cubicBezTo>
                    <a:pt x="54592" y="1219352"/>
                    <a:pt x="0" y="1164760"/>
                    <a:pt x="0" y="1097417"/>
                  </a:cubicBezTo>
                  <a:lnTo>
                    <a:pt x="0" y="121935"/>
                  </a:lnTo>
                  <a:close/>
                </a:path>
              </a:pathLst>
            </a:custGeom>
          </p:spPr>
          <p:style>
            <a:lnRef idx="3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814" tIns="73814" rIns="73814" bIns="73814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CasellaDiTesto 46">
              <a:extLst>
                <a:ext uri="{FF2B5EF4-FFF2-40B4-BE49-F238E27FC236}">
                  <a16:creationId xmlns:a16="http://schemas.microsoft.com/office/drawing/2014/main" id="{63C19119-7429-C42A-C1A7-8289135BB075}"/>
                </a:ext>
              </a:extLst>
            </p:cNvPr>
            <p:cNvSpPr txBox="1"/>
            <p:nvPr/>
          </p:nvSpPr>
          <p:spPr>
            <a:xfrm>
              <a:off x="2762499" y="1946244"/>
              <a:ext cx="1164062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Radiation quality</a:t>
              </a:r>
            </a:p>
          </p:txBody>
        </p:sp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384EA7CD-2714-C44C-6566-95377B6EDC6E}"/>
              </a:ext>
            </a:extLst>
          </p:cNvPr>
          <p:cNvGrpSpPr/>
          <p:nvPr/>
        </p:nvGrpSpPr>
        <p:grpSpPr>
          <a:xfrm>
            <a:off x="4244815" y="1023601"/>
            <a:ext cx="1165619" cy="939225"/>
            <a:chOff x="4023723" y="1023601"/>
            <a:chExt cx="1165619" cy="939225"/>
          </a:xfrm>
        </p:grpSpPr>
        <p:sp>
          <p:nvSpPr>
            <p:cNvPr id="26" name="Figura a mano libera: forma 25">
              <a:extLst>
                <a:ext uri="{FF2B5EF4-FFF2-40B4-BE49-F238E27FC236}">
                  <a16:creationId xmlns:a16="http://schemas.microsoft.com/office/drawing/2014/main" id="{A8881C8A-1995-BE0D-311D-C98841E20437}"/>
                </a:ext>
              </a:extLst>
            </p:cNvPr>
            <p:cNvSpPr/>
            <p:nvPr/>
          </p:nvSpPr>
          <p:spPr>
            <a:xfrm>
              <a:off x="4023723" y="1023601"/>
              <a:ext cx="1164062" cy="931250"/>
            </a:xfrm>
            <a:custGeom>
              <a:avLst/>
              <a:gdLst>
                <a:gd name="connsiteX0" fmla="*/ 0 w 1524190"/>
                <a:gd name="connsiteY0" fmla="*/ 121935 h 1219352"/>
                <a:gd name="connsiteX1" fmla="*/ 121935 w 1524190"/>
                <a:gd name="connsiteY1" fmla="*/ 0 h 1219352"/>
                <a:gd name="connsiteX2" fmla="*/ 1402255 w 1524190"/>
                <a:gd name="connsiteY2" fmla="*/ 0 h 1219352"/>
                <a:gd name="connsiteX3" fmla="*/ 1524190 w 1524190"/>
                <a:gd name="connsiteY3" fmla="*/ 121935 h 1219352"/>
                <a:gd name="connsiteX4" fmla="*/ 1524190 w 1524190"/>
                <a:gd name="connsiteY4" fmla="*/ 1097417 h 1219352"/>
                <a:gd name="connsiteX5" fmla="*/ 1402255 w 1524190"/>
                <a:gd name="connsiteY5" fmla="*/ 1219352 h 1219352"/>
                <a:gd name="connsiteX6" fmla="*/ 121935 w 1524190"/>
                <a:gd name="connsiteY6" fmla="*/ 1219352 h 1219352"/>
                <a:gd name="connsiteX7" fmla="*/ 0 w 1524190"/>
                <a:gd name="connsiteY7" fmla="*/ 1097417 h 1219352"/>
                <a:gd name="connsiteX8" fmla="*/ 0 w 1524190"/>
                <a:gd name="connsiteY8" fmla="*/ 121935 h 121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190" h="1219352">
                  <a:moveTo>
                    <a:pt x="0" y="121935"/>
                  </a:moveTo>
                  <a:cubicBezTo>
                    <a:pt x="0" y="54592"/>
                    <a:pt x="54592" y="0"/>
                    <a:pt x="121935" y="0"/>
                  </a:cubicBezTo>
                  <a:lnTo>
                    <a:pt x="1402255" y="0"/>
                  </a:lnTo>
                  <a:cubicBezTo>
                    <a:pt x="1469598" y="0"/>
                    <a:pt x="1524190" y="54592"/>
                    <a:pt x="1524190" y="121935"/>
                  </a:cubicBezTo>
                  <a:lnTo>
                    <a:pt x="1524190" y="1097417"/>
                  </a:lnTo>
                  <a:cubicBezTo>
                    <a:pt x="1524190" y="1164760"/>
                    <a:pt x="1469598" y="1219352"/>
                    <a:pt x="1402255" y="1219352"/>
                  </a:cubicBezTo>
                  <a:lnTo>
                    <a:pt x="121935" y="1219352"/>
                  </a:lnTo>
                  <a:cubicBezTo>
                    <a:pt x="54592" y="1219352"/>
                    <a:pt x="0" y="1164760"/>
                    <a:pt x="0" y="1097417"/>
                  </a:cubicBezTo>
                  <a:lnTo>
                    <a:pt x="0" y="121935"/>
                  </a:lnTo>
                  <a:close/>
                </a:path>
              </a:pathLst>
            </a:custGeom>
          </p:spPr>
          <p:style>
            <a:lnRef idx="3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814" tIns="73814" rIns="73814" bIns="73814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8" name="Elemento grafico 47" descr="Fulmine con riempimento a tinta unita">
              <a:extLst>
                <a:ext uri="{FF2B5EF4-FFF2-40B4-BE49-F238E27FC236}">
                  <a16:creationId xmlns:a16="http://schemas.microsoft.com/office/drawing/2014/main" id="{08FB7230-5A81-33D5-598A-A54F4D4F0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65272" y="1435877"/>
              <a:ext cx="526949" cy="526949"/>
            </a:xfrm>
            <a:prstGeom prst="rect">
              <a:avLst/>
            </a:prstGeom>
          </p:spPr>
        </p:pic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F1861E07-E8F9-BEE0-9FED-5A9805662149}"/>
                </a:ext>
              </a:extLst>
            </p:cNvPr>
            <p:cNvSpPr txBox="1"/>
            <p:nvPr/>
          </p:nvSpPr>
          <p:spPr>
            <a:xfrm>
              <a:off x="4025280" y="1023601"/>
              <a:ext cx="1164062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Fractionation scheme</a:t>
              </a:r>
            </a:p>
          </p:txBody>
        </p:sp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758D7DB0-0301-5374-2A35-A9E34B99EEBD}"/>
              </a:ext>
            </a:extLst>
          </p:cNvPr>
          <p:cNvGrpSpPr/>
          <p:nvPr/>
        </p:nvGrpSpPr>
        <p:grpSpPr>
          <a:xfrm>
            <a:off x="5800461" y="1023601"/>
            <a:ext cx="1166555" cy="931250"/>
            <a:chOff x="5579369" y="1023601"/>
            <a:chExt cx="1166555" cy="931250"/>
          </a:xfrm>
        </p:grpSpPr>
        <p:sp>
          <p:nvSpPr>
            <p:cNvPr id="28" name="Figura a mano libera: forma 27">
              <a:extLst>
                <a:ext uri="{FF2B5EF4-FFF2-40B4-BE49-F238E27FC236}">
                  <a16:creationId xmlns:a16="http://schemas.microsoft.com/office/drawing/2014/main" id="{0758242C-3E4D-124E-29D6-668FD6F20681}"/>
                </a:ext>
              </a:extLst>
            </p:cNvPr>
            <p:cNvSpPr/>
            <p:nvPr/>
          </p:nvSpPr>
          <p:spPr>
            <a:xfrm>
              <a:off x="5581862" y="1023601"/>
              <a:ext cx="1164062" cy="931250"/>
            </a:xfrm>
            <a:custGeom>
              <a:avLst/>
              <a:gdLst>
                <a:gd name="connsiteX0" fmla="*/ 0 w 1524190"/>
                <a:gd name="connsiteY0" fmla="*/ 121935 h 1219352"/>
                <a:gd name="connsiteX1" fmla="*/ 121935 w 1524190"/>
                <a:gd name="connsiteY1" fmla="*/ 0 h 1219352"/>
                <a:gd name="connsiteX2" fmla="*/ 1402255 w 1524190"/>
                <a:gd name="connsiteY2" fmla="*/ 0 h 1219352"/>
                <a:gd name="connsiteX3" fmla="*/ 1524190 w 1524190"/>
                <a:gd name="connsiteY3" fmla="*/ 121935 h 1219352"/>
                <a:gd name="connsiteX4" fmla="*/ 1524190 w 1524190"/>
                <a:gd name="connsiteY4" fmla="*/ 1097417 h 1219352"/>
                <a:gd name="connsiteX5" fmla="*/ 1402255 w 1524190"/>
                <a:gd name="connsiteY5" fmla="*/ 1219352 h 1219352"/>
                <a:gd name="connsiteX6" fmla="*/ 121935 w 1524190"/>
                <a:gd name="connsiteY6" fmla="*/ 1219352 h 1219352"/>
                <a:gd name="connsiteX7" fmla="*/ 0 w 1524190"/>
                <a:gd name="connsiteY7" fmla="*/ 1097417 h 1219352"/>
                <a:gd name="connsiteX8" fmla="*/ 0 w 1524190"/>
                <a:gd name="connsiteY8" fmla="*/ 121935 h 121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190" h="1219352">
                  <a:moveTo>
                    <a:pt x="0" y="121935"/>
                  </a:moveTo>
                  <a:cubicBezTo>
                    <a:pt x="0" y="54592"/>
                    <a:pt x="54592" y="0"/>
                    <a:pt x="121935" y="0"/>
                  </a:cubicBezTo>
                  <a:lnTo>
                    <a:pt x="1402255" y="0"/>
                  </a:lnTo>
                  <a:cubicBezTo>
                    <a:pt x="1469598" y="0"/>
                    <a:pt x="1524190" y="54592"/>
                    <a:pt x="1524190" y="121935"/>
                  </a:cubicBezTo>
                  <a:lnTo>
                    <a:pt x="1524190" y="1097417"/>
                  </a:lnTo>
                  <a:cubicBezTo>
                    <a:pt x="1524190" y="1164760"/>
                    <a:pt x="1469598" y="1219352"/>
                    <a:pt x="1402255" y="1219352"/>
                  </a:cubicBezTo>
                  <a:lnTo>
                    <a:pt x="121935" y="1219352"/>
                  </a:lnTo>
                  <a:cubicBezTo>
                    <a:pt x="54592" y="1219352"/>
                    <a:pt x="0" y="1164760"/>
                    <a:pt x="0" y="1097417"/>
                  </a:cubicBezTo>
                  <a:lnTo>
                    <a:pt x="0" y="121935"/>
                  </a:lnTo>
                  <a:close/>
                </a:path>
              </a:pathLst>
            </a:custGeom>
          </p:spPr>
          <p:style>
            <a:lnRef idx="3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814" tIns="73814" rIns="73814" bIns="73814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CasellaDiTesto 51">
              <a:extLst>
                <a:ext uri="{FF2B5EF4-FFF2-40B4-BE49-F238E27FC236}">
                  <a16:creationId xmlns:a16="http://schemas.microsoft.com/office/drawing/2014/main" id="{D9ACC735-F887-CE92-B0A9-21892F1423E0}"/>
                </a:ext>
              </a:extLst>
            </p:cNvPr>
            <p:cNvSpPr txBox="1"/>
            <p:nvPr/>
          </p:nvSpPr>
          <p:spPr>
            <a:xfrm>
              <a:off x="5579369" y="1024045"/>
              <a:ext cx="1155138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Oxygenation level</a:t>
              </a:r>
            </a:p>
          </p:txBody>
        </p:sp>
        <p:pic>
          <p:nvPicPr>
            <p:cNvPr id="53" name="Elemento grafico 52" descr="Coppa con riempimento a tinta unita">
              <a:extLst>
                <a:ext uri="{FF2B5EF4-FFF2-40B4-BE49-F238E27FC236}">
                  <a16:creationId xmlns:a16="http://schemas.microsoft.com/office/drawing/2014/main" id="{BFE9D33E-1F76-82D0-BFB5-ABE28DC00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900418" y="1412501"/>
              <a:ext cx="526950" cy="526950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245BEC45-503F-C484-2F71-2969A5B57C1A}"/>
              </a:ext>
            </a:extLst>
          </p:cNvPr>
          <p:cNvGrpSpPr/>
          <p:nvPr/>
        </p:nvGrpSpPr>
        <p:grpSpPr>
          <a:xfrm>
            <a:off x="7063514" y="1939451"/>
            <a:ext cx="1164062" cy="931250"/>
            <a:chOff x="6842422" y="1939451"/>
            <a:chExt cx="1164062" cy="931250"/>
          </a:xfrm>
        </p:grpSpPr>
        <p:sp>
          <p:nvSpPr>
            <p:cNvPr id="30" name="Figura a mano libera: forma 29">
              <a:extLst>
                <a:ext uri="{FF2B5EF4-FFF2-40B4-BE49-F238E27FC236}">
                  <a16:creationId xmlns:a16="http://schemas.microsoft.com/office/drawing/2014/main" id="{B2A6452B-D5F9-183A-EDE3-81AFCAA2FAA8}"/>
                </a:ext>
              </a:extLst>
            </p:cNvPr>
            <p:cNvSpPr/>
            <p:nvPr/>
          </p:nvSpPr>
          <p:spPr>
            <a:xfrm>
              <a:off x="6842422" y="1939451"/>
              <a:ext cx="1164062" cy="931250"/>
            </a:xfrm>
            <a:custGeom>
              <a:avLst/>
              <a:gdLst>
                <a:gd name="connsiteX0" fmla="*/ 0 w 1524190"/>
                <a:gd name="connsiteY0" fmla="*/ 121935 h 1219352"/>
                <a:gd name="connsiteX1" fmla="*/ 121935 w 1524190"/>
                <a:gd name="connsiteY1" fmla="*/ 0 h 1219352"/>
                <a:gd name="connsiteX2" fmla="*/ 1402255 w 1524190"/>
                <a:gd name="connsiteY2" fmla="*/ 0 h 1219352"/>
                <a:gd name="connsiteX3" fmla="*/ 1524190 w 1524190"/>
                <a:gd name="connsiteY3" fmla="*/ 121935 h 1219352"/>
                <a:gd name="connsiteX4" fmla="*/ 1524190 w 1524190"/>
                <a:gd name="connsiteY4" fmla="*/ 1097417 h 1219352"/>
                <a:gd name="connsiteX5" fmla="*/ 1402255 w 1524190"/>
                <a:gd name="connsiteY5" fmla="*/ 1219352 h 1219352"/>
                <a:gd name="connsiteX6" fmla="*/ 121935 w 1524190"/>
                <a:gd name="connsiteY6" fmla="*/ 1219352 h 1219352"/>
                <a:gd name="connsiteX7" fmla="*/ 0 w 1524190"/>
                <a:gd name="connsiteY7" fmla="*/ 1097417 h 1219352"/>
                <a:gd name="connsiteX8" fmla="*/ 0 w 1524190"/>
                <a:gd name="connsiteY8" fmla="*/ 121935 h 121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190" h="1219352">
                  <a:moveTo>
                    <a:pt x="0" y="121935"/>
                  </a:moveTo>
                  <a:cubicBezTo>
                    <a:pt x="0" y="54592"/>
                    <a:pt x="54592" y="0"/>
                    <a:pt x="121935" y="0"/>
                  </a:cubicBezTo>
                  <a:lnTo>
                    <a:pt x="1402255" y="0"/>
                  </a:lnTo>
                  <a:cubicBezTo>
                    <a:pt x="1469598" y="0"/>
                    <a:pt x="1524190" y="54592"/>
                    <a:pt x="1524190" y="121935"/>
                  </a:cubicBezTo>
                  <a:lnTo>
                    <a:pt x="1524190" y="1097417"/>
                  </a:lnTo>
                  <a:cubicBezTo>
                    <a:pt x="1524190" y="1164760"/>
                    <a:pt x="1469598" y="1219352"/>
                    <a:pt x="1402255" y="1219352"/>
                  </a:cubicBezTo>
                  <a:lnTo>
                    <a:pt x="121935" y="1219352"/>
                  </a:lnTo>
                  <a:cubicBezTo>
                    <a:pt x="54592" y="1219352"/>
                    <a:pt x="0" y="1164760"/>
                    <a:pt x="0" y="1097417"/>
                  </a:cubicBezTo>
                  <a:lnTo>
                    <a:pt x="0" y="121935"/>
                  </a:lnTo>
                  <a:close/>
                </a:path>
              </a:pathLst>
            </a:custGeom>
          </p:spPr>
          <p:style>
            <a:lnRef idx="3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814" tIns="73814" rIns="73814" bIns="73814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CasellaDiTesto 54">
              <a:extLst>
                <a:ext uri="{FF2B5EF4-FFF2-40B4-BE49-F238E27FC236}">
                  <a16:creationId xmlns:a16="http://schemas.microsoft.com/office/drawing/2014/main" id="{A7959325-38FC-9945-6695-7B4668988555}"/>
                </a:ext>
              </a:extLst>
            </p:cNvPr>
            <p:cNvSpPr txBox="1"/>
            <p:nvPr/>
          </p:nvSpPr>
          <p:spPr>
            <a:xfrm>
              <a:off x="6937551" y="2043193"/>
              <a:ext cx="976560" cy="2862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Cell line</a:t>
              </a:r>
            </a:p>
          </p:txBody>
        </p:sp>
        <p:pic>
          <p:nvPicPr>
            <p:cNvPr id="56" name="Elemento grafico 55" descr="DNA con riempimento a tinta unita">
              <a:extLst>
                <a:ext uri="{FF2B5EF4-FFF2-40B4-BE49-F238E27FC236}">
                  <a16:creationId xmlns:a16="http://schemas.microsoft.com/office/drawing/2014/main" id="{9EBE4B27-F11A-74DC-2FDA-5CE1E6CAF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160978" y="2323164"/>
              <a:ext cx="526949" cy="526949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3EDF268F-3991-2909-7F7B-A3D9B6FD00EB}"/>
              </a:ext>
            </a:extLst>
          </p:cNvPr>
          <p:cNvGrpSpPr/>
          <p:nvPr/>
        </p:nvGrpSpPr>
        <p:grpSpPr>
          <a:xfrm>
            <a:off x="7545006" y="3421330"/>
            <a:ext cx="1172228" cy="947879"/>
            <a:chOff x="7323914" y="3421330"/>
            <a:chExt cx="1172228" cy="947879"/>
          </a:xfrm>
        </p:grpSpPr>
        <p:sp>
          <p:nvSpPr>
            <p:cNvPr id="32" name="Figura a mano libera: forma 31">
              <a:extLst>
                <a:ext uri="{FF2B5EF4-FFF2-40B4-BE49-F238E27FC236}">
                  <a16:creationId xmlns:a16="http://schemas.microsoft.com/office/drawing/2014/main" id="{09924BCD-F7DA-51F6-A559-F541D8142453}"/>
                </a:ext>
              </a:extLst>
            </p:cNvPr>
            <p:cNvSpPr/>
            <p:nvPr/>
          </p:nvSpPr>
          <p:spPr>
            <a:xfrm>
              <a:off x="7323914" y="3421330"/>
              <a:ext cx="1164062" cy="931250"/>
            </a:xfrm>
            <a:custGeom>
              <a:avLst/>
              <a:gdLst>
                <a:gd name="connsiteX0" fmla="*/ 0 w 1524190"/>
                <a:gd name="connsiteY0" fmla="*/ 121935 h 1219352"/>
                <a:gd name="connsiteX1" fmla="*/ 121935 w 1524190"/>
                <a:gd name="connsiteY1" fmla="*/ 0 h 1219352"/>
                <a:gd name="connsiteX2" fmla="*/ 1402255 w 1524190"/>
                <a:gd name="connsiteY2" fmla="*/ 0 h 1219352"/>
                <a:gd name="connsiteX3" fmla="*/ 1524190 w 1524190"/>
                <a:gd name="connsiteY3" fmla="*/ 121935 h 1219352"/>
                <a:gd name="connsiteX4" fmla="*/ 1524190 w 1524190"/>
                <a:gd name="connsiteY4" fmla="*/ 1097417 h 1219352"/>
                <a:gd name="connsiteX5" fmla="*/ 1402255 w 1524190"/>
                <a:gd name="connsiteY5" fmla="*/ 1219352 h 1219352"/>
                <a:gd name="connsiteX6" fmla="*/ 121935 w 1524190"/>
                <a:gd name="connsiteY6" fmla="*/ 1219352 h 1219352"/>
                <a:gd name="connsiteX7" fmla="*/ 0 w 1524190"/>
                <a:gd name="connsiteY7" fmla="*/ 1097417 h 1219352"/>
                <a:gd name="connsiteX8" fmla="*/ 0 w 1524190"/>
                <a:gd name="connsiteY8" fmla="*/ 121935 h 121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190" h="1219352">
                  <a:moveTo>
                    <a:pt x="0" y="121935"/>
                  </a:moveTo>
                  <a:cubicBezTo>
                    <a:pt x="0" y="54592"/>
                    <a:pt x="54592" y="0"/>
                    <a:pt x="121935" y="0"/>
                  </a:cubicBezTo>
                  <a:lnTo>
                    <a:pt x="1402255" y="0"/>
                  </a:lnTo>
                  <a:cubicBezTo>
                    <a:pt x="1469598" y="0"/>
                    <a:pt x="1524190" y="54592"/>
                    <a:pt x="1524190" y="121935"/>
                  </a:cubicBezTo>
                  <a:lnTo>
                    <a:pt x="1524190" y="1097417"/>
                  </a:lnTo>
                  <a:cubicBezTo>
                    <a:pt x="1524190" y="1164760"/>
                    <a:pt x="1469598" y="1219352"/>
                    <a:pt x="1402255" y="1219352"/>
                  </a:cubicBezTo>
                  <a:lnTo>
                    <a:pt x="121935" y="1219352"/>
                  </a:lnTo>
                  <a:cubicBezTo>
                    <a:pt x="54592" y="1219352"/>
                    <a:pt x="0" y="1164760"/>
                    <a:pt x="0" y="1097417"/>
                  </a:cubicBezTo>
                  <a:lnTo>
                    <a:pt x="0" y="121935"/>
                  </a:lnTo>
                  <a:close/>
                </a:path>
              </a:pathLst>
            </a:custGeom>
          </p:spPr>
          <p:style>
            <a:lnRef idx="3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814" tIns="73814" rIns="73814" bIns="73814" numCol="1" spcCol="1270" anchor="ctr" anchorCtr="0">
              <a:no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CasellaDiTesto 57">
              <a:extLst>
                <a:ext uri="{FF2B5EF4-FFF2-40B4-BE49-F238E27FC236}">
                  <a16:creationId xmlns:a16="http://schemas.microsoft.com/office/drawing/2014/main" id="{555BBBDB-714C-0021-1577-40395B846FA3}"/>
                </a:ext>
              </a:extLst>
            </p:cNvPr>
            <p:cNvSpPr txBox="1"/>
            <p:nvPr/>
          </p:nvSpPr>
          <p:spPr>
            <a:xfrm>
              <a:off x="7332080" y="3429000"/>
              <a:ext cx="1164062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Tissue architecture</a:t>
              </a:r>
            </a:p>
          </p:txBody>
        </p:sp>
        <p:pic>
          <p:nvPicPr>
            <p:cNvPr id="59" name="Elemento grafico 58" descr="Polmoni con riempimento a tinta unita">
              <a:extLst>
                <a:ext uri="{FF2B5EF4-FFF2-40B4-BE49-F238E27FC236}">
                  <a16:creationId xmlns:a16="http://schemas.microsoft.com/office/drawing/2014/main" id="{1F4F8602-8A6D-8D2E-C70F-37611FCF0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46554" y="3842260"/>
              <a:ext cx="526949" cy="526949"/>
            </a:xfrm>
            <a:prstGeom prst="rect">
              <a:avLst/>
            </a:prstGeom>
          </p:spPr>
        </p:pic>
      </p:grp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9F3D95D1-A7A1-ABB5-2AA8-0607BB0B22A1}"/>
              </a:ext>
            </a:extLst>
          </p:cNvPr>
          <p:cNvSpPr txBox="1"/>
          <p:nvPr/>
        </p:nvSpPr>
        <p:spPr>
          <a:xfrm>
            <a:off x="6138279" y="5391538"/>
            <a:ext cx="59676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 rtl="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0000"/>
                </a:solidFill>
              </a:rPr>
              <a:t>I</a:t>
            </a:r>
            <a:r>
              <a:rPr lang="en-US" sz="1600" i="0" u="none" strike="noStrike" noProof="0" dirty="0">
                <a:solidFill>
                  <a:srgbClr val="000000"/>
                </a:solidFill>
                <a:effectLst/>
              </a:rPr>
              <a:t>mpact of irradiation methods and environmental conditions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Impact of stochastic effects and heterogeneities</a:t>
            </a:r>
            <a:endParaRPr lang="en-US" sz="1600" i="0" u="none" strike="noStrike" noProof="0" dirty="0">
              <a:solidFill>
                <a:srgbClr val="000000"/>
              </a:solidFill>
              <a:effectLst/>
            </a:endParaRP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0000"/>
                </a:solidFill>
              </a:rPr>
              <a:t>GSM</a:t>
            </a:r>
            <a:r>
              <a:rPr lang="en-US" sz="1600" baseline="30000" noProof="0" dirty="0">
                <a:solidFill>
                  <a:srgbClr val="000000"/>
                </a:solidFill>
              </a:rPr>
              <a:t>2</a:t>
            </a:r>
            <a:r>
              <a:rPr lang="en-US" sz="1600" noProof="0" dirty="0">
                <a:solidFill>
                  <a:srgbClr val="000000"/>
                </a:solidFill>
              </a:rPr>
              <a:t>-based NTCP model VS </a:t>
            </a:r>
            <a:r>
              <a:rPr lang="en-US" sz="1600" i="0" u="none" strike="noStrike" noProof="0" dirty="0">
                <a:solidFill>
                  <a:srgbClr val="000000"/>
                </a:solidFill>
                <a:effectLst/>
              </a:rPr>
              <a:t>NTCP models from literature</a:t>
            </a:r>
          </a:p>
        </p:txBody>
      </p:sp>
      <p:sp>
        <p:nvSpPr>
          <p:cNvPr id="40" name="Parentesi graffa chiusa 39">
            <a:extLst>
              <a:ext uri="{FF2B5EF4-FFF2-40B4-BE49-F238E27FC236}">
                <a16:creationId xmlns:a16="http://schemas.microsoft.com/office/drawing/2014/main" id="{7C39F694-DFE1-99F4-DDE8-757780758C6B}"/>
              </a:ext>
            </a:extLst>
          </p:cNvPr>
          <p:cNvSpPr/>
          <p:nvPr/>
        </p:nvSpPr>
        <p:spPr>
          <a:xfrm rot="10800000">
            <a:off x="6344649" y="5353430"/>
            <a:ext cx="303805" cy="931251"/>
          </a:xfrm>
          <a:prstGeom prst="rightBrac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5" name="Picture 5">
            <a:extLst>
              <a:ext uri="{FF2B5EF4-FFF2-40B4-BE49-F238E27FC236}">
                <a16:creationId xmlns:a16="http://schemas.microsoft.com/office/drawing/2014/main" id="{3A3B94FA-6213-F4C6-882F-487FFC396E3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200814" y="2426375"/>
            <a:ext cx="738089" cy="388962"/>
          </a:xfrm>
          <a:prstGeom prst="rect">
            <a:avLst/>
          </a:prstGeom>
        </p:spPr>
      </p:pic>
      <p:pic>
        <p:nvPicPr>
          <p:cNvPr id="38" name="Elemento grafico 37" descr="Tiro a segno contorno">
            <a:extLst>
              <a:ext uri="{FF2B5EF4-FFF2-40B4-BE49-F238E27FC236}">
                <a16:creationId xmlns:a16="http://schemas.microsoft.com/office/drawing/2014/main" id="{70AEEE1A-FC79-ECC9-F77F-950E956728A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074474" y="4805045"/>
            <a:ext cx="605412" cy="605412"/>
          </a:xfrm>
          <a:prstGeom prst="rect">
            <a:avLst/>
          </a:prstGeom>
        </p:spPr>
      </p:pic>
      <p:pic>
        <p:nvPicPr>
          <p:cNvPr id="35" name="Elemento grafico 34" descr="Fulmine con riempimento a tinta unita">
            <a:extLst>
              <a:ext uri="{FF2B5EF4-FFF2-40B4-BE49-F238E27FC236}">
                <a16:creationId xmlns:a16="http://schemas.microsoft.com/office/drawing/2014/main" id="{8842B17F-A1AA-2FFD-BE5A-C072CF12F7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6337" y="1435877"/>
            <a:ext cx="526949" cy="52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0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44" grpId="0"/>
      <p:bldP spid="4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9F535-C32F-8B8F-8361-F253F5E0D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1">
            <a:extLst>
              <a:ext uri="{FF2B5EF4-FFF2-40B4-BE49-F238E27FC236}">
                <a16:creationId xmlns:a16="http://schemas.microsoft.com/office/drawing/2014/main" id="{390E349E-2377-6153-5256-C9E53A85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4E916C4-8E10-BE8A-0155-2A5929B78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3E0CA2F-566E-F5F1-E0A2-887AF7314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300DFB26-F225-7B84-5B36-C34A5A175044}"/>
              </a:ext>
            </a:extLst>
          </p:cNvPr>
          <p:cNvSpPr txBox="1">
            <a:spLocks/>
          </p:cNvSpPr>
          <p:nvPr/>
        </p:nvSpPr>
        <p:spPr>
          <a:xfrm>
            <a:off x="0" y="4618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Comparison of model predictions with experimental data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0BE01BAB-DC5D-6B91-835D-075D0293700C}"/>
              </a:ext>
            </a:extLst>
          </p:cNvPr>
          <p:cNvGrpSpPr/>
          <p:nvPr/>
        </p:nvGrpSpPr>
        <p:grpSpPr>
          <a:xfrm>
            <a:off x="135586" y="1564421"/>
            <a:ext cx="1539844" cy="3729158"/>
            <a:chOff x="135586" y="1856553"/>
            <a:chExt cx="1539844" cy="3729158"/>
          </a:xfrm>
        </p:grpSpPr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F92C45B6-EDB0-C08F-792B-6FE0FFC944F0}"/>
                </a:ext>
              </a:extLst>
            </p:cNvPr>
            <p:cNvGrpSpPr/>
            <p:nvPr/>
          </p:nvGrpSpPr>
          <p:grpSpPr>
            <a:xfrm>
              <a:off x="135586" y="1856553"/>
              <a:ext cx="1535626" cy="1022218"/>
              <a:chOff x="634124" y="734039"/>
              <a:chExt cx="1535626" cy="1022218"/>
            </a:xfrm>
          </p:grpSpPr>
          <p:sp>
            <p:nvSpPr>
              <p:cNvPr id="19" name="Figura a mano libera: forma 18">
                <a:extLst>
                  <a:ext uri="{FF2B5EF4-FFF2-40B4-BE49-F238E27FC236}">
                    <a16:creationId xmlns:a16="http://schemas.microsoft.com/office/drawing/2014/main" id="{092E8BB8-469C-E7F1-5607-D8E47AD92BBB}"/>
                  </a:ext>
                </a:extLst>
              </p:cNvPr>
              <p:cNvSpPr/>
              <p:nvPr/>
            </p:nvSpPr>
            <p:spPr>
              <a:xfrm>
                <a:off x="634124" y="734039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kern="1200" noProof="0" dirty="0"/>
                  <a:t>General model development</a:t>
                </a:r>
              </a:p>
            </p:txBody>
          </p:sp>
          <p:sp>
            <p:nvSpPr>
              <p:cNvPr id="20" name="Figura a mano libera: forma 19">
                <a:extLst>
                  <a:ext uri="{FF2B5EF4-FFF2-40B4-BE49-F238E27FC236}">
                    <a16:creationId xmlns:a16="http://schemas.microsoft.com/office/drawing/2014/main" id="{506BACDD-A979-2A08-360F-CA033196EE00}"/>
                  </a:ext>
                </a:extLst>
              </p:cNvPr>
              <p:cNvSpPr/>
              <p:nvPr/>
            </p:nvSpPr>
            <p:spPr>
              <a:xfrm>
                <a:off x="941249" y="1267723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WP1.1</a:t>
                </a:r>
              </a:p>
            </p:txBody>
          </p:sp>
        </p:grpSp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16F6D641-46F0-841B-C7EB-ABBC2B11410B}"/>
                </a:ext>
              </a:extLst>
            </p:cNvPr>
            <p:cNvGrpSpPr/>
            <p:nvPr/>
          </p:nvGrpSpPr>
          <p:grpSpPr>
            <a:xfrm>
              <a:off x="139804" y="3210023"/>
              <a:ext cx="1535626" cy="1022219"/>
              <a:chOff x="634124" y="2426465"/>
              <a:chExt cx="1535626" cy="1022219"/>
            </a:xfrm>
          </p:grpSpPr>
          <p:sp>
            <p:nvSpPr>
              <p:cNvPr id="17" name="Figura a mano libera: forma 16">
                <a:extLst>
                  <a:ext uri="{FF2B5EF4-FFF2-40B4-BE49-F238E27FC236}">
                    <a16:creationId xmlns:a16="http://schemas.microsoft.com/office/drawing/2014/main" id="{67C35072-C77C-3168-C74A-E2D46C049302}"/>
                  </a:ext>
                </a:extLst>
              </p:cNvPr>
              <p:cNvSpPr/>
              <p:nvPr/>
            </p:nvSpPr>
            <p:spPr>
              <a:xfrm>
                <a:off x="634124" y="2426465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General model validation</a:t>
                </a:r>
              </a:p>
            </p:txBody>
          </p:sp>
          <p:sp>
            <p:nvSpPr>
              <p:cNvPr id="18" name="Figura a mano libera: forma 17">
                <a:extLst>
                  <a:ext uri="{FF2B5EF4-FFF2-40B4-BE49-F238E27FC236}">
                    <a16:creationId xmlns:a16="http://schemas.microsoft.com/office/drawing/2014/main" id="{D87785D4-0FAE-09C1-3AE6-41F62929F252}"/>
                  </a:ext>
                </a:extLst>
              </p:cNvPr>
              <p:cNvSpPr/>
              <p:nvPr/>
            </p:nvSpPr>
            <p:spPr>
              <a:xfrm>
                <a:off x="941249" y="2960150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WP1.2</a:t>
                </a:r>
              </a:p>
            </p:txBody>
          </p:sp>
        </p:grpSp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4699854C-AC3C-05B3-FD8F-C0115271512B}"/>
                </a:ext>
              </a:extLst>
            </p:cNvPr>
            <p:cNvGrpSpPr/>
            <p:nvPr/>
          </p:nvGrpSpPr>
          <p:grpSpPr>
            <a:xfrm>
              <a:off x="135586" y="4563492"/>
              <a:ext cx="1535626" cy="1022219"/>
              <a:chOff x="634124" y="3980710"/>
              <a:chExt cx="1535626" cy="1022219"/>
            </a:xfrm>
          </p:grpSpPr>
          <p:sp>
            <p:nvSpPr>
              <p:cNvPr id="14" name="Figura a mano libera: forma 13">
                <a:extLst>
                  <a:ext uri="{FF2B5EF4-FFF2-40B4-BE49-F238E27FC236}">
                    <a16:creationId xmlns:a16="http://schemas.microsoft.com/office/drawing/2014/main" id="{149AF08D-9325-C326-6BCC-91D9B23B3E7D}"/>
                  </a:ext>
                </a:extLst>
              </p:cNvPr>
              <p:cNvSpPr/>
              <p:nvPr/>
            </p:nvSpPr>
            <p:spPr>
              <a:xfrm>
                <a:off x="634124" y="3980710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Model extension to clinic</a:t>
                </a:r>
              </a:p>
            </p:txBody>
          </p:sp>
          <p:sp>
            <p:nvSpPr>
              <p:cNvPr id="16" name="Figura a mano libera: forma 15">
                <a:extLst>
                  <a:ext uri="{FF2B5EF4-FFF2-40B4-BE49-F238E27FC236}">
                    <a16:creationId xmlns:a16="http://schemas.microsoft.com/office/drawing/2014/main" id="{80A107A4-055F-3AF3-9117-B7DC6FDCCF21}"/>
                  </a:ext>
                </a:extLst>
              </p:cNvPr>
              <p:cNvSpPr/>
              <p:nvPr/>
            </p:nvSpPr>
            <p:spPr>
              <a:xfrm>
                <a:off x="941249" y="4514395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WP1.3</a:t>
                </a:r>
              </a:p>
            </p:txBody>
          </p:sp>
        </p:grpSp>
        <p:sp>
          <p:nvSpPr>
            <p:cNvPr id="12" name="Freccia in giù 11">
              <a:extLst>
                <a:ext uri="{FF2B5EF4-FFF2-40B4-BE49-F238E27FC236}">
                  <a16:creationId xmlns:a16="http://schemas.microsoft.com/office/drawing/2014/main" id="{78F6FBCD-219D-A7F7-F979-AD4B1F167F93}"/>
                </a:ext>
              </a:extLst>
            </p:cNvPr>
            <p:cNvSpPr/>
            <p:nvPr/>
          </p:nvSpPr>
          <p:spPr>
            <a:xfrm>
              <a:off x="725632" y="2923921"/>
              <a:ext cx="201969" cy="244268"/>
            </a:xfrm>
            <a:prstGeom prst="downArrow">
              <a:avLst/>
            </a:prstGeom>
            <a:solidFill>
              <a:srgbClr val="B5CBE7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  <p:sp>
          <p:nvSpPr>
            <p:cNvPr id="13" name="Freccia in giù 12">
              <a:extLst>
                <a:ext uri="{FF2B5EF4-FFF2-40B4-BE49-F238E27FC236}">
                  <a16:creationId xmlns:a16="http://schemas.microsoft.com/office/drawing/2014/main" id="{9AFC04B6-3C30-9C12-854B-3BCFD17C31DA}"/>
                </a:ext>
              </a:extLst>
            </p:cNvPr>
            <p:cNvSpPr/>
            <p:nvPr/>
          </p:nvSpPr>
          <p:spPr>
            <a:xfrm>
              <a:off x="725632" y="4275733"/>
              <a:ext cx="201969" cy="244268"/>
            </a:xfrm>
            <a:prstGeom prst="downArrow">
              <a:avLst/>
            </a:prstGeom>
            <a:solidFill>
              <a:srgbClr val="B5CBE7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</p:grpSp>
      <p:sp>
        <p:nvSpPr>
          <p:cNvPr id="21" name="Rettangolo 20">
            <a:extLst>
              <a:ext uri="{FF2B5EF4-FFF2-40B4-BE49-F238E27FC236}">
                <a16:creationId xmlns:a16="http://schemas.microsoft.com/office/drawing/2014/main" id="{7D0020D2-1A7A-5B50-EC26-C858F6DF3EEE}"/>
              </a:ext>
            </a:extLst>
          </p:cNvPr>
          <p:cNvSpPr/>
          <p:nvPr/>
        </p:nvSpPr>
        <p:spPr>
          <a:xfrm>
            <a:off x="102990" y="1522127"/>
            <a:ext cx="1568222" cy="1352273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EFF1AD1E-C05C-0D9F-E7B4-E3350BC2ABA5}"/>
              </a:ext>
            </a:extLst>
          </p:cNvPr>
          <p:cNvSpPr/>
          <p:nvPr/>
        </p:nvSpPr>
        <p:spPr>
          <a:xfrm>
            <a:off x="102990" y="3956818"/>
            <a:ext cx="1568222" cy="1379055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5" name="Immagine 34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0CA32844-2076-2DC3-0B97-6A735311D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310" y="765718"/>
            <a:ext cx="5840999" cy="3893999"/>
          </a:xfrm>
          <a:prstGeom prst="rect">
            <a:avLst/>
          </a:prstGeom>
        </p:spPr>
      </p:pic>
      <p:sp>
        <p:nvSpPr>
          <p:cNvPr id="36" name="Rettangolo 35">
            <a:extLst>
              <a:ext uri="{FF2B5EF4-FFF2-40B4-BE49-F238E27FC236}">
                <a16:creationId xmlns:a16="http://schemas.microsoft.com/office/drawing/2014/main" id="{32805E6D-DE4E-7F77-0D0D-01B62150059C}"/>
              </a:ext>
            </a:extLst>
          </p:cNvPr>
          <p:cNvSpPr/>
          <p:nvPr/>
        </p:nvSpPr>
        <p:spPr>
          <a:xfrm>
            <a:off x="8950355" y="2840259"/>
            <a:ext cx="23305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 spinal cord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 irradiation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C, 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He, 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18, 6, 2, 1 fractions</a:t>
            </a:r>
          </a:p>
        </p:txBody>
      </p:sp>
      <p:sp>
        <p:nvSpPr>
          <p:cNvPr id="38" name="Google Shape;1532;p123">
            <a:extLst>
              <a:ext uri="{FF2B5EF4-FFF2-40B4-BE49-F238E27FC236}">
                <a16:creationId xmlns:a16="http://schemas.microsoft.com/office/drawing/2014/main" id="{6513B6C5-B987-9100-159C-F5C2319925FB}"/>
              </a:ext>
            </a:extLst>
          </p:cNvPr>
          <p:cNvSpPr/>
          <p:nvPr/>
        </p:nvSpPr>
        <p:spPr>
          <a:xfrm>
            <a:off x="8762840" y="3868256"/>
            <a:ext cx="3352800" cy="622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Exp: M.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Saager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et al.,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Radiother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. Oncol. (2018),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L. Hintz et al., </a:t>
            </a:r>
            <a:r>
              <a:rPr kumimoji="0" lang="en-US" sz="10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Radiother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. Oncol. (2022),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C. P. Karger et al., Int. J. Radiation Oncology Biol. Phys. (2006)</a:t>
            </a:r>
          </a:p>
        </p:txBody>
      </p: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BB02500C-BBD2-DBA2-1121-A09CCB2C3969}"/>
              </a:ext>
            </a:extLst>
          </p:cNvPr>
          <p:cNvGrpSpPr>
            <a:grpSpLocks noChangeAspect="1"/>
          </p:cNvGrpSpPr>
          <p:nvPr/>
        </p:nvGrpSpPr>
        <p:grpSpPr>
          <a:xfrm>
            <a:off x="3226940" y="5650756"/>
            <a:ext cx="1506643" cy="677814"/>
            <a:chOff x="9200759" y="1513936"/>
            <a:chExt cx="1994109" cy="897116"/>
          </a:xfrm>
        </p:grpSpPr>
        <p:pic>
          <p:nvPicPr>
            <p:cNvPr id="41" name="Immagine 40" descr="Immagine che contiene diagramma, linea&#10;&#10;Descrizione generata automaticamente">
              <a:extLst>
                <a:ext uri="{FF2B5EF4-FFF2-40B4-BE49-F238E27FC236}">
                  <a16:creationId xmlns:a16="http://schemas.microsoft.com/office/drawing/2014/main" id="{2D3578EE-62A0-AE1E-E32B-E1630D233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30" t="16539" r="48379" b="66842"/>
            <a:stretch/>
          </p:blipFill>
          <p:spPr>
            <a:xfrm>
              <a:off x="9200759" y="1892420"/>
              <a:ext cx="1994109" cy="518632"/>
            </a:xfrm>
            <a:prstGeom prst="rect">
              <a:avLst/>
            </a:prstGeom>
          </p:spPr>
        </p:pic>
        <p:sp>
          <p:nvSpPr>
            <p:cNvPr id="42" name="Croce 41">
              <a:extLst>
                <a:ext uri="{FF2B5EF4-FFF2-40B4-BE49-F238E27FC236}">
                  <a16:creationId xmlns:a16="http://schemas.microsoft.com/office/drawing/2014/main" id="{7CE595C1-98B1-0EB5-B2D1-B2B782B6CDE4}"/>
                </a:ext>
              </a:extLst>
            </p:cNvPr>
            <p:cNvSpPr/>
            <p:nvPr/>
          </p:nvSpPr>
          <p:spPr>
            <a:xfrm rot="2643157">
              <a:off x="9483749" y="2040021"/>
              <a:ext cx="223689" cy="223428"/>
            </a:xfrm>
            <a:prstGeom prst="plus">
              <a:avLst>
                <a:gd name="adj" fmla="val 46409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Saetta 42">
              <a:extLst>
                <a:ext uri="{FF2B5EF4-FFF2-40B4-BE49-F238E27FC236}">
                  <a16:creationId xmlns:a16="http://schemas.microsoft.com/office/drawing/2014/main" id="{EE79FEF2-DB54-494B-4F4D-0CDF6785D173}"/>
                </a:ext>
              </a:extLst>
            </p:cNvPr>
            <p:cNvSpPr/>
            <p:nvPr/>
          </p:nvSpPr>
          <p:spPr>
            <a:xfrm rot="9287334" flipV="1">
              <a:off x="9593352" y="1513936"/>
              <a:ext cx="504665" cy="375051"/>
            </a:xfrm>
            <a:prstGeom prst="lightningBol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6FA31315-FD46-0D29-107B-438FBFEEF302}"/>
              </a:ext>
            </a:extLst>
          </p:cNvPr>
          <p:cNvSpPr txBox="1"/>
          <p:nvPr/>
        </p:nvSpPr>
        <p:spPr>
          <a:xfrm>
            <a:off x="2364105" y="4895073"/>
            <a:ext cx="32257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Assumptions: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fully serial organ, single cell line, uniform oxygenation </a:t>
            </a:r>
          </a:p>
        </p:txBody>
      </p:sp>
      <p:pic>
        <p:nvPicPr>
          <p:cNvPr id="59" name="Immagine 58">
            <a:extLst>
              <a:ext uri="{FF2B5EF4-FFF2-40B4-BE49-F238E27FC236}">
                <a16:creationId xmlns:a16="http://schemas.microsoft.com/office/drawing/2014/main" id="{0985AA7E-3DD1-D7D6-D6D3-ED2F8544BB9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4" t="31839" r="19668" b="31464"/>
          <a:stretch/>
        </p:blipFill>
        <p:spPr>
          <a:xfrm>
            <a:off x="81522" y="5914247"/>
            <a:ext cx="1161421" cy="397067"/>
          </a:xfrm>
          <a:prstGeom prst="rect">
            <a:avLst/>
          </a:prstGeom>
        </p:spPr>
      </p:pic>
      <p:pic>
        <p:nvPicPr>
          <p:cNvPr id="60" name="Immagine 59">
            <a:extLst>
              <a:ext uri="{FF2B5EF4-FFF2-40B4-BE49-F238E27FC236}">
                <a16:creationId xmlns:a16="http://schemas.microsoft.com/office/drawing/2014/main" id="{28821FCF-50A8-E78B-C57B-78DFAD85FC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0" y="5335874"/>
            <a:ext cx="992820" cy="619901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67163B2-E1A3-0B8A-94BC-ED8C388E603D}"/>
              </a:ext>
            </a:extLst>
          </p:cNvPr>
          <p:cNvSpPr txBox="1"/>
          <p:nvPr/>
        </p:nvSpPr>
        <p:spPr>
          <a:xfrm>
            <a:off x="7068831" y="3675824"/>
            <a:ext cx="1541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noProof="0" dirty="0"/>
              <a:t>Preliminary results</a:t>
            </a:r>
          </a:p>
        </p:txBody>
      </p:sp>
      <p:pic>
        <p:nvPicPr>
          <p:cNvPr id="1026" name="Picture 2" descr="German Cancer Research Center - Cancer Image Europe">
            <a:extLst>
              <a:ext uri="{FF2B5EF4-FFF2-40B4-BE49-F238E27FC236}">
                <a16:creationId xmlns:a16="http://schemas.microsoft.com/office/drawing/2014/main" id="{A865DD0C-B6A7-BA51-8074-5DCFFC1B3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2509" y="1547709"/>
            <a:ext cx="2853462" cy="80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1F6DDBB-C058-9A58-8254-5B5E86FF4CC0}"/>
              </a:ext>
            </a:extLst>
          </p:cNvPr>
          <p:cNvSpPr txBox="1"/>
          <p:nvPr/>
        </p:nvSpPr>
        <p:spPr>
          <a:xfrm>
            <a:off x="7006175" y="5102754"/>
            <a:ext cx="44156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u="none" strike="noStrike" noProof="0" dirty="0">
                <a:solidFill>
                  <a:srgbClr val="000000"/>
                </a:solidFill>
                <a:effectLst/>
              </a:rPr>
              <a:t>Complex parallel organs (e.g. lung)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Possible interplays among radiation quality, fractionation scheme and biological endpoint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0000"/>
                </a:solidFill>
              </a:rPr>
              <a:t>Tumor response predictions</a:t>
            </a:r>
            <a:endParaRPr lang="en-US" noProof="0" dirty="0"/>
          </a:p>
        </p:txBody>
      </p:sp>
      <p:sp>
        <p:nvSpPr>
          <p:cNvPr id="8" name="Parentesi graffa chiusa 7">
            <a:extLst>
              <a:ext uri="{FF2B5EF4-FFF2-40B4-BE49-F238E27FC236}">
                <a16:creationId xmlns:a16="http://schemas.microsoft.com/office/drawing/2014/main" id="{A0861A9A-DC0F-FE65-9C4D-3D3FB890CC4E}"/>
              </a:ext>
            </a:extLst>
          </p:cNvPr>
          <p:cNvSpPr/>
          <p:nvPr/>
        </p:nvSpPr>
        <p:spPr>
          <a:xfrm rot="10800000">
            <a:off x="6764484" y="5102754"/>
            <a:ext cx="292068" cy="1077218"/>
          </a:xfrm>
          <a:prstGeom prst="rightBrac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ccia a sinistra 6">
            <a:extLst>
              <a:ext uri="{FF2B5EF4-FFF2-40B4-BE49-F238E27FC236}">
                <a16:creationId xmlns:a16="http://schemas.microsoft.com/office/drawing/2014/main" id="{1D3017F0-D890-4833-CBC8-A6D80547E8BD}"/>
              </a:ext>
            </a:extLst>
          </p:cNvPr>
          <p:cNvSpPr/>
          <p:nvPr/>
        </p:nvSpPr>
        <p:spPr>
          <a:xfrm rot="10800000">
            <a:off x="5852190" y="5439445"/>
            <a:ext cx="641897" cy="403836"/>
          </a:xfrm>
          <a:prstGeom prst="leftArrow">
            <a:avLst>
              <a:gd name="adj1" fmla="val 60000"/>
              <a:gd name="adj2" fmla="val 50000"/>
            </a:avLst>
          </a:prstGeom>
          <a:solidFill>
            <a:srgbClr val="5B9BD5">
              <a:lumMod val="75000"/>
            </a:srgbClr>
          </a:solidFill>
          <a:ln>
            <a:noFill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469EDF2-53F3-AC73-F3EA-81FF8A8031C9}"/>
              </a:ext>
            </a:extLst>
          </p:cNvPr>
          <p:cNvSpPr txBox="1"/>
          <p:nvPr/>
        </p:nvSpPr>
        <p:spPr>
          <a:xfrm>
            <a:off x="8950355" y="1114830"/>
            <a:ext cx="24714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sym typeface="Calibri"/>
              </a:rPr>
              <a:t>Prof. C. P. Karger (see letter) </a:t>
            </a:r>
            <a:endParaRPr lang="en-US" sz="1600" i="1" noProof="0" dirty="0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7B9D14F6-F3F1-1D22-7DF9-A9CEBC706C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4505" y="2981078"/>
            <a:ext cx="1138589" cy="679252"/>
          </a:xfrm>
          <a:prstGeom prst="rect">
            <a:avLst/>
          </a:prstGeom>
        </p:spPr>
      </p:pic>
      <p:pic>
        <p:nvPicPr>
          <p:cNvPr id="24" name="Elemento grafico 23" descr="Tiro a segno contorno">
            <a:extLst>
              <a:ext uri="{FF2B5EF4-FFF2-40B4-BE49-F238E27FC236}">
                <a16:creationId xmlns:a16="http://schemas.microsoft.com/office/drawing/2014/main" id="{0E341577-F777-3BD1-9FC6-722FBDB355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60559" y="5342546"/>
            <a:ext cx="605412" cy="60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77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44" grpId="0"/>
      <p:bldP spid="23" grpId="0"/>
      <p:bldP spid="2" grpId="0"/>
      <p:bldP spid="8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5EB4A-E11C-3261-BB58-7AA9CCBF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a a mano libera: forma 1">
            <a:extLst>
              <a:ext uri="{FF2B5EF4-FFF2-40B4-BE49-F238E27FC236}">
                <a16:creationId xmlns:a16="http://schemas.microsoft.com/office/drawing/2014/main" id="{D7D3F919-B680-8B06-C7A5-7D030EAE3258}"/>
              </a:ext>
            </a:extLst>
          </p:cNvPr>
          <p:cNvSpPr/>
          <p:nvPr/>
        </p:nvSpPr>
        <p:spPr>
          <a:xfrm>
            <a:off x="6971808" y="5618563"/>
            <a:ext cx="4381992" cy="825748"/>
          </a:xfrm>
          <a:custGeom>
            <a:avLst/>
            <a:gdLst>
              <a:gd name="connsiteX0" fmla="*/ 0 w 1487033"/>
              <a:gd name="connsiteY0" fmla="*/ 118963 h 1189626"/>
              <a:gd name="connsiteX1" fmla="*/ 118963 w 1487033"/>
              <a:gd name="connsiteY1" fmla="*/ 0 h 1189626"/>
              <a:gd name="connsiteX2" fmla="*/ 1368070 w 1487033"/>
              <a:gd name="connsiteY2" fmla="*/ 0 h 1189626"/>
              <a:gd name="connsiteX3" fmla="*/ 1487033 w 1487033"/>
              <a:gd name="connsiteY3" fmla="*/ 118963 h 1189626"/>
              <a:gd name="connsiteX4" fmla="*/ 1487033 w 1487033"/>
              <a:gd name="connsiteY4" fmla="*/ 1070663 h 1189626"/>
              <a:gd name="connsiteX5" fmla="*/ 1368070 w 1487033"/>
              <a:gd name="connsiteY5" fmla="*/ 1189626 h 1189626"/>
              <a:gd name="connsiteX6" fmla="*/ 118963 w 1487033"/>
              <a:gd name="connsiteY6" fmla="*/ 1189626 h 1189626"/>
              <a:gd name="connsiteX7" fmla="*/ 0 w 1487033"/>
              <a:gd name="connsiteY7" fmla="*/ 1070663 h 1189626"/>
              <a:gd name="connsiteX8" fmla="*/ 0 w 1487033"/>
              <a:gd name="connsiteY8" fmla="*/ 118963 h 118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7033" h="1189626">
                <a:moveTo>
                  <a:pt x="0" y="118963"/>
                </a:moveTo>
                <a:cubicBezTo>
                  <a:pt x="0" y="53262"/>
                  <a:pt x="53262" y="0"/>
                  <a:pt x="118963" y="0"/>
                </a:cubicBezTo>
                <a:lnTo>
                  <a:pt x="1368070" y="0"/>
                </a:lnTo>
                <a:cubicBezTo>
                  <a:pt x="1433771" y="0"/>
                  <a:pt x="1487033" y="53262"/>
                  <a:pt x="1487033" y="118963"/>
                </a:cubicBezTo>
                <a:lnTo>
                  <a:pt x="1487033" y="1070663"/>
                </a:lnTo>
                <a:cubicBezTo>
                  <a:pt x="1487033" y="1136364"/>
                  <a:pt x="1433771" y="1189626"/>
                  <a:pt x="1368070" y="1189626"/>
                </a:cubicBezTo>
                <a:lnTo>
                  <a:pt x="118963" y="1189626"/>
                </a:lnTo>
                <a:cubicBezTo>
                  <a:pt x="53262" y="1189626"/>
                  <a:pt x="0" y="1136364"/>
                  <a:pt x="0" y="1070663"/>
                </a:cubicBezTo>
                <a:lnTo>
                  <a:pt x="0" y="118963"/>
                </a:lnTo>
                <a:close/>
              </a:path>
            </a:pathLst>
          </a:custGeom>
          <a:ln w="28575">
            <a:prstDash val="sysDot"/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753" tIns="76753" rIns="76753" bIns="76753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kern="1200" noProof="0" dirty="0"/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noProof="0" dirty="0"/>
          </a:p>
        </p:txBody>
      </p:sp>
      <p:sp>
        <p:nvSpPr>
          <p:cNvPr id="5" name="Segnaposto data 1">
            <a:extLst>
              <a:ext uri="{FF2B5EF4-FFF2-40B4-BE49-F238E27FC236}">
                <a16:creationId xmlns:a16="http://schemas.microsoft.com/office/drawing/2014/main" id="{5BABA41A-4A8B-EDA0-504A-EBDFBEA3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C349010-C6FE-6AAE-F2B4-9300F6D7C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FF0B899-58ED-9399-E667-52020161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023A1895-C012-82DF-6183-4D3575EB68BF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Model extension for clinically relevant applications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D577A7C1-726D-2DB9-506B-EDFFD9987AFC}"/>
              </a:ext>
            </a:extLst>
          </p:cNvPr>
          <p:cNvGrpSpPr/>
          <p:nvPr/>
        </p:nvGrpSpPr>
        <p:grpSpPr>
          <a:xfrm>
            <a:off x="135586" y="1564421"/>
            <a:ext cx="1539844" cy="3729158"/>
            <a:chOff x="135586" y="1856553"/>
            <a:chExt cx="1539844" cy="3729158"/>
          </a:xfrm>
        </p:grpSpPr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5FBF72DA-7A20-357C-A73F-412EBEC0465F}"/>
                </a:ext>
              </a:extLst>
            </p:cNvPr>
            <p:cNvGrpSpPr/>
            <p:nvPr/>
          </p:nvGrpSpPr>
          <p:grpSpPr>
            <a:xfrm>
              <a:off x="135586" y="1856553"/>
              <a:ext cx="1535626" cy="1022218"/>
              <a:chOff x="634124" y="734039"/>
              <a:chExt cx="1535626" cy="1022218"/>
            </a:xfrm>
          </p:grpSpPr>
          <p:sp>
            <p:nvSpPr>
              <p:cNvPr id="19" name="Figura a mano libera: forma 18">
                <a:extLst>
                  <a:ext uri="{FF2B5EF4-FFF2-40B4-BE49-F238E27FC236}">
                    <a16:creationId xmlns:a16="http://schemas.microsoft.com/office/drawing/2014/main" id="{058A7EA6-3E86-CDC7-EA8F-0F3C8AA47AC1}"/>
                  </a:ext>
                </a:extLst>
              </p:cNvPr>
              <p:cNvSpPr/>
              <p:nvPr/>
            </p:nvSpPr>
            <p:spPr>
              <a:xfrm>
                <a:off x="634124" y="734039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kern="1200" noProof="0" dirty="0"/>
                  <a:t>General model development</a:t>
                </a:r>
              </a:p>
            </p:txBody>
          </p:sp>
          <p:sp>
            <p:nvSpPr>
              <p:cNvPr id="20" name="Figura a mano libera: forma 19">
                <a:extLst>
                  <a:ext uri="{FF2B5EF4-FFF2-40B4-BE49-F238E27FC236}">
                    <a16:creationId xmlns:a16="http://schemas.microsoft.com/office/drawing/2014/main" id="{A0E29D3C-923E-C2C7-C859-5BAE82C8042B}"/>
                  </a:ext>
                </a:extLst>
              </p:cNvPr>
              <p:cNvSpPr/>
              <p:nvPr/>
            </p:nvSpPr>
            <p:spPr>
              <a:xfrm>
                <a:off x="941249" y="1267723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WP1.1</a:t>
                </a:r>
              </a:p>
            </p:txBody>
          </p:sp>
        </p:grpSp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6DBBEF91-4EE0-EC72-EF96-55842B8C9953}"/>
                </a:ext>
              </a:extLst>
            </p:cNvPr>
            <p:cNvGrpSpPr/>
            <p:nvPr/>
          </p:nvGrpSpPr>
          <p:grpSpPr>
            <a:xfrm>
              <a:off x="139804" y="3210023"/>
              <a:ext cx="1535626" cy="1022219"/>
              <a:chOff x="634124" y="2426465"/>
              <a:chExt cx="1535626" cy="1022219"/>
            </a:xfrm>
          </p:grpSpPr>
          <p:sp>
            <p:nvSpPr>
              <p:cNvPr id="17" name="Figura a mano libera: forma 16">
                <a:extLst>
                  <a:ext uri="{FF2B5EF4-FFF2-40B4-BE49-F238E27FC236}">
                    <a16:creationId xmlns:a16="http://schemas.microsoft.com/office/drawing/2014/main" id="{9C9FD9F3-4EE9-F2CC-E6D7-428FF29B789D}"/>
                  </a:ext>
                </a:extLst>
              </p:cNvPr>
              <p:cNvSpPr/>
              <p:nvPr/>
            </p:nvSpPr>
            <p:spPr>
              <a:xfrm>
                <a:off x="634124" y="2426465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General model validation</a:t>
                </a:r>
              </a:p>
            </p:txBody>
          </p:sp>
          <p:sp>
            <p:nvSpPr>
              <p:cNvPr id="18" name="Figura a mano libera: forma 17">
                <a:extLst>
                  <a:ext uri="{FF2B5EF4-FFF2-40B4-BE49-F238E27FC236}">
                    <a16:creationId xmlns:a16="http://schemas.microsoft.com/office/drawing/2014/main" id="{D6162B15-3A34-DD45-4BBE-B0D70F5F63A7}"/>
                  </a:ext>
                </a:extLst>
              </p:cNvPr>
              <p:cNvSpPr/>
              <p:nvPr/>
            </p:nvSpPr>
            <p:spPr>
              <a:xfrm>
                <a:off x="941249" y="2960150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WP1.2</a:t>
                </a:r>
              </a:p>
            </p:txBody>
          </p:sp>
        </p:grpSp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E0B17E13-A4C3-AACA-1275-8D4A152CDB05}"/>
                </a:ext>
              </a:extLst>
            </p:cNvPr>
            <p:cNvGrpSpPr/>
            <p:nvPr/>
          </p:nvGrpSpPr>
          <p:grpSpPr>
            <a:xfrm>
              <a:off x="135586" y="4563492"/>
              <a:ext cx="1535626" cy="1022219"/>
              <a:chOff x="634124" y="3980710"/>
              <a:chExt cx="1535626" cy="1022219"/>
            </a:xfrm>
          </p:grpSpPr>
          <p:sp>
            <p:nvSpPr>
              <p:cNvPr id="14" name="Figura a mano libera: forma 13">
                <a:extLst>
                  <a:ext uri="{FF2B5EF4-FFF2-40B4-BE49-F238E27FC236}">
                    <a16:creationId xmlns:a16="http://schemas.microsoft.com/office/drawing/2014/main" id="{B57B8401-028B-BA12-0E61-065F13B20A6E}"/>
                  </a:ext>
                </a:extLst>
              </p:cNvPr>
              <p:cNvSpPr/>
              <p:nvPr/>
            </p:nvSpPr>
            <p:spPr>
              <a:xfrm>
                <a:off x="634124" y="3980710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Model extension to clinic</a:t>
                </a:r>
              </a:p>
            </p:txBody>
          </p:sp>
          <p:sp>
            <p:nvSpPr>
              <p:cNvPr id="16" name="Figura a mano libera: forma 15">
                <a:extLst>
                  <a:ext uri="{FF2B5EF4-FFF2-40B4-BE49-F238E27FC236}">
                    <a16:creationId xmlns:a16="http://schemas.microsoft.com/office/drawing/2014/main" id="{0D266C1E-E5F6-0C29-F797-E0BC71FD301F}"/>
                  </a:ext>
                </a:extLst>
              </p:cNvPr>
              <p:cNvSpPr/>
              <p:nvPr/>
            </p:nvSpPr>
            <p:spPr>
              <a:xfrm>
                <a:off x="941249" y="4514395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WP1.3</a:t>
                </a:r>
              </a:p>
            </p:txBody>
          </p:sp>
        </p:grpSp>
        <p:sp>
          <p:nvSpPr>
            <p:cNvPr id="12" name="Freccia in giù 11">
              <a:extLst>
                <a:ext uri="{FF2B5EF4-FFF2-40B4-BE49-F238E27FC236}">
                  <a16:creationId xmlns:a16="http://schemas.microsoft.com/office/drawing/2014/main" id="{090EDEA7-4377-9DE0-5205-1BF7E5E920FB}"/>
                </a:ext>
              </a:extLst>
            </p:cNvPr>
            <p:cNvSpPr/>
            <p:nvPr/>
          </p:nvSpPr>
          <p:spPr>
            <a:xfrm>
              <a:off x="725632" y="2923921"/>
              <a:ext cx="201969" cy="244268"/>
            </a:xfrm>
            <a:prstGeom prst="downArrow">
              <a:avLst/>
            </a:prstGeom>
            <a:solidFill>
              <a:srgbClr val="B5CBE7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  <p:sp>
          <p:nvSpPr>
            <p:cNvPr id="13" name="Freccia in giù 12">
              <a:extLst>
                <a:ext uri="{FF2B5EF4-FFF2-40B4-BE49-F238E27FC236}">
                  <a16:creationId xmlns:a16="http://schemas.microsoft.com/office/drawing/2014/main" id="{53A30E48-8866-14C6-47F6-EC6B176148B1}"/>
                </a:ext>
              </a:extLst>
            </p:cNvPr>
            <p:cNvSpPr/>
            <p:nvPr/>
          </p:nvSpPr>
          <p:spPr>
            <a:xfrm>
              <a:off x="725632" y="4275733"/>
              <a:ext cx="201969" cy="244268"/>
            </a:xfrm>
            <a:prstGeom prst="downArrow">
              <a:avLst/>
            </a:prstGeom>
            <a:solidFill>
              <a:srgbClr val="B5CBE7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</p:grpSp>
      <p:sp>
        <p:nvSpPr>
          <p:cNvPr id="21" name="Rettangolo 20">
            <a:extLst>
              <a:ext uri="{FF2B5EF4-FFF2-40B4-BE49-F238E27FC236}">
                <a16:creationId xmlns:a16="http://schemas.microsoft.com/office/drawing/2014/main" id="{200EA8D8-8BE4-9B42-7DBB-D17420BBBA5E}"/>
              </a:ext>
            </a:extLst>
          </p:cNvPr>
          <p:cNvSpPr/>
          <p:nvPr/>
        </p:nvSpPr>
        <p:spPr>
          <a:xfrm>
            <a:off x="102990" y="1487055"/>
            <a:ext cx="1568222" cy="2739269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2C21E7B-6472-C65A-641D-28DBF2CC89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" r="8041"/>
          <a:stretch/>
        </p:blipFill>
        <p:spPr>
          <a:xfrm>
            <a:off x="2485660" y="945209"/>
            <a:ext cx="3360849" cy="2810398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76F7A47B-877B-F8DA-9470-66070B06F108}"/>
              </a:ext>
            </a:extLst>
          </p:cNvPr>
          <p:cNvSpPr/>
          <p:nvPr/>
        </p:nvSpPr>
        <p:spPr>
          <a:xfrm>
            <a:off x="4574906" y="2691018"/>
            <a:ext cx="84842" cy="8484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FB94AD72-8025-E5CD-237F-EA11C3C5FCB3}"/>
                  </a:ext>
                </a:extLst>
              </p:cNvPr>
              <p:cNvSpPr txBox="1"/>
              <p:nvPr/>
            </p:nvSpPr>
            <p:spPr>
              <a:xfrm>
                <a:off x="3326168" y="2712112"/>
                <a:ext cx="522707" cy="269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𝐋𝐄𝐓</m:t>
                          </m:r>
                        </m:e>
                        <m:sub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FB94AD72-8025-E5CD-237F-EA11C3C5F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168" y="2712112"/>
                <a:ext cx="522707" cy="269497"/>
              </a:xfrm>
              <a:prstGeom prst="rect">
                <a:avLst/>
              </a:prstGeom>
              <a:blipFill>
                <a:blip r:embed="rId4"/>
                <a:stretch>
                  <a:fillRect l="-9412" r="-7059" b="-25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ttangolo 49">
            <a:extLst>
              <a:ext uri="{FF2B5EF4-FFF2-40B4-BE49-F238E27FC236}">
                <a16:creationId xmlns:a16="http://schemas.microsoft.com/office/drawing/2014/main" id="{B19A999E-3215-F766-1BC1-B51522151E45}"/>
              </a:ext>
            </a:extLst>
          </p:cNvPr>
          <p:cNvSpPr/>
          <p:nvPr/>
        </p:nvSpPr>
        <p:spPr>
          <a:xfrm>
            <a:off x="10500356" y="3335006"/>
            <a:ext cx="15297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Tumor/organ response</a:t>
            </a: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7C7AE96E-1FEA-C8D0-2B48-8DA1592AA0E2}"/>
              </a:ext>
            </a:extLst>
          </p:cNvPr>
          <p:cNvSpPr txBox="1"/>
          <p:nvPr/>
        </p:nvSpPr>
        <p:spPr>
          <a:xfrm>
            <a:off x="6197953" y="3325978"/>
            <a:ext cx="77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GSM</a:t>
            </a:r>
            <a:r>
              <a:rPr kumimoji="0" lang="en-US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9FDC9CBA-5765-4AB0-590A-F782D0D71F7C}"/>
              </a:ext>
            </a:extLst>
          </p:cNvPr>
          <p:cNvCxnSpPr>
            <a:cxnSpLocks/>
          </p:cNvCxnSpPr>
          <p:nvPr/>
        </p:nvCxnSpPr>
        <p:spPr>
          <a:xfrm>
            <a:off x="6336880" y="3699410"/>
            <a:ext cx="496002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BCB84AF0-05DB-8193-9215-3A7BF4DE9A74}"/>
              </a:ext>
            </a:extLst>
          </p:cNvPr>
          <p:cNvSpPr txBox="1"/>
          <p:nvPr/>
        </p:nvSpPr>
        <p:spPr>
          <a:xfrm>
            <a:off x="9893339" y="3049512"/>
            <a:ext cx="699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TCP/NTCP</a:t>
            </a:r>
          </a:p>
        </p:txBody>
      </p:sp>
      <p:sp>
        <p:nvSpPr>
          <p:cNvPr id="57" name="Parentesi graffa chiusa 56">
            <a:extLst>
              <a:ext uri="{FF2B5EF4-FFF2-40B4-BE49-F238E27FC236}">
                <a16:creationId xmlns:a16="http://schemas.microsoft.com/office/drawing/2014/main" id="{594755B8-A3A6-94BE-4B9A-B91CB1FCF265}"/>
              </a:ext>
            </a:extLst>
          </p:cNvPr>
          <p:cNvSpPr/>
          <p:nvPr/>
        </p:nvSpPr>
        <p:spPr>
          <a:xfrm>
            <a:off x="5936446" y="945209"/>
            <a:ext cx="292068" cy="5508402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Immagine 57">
            <a:extLst>
              <a:ext uri="{FF2B5EF4-FFF2-40B4-BE49-F238E27FC236}">
                <a16:creationId xmlns:a16="http://schemas.microsoft.com/office/drawing/2014/main" id="{51316F4E-4E0B-CC99-B139-67D1A1B10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522" y="1262825"/>
            <a:ext cx="948517" cy="6369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asellaDiTesto 58">
                <a:extLst>
                  <a:ext uri="{FF2B5EF4-FFF2-40B4-BE49-F238E27FC236}">
                    <a16:creationId xmlns:a16="http://schemas.microsoft.com/office/drawing/2014/main" id="{11D692B3-F1E6-71D5-3C6A-C4E95E037E97}"/>
                  </a:ext>
                </a:extLst>
              </p:cNvPr>
              <p:cNvSpPr txBox="1"/>
              <p:nvPr/>
            </p:nvSpPr>
            <p:spPr>
              <a:xfrm>
                <a:off x="3549562" y="2408824"/>
                <a:ext cx="322717" cy="269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𝑫</m:t>
                          </m:r>
                        </m:e>
                        <m:sub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C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CasellaDiTesto 58">
                <a:extLst>
                  <a:ext uri="{FF2B5EF4-FFF2-40B4-BE49-F238E27FC236}">
                    <a16:creationId xmlns:a16="http://schemas.microsoft.com/office/drawing/2014/main" id="{11D692B3-F1E6-71D5-3C6A-C4E95E037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562" y="2408824"/>
                <a:ext cx="322717" cy="269497"/>
              </a:xfrm>
              <a:prstGeom prst="rect">
                <a:avLst/>
              </a:prstGeom>
              <a:blipFill>
                <a:blip r:embed="rId6"/>
                <a:stretch>
                  <a:fillRect l="-13208" r="-9434" b="-25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Immagine 64">
            <a:extLst>
              <a:ext uri="{FF2B5EF4-FFF2-40B4-BE49-F238E27FC236}">
                <a16:creationId xmlns:a16="http://schemas.microsoft.com/office/drawing/2014/main" id="{A4283376-2321-E2B2-CFD9-D7E3BB236E6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4" t="31839" r="19668" b="31464"/>
          <a:stretch/>
        </p:blipFill>
        <p:spPr>
          <a:xfrm>
            <a:off x="81522" y="5914247"/>
            <a:ext cx="1161421" cy="397067"/>
          </a:xfrm>
          <a:prstGeom prst="rect">
            <a:avLst/>
          </a:prstGeom>
        </p:spPr>
      </p:pic>
      <p:pic>
        <p:nvPicPr>
          <p:cNvPr id="66" name="Immagine 65">
            <a:extLst>
              <a:ext uri="{FF2B5EF4-FFF2-40B4-BE49-F238E27FC236}">
                <a16:creationId xmlns:a16="http://schemas.microsoft.com/office/drawing/2014/main" id="{8FD212AF-10A4-D592-4FE4-466D632074A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0" y="5335874"/>
            <a:ext cx="992820" cy="619901"/>
          </a:xfrm>
          <a:prstGeom prst="rect">
            <a:avLst/>
          </a:prstGeom>
        </p:spPr>
      </p:pic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79987EA1-24B2-628A-216B-DF9CBF4FA4B9}"/>
              </a:ext>
            </a:extLst>
          </p:cNvPr>
          <p:cNvCxnSpPr>
            <a:cxnSpLocks/>
          </p:cNvCxnSpPr>
          <p:nvPr/>
        </p:nvCxnSpPr>
        <p:spPr>
          <a:xfrm>
            <a:off x="10004355" y="3695843"/>
            <a:ext cx="496002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1A97A07A-120D-67EC-13CF-CB4405CC44AE}"/>
              </a:ext>
            </a:extLst>
          </p:cNvPr>
          <p:cNvSpPr txBox="1"/>
          <p:nvPr/>
        </p:nvSpPr>
        <p:spPr>
          <a:xfrm>
            <a:off x="7816190" y="5618563"/>
            <a:ext cx="26989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noProof="0" dirty="0"/>
              <a:t>Possible spillovers 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E401A30D-D3BC-C685-8604-7F7A99A2A14B}"/>
              </a:ext>
            </a:extLst>
          </p:cNvPr>
          <p:cNvSpPr txBox="1"/>
          <p:nvPr/>
        </p:nvSpPr>
        <p:spPr>
          <a:xfrm>
            <a:off x="6867062" y="6027129"/>
            <a:ext cx="4597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noProof="0" dirty="0"/>
              <a:t>Biophysics-driven</a:t>
            </a:r>
            <a:r>
              <a:rPr lang="en-US" sz="1800" kern="1200" noProof="0" dirty="0"/>
              <a:t> plan optimization methods</a:t>
            </a:r>
            <a:endParaRPr lang="en-US" noProof="0" dirty="0"/>
          </a:p>
        </p:txBody>
      </p:sp>
      <p:sp>
        <p:nvSpPr>
          <p:cNvPr id="23" name="Freccia a sinistra 22">
            <a:extLst>
              <a:ext uri="{FF2B5EF4-FFF2-40B4-BE49-F238E27FC236}">
                <a16:creationId xmlns:a16="http://schemas.microsoft.com/office/drawing/2014/main" id="{C3A42543-AF0B-2475-DE9F-2D0A9759AC42}"/>
              </a:ext>
            </a:extLst>
          </p:cNvPr>
          <p:cNvSpPr/>
          <p:nvPr/>
        </p:nvSpPr>
        <p:spPr>
          <a:xfrm rot="16200000">
            <a:off x="8913462" y="5112735"/>
            <a:ext cx="514568" cy="403836"/>
          </a:xfrm>
          <a:prstGeom prst="leftArrow">
            <a:avLst>
              <a:gd name="adj1" fmla="val 60000"/>
              <a:gd name="adj2" fmla="val 50000"/>
            </a:avLst>
          </a:prstGeom>
          <a:solidFill>
            <a:srgbClr val="5B9BD5">
              <a:lumMod val="75000"/>
            </a:srgbClr>
          </a:solidFill>
          <a:ln>
            <a:noFill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sellaDiTesto 34">
                <a:extLst>
                  <a:ext uri="{FF2B5EF4-FFF2-40B4-BE49-F238E27FC236}">
                    <a16:creationId xmlns:a16="http://schemas.microsoft.com/office/drawing/2014/main" id="{11B46B84-5BEB-71C5-95EF-ED0EE03181CE}"/>
                  </a:ext>
                </a:extLst>
              </p:cNvPr>
              <p:cNvSpPr txBox="1"/>
              <p:nvPr/>
            </p:nvSpPr>
            <p:spPr>
              <a:xfrm>
                <a:off x="4685918" y="2625717"/>
                <a:ext cx="17793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noProof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𝒊𝒋</m:t>
                      </m:r>
                    </m:oMath>
                  </m:oMathPara>
                </a14:m>
                <a:endParaRPr lang="en-US" sz="1400" b="1" noProof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CasellaDiTesto 34">
                <a:extLst>
                  <a:ext uri="{FF2B5EF4-FFF2-40B4-BE49-F238E27FC236}">
                    <a16:creationId xmlns:a16="http://schemas.microsoft.com/office/drawing/2014/main" id="{11B46B84-5BEB-71C5-95EF-ED0EE0318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918" y="2625717"/>
                <a:ext cx="177933" cy="215444"/>
              </a:xfrm>
              <a:prstGeom prst="rect">
                <a:avLst/>
              </a:prstGeom>
              <a:blipFill>
                <a:blip r:embed="rId9"/>
                <a:stretch>
                  <a:fillRect l="-37931" r="-31034" b="-314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C327F8BF-D718-7BF9-8A7C-745E2564122E}"/>
              </a:ext>
            </a:extLst>
          </p:cNvPr>
          <p:cNvSpPr txBox="1"/>
          <p:nvPr/>
        </p:nvSpPr>
        <p:spPr>
          <a:xfrm>
            <a:off x="8171847" y="1027737"/>
            <a:ext cx="21446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sym typeface="Calibri"/>
              </a:rPr>
              <a:t>Prof. F. Lohr (see letter)   </a:t>
            </a:r>
            <a:endParaRPr lang="en-US" sz="1600" i="1" noProof="0" dirty="0"/>
          </a:p>
        </p:txBody>
      </p:sp>
      <p:pic>
        <p:nvPicPr>
          <p:cNvPr id="39" name="Immagine 38">
            <a:extLst>
              <a:ext uri="{FF2B5EF4-FFF2-40B4-BE49-F238E27FC236}">
                <a16:creationId xmlns:a16="http://schemas.microsoft.com/office/drawing/2014/main" id="{E288269E-21BF-3063-D439-BBA45D1F1002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8" r="22355" b="6883"/>
          <a:stretch/>
        </p:blipFill>
        <p:spPr>
          <a:xfrm>
            <a:off x="8188355" y="1398511"/>
            <a:ext cx="1678993" cy="530135"/>
          </a:xfrm>
          <a:prstGeom prst="rect">
            <a:avLst/>
          </a:prstGeom>
        </p:spPr>
      </p:pic>
      <p:grpSp>
        <p:nvGrpSpPr>
          <p:cNvPr id="60" name="Gruppo 59">
            <a:extLst>
              <a:ext uri="{FF2B5EF4-FFF2-40B4-BE49-F238E27FC236}">
                <a16:creationId xmlns:a16="http://schemas.microsoft.com/office/drawing/2014/main" id="{A9F42167-26C0-3AD1-29AC-8A0F9C78B601}"/>
              </a:ext>
            </a:extLst>
          </p:cNvPr>
          <p:cNvGrpSpPr/>
          <p:nvPr/>
        </p:nvGrpSpPr>
        <p:grpSpPr>
          <a:xfrm>
            <a:off x="2485660" y="3840448"/>
            <a:ext cx="2991633" cy="2613163"/>
            <a:chOff x="2485660" y="3840448"/>
            <a:chExt cx="2991633" cy="2613163"/>
          </a:xfrm>
        </p:grpSpPr>
        <p:pic>
          <p:nvPicPr>
            <p:cNvPr id="25" name="Immagine 24">
              <a:extLst>
                <a:ext uri="{FF2B5EF4-FFF2-40B4-BE49-F238E27FC236}">
                  <a16:creationId xmlns:a16="http://schemas.microsoft.com/office/drawing/2014/main" id="{6BCAC33E-76DC-E835-389E-C4DABE7576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9" t="7018" r="17894"/>
            <a:stretch/>
          </p:blipFill>
          <p:spPr>
            <a:xfrm>
              <a:off x="2485660" y="3840448"/>
              <a:ext cx="2991633" cy="2613163"/>
            </a:xfrm>
            <a:prstGeom prst="rect">
              <a:avLst/>
            </a:prstGeom>
          </p:spPr>
        </p:pic>
        <p:sp>
          <p:nvSpPr>
            <p:cNvPr id="26" name="Rettangolo 25">
              <a:extLst>
                <a:ext uri="{FF2B5EF4-FFF2-40B4-BE49-F238E27FC236}">
                  <a16:creationId xmlns:a16="http://schemas.microsoft.com/office/drawing/2014/main" id="{74AED665-40A7-FBAB-545E-6A8667F6CA79}"/>
                </a:ext>
              </a:extLst>
            </p:cNvPr>
            <p:cNvSpPr/>
            <p:nvPr/>
          </p:nvSpPr>
          <p:spPr>
            <a:xfrm>
              <a:off x="2801375" y="3840448"/>
              <a:ext cx="2588443" cy="2302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179CCF16-81B1-8637-3F23-9FA745C73014}"/>
                </a:ext>
              </a:extLst>
            </p:cNvPr>
            <p:cNvSpPr/>
            <p:nvPr/>
          </p:nvSpPr>
          <p:spPr>
            <a:xfrm>
              <a:off x="3982888" y="4805046"/>
              <a:ext cx="1288032" cy="127518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ttangolo 26">
              <a:extLst>
                <a:ext uri="{FF2B5EF4-FFF2-40B4-BE49-F238E27FC236}">
                  <a16:creationId xmlns:a16="http://schemas.microsoft.com/office/drawing/2014/main" id="{94E9C09B-E426-CD2B-A95B-7FF7B05F56D8}"/>
                </a:ext>
              </a:extLst>
            </p:cNvPr>
            <p:cNvSpPr/>
            <p:nvPr/>
          </p:nvSpPr>
          <p:spPr>
            <a:xfrm>
              <a:off x="4187413" y="5049312"/>
              <a:ext cx="869463" cy="8303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ttangolo 27">
              <a:extLst>
                <a:ext uri="{FF2B5EF4-FFF2-40B4-BE49-F238E27FC236}">
                  <a16:creationId xmlns:a16="http://schemas.microsoft.com/office/drawing/2014/main" id="{45B289CE-8B21-F3DD-7B04-6A2D22280FE4}"/>
                </a:ext>
              </a:extLst>
            </p:cNvPr>
            <p:cNvSpPr/>
            <p:nvPr/>
          </p:nvSpPr>
          <p:spPr>
            <a:xfrm>
              <a:off x="4580877" y="5407458"/>
              <a:ext cx="84842" cy="84842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ttangolo 29">
                  <a:extLst>
                    <a:ext uri="{FF2B5EF4-FFF2-40B4-BE49-F238E27FC236}">
                      <a16:creationId xmlns:a16="http://schemas.microsoft.com/office/drawing/2014/main" id="{7B942C31-9108-169B-D217-CA5D62E1AFA9}"/>
                    </a:ext>
                  </a:extLst>
                </p:cNvPr>
                <p:cNvSpPr/>
                <p:nvPr/>
              </p:nvSpPr>
              <p:spPr>
                <a:xfrm>
                  <a:off x="4398076" y="5512961"/>
                  <a:ext cx="47532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030A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6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030A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𝐎</m:t>
                            </m:r>
                          </m:e>
                          <m:sub>
                            <m:r>
                              <a:rPr kumimoji="0" lang="en-US" sz="16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030A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0" name="Rettangolo 29">
                  <a:extLst>
                    <a:ext uri="{FF2B5EF4-FFF2-40B4-BE49-F238E27FC236}">
                      <a16:creationId xmlns:a16="http://schemas.microsoft.com/office/drawing/2014/main" id="{7B942C31-9108-169B-D217-CA5D62E1AF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8076" y="5512961"/>
                  <a:ext cx="475322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14236F5A-CE20-D30C-521E-8F6970C65FA4}"/>
                </a:ext>
              </a:extLst>
            </p:cNvPr>
            <p:cNvSpPr txBox="1"/>
            <p:nvPr/>
          </p:nvSpPr>
          <p:spPr>
            <a:xfrm>
              <a:off x="4186817" y="5044040"/>
              <a:ext cx="8547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noProof="0" dirty="0">
                  <a:solidFill>
                    <a:srgbClr val="00B050"/>
                  </a:solidFill>
                </a:rPr>
                <a:t>Cell line</a:t>
              </a: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84CF5B54-E2EC-FECD-BE42-C04D791570BC}"/>
                </a:ext>
              </a:extLst>
            </p:cNvPr>
            <p:cNvSpPr txBox="1"/>
            <p:nvPr/>
          </p:nvSpPr>
          <p:spPr>
            <a:xfrm>
              <a:off x="3933525" y="4473300"/>
              <a:ext cx="13772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noProof="0" dirty="0">
                  <a:solidFill>
                    <a:srgbClr val="FF0000"/>
                  </a:solidFill>
                </a:rPr>
                <a:t>Healthy organ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asellaDiTesto 35">
                  <a:extLst>
                    <a:ext uri="{FF2B5EF4-FFF2-40B4-BE49-F238E27FC236}">
                      <a16:creationId xmlns:a16="http://schemas.microsoft.com/office/drawing/2014/main" id="{BA7BCC85-A1F7-9C28-B4DD-09C700299B7A}"/>
                    </a:ext>
                  </a:extLst>
                </p:cNvPr>
                <p:cNvSpPr txBox="1"/>
                <p:nvPr/>
              </p:nvSpPr>
              <p:spPr>
                <a:xfrm>
                  <a:off x="4685918" y="5344646"/>
                  <a:ext cx="17793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oMath>
                    </m:oMathPara>
                  </a14:m>
                  <a:endParaRPr lang="en-US" sz="1400" b="1" noProof="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asellaDiTesto 35">
                  <a:extLst>
                    <a:ext uri="{FF2B5EF4-FFF2-40B4-BE49-F238E27FC236}">
                      <a16:creationId xmlns:a16="http://schemas.microsoft.com/office/drawing/2014/main" id="{BA7BCC85-A1F7-9C28-B4DD-09C700299B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5918" y="5344646"/>
                  <a:ext cx="177933" cy="215444"/>
                </a:xfrm>
                <a:prstGeom prst="rect">
                  <a:avLst/>
                </a:prstGeom>
                <a:blipFill>
                  <a:blip r:embed="rId9"/>
                  <a:stretch>
                    <a:fillRect l="-37931" r="-31034" b="-3142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CasellaDiTesto 40">
              <a:extLst>
                <a:ext uri="{FF2B5EF4-FFF2-40B4-BE49-F238E27FC236}">
                  <a16:creationId xmlns:a16="http://schemas.microsoft.com/office/drawing/2014/main" id="{C447C1DD-BD37-1BD5-237F-D1DC5AD0FD11}"/>
                </a:ext>
              </a:extLst>
            </p:cNvPr>
            <p:cNvSpPr txBox="1"/>
            <p:nvPr/>
          </p:nvSpPr>
          <p:spPr>
            <a:xfrm>
              <a:off x="4257963" y="4763645"/>
              <a:ext cx="7368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noProof="0" dirty="0"/>
                <a:t>Tumor</a:t>
              </a:r>
            </a:p>
          </p:txBody>
        </p:sp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EFB5F83C-E6C5-B78F-BFE9-3037ED3C8D30}"/>
              </a:ext>
            </a:extLst>
          </p:cNvPr>
          <p:cNvGrpSpPr/>
          <p:nvPr/>
        </p:nvGrpSpPr>
        <p:grpSpPr>
          <a:xfrm>
            <a:off x="6935802" y="2393437"/>
            <a:ext cx="2991633" cy="2613163"/>
            <a:chOff x="6935802" y="2393437"/>
            <a:chExt cx="2991633" cy="2613163"/>
          </a:xfrm>
        </p:grpSpPr>
        <p:grpSp>
          <p:nvGrpSpPr>
            <p:cNvPr id="34" name="Gruppo 33">
              <a:extLst>
                <a:ext uri="{FF2B5EF4-FFF2-40B4-BE49-F238E27FC236}">
                  <a16:creationId xmlns:a16="http://schemas.microsoft.com/office/drawing/2014/main" id="{711A5049-6371-4400-919D-30E0DA05A4EE}"/>
                </a:ext>
              </a:extLst>
            </p:cNvPr>
            <p:cNvGrpSpPr/>
            <p:nvPr/>
          </p:nvGrpSpPr>
          <p:grpSpPr>
            <a:xfrm>
              <a:off x="6935802" y="2393437"/>
              <a:ext cx="2991633" cy="2613163"/>
              <a:chOff x="8294885" y="1222828"/>
              <a:chExt cx="2991633" cy="2613163"/>
            </a:xfrm>
          </p:grpSpPr>
          <p:pic>
            <p:nvPicPr>
              <p:cNvPr id="45" name="Immagine 44">
                <a:extLst>
                  <a:ext uri="{FF2B5EF4-FFF2-40B4-BE49-F238E27FC236}">
                    <a16:creationId xmlns:a16="http://schemas.microsoft.com/office/drawing/2014/main" id="{8AFCD458-94E4-29A9-A525-52C150868B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69" t="7018" r="17894"/>
              <a:stretch/>
            </p:blipFill>
            <p:spPr>
              <a:xfrm>
                <a:off x="8294885" y="1222828"/>
                <a:ext cx="2991633" cy="2613163"/>
              </a:xfrm>
              <a:prstGeom prst="rect">
                <a:avLst/>
              </a:prstGeom>
            </p:spPr>
          </p:pic>
          <p:sp>
            <p:nvSpPr>
              <p:cNvPr id="46" name="Rettangolo 45">
                <a:extLst>
                  <a:ext uri="{FF2B5EF4-FFF2-40B4-BE49-F238E27FC236}">
                    <a16:creationId xmlns:a16="http://schemas.microsoft.com/office/drawing/2014/main" id="{68AD2CF6-6723-8D64-0DFB-10415D107F7A}"/>
                  </a:ext>
                </a:extLst>
              </p:cNvPr>
              <p:cNvSpPr/>
              <p:nvPr/>
            </p:nvSpPr>
            <p:spPr>
              <a:xfrm>
                <a:off x="8610600" y="1222828"/>
                <a:ext cx="2588443" cy="23027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3" name="Rettangolo 42">
              <a:extLst>
                <a:ext uri="{FF2B5EF4-FFF2-40B4-BE49-F238E27FC236}">
                  <a16:creationId xmlns:a16="http://schemas.microsoft.com/office/drawing/2014/main" id="{255FD0A0-8D08-20A0-D0CD-3FDBBF2BBCC1}"/>
                </a:ext>
              </a:extLst>
            </p:cNvPr>
            <p:cNvSpPr/>
            <p:nvPr/>
          </p:nvSpPr>
          <p:spPr>
            <a:xfrm>
              <a:off x="8429863" y="3343746"/>
              <a:ext cx="1288032" cy="127518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ttangolo 43">
              <a:extLst>
                <a:ext uri="{FF2B5EF4-FFF2-40B4-BE49-F238E27FC236}">
                  <a16:creationId xmlns:a16="http://schemas.microsoft.com/office/drawing/2014/main" id="{C4E81FA0-C241-49BB-B19B-0852E20E1C2C}"/>
                </a:ext>
              </a:extLst>
            </p:cNvPr>
            <p:cNvSpPr/>
            <p:nvPr/>
          </p:nvSpPr>
          <p:spPr>
            <a:xfrm>
              <a:off x="8634388" y="3588012"/>
              <a:ext cx="869463" cy="83035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ttangolo 50">
              <a:extLst>
                <a:ext uri="{FF2B5EF4-FFF2-40B4-BE49-F238E27FC236}">
                  <a16:creationId xmlns:a16="http://schemas.microsoft.com/office/drawing/2014/main" id="{9C889572-AD06-6511-AD78-24F548B41B58}"/>
                </a:ext>
              </a:extLst>
            </p:cNvPr>
            <p:cNvSpPr/>
            <p:nvPr/>
          </p:nvSpPr>
          <p:spPr>
            <a:xfrm>
              <a:off x="9027852" y="3946158"/>
              <a:ext cx="84842" cy="84842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CasellaDiTesto 54">
                  <a:extLst>
                    <a:ext uri="{FF2B5EF4-FFF2-40B4-BE49-F238E27FC236}">
                      <a16:creationId xmlns:a16="http://schemas.microsoft.com/office/drawing/2014/main" id="{82B8695E-67CA-0FE8-9673-40254154E5BB}"/>
                    </a:ext>
                  </a:extLst>
                </p:cNvPr>
                <p:cNvSpPr txBox="1"/>
                <p:nvPr/>
              </p:nvSpPr>
              <p:spPr>
                <a:xfrm>
                  <a:off x="9132893" y="3883346"/>
                  <a:ext cx="17793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noProof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oMath>
                    </m:oMathPara>
                  </a14:m>
                  <a:endParaRPr lang="en-US" sz="1400" b="1" noProof="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CasellaDiTesto 54">
                  <a:extLst>
                    <a:ext uri="{FF2B5EF4-FFF2-40B4-BE49-F238E27FC236}">
                      <a16:creationId xmlns:a16="http://schemas.microsoft.com/office/drawing/2014/main" id="{82B8695E-67CA-0FE8-9673-40254154E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2893" y="3883346"/>
                  <a:ext cx="177933" cy="215444"/>
                </a:xfrm>
                <a:prstGeom prst="rect">
                  <a:avLst/>
                </a:prstGeom>
                <a:blipFill>
                  <a:blip r:embed="rId12"/>
                  <a:stretch>
                    <a:fillRect l="-34483" r="-34483" b="-34286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asellaDiTesto 48">
                  <a:extLst>
                    <a:ext uri="{FF2B5EF4-FFF2-40B4-BE49-F238E27FC236}">
                      <a16:creationId xmlns:a16="http://schemas.microsoft.com/office/drawing/2014/main" id="{F6370B8A-EE41-C1D1-7C5A-112647658758}"/>
                    </a:ext>
                  </a:extLst>
                </p:cNvPr>
                <p:cNvSpPr txBox="1"/>
                <p:nvPr/>
              </p:nvSpPr>
              <p:spPr>
                <a:xfrm>
                  <a:off x="8685363" y="3812348"/>
                  <a:ext cx="322139" cy="33797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0" lang="en-US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kumimoji="0" lang="en-US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𝑺</m:t>
                            </m:r>
                          </m:e>
                          <m:sub>
                            <m:r>
                              <a:rPr kumimoji="0" lang="en-US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𝒊𝒋</m:t>
                            </m:r>
                          </m:sub>
                          <m:sup>
                            <m:r>
                              <a:rPr kumimoji="0" lang="en-US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𝒌</m:t>
                            </m:r>
                          </m:sup>
                        </m:sSubSup>
                      </m:oMath>
                    </m:oMathPara>
                  </a14:m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9" name="CasellaDiTesto 48">
                  <a:extLst>
                    <a:ext uri="{FF2B5EF4-FFF2-40B4-BE49-F238E27FC236}">
                      <a16:creationId xmlns:a16="http://schemas.microsoft.com/office/drawing/2014/main" id="{F6370B8A-EE41-C1D1-7C5A-1126476587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5363" y="3812348"/>
                  <a:ext cx="322139" cy="337978"/>
                </a:xfrm>
                <a:prstGeom prst="rect">
                  <a:avLst/>
                </a:prstGeom>
                <a:blipFill>
                  <a:blip r:embed="rId13"/>
                  <a:stretch>
                    <a:fillRect l="-18868" r="-11321" b="-23214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4" name="Elemento grafico 23" descr="Tiro a segno contorno">
            <a:extLst>
              <a:ext uri="{FF2B5EF4-FFF2-40B4-BE49-F238E27FC236}">
                <a16:creationId xmlns:a16="http://schemas.microsoft.com/office/drawing/2014/main" id="{0D4B0499-DF27-F0B7-788E-A80E276BF69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962529" y="3990255"/>
            <a:ext cx="605412" cy="605412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75F4197C-57A4-E241-5818-6E1878A9145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59602" y="1400465"/>
            <a:ext cx="1884355" cy="48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51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29" grpId="0"/>
      <p:bldP spid="50" grpId="0"/>
      <p:bldP spid="52" grpId="0"/>
      <p:bldP spid="56" grpId="0"/>
      <p:bldP spid="57" grpId="0" animBg="1"/>
      <p:bldP spid="59" grpId="0"/>
      <p:bldP spid="42" grpId="0"/>
      <p:bldP spid="54" grpId="0"/>
      <p:bldP spid="23" grpId="0" animBg="1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1D1C-0BFA-9FE7-873A-5B636FCFF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1">
            <a:extLst>
              <a:ext uri="{FF2B5EF4-FFF2-40B4-BE49-F238E27FC236}">
                <a16:creationId xmlns:a16="http://schemas.microsoft.com/office/drawing/2014/main" id="{BC1FCF9E-825A-150B-C628-83BA5A11F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CF49842-A5BC-50E8-25E1-BCC2F869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3812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D3A0BE8B-E750-4000-2996-468906E6D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449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4C420AFE-16ED-7197-A77A-48E56C0457F4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Irradiation of biological multi-layer systems and analyses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1F2960B1-8E6E-D076-3EBD-CAFC0FD87003}"/>
              </a:ext>
            </a:extLst>
          </p:cNvPr>
          <p:cNvGrpSpPr/>
          <p:nvPr/>
        </p:nvGrpSpPr>
        <p:grpSpPr>
          <a:xfrm>
            <a:off x="131368" y="1564421"/>
            <a:ext cx="1539844" cy="3729158"/>
            <a:chOff x="135586" y="1856553"/>
            <a:chExt cx="1539844" cy="3729158"/>
          </a:xfrm>
        </p:grpSpPr>
        <p:grpSp>
          <p:nvGrpSpPr>
            <p:cNvPr id="22" name="Gruppo 21">
              <a:extLst>
                <a:ext uri="{FF2B5EF4-FFF2-40B4-BE49-F238E27FC236}">
                  <a16:creationId xmlns:a16="http://schemas.microsoft.com/office/drawing/2014/main" id="{45BB320E-3D36-DCFE-88C9-F4B84EAE56AA}"/>
                </a:ext>
              </a:extLst>
            </p:cNvPr>
            <p:cNvGrpSpPr/>
            <p:nvPr/>
          </p:nvGrpSpPr>
          <p:grpSpPr>
            <a:xfrm>
              <a:off x="135586" y="1856553"/>
              <a:ext cx="1535626" cy="1022218"/>
              <a:chOff x="634124" y="734039"/>
              <a:chExt cx="1535626" cy="1022218"/>
            </a:xfrm>
          </p:grpSpPr>
          <p:sp>
            <p:nvSpPr>
              <p:cNvPr id="39" name="Figura a mano libera: forma 38">
                <a:extLst>
                  <a:ext uri="{FF2B5EF4-FFF2-40B4-BE49-F238E27FC236}">
                    <a16:creationId xmlns:a16="http://schemas.microsoft.com/office/drawing/2014/main" id="{74100ACE-0DA4-D870-DE5D-850E993CBDAF}"/>
                  </a:ext>
                </a:extLst>
              </p:cNvPr>
              <p:cNvSpPr/>
              <p:nvPr/>
            </p:nvSpPr>
            <p:spPr>
              <a:xfrm>
                <a:off x="634124" y="734039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kern="1200" noProof="0" dirty="0"/>
                  <a:t>Irradiation of 3D skin tissue</a:t>
                </a:r>
              </a:p>
            </p:txBody>
          </p:sp>
          <p:sp>
            <p:nvSpPr>
              <p:cNvPr id="40" name="Figura a mano libera: forma 39">
                <a:extLst>
                  <a:ext uri="{FF2B5EF4-FFF2-40B4-BE49-F238E27FC236}">
                    <a16:creationId xmlns:a16="http://schemas.microsoft.com/office/drawing/2014/main" id="{5A8F1FD4-7887-8BAF-7A1F-119B27D9A7B0}"/>
                  </a:ext>
                </a:extLst>
              </p:cNvPr>
              <p:cNvSpPr/>
              <p:nvPr/>
            </p:nvSpPr>
            <p:spPr>
              <a:xfrm>
                <a:off x="941249" y="1267723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  <a:solidFill>
                <a:srgbClr val="70AD4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WP2.1</a:t>
                </a:r>
              </a:p>
            </p:txBody>
          </p:sp>
        </p:grpSp>
        <p:grpSp>
          <p:nvGrpSpPr>
            <p:cNvPr id="23" name="Gruppo 22">
              <a:extLst>
                <a:ext uri="{FF2B5EF4-FFF2-40B4-BE49-F238E27FC236}">
                  <a16:creationId xmlns:a16="http://schemas.microsoft.com/office/drawing/2014/main" id="{3E77BFBF-B5E3-BDB8-4C12-BF79A18F0BD8}"/>
                </a:ext>
              </a:extLst>
            </p:cNvPr>
            <p:cNvGrpSpPr/>
            <p:nvPr/>
          </p:nvGrpSpPr>
          <p:grpSpPr>
            <a:xfrm>
              <a:off x="139804" y="3210023"/>
              <a:ext cx="1535626" cy="1022219"/>
              <a:chOff x="634124" y="2426465"/>
              <a:chExt cx="1535626" cy="1022219"/>
            </a:xfrm>
          </p:grpSpPr>
          <p:sp>
            <p:nvSpPr>
              <p:cNvPr id="37" name="Figura a mano libera: forma 36">
                <a:extLst>
                  <a:ext uri="{FF2B5EF4-FFF2-40B4-BE49-F238E27FC236}">
                    <a16:creationId xmlns:a16="http://schemas.microsoft.com/office/drawing/2014/main" id="{FB61C848-322F-8FBC-CEDD-3B458560171A}"/>
                  </a:ext>
                </a:extLst>
              </p:cNvPr>
              <p:cNvSpPr/>
              <p:nvPr/>
            </p:nvSpPr>
            <p:spPr>
              <a:xfrm>
                <a:off x="634124" y="2426465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Skin model development</a:t>
                </a:r>
              </a:p>
            </p:txBody>
          </p:sp>
          <p:sp>
            <p:nvSpPr>
              <p:cNvPr id="38" name="Figura a mano libera: forma 37">
                <a:extLst>
                  <a:ext uri="{FF2B5EF4-FFF2-40B4-BE49-F238E27FC236}">
                    <a16:creationId xmlns:a16="http://schemas.microsoft.com/office/drawing/2014/main" id="{E02BE2D9-D580-B6E3-BE90-EDFB951235CB}"/>
                  </a:ext>
                </a:extLst>
              </p:cNvPr>
              <p:cNvSpPr/>
              <p:nvPr/>
            </p:nvSpPr>
            <p:spPr>
              <a:xfrm>
                <a:off x="941249" y="2960150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  <a:solidFill>
                <a:srgbClr val="70AD4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WP2.2</a:t>
                </a:r>
              </a:p>
            </p:txBody>
          </p:sp>
        </p:grpSp>
        <p:grpSp>
          <p:nvGrpSpPr>
            <p:cNvPr id="31" name="Gruppo 30">
              <a:extLst>
                <a:ext uri="{FF2B5EF4-FFF2-40B4-BE49-F238E27FC236}">
                  <a16:creationId xmlns:a16="http://schemas.microsoft.com/office/drawing/2014/main" id="{487662A7-D270-B10A-3B25-25E1E218D17B}"/>
                </a:ext>
              </a:extLst>
            </p:cNvPr>
            <p:cNvGrpSpPr/>
            <p:nvPr/>
          </p:nvGrpSpPr>
          <p:grpSpPr>
            <a:xfrm>
              <a:off x="135586" y="4563492"/>
              <a:ext cx="1535626" cy="1022219"/>
              <a:chOff x="634124" y="3980710"/>
              <a:chExt cx="1535626" cy="1022219"/>
            </a:xfrm>
          </p:grpSpPr>
          <p:sp>
            <p:nvSpPr>
              <p:cNvPr id="35" name="Figura a mano libera: forma 34">
                <a:extLst>
                  <a:ext uri="{FF2B5EF4-FFF2-40B4-BE49-F238E27FC236}">
                    <a16:creationId xmlns:a16="http://schemas.microsoft.com/office/drawing/2014/main" id="{BB481553-F1C8-7948-C2C7-A18508A8D3F6}"/>
                  </a:ext>
                </a:extLst>
              </p:cNvPr>
              <p:cNvSpPr/>
              <p:nvPr/>
            </p:nvSpPr>
            <p:spPr>
              <a:xfrm>
                <a:off x="634124" y="3980710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Skin model calibration</a:t>
                </a:r>
              </a:p>
            </p:txBody>
          </p:sp>
          <p:sp>
            <p:nvSpPr>
              <p:cNvPr id="36" name="Figura a mano libera: forma 35">
                <a:extLst>
                  <a:ext uri="{FF2B5EF4-FFF2-40B4-BE49-F238E27FC236}">
                    <a16:creationId xmlns:a16="http://schemas.microsoft.com/office/drawing/2014/main" id="{17466115-5B95-D8EE-1EC6-39CC1108F0C0}"/>
                  </a:ext>
                </a:extLst>
              </p:cNvPr>
              <p:cNvSpPr/>
              <p:nvPr/>
            </p:nvSpPr>
            <p:spPr>
              <a:xfrm>
                <a:off x="941249" y="4514395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  <a:solidFill>
                <a:srgbClr val="70AD4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WP2.3</a:t>
                </a:r>
              </a:p>
            </p:txBody>
          </p:sp>
        </p:grpSp>
        <p:sp>
          <p:nvSpPr>
            <p:cNvPr id="32" name="Freccia in giù 31">
              <a:extLst>
                <a:ext uri="{FF2B5EF4-FFF2-40B4-BE49-F238E27FC236}">
                  <a16:creationId xmlns:a16="http://schemas.microsoft.com/office/drawing/2014/main" id="{D62C32D6-1E2F-0F9D-978C-61DF497ED431}"/>
                </a:ext>
              </a:extLst>
            </p:cNvPr>
            <p:cNvSpPr/>
            <p:nvPr/>
          </p:nvSpPr>
          <p:spPr>
            <a:xfrm>
              <a:off x="725632" y="2923921"/>
              <a:ext cx="201969" cy="244268"/>
            </a:xfrm>
            <a:prstGeom prst="downArrow">
              <a:avLst/>
            </a:prstGeom>
            <a:solidFill>
              <a:srgbClr val="BBD3B1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  <p:sp>
          <p:nvSpPr>
            <p:cNvPr id="33" name="Freccia in giù 32">
              <a:extLst>
                <a:ext uri="{FF2B5EF4-FFF2-40B4-BE49-F238E27FC236}">
                  <a16:creationId xmlns:a16="http://schemas.microsoft.com/office/drawing/2014/main" id="{467F4954-604C-EE80-87D3-9D9BB1DCCFD8}"/>
                </a:ext>
              </a:extLst>
            </p:cNvPr>
            <p:cNvSpPr/>
            <p:nvPr/>
          </p:nvSpPr>
          <p:spPr>
            <a:xfrm>
              <a:off x="725632" y="4275733"/>
              <a:ext cx="201969" cy="244268"/>
            </a:xfrm>
            <a:prstGeom prst="downArrow">
              <a:avLst/>
            </a:prstGeom>
            <a:solidFill>
              <a:srgbClr val="BBD3B1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</p:grpSp>
      <p:sp>
        <p:nvSpPr>
          <p:cNvPr id="21" name="Rettangolo 20">
            <a:extLst>
              <a:ext uri="{FF2B5EF4-FFF2-40B4-BE49-F238E27FC236}">
                <a16:creationId xmlns:a16="http://schemas.microsoft.com/office/drawing/2014/main" id="{4ED910A2-981C-2B3F-69BA-FD417B889E6D}"/>
              </a:ext>
            </a:extLst>
          </p:cNvPr>
          <p:cNvSpPr/>
          <p:nvPr/>
        </p:nvSpPr>
        <p:spPr>
          <a:xfrm>
            <a:off x="102990" y="2631789"/>
            <a:ext cx="1568222" cy="2729136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28F78C8-AAF1-EC05-23B7-76A7A7844A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" r="5057"/>
          <a:stretch>
            <a:fillRect/>
          </a:stretch>
        </p:blipFill>
        <p:spPr bwMode="auto">
          <a:xfrm>
            <a:off x="2498533" y="1367964"/>
            <a:ext cx="3015883" cy="230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9B4489E1-0F48-AE49-106F-792EBCFBB5F8}"/>
              </a:ext>
            </a:extLst>
          </p:cNvPr>
          <p:cNvSpPr txBox="1"/>
          <p:nvPr/>
        </p:nvSpPr>
        <p:spPr>
          <a:xfrm>
            <a:off x="2750493" y="934333"/>
            <a:ext cx="2511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000000"/>
                </a:solidFill>
                <a:cs typeface="Arial" panose="020B0604020202020204" pitchFamily="34" charset="0"/>
              </a:rPr>
              <a:t>M</a:t>
            </a:r>
            <a:r>
              <a:rPr lang="en-US" sz="1800" b="1" u="none" strike="noStrike" noProof="0" dirty="0"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icrofluidic bioreactor</a:t>
            </a:r>
            <a:endParaRPr lang="en-US" noProof="0" dirty="0">
              <a:cs typeface="Arial" panose="020B0604020202020204" pitchFamily="34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CC6094FE-B5D7-BB87-B5DF-358A5CA11A02}"/>
              </a:ext>
            </a:extLst>
          </p:cNvPr>
          <p:cNvSpPr txBox="1"/>
          <p:nvPr/>
        </p:nvSpPr>
        <p:spPr>
          <a:xfrm>
            <a:off x="9097686" y="932060"/>
            <a:ext cx="2800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000000"/>
                </a:solidFill>
                <a:cs typeface="Arial" panose="020B0604020202020204" pitchFamily="34" charset="0"/>
              </a:rPr>
              <a:t>Multi-layer skin tissue</a:t>
            </a:r>
            <a:endParaRPr lang="en-US" noProof="0" dirty="0">
              <a:cs typeface="Arial" panose="020B0604020202020204" pitchFamily="34" charset="0"/>
            </a:endParaRPr>
          </a:p>
        </p:txBody>
      </p:sp>
      <p:grpSp>
        <p:nvGrpSpPr>
          <p:cNvPr id="2055" name="Gruppo 2054">
            <a:extLst>
              <a:ext uri="{FF2B5EF4-FFF2-40B4-BE49-F238E27FC236}">
                <a16:creationId xmlns:a16="http://schemas.microsoft.com/office/drawing/2014/main" id="{75D446AA-69DA-6648-2AEC-62B5B437C790}"/>
              </a:ext>
            </a:extLst>
          </p:cNvPr>
          <p:cNvGrpSpPr>
            <a:grpSpLocks noChangeAspect="1"/>
          </p:cNvGrpSpPr>
          <p:nvPr/>
        </p:nvGrpSpPr>
        <p:grpSpPr>
          <a:xfrm>
            <a:off x="1242943" y="5462139"/>
            <a:ext cx="745565" cy="365125"/>
            <a:chOff x="2491255" y="6297394"/>
            <a:chExt cx="1090145" cy="533876"/>
          </a:xfrm>
        </p:grpSpPr>
        <p:pic>
          <p:nvPicPr>
            <p:cNvPr id="63" name="Immagine 62">
              <a:extLst>
                <a:ext uri="{FF2B5EF4-FFF2-40B4-BE49-F238E27FC236}">
                  <a16:creationId xmlns:a16="http://schemas.microsoft.com/office/drawing/2014/main" id="{1237122C-4D8E-CE9B-879F-463F95B4D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941"/>
            <a:stretch>
              <a:fillRect/>
            </a:stretch>
          </p:blipFill>
          <p:spPr>
            <a:xfrm>
              <a:off x="2491255" y="6297394"/>
              <a:ext cx="1090145" cy="460181"/>
            </a:xfrm>
            <a:prstGeom prst="rect">
              <a:avLst/>
            </a:prstGeom>
          </p:spPr>
        </p:pic>
        <p:sp>
          <p:nvSpPr>
            <p:cNvPr id="2048" name="CasellaDiTesto 2047">
              <a:extLst>
                <a:ext uri="{FF2B5EF4-FFF2-40B4-BE49-F238E27FC236}">
                  <a16:creationId xmlns:a16="http://schemas.microsoft.com/office/drawing/2014/main" id="{CD4DB782-8504-D9C5-3856-CE2C1E2E7C09}"/>
                </a:ext>
              </a:extLst>
            </p:cNvPr>
            <p:cNvSpPr txBox="1"/>
            <p:nvPr/>
          </p:nvSpPr>
          <p:spPr>
            <a:xfrm>
              <a:off x="3036327" y="6615826"/>
              <a:ext cx="47000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noProof="0" dirty="0">
                  <a:solidFill>
                    <a:srgbClr val="4E92A9"/>
                  </a:solidFill>
                </a:rPr>
                <a:t>PAVIA</a:t>
              </a:r>
            </a:p>
          </p:txBody>
        </p:sp>
      </p:grpSp>
      <p:grpSp>
        <p:nvGrpSpPr>
          <p:cNvPr id="2056" name="Gruppo 2055">
            <a:extLst>
              <a:ext uri="{FF2B5EF4-FFF2-40B4-BE49-F238E27FC236}">
                <a16:creationId xmlns:a16="http://schemas.microsoft.com/office/drawing/2014/main" id="{C8D86701-C9FF-E49B-53A4-6F81C95D9772}"/>
              </a:ext>
            </a:extLst>
          </p:cNvPr>
          <p:cNvGrpSpPr>
            <a:grpSpLocks noChangeAspect="1"/>
          </p:cNvGrpSpPr>
          <p:nvPr/>
        </p:nvGrpSpPr>
        <p:grpSpPr>
          <a:xfrm>
            <a:off x="1240883" y="5940412"/>
            <a:ext cx="745565" cy="365125"/>
            <a:chOff x="3679890" y="6270239"/>
            <a:chExt cx="1090145" cy="533876"/>
          </a:xfrm>
        </p:grpSpPr>
        <p:pic>
          <p:nvPicPr>
            <p:cNvPr id="2049" name="Immagine 2048">
              <a:extLst>
                <a:ext uri="{FF2B5EF4-FFF2-40B4-BE49-F238E27FC236}">
                  <a16:creationId xmlns:a16="http://schemas.microsoft.com/office/drawing/2014/main" id="{39B6E00F-E869-5549-D247-4DCA277A8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941"/>
            <a:stretch>
              <a:fillRect/>
            </a:stretch>
          </p:blipFill>
          <p:spPr>
            <a:xfrm>
              <a:off x="3679890" y="6270239"/>
              <a:ext cx="1090145" cy="460181"/>
            </a:xfrm>
            <a:prstGeom prst="rect">
              <a:avLst/>
            </a:prstGeom>
          </p:spPr>
        </p:pic>
        <p:sp>
          <p:nvSpPr>
            <p:cNvPr id="2051" name="CasellaDiTesto 2050">
              <a:extLst>
                <a:ext uri="{FF2B5EF4-FFF2-40B4-BE49-F238E27FC236}">
                  <a16:creationId xmlns:a16="http://schemas.microsoft.com/office/drawing/2014/main" id="{AB0846AB-E34E-8F29-1DEC-5355259179B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24962" y="6588671"/>
              <a:ext cx="5373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noProof="0" dirty="0">
                  <a:solidFill>
                    <a:srgbClr val="4E92A9"/>
                  </a:solidFill>
                </a:rPr>
                <a:t>NAPOLI</a:t>
              </a:r>
            </a:p>
          </p:txBody>
        </p:sp>
      </p:grpSp>
      <p:pic>
        <p:nvPicPr>
          <p:cNvPr id="2053" name="Immagine 2052">
            <a:extLst>
              <a:ext uri="{FF2B5EF4-FFF2-40B4-BE49-F238E27FC236}">
                <a16:creationId xmlns:a16="http://schemas.microsoft.com/office/drawing/2014/main" id="{B6E8615D-A2A5-78F3-5568-52EFBF010E7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4" t="31839" r="19668" b="31464"/>
          <a:stretch/>
        </p:blipFill>
        <p:spPr>
          <a:xfrm>
            <a:off x="81522" y="5914247"/>
            <a:ext cx="1161421" cy="397067"/>
          </a:xfrm>
          <a:prstGeom prst="rect">
            <a:avLst/>
          </a:prstGeom>
        </p:spPr>
      </p:pic>
      <p:pic>
        <p:nvPicPr>
          <p:cNvPr id="2054" name="Immagine 2053">
            <a:extLst>
              <a:ext uri="{FF2B5EF4-FFF2-40B4-BE49-F238E27FC236}">
                <a16:creationId xmlns:a16="http://schemas.microsoft.com/office/drawing/2014/main" id="{E18A0E8B-61C3-C10C-724D-27569A5430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0" y="5335874"/>
            <a:ext cx="992820" cy="619901"/>
          </a:xfrm>
          <a:prstGeom prst="rect">
            <a:avLst/>
          </a:prstGeom>
        </p:spPr>
      </p:pic>
      <p:pic>
        <p:nvPicPr>
          <p:cNvPr id="1028" name="Picture 4" descr="Skin on chip Applications">
            <a:extLst>
              <a:ext uri="{FF2B5EF4-FFF2-40B4-BE49-F238E27FC236}">
                <a16:creationId xmlns:a16="http://schemas.microsoft.com/office/drawing/2014/main" id="{8A0E2610-CF88-D32B-9870-7EED2D3B66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22" t="52262" r="34019" b="10091"/>
          <a:stretch>
            <a:fillRect/>
          </a:stretch>
        </p:blipFill>
        <p:spPr bwMode="auto">
          <a:xfrm>
            <a:off x="5830397" y="1408691"/>
            <a:ext cx="3123460" cy="222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28176329-E8D0-F21E-BCB2-D396ADBC80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9314" y="1689938"/>
            <a:ext cx="2777069" cy="1644931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484FA774-3952-3F62-4486-BF86670DF4CB}"/>
              </a:ext>
            </a:extLst>
          </p:cNvPr>
          <p:cNvSpPr/>
          <p:nvPr/>
        </p:nvSpPr>
        <p:spPr>
          <a:xfrm>
            <a:off x="4885038" y="1988509"/>
            <a:ext cx="270301" cy="27699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4CBCA54E-8AC1-7DBA-9D1B-A8DA692DDEC6}"/>
              </a:ext>
            </a:extLst>
          </p:cNvPr>
          <p:cNvSpPr/>
          <p:nvPr/>
        </p:nvSpPr>
        <p:spPr>
          <a:xfrm>
            <a:off x="5821207" y="1364397"/>
            <a:ext cx="3132650" cy="230509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F5E902E8-1902-18C7-4FAF-FB77ADA7F56E}"/>
              </a:ext>
            </a:extLst>
          </p:cNvPr>
          <p:cNvCxnSpPr>
            <a:cxnSpLocks/>
          </p:cNvCxnSpPr>
          <p:nvPr/>
        </p:nvCxnSpPr>
        <p:spPr>
          <a:xfrm flipV="1">
            <a:off x="4885038" y="1356981"/>
            <a:ext cx="930947" cy="621754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F154BAFD-A009-FE3B-5E45-E649637FF314}"/>
              </a:ext>
            </a:extLst>
          </p:cNvPr>
          <p:cNvCxnSpPr>
            <a:cxnSpLocks/>
          </p:cNvCxnSpPr>
          <p:nvPr/>
        </p:nvCxnSpPr>
        <p:spPr>
          <a:xfrm>
            <a:off x="4885038" y="2272924"/>
            <a:ext cx="930947" cy="1396566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A8EE44ED-310D-BA18-BC9A-E8FB155A9B68}"/>
              </a:ext>
            </a:extLst>
          </p:cNvPr>
          <p:cNvCxnSpPr>
            <a:cxnSpLocks/>
          </p:cNvCxnSpPr>
          <p:nvPr/>
        </p:nvCxnSpPr>
        <p:spPr>
          <a:xfrm>
            <a:off x="6711802" y="3120879"/>
            <a:ext cx="2374258" cy="22888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76002F1A-F6E2-ED6B-A09C-B8C247A49B99}"/>
              </a:ext>
            </a:extLst>
          </p:cNvPr>
          <p:cNvSpPr txBox="1"/>
          <p:nvPr/>
        </p:nvSpPr>
        <p:spPr>
          <a:xfrm>
            <a:off x="9236295" y="1664450"/>
            <a:ext cx="1002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Epidermis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C601A131-2FE3-A929-49AA-F93578F22B1C}"/>
              </a:ext>
            </a:extLst>
          </p:cNvPr>
          <p:cNvSpPr txBox="1"/>
          <p:nvPr/>
        </p:nvSpPr>
        <p:spPr>
          <a:xfrm>
            <a:off x="10587639" y="2974204"/>
            <a:ext cx="10021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Dermis</a:t>
            </a:r>
          </a:p>
        </p:txBody>
      </p: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3AB6FB26-B1CA-EE7E-D8A6-1131D669C061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9737349" y="1972227"/>
            <a:ext cx="196148" cy="170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nettore 2 1026">
            <a:extLst>
              <a:ext uri="{FF2B5EF4-FFF2-40B4-BE49-F238E27FC236}">
                <a16:creationId xmlns:a16="http://schemas.microsoft.com/office/drawing/2014/main" id="{372E39AC-4CD9-7E5E-1E8F-5790348DD53F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10927557" y="2790607"/>
            <a:ext cx="161136" cy="1835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CasellaDiTesto 1031">
            <a:extLst>
              <a:ext uri="{FF2B5EF4-FFF2-40B4-BE49-F238E27FC236}">
                <a16:creationId xmlns:a16="http://schemas.microsoft.com/office/drawing/2014/main" id="{BF2301C8-2C1E-4E1D-805B-982916A92ED0}"/>
              </a:ext>
            </a:extLst>
          </p:cNvPr>
          <p:cNvSpPr txBox="1"/>
          <p:nvPr/>
        </p:nvSpPr>
        <p:spPr>
          <a:xfrm>
            <a:off x="6018874" y="932060"/>
            <a:ext cx="2737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/>
              <a:t>Skin-On-</a:t>
            </a:r>
            <a:r>
              <a:rPr lang="en-US" b="1" noProof="0" dirty="0">
                <a:solidFill>
                  <a:srgbClr val="000000"/>
                </a:solidFill>
                <a:cs typeface="Arial" panose="020B0604020202020204" pitchFamily="34" charset="0"/>
              </a:rPr>
              <a:t>Chip</a:t>
            </a:r>
          </a:p>
        </p:txBody>
      </p:sp>
      <p:pic>
        <p:nvPicPr>
          <p:cNvPr id="1035" name="Immagine 1034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CF1909DD-88A9-AEA6-BD15-A888CEBCEE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"/>
          <a:stretch>
            <a:fillRect/>
          </a:stretch>
        </p:blipFill>
        <p:spPr>
          <a:xfrm>
            <a:off x="2582838" y="4062061"/>
            <a:ext cx="3442707" cy="2379646"/>
          </a:xfrm>
          <a:prstGeom prst="rect">
            <a:avLst/>
          </a:prstGeom>
        </p:spPr>
      </p:pic>
      <p:sp>
        <p:nvSpPr>
          <p:cNvPr id="1036" name="CasellaDiTesto 1035">
            <a:extLst>
              <a:ext uri="{FF2B5EF4-FFF2-40B4-BE49-F238E27FC236}">
                <a16:creationId xmlns:a16="http://schemas.microsoft.com/office/drawing/2014/main" id="{21F7CC66-1F9D-CDE2-67F5-DB7C82D1649A}"/>
              </a:ext>
            </a:extLst>
          </p:cNvPr>
          <p:cNvSpPr txBox="1"/>
          <p:nvPr/>
        </p:nvSpPr>
        <p:spPr>
          <a:xfrm>
            <a:off x="2433929" y="3862780"/>
            <a:ext cx="37660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000000"/>
                </a:solidFill>
                <a:cs typeface="Arial" panose="020B0604020202020204" pitchFamily="34" charset="0"/>
              </a:rPr>
              <a:t>Experimental proton beam at Trento</a:t>
            </a:r>
            <a:endParaRPr lang="en-US" noProof="0" dirty="0">
              <a:cs typeface="Arial" panose="020B0604020202020204" pitchFamily="34" charset="0"/>
            </a:endParaRPr>
          </a:p>
        </p:txBody>
      </p:sp>
      <p:cxnSp>
        <p:nvCxnSpPr>
          <p:cNvPr id="1037" name="Connettore 2 1036">
            <a:extLst>
              <a:ext uri="{FF2B5EF4-FFF2-40B4-BE49-F238E27FC236}">
                <a16:creationId xmlns:a16="http://schemas.microsoft.com/office/drawing/2014/main" id="{48C5C76F-1E8E-7027-7FB7-BFE9CDEC6114}"/>
              </a:ext>
            </a:extLst>
          </p:cNvPr>
          <p:cNvCxnSpPr>
            <a:cxnSpLocks/>
            <a:stCxn id="1035" idx="3"/>
            <a:endCxn id="1055" idx="1"/>
          </p:cNvCxnSpPr>
          <p:nvPr/>
        </p:nvCxnSpPr>
        <p:spPr>
          <a:xfrm flipV="1">
            <a:off x="6025545" y="4527160"/>
            <a:ext cx="504551" cy="724724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Connettore 2 1048">
            <a:extLst>
              <a:ext uri="{FF2B5EF4-FFF2-40B4-BE49-F238E27FC236}">
                <a16:creationId xmlns:a16="http://schemas.microsoft.com/office/drawing/2014/main" id="{33E42CB3-DD2D-43ED-6B54-4DB0AC340CFD}"/>
              </a:ext>
            </a:extLst>
          </p:cNvPr>
          <p:cNvCxnSpPr>
            <a:cxnSpLocks/>
            <a:stCxn id="1035" idx="3"/>
          </p:cNvCxnSpPr>
          <p:nvPr/>
        </p:nvCxnSpPr>
        <p:spPr>
          <a:xfrm>
            <a:off x="6025545" y="5251884"/>
            <a:ext cx="504551" cy="786006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5" name="CasellaDiTesto 1054">
            <a:extLst>
              <a:ext uri="{FF2B5EF4-FFF2-40B4-BE49-F238E27FC236}">
                <a16:creationId xmlns:a16="http://schemas.microsoft.com/office/drawing/2014/main" id="{F65811A8-F8FE-8C0E-9CE1-53223144D720}"/>
              </a:ext>
            </a:extLst>
          </p:cNvPr>
          <p:cNvSpPr txBox="1"/>
          <p:nvPr/>
        </p:nvSpPr>
        <p:spPr>
          <a:xfrm>
            <a:off x="6530096" y="4357883"/>
            <a:ext cx="21820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noProof="0" dirty="0">
                <a:solidFill>
                  <a:srgbClr val="000000"/>
                </a:solidFill>
                <a:cs typeface="Arial" panose="020B0604020202020204" pitchFamily="34" charset="0"/>
              </a:rPr>
              <a:t>Radiation quality</a:t>
            </a:r>
            <a:endParaRPr lang="en-US" sz="1600" b="1" noProof="0" dirty="0">
              <a:cs typeface="Arial" panose="020B0604020202020204" pitchFamily="34" charset="0"/>
            </a:endParaRPr>
          </a:p>
        </p:txBody>
      </p:sp>
      <p:sp>
        <p:nvSpPr>
          <p:cNvPr id="1057" name="CasellaDiTesto 1056">
            <a:extLst>
              <a:ext uri="{FF2B5EF4-FFF2-40B4-BE49-F238E27FC236}">
                <a16:creationId xmlns:a16="http://schemas.microsoft.com/office/drawing/2014/main" id="{D933DF5B-FCEC-F5C4-BF90-1F9AC8BE445A}"/>
              </a:ext>
            </a:extLst>
          </p:cNvPr>
          <p:cNvSpPr txBox="1"/>
          <p:nvPr/>
        </p:nvSpPr>
        <p:spPr>
          <a:xfrm>
            <a:off x="6530096" y="5356762"/>
            <a:ext cx="2205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noProof="0" dirty="0">
                <a:solidFill>
                  <a:srgbClr val="000000"/>
                </a:solidFill>
                <a:cs typeface="Arial" panose="020B0604020202020204" pitchFamily="34" charset="0"/>
              </a:rPr>
              <a:t>Fractionation scheme</a:t>
            </a:r>
            <a:endParaRPr lang="en-US" sz="1600" b="1" noProof="0" dirty="0">
              <a:cs typeface="Arial" panose="020B0604020202020204" pitchFamily="34" charset="0"/>
            </a:endParaRPr>
          </a:p>
        </p:txBody>
      </p:sp>
      <p:sp>
        <p:nvSpPr>
          <p:cNvPr id="1061" name="CasellaDiTesto 1060">
            <a:extLst>
              <a:ext uri="{FF2B5EF4-FFF2-40B4-BE49-F238E27FC236}">
                <a16:creationId xmlns:a16="http://schemas.microsoft.com/office/drawing/2014/main" id="{8D9DD3F7-455F-419E-706C-A028583F736B}"/>
              </a:ext>
            </a:extLst>
          </p:cNvPr>
          <p:cNvSpPr txBox="1"/>
          <p:nvPr/>
        </p:nvSpPr>
        <p:spPr>
          <a:xfrm>
            <a:off x="6653252" y="5663178"/>
            <a:ext cx="21801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rgbClr val="000000"/>
                </a:solidFill>
                <a:cs typeface="Arial" panose="020B0604020202020204" pitchFamily="34" charset="0"/>
              </a:rPr>
              <a:t>Number of fractions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rgbClr val="000000"/>
                </a:solidFill>
                <a:cs typeface="Arial" panose="020B0604020202020204" pitchFamily="34" charset="0"/>
              </a:rPr>
              <a:t>Dose per fraction</a:t>
            </a:r>
            <a:endParaRPr lang="en-US" sz="1400" noProof="0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rgbClr val="000000"/>
                </a:solidFill>
                <a:cs typeface="Arial" panose="020B0604020202020204" pitchFamily="34" charset="0"/>
              </a:rPr>
              <a:t>Total dose</a:t>
            </a:r>
            <a:endParaRPr lang="en-US" sz="1400" noProof="0" dirty="0">
              <a:cs typeface="Arial" panose="020B0604020202020204" pitchFamily="34" charset="0"/>
            </a:endParaRPr>
          </a:p>
        </p:txBody>
      </p:sp>
      <p:sp>
        <p:nvSpPr>
          <p:cNvPr id="1071" name="Parentesi graffa chiusa 1070">
            <a:extLst>
              <a:ext uri="{FF2B5EF4-FFF2-40B4-BE49-F238E27FC236}">
                <a16:creationId xmlns:a16="http://schemas.microsoft.com/office/drawing/2014/main" id="{A290C299-46C6-C812-1FC6-1D9E6EB6144F}"/>
              </a:ext>
            </a:extLst>
          </p:cNvPr>
          <p:cNvSpPr/>
          <p:nvPr/>
        </p:nvSpPr>
        <p:spPr>
          <a:xfrm rot="10800000">
            <a:off x="8833406" y="3862778"/>
            <a:ext cx="292068" cy="2573796"/>
          </a:xfrm>
          <a:prstGeom prst="rightBrac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7" name="CasellaDiTesto 2056">
            <a:extLst>
              <a:ext uri="{FF2B5EF4-FFF2-40B4-BE49-F238E27FC236}">
                <a16:creationId xmlns:a16="http://schemas.microsoft.com/office/drawing/2014/main" id="{1D8264D4-E914-65D9-81C3-EC298CB78CA0}"/>
              </a:ext>
            </a:extLst>
          </p:cNvPr>
          <p:cNvSpPr txBox="1"/>
          <p:nvPr/>
        </p:nvSpPr>
        <p:spPr>
          <a:xfrm>
            <a:off x="9135193" y="4590164"/>
            <a:ext cx="22361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0000"/>
                </a:solidFill>
              </a:rPr>
              <a:t>DNA damage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0000"/>
                </a:solidFill>
              </a:rPr>
              <a:t>Surviving fraction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0000"/>
                </a:solidFill>
              </a:rPr>
              <a:t>Histological analyses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0000"/>
                </a:solidFill>
              </a:rPr>
              <a:t>Oxidative stress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noProof="0" dirty="0">
                <a:solidFill>
                  <a:srgbClr val="000000"/>
                </a:solidFill>
              </a:rPr>
              <a:t>Cytokines release</a:t>
            </a:r>
            <a:endParaRPr lang="en-US" sz="1600" noProof="0" dirty="0"/>
          </a:p>
        </p:txBody>
      </p:sp>
      <p:sp>
        <p:nvSpPr>
          <p:cNvPr id="2058" name="CasellaDiTesto 2057">
            <a:extLst>
              <a:ext uri="{FF2B5EF4-FFF2-40B4-BE49-F238E27FC236}">
                <a16:creationId xmlns:a16="http://schemas.microsoft.com/office/drawing/2014/main" id="{584EEAE0-17D4-3793-682A-58BA15972298}"/>
              </a:ext>
            </a:extLst>
          </p:cNvPr>
          <p:cNvSpPr txBox="1"/>
          <p:nvPr/>
        </p:nvSpPr>
        <p:spPr>
          <a:xfrm>
            <a:off x="6564575" y="3869083"/>
            <a:ext cx="2113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000000"/>
                </a:solidFill>
                <a:cs typeface="Arial" panose="020B0604020202020204" pitchFamily="34" charset="0"/>
              </a:rPr>
              <a:t>Physical properties</a:t>
            </a:r>
            <a:endParaRPr lang="en-US" noProof="0" dirty="0">
              <a:cs typeface="Arial" panose="020B0604020202020204" pitchFamily="34" charset="0"/>
            </a:endParaRPr>
          </a:p>
        </p:txBody>
      </p:sp>
      <p:sp>
        <p:nvSpPr>
          <p:cNvPr id="2059" name="CasellaDiTesto 2058">
            <a:extLst>
              <a:ext uri="{FF2B5EF4-FFF2-40B4-BE49-F238E27FC236}">
                <a16:creationId xmlns:a16="http://schemas.microsoft.com/office/drawing/2014/main" id="{6405BD9E-5409-7510-A546-808199DE0C5E}"/>
              </a:ext>
            </a:extLst>
          </p:cNvPr>
          <p:cNvSpPr txBox="1"/>
          <p:nvPr/>
        </p:nvSpPr>
        <p:spPr>
          <a:xfrm>
            <a:off x="9004951" y="3862780"/>
            <a:ext cx="2274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solidFill>
                  <a:srgbClr val="000000"/>
                </a:solidFill>
                <a:cs typeface="Arial" panose="020B0604020202020204" pitchFamily="34" charset="0"/>
              </a:rPr>
              <a:t>Chemical and biological analyses</a:t>
            </a:r>
            <a:endParaRPr lang="en-US" noProof="0" dirty="0">
              <a:cs typeface="Arial" panose="020B0604020202020204" pitchFamily="34" charset="0"/>
            </a:endParaRPr>
          </a:p>
        </p:txBody>
      </p:sp>
      <p:sp>
        <p:nvSpPr>
          <p:cNvPr id="2060" name="Ovale 2059">
            <a:extLst>
              <a:ext uri="{FF2B5EF4-FFF2-40B4-BE49-F238E27FC236}">
                <a16:creationId xmlns:a16="http://schemas.microsoft.com/office/drawing/2014/main" id="{2E6F208F-D1A6-98F5-8462-4304FD1C5E34}"/>
              </a:ext>
            </a:extLst>
          </p:cNvPr>
          <p:cNvSpPr/>
          <p:nvPr/>
        </p:nvSpPr>
        <p:spPr>
          <a:xfrm>
            <a:off x="2962518" y="5164574"/>
            <a:ext cx="235762" cy="205876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62" name="Ovale 2061">
            <a:extLst>
              <a:ext uri="{FF2B5EF4-FFF2-40B4-BE49-F238E27FC236}">
                <a16:creationId xmlns:a16="http://schemas.microsoft.com/office/drawing/2014/main" id="{B1865A1B-1700-23A9-33F3-7B6644AD41F5}"/>
              </a:ext>
            </a:extLst>
          </p:cNvPr>
          <p:cNvSpPr/>
          <p:nvPr/>
        </p:nvSpPr>
        <p:spPr>
          <a:xfrm>
            <a:off x="4829418" y="4459724"/>
            <a:ext cx="235762" cy="205876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63" name="CasellaDiTesto 2062">
            <a:extLst>
              <a:ext uri="{FF2B5EF4-FFF2-40B4-BE49-F238E27FC236}">
                <a16:creationId xmlns:a16="http://schemas.microsoft.com/office/drawing/2014/main" id="{5579569E-EDC4-EC24-8860-F1330C255CF3}"/>
              </a:ext>
            </a:extLst>
          </p:cNvPr>
          <p:cNvSpPr txBox="1"/>
          <p:nvPr/>
        </p:nvSpPr>
        <p:spPr>
          <a:xfrm>
            <a:off x="5752127" y="3392001"/>
            <a:ext cx="26526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Culture medium (controlled flow)</a:t>
            </a:r>
          </a:p>
        </p:txBody>
      </p:sp>
      <p:cxnSp>
        <p:nvCxnSpPr>
          <p:cNvPr id="2064" name="Connettore 2 2063">
            <a:extLst>
              <a:ext uri="{FF2B5EF4-FFF2-40B4-BE49-F238E27FC236}">
                <a16:creationId xmlns:a16="http://schemas.microsoft.com/office/drawing/2014/main" id="{1535E19B-E577-0BDB-B743-648E131F3A1F}"/>
              </a:ext>
            </a:extLst>
          </p:cNvPr>
          <p:cNvCxnSpPr>
            <a:cxnSpLocks/>
            <a:stCxn id="2063" idx="0"/>
          </p:cNvCxnSpPr>
          <p:nvPr/>
        </p:nvCxnSpPr>
        <p:spPr>
          <a:xfrm flipH="1" flipV="1">
            <a:off x="6936035" y="3224390"/>
            <a:ext cx="142418" cy="1676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3" name="Rettangolo 2072">
            <a:extLst>
              <a:ext uri="{FF2B5EF4-FFF2-40B4-BE49-F238E27FC236}">
                <a16:creationId xmlns:a16="http://schemas.microsoft.com/office/drawing/2014/main" id="{8E7C9E7B-6420-6FEE-429E-047FFBF628CC}"/>
              </a:ext>
            </a:extLst>
          </p:cNvPr>
          <p:cNvSpPr/>
          <p:nvPr/>
        </p:nvSpPr>
        <p:spPr>
          <a:xfrm>
            <a:off x="2337621" y="6361782"/>
            <a:ext cx="30905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F. Tommasino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et al., Phys. Medica (2019)</a:t>
            </a:r>
          </a:p>
        </p:txBody>
      </p:sp>
      <p:sp>
        <p:nvSpPr>
          <p:cNvPr id="2075" name="CasellaDiTesto 2074">
            <a:extLst>
              <a:ext uri="{FF2B5EF4-FFF2-40B4-BE49-F238E27FC236}">
                <a16:creationId xmlns:a16="http://schemas.microsoft.com/office/drawing/2014/main" id="{3EE5C83A-FA16-3250-8CEE-97100AF0F0D7}"/>
              </a:ext>
            </a:extLst>
          </p:cNvPr>
          <p:cNvSpPr txBox="1"/>
          <p:nvPr/>
        </p:nvSpPr>
        <p:spPr>
          <a:xfrm>
            <a:off x="9343606" y="5981493"/>
            <a:ext cx="1594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P. Simoniello et al., Front. Oncol. (2016)</a:t>
            </a:r>
          </a:p>
        </p:txBody>
      </p:sp>
      <p:sp>
        <p:nvSpPr>
          <p:cNvPr id="2076" name="CasellaDiTesto 2075">
            <a:extLst>
              <a:ext uri="{FF2B5EF4-FFF2-40B4-BE49-F238E27FC236}">
                <a16:creationId xmlns:a16="http://schemas.microsoft.com/office/drawing/2014/main" id="{B0DFE908-5DF8-56BE-9DD6-BC705C4D24A8}"/>
              </a:ext>
            </a:extLst>
          </p:cNvPr>
          <p:cNvSpPr txBox="1"/>
          <p:nvPr/>
        </p:nvSpPr>
        <p:spPr>
          <a:xfrm>
            <a:off x="4252945" y="3017932"/>
            <a:ext cx="14090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Independent chambers</a:t>
            </a:r>
          </a:p>
        </p:txBody>
      </p:sp>
      <p:sp>
        <p:nvSpPr>
          <p:cNvPr id="2078" name="CasellaDiTesto 2077">
            <a:extLst>
              <a:ext uri="{FF2B5EF4-FFF2-40B4-BE49-F238E27FC236}">
                <a16:creationId xmlns:a16="http://schemas.microsoft.com/office/drawing/2014/main" id="{B0FFF77E-B786-CAA8-BAD6-C2DA1829677C}"/>
              </a:ext>
            </a:extLst>
          </p:cNvPr>
          <p:cNvSpPr txBox="1"/>
          <p:nvPr/>
        </p:nvSpPr>
        <p:spPr>
          <a:xfrm>
            <a:off x="2414281" y="3183659"/>
            <a:ext cx="20115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Physiological conditions</a:t>
            </a:r>
          </a:p>
          <a:p>
            <a:pPr algn="ctr"/>
            <a:r>
              <a:rPr lang="en-US" sz="1400" b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(dynamic environment)</a:t>
            </a:r>
          </a:p>
        </p:txBody>
      </p:sp>
      <p:cxnSp>
        <p:nvCxnSpPr>
          <p:cNvPr id="2079" name="Connettore 2 2078">
            <a:extLst>
              <a:ext uri="{FF2B5EF4-FFF2-40B4-BE49-F238E27FC236}">
                <a16:creationId xmlns:a16="http://schemas.microsoft.com/office/drawing/2014/main" id="{80CFE5A4-DE9B-69A8-164B-A4822051388E}"/>
              </a:ext>
            </a:extLst>
          </p:cNvPr>
          <p:cNvCxnSpPr>
            <a:cxnSpLocks/>
            <a:stCxn id="2078" idx="0"/>
          </p:cNvCxnSpPr>
          <p:nvPr/>
        </p:nvCxnSpPr>
        <p:spPr>
          <a:xfrm flipH="1" flipV="1">
            <a:off x="3322723" y="2149355"/>
            <a:ext cx="97319" cy="10343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3" name="Connettore 2 2082">
            <a:extLst>
              <a:ext uri="{FF2B5EF4-FFF2-40B4-BE49-F238E27FC236}">
                <a16:creationId xmlns:a16="http://schemas.microsoft.com/office/drawing/2014/main" id="{1C18B842-ED16-6DDC-781E-C388361B9227}"/>
              </a:ext>
            </a:extLst>
          </p:cNvPr>
          <p:cNvCxnSpPr>
            <a:cxnSpLocks/>
            <a:stCxn id="2076" idx="0"/>
          </p:cNvCxnSpPr>
          <p:nvPr/>
        </p:nvCxnSpPr>
        <p:spPr>
          <a:xfrm flipH="1" flipV="1">
            <a:off x="4861784" y="2396178"/>
            <a:ext cx="95698" cy="6217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8" name="CasellaDiTesto 2087">
            <a:extLst>
              <a:ext uri="{FF2B5EF4-FFF2-40B4-BE49-F238E27FC236}">
                <a16:creationId xmlns:a16="http://schemas.microsoft.com/office/drawing/2014/main" id="{D8B1AF25-2012-F06D-B041-BC056FA16C3A}"/>
              </a:ext>
            </a:extLst>
          </p:cNvPr>
          <p:cNvSpPr txBox="1"/>
          <p:nvPr/>
        </p:nvSpPr>
        <p:spPr>
          <a:xfrm>
            <a:off x="7700241" y="2268371"/>
            <a:ext cx="14090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Skin tissue</a:t>
            </a:r>
          </a:p>
        </p:txBody>
      </p:sp>
      <p:cxnSp>
        <p:nvCxnSpPr>
          <p:cNvPr id="2089" name="Connettore 2 2088">
            <a:extLst>
              <a:ext uri="{FF2B5EF4-FFF2-40B4-BE49-F238E27FC236}">
                <a16:creationId xmlns:a16="http://schemas.microsoft.com/office/drawing/2014/main" id="{BCE83992-A6AF-863C-DAC5-D3A49EDD21E4}"/>
              </a:ext>
            </a:extLst>
          </p:cNvPr>
          <p:cNvCxnSpPr>
            <a:cxnSpLocks/>
            <a:stCxn id="2088" idx="2"/>
          </p:cNvCxnSpPr>
          <p:nvPr/>
        </p:nvCxnSpPr>
        <p:spPr>
          <a:xfrm flipH="1">
            <a:off x="7898931" y="2576148"/>
            <a:ext cx="505847" cy="2109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3" name="Elemento grafico 2092" descr="Fulmine con riempimento a tinta unita">
            <a:extLst>
              <a:ext uri="{FF2B5EF4-FFF2-40B4-BE49-F238E27FC236}">
                <a16:creationId xmlns:a16="http://schemas.microsoft.com/office/drawing/2014/main" id="{9F68770F-9D75-AA29-AA13-079A4E3FC9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55118" y="1835088"/>
            <a:ext cx="638332" cy="638332"/>
          </a:xfrm>
          <a:prstGeom prst="rect">
            <a:avLst/>
          </a:prstGeom>
        </p:spPr>
      </p:pic>
      <p:pic>
        <p:nvPicPr>
          <p:cNvPr id="2096" name="Elemento grafico 2095" descr="Fulmine con riempimento a tinta unita">
            <a:extLst>
              <a:ext uri="{FF2B5EF4-FFF2-40B4-BE49-F238E27FC236}">
                <a16:creationId xmlns:a16="http://schemas.microsoft.com/office/drawing/2014/main" id="{D9887E7D-34F8-351F-37F8-7397A3BB3B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85911" y="1954382"/>
            <a:ext cx="638332" cy="638332"/>
          </a:xfrm>
          <a:prstGeom prst="rect">
            <a:avLst/>
          </a:prstGeom>
        </p:spPr>
      </p:pic>
      <p:pic>
        <p:nvPicPr>
          <p:cNvPr id="2097" name="Elemento grafico 2096" descr="Fulmine con riempimento a tinta unita">
            <a:extLst>
              <a:ext uri="{FF2B5EF4-FFF2-40B4-BE49-F238E27FC236}">
                <a16:creationId xmlns:a16="http://schemas.microsoft.com/office/drawing/2014/main" id="{BCF9AF09-8DD9-EAC0-D525-47A258361A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87531" y="1838273"/>
            <a:ext cx="638332" cy="638332"/>
          </a:xfrm>
          <a:prstGeom prst="rect">
            <a:avLst/>
          </a:prstGeom>
        </p:spPr>
      </p:pic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C4972BC4-AA87-96EE-C419-6FCCB938749E}"/>
              </a:ext>
            </a:extLst>
          </p:cNvPr>
          <p:cNvCxnSpPr>
            <a:cxnSpLocks/>
          </p:cNvCxnSpPr>
          <p:nvPr/>
        </p:nvCxnSpPr>
        <p:spPr>
          <a:xfrm flipV="1">
            <a:off x="6700438" y="1671987"/>
            <a:ext cx="2385622" cy="78258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ttangolo 44">
            <a:extLst>
              <a:ext uri="{FF2B5EF4-FFF2-40B4-BE49-F238E27FC236}">
                <a16:creationId xmlns:a16="http://schemas.microsoft.com/office/drawing/2014/main" id="{7B6A41DC-5C18-BAC1-8855-C5D8AFF1015D}"/>
              </a:ext>
            </a:extLst>
          </p:cNvPr>
          <p:cNvSpPr/>
          <p:nvPr/>
        </p:nvSpPr>
        <p:spPr>
          <a:xfrm>
            <a:off x="6700438" y="2454567"/>
            <a:ext cx="1166949" cy="6720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F5A1A5A-3352-3FEB-5FDD-D8DBC9DD1153}"/>
              </a:ext>
            </a:extLst>
          </p:cNvPr>
          <p:cNvSpPr txBox="1"/>
          <p:nvPr/>
        </p:nvSpPr>
        <p:spPr>
          <a:xfrm>
            <a:off x="1760230" y="1726898"/>
            <a:ext cx="7455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ARES</a:t>
            </a:r>
          </a:p>
        </p:txBody>
      </p:sp>
      <p:pic>
        <p:nvPicPr>
          <p:cNvPr id="4" name="Elemento grafico 3" descr="Tiro a segno contorno">
            <a:extLst>
              <a:ext uri="{FF2B5EF4-FFF2-40B4-BE49-F238E27FC236}">
                <a16:creationId xmlns:a16="http://schemas.microsoft.com/office/drawing/2014/main" id="{9B505AEB-D570-B4AF-5B3D-EE89E6FAC6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27923" y="4844512"/>
            <a:ext cx="605412" cy="60541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43B0B3A-096E-1E46-1C3A-A04B731291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019" y="1378312"/>
            <a:ext cx="720919" cy="400110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B1E2D17D-9D3D-D90D-1DB0-3CC12352D66B}"/>
              </a:ext>
            </a:extLst>
          </p:cNvPr>
          <p:cNvSpPr txBox="1"/>
          <p:nvPr/>
        </p:nvSpPr>
        <p:spPr>
          <a:xfrm>
            <a:off x="3436600" y="1326693"/>
            <a:ext cx="13928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Pumping system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E157371D-E53E-56E5-C290-5182A5EF973B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3712919" y="1634470"/>
            <a:ext cx="420090" cy="2006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magine 47">
            <a:extLst>
              <a:ext uri="{FF2B5EF4-FFF2-40B4-BE49-F238E27FC236}">
                <a16:creationId xmlns:a16="http://schemas.microsoft.com/office/drawing/2014/main" id="{16EB01F8-1BC6-48D9-6561-865A7A0CDDB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09170" y="847337"/>
            <a:ext cx="1119329" cy="47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7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20" grpId="0" animBg="1"/>
      <p:bldP spid="24" grpId="0" animBg="1"/>
      <p:bldP spid="58" grpId="0"/>
      <p:bldP spid="59" grpId="0"/>
      <p:bldP spid="1032" grpId="0"/>
      <p:bldP spid="1036" grpId="0"/>
      <p:bldP spid="1055" grpId="0"/>
      <p:bldP spid="1057" grpId="0"/>
      <p:bldP spid="1061" grpId="0"/>
      <p:bldP spid="1071" grpId="0" animBg="1"/>
      <p:bldP spid="2057" grpId="0"/>
      <p:bldP spid="2058" grpId="0"/>
      <p:bldP spid="2059" grpId="0"/>
      <p:bldP spid="2060" grpId="0" animBg="1"/>
      <p:bldP spid="2062" grpId="0" animBg="1"/>
      <p:bldP spid="2063" grpId="0"/>
      <p:bldP spid="2073" grpId="0"/>
      <p:bldP spid="2075" grpId="0"/>
      <p:bldP spid="2088" grpId="0"/>
      <p:bldP spid="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C8923-13B7-5B02-CD46-BDEE9545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magine 84" descr="Immagine che contiene testo, diagramma, schermata, cerchio&#10;&#10;Il contenuto generato dall'IA potrebbe non essere corretto.">
            <a:extLst>
              <a:ext uri="{FF2B5EF4-FFF2-40B4-BE49-F238E27FC236}">
                <a16:creationId xmlns:a16="http://schemas.microsoft.com/office/drawing/2014/main" id="{B5583EA2-DF6E-AAEE-A604-3C9BD01C7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46" b="43034"/>
          <a:stretch>
            <a:fillRect/>
          </a:stretch>
        </p:blipFill>
        <p:spPr>
          <a:xfrm>
            <a:off x="8884508" y="848364"/>
            <a:ext cx="3242372" cy="3222244"/>
          </a:xfrm>
          <a:prstGeom prst="rect">
            <a:avLst/>
          </a:prstGeom>
        </p:spPr>
      </p:pic>
      <p:sp>
        <p:nvSpPr>
          <p:cNvPr id="15" name="Titolo 1">
            <a:extLst>
              <a:ext uri="{FF2B5EF4-FFF2-40B4-BE49-F238E27FC236}">
                <a16:creationId xmlns:a16="http://schemas.microsoft.com/office/drawing/2014/main" id="{7A404795-3639-4BD9-88F8-ABC26ED66CC5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 specific mechanistic-driven NTCP model for skin toxicity</a:t>
            </a:r>
          </a:p>
        </p:txBody>
      </p:sp>
      <p:sp>
        <p:nvSpPr>
          <p:cNvPr id="5" name="Segnaposto data 1">
            <a:extLst>
              <a:ext uri="{FF2B5EF4-FFF2-40B4-BE49-F238E27FC236}">
                <a16:creationId xmlns:a16="http://schemas.microsoft.com/office/drawing/2014/main" id="{DD75AD0F-08BE-A42F-CDE1-AF385A73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3D267A06-616A-4CED-1601-24C0B4E57466}"/>
              </a:ext>
            </a:extLst>
          </p:cNvPr>
          <p:cNvGrpSpPr/>
          <p:nvPr/>
        </p:nvGrpSpPr>
        <p:grpSpPr>
          <a:xfrm>
            <a:off x="131368" y="1564421"/>
            <a:ext cx="1539844" cy="3729158"/>
            <a:chOff x="135586" y="1856553"/>
            <a:chExt cx="1539844" cy="3729158"/>
          </a:xfrm>
        </p:grpSpPr>
        <p:grpSp>
          <p:nvGrpSpPr>
            <p:cNvPr id="22" name="Gruppo 21">
              <a:extLst>
                <a:ext uri="{FF2B5EF4-FFF2-40B4-BE49-F238E27FC236}">
                  <a16:creationId xmlns:a16="http://schemas.microsoft.com/office/drawing/2014/main" id="{B5F3009C-C592-BC06-C4A6-8C5AC1FACBCB}"/>
                </a:ext>
              </a:extLst>
            </p:cNvPr>
            <p:cNvGrpSpPr/>
            <p:nvPr/>
          </p:nvGrpSpPr>
          <p:grpSpPr>
            <a:xfrm>
              <a:off x="135586" y="1856553"/>
              <a:ext cx="1535626" cy="1022218"/>
              <a:chOff x="634124" y="734039"/>
              <a:chExt cx="1535626" cy="1022218"/>
            </a:xfrm>
          </p:grpSpPr>
          <p:sp>
            <p:nvSpPr>
              <p:cNvPr id="39" name="Figura a mano libera: forma 38">
                <a:extLst>
                  <a:ext uri="{FF2B5EF4-FFF2-40B4-BE49-F238E27FC236}">
                    <a16:creationId xmlns:a16="http://schemas.microsoft.com/office/drawing/2014/main" id="{8AFFC1F5-7A03-BEAD-FE41-41858E52F72F}"/>
                  </a:ext>
                </a:extLst>
              </p:cNvPr>
              <p:cNvSpPr/>
              <p:nvPr/>
            </p:nvSpPr>
            <p:spPr>
              <a:xfrm>
                <a:off x="634124" y="734039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kern="1200" noProof="0" dirty="0"/>
                  <a:t>Irradiation of 3D skin tissue</a:t>
                </a:r>
              </a:p>
            </p:txBody>
          </p:sp>
          <p:sp>
            <p:nvSpPr>
              <p:cNvPr id="40" name="Figura a mano libera: forma 39">
                <a:extLst>
                  <a:ext uri="{FF2B5EF4-FFF2-40B4-BE49-F238E27FC236}">
                    <a16:creationId xmlns:a16="http://schemas.microsoft.com/office/drawing/2014/main" id="{13FC4FAB-2E75-03E9-ECF9-665A81A18C82}"/>
                  </a:ext>
                </a:extLst>
              </p:cNvPr>
              <p:cNvSpPr/>
              <p:nvPr/>
            </p:nvSpPr>
            <p:spPr>
              <a:xfrm>
                <a:off x="941249" y="1267723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  <a:solidFill>
                <a:srgbClr val="70AD4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WP2.1</a:t>
                </a:r>
              </a:p>
            </p:txBody>
          </p:sp>
        </p:grpSp>
        <p:grpSp>
          <p:nvGrpSpPr>
            <p:cNvPr id="23" name="Gruppo 22">
              <a:extLst>
                <a:ext uri="{FF2B5EF4-FFF2-40B4-BE49-F238E27FC236}">
                  <a16:creationId xmlns:a16="http://schemas.microsoft.com/office/drawing/2014/main" id="{0D7FEF70-D434-25E5-1199-72BCD6177D7F}"/>
                </a:ext>
              </a:extLst>
            </p:cNvPr>
            <p:cNvGrpSpPr/>
            <p:nvPr/>
          </p:nvGrpSpPr>
          <p:grpSpPr>
            <a:xfrm>
              <a:off x="139804" y="3210023"/>
              <a:ext cx="1535626" cy="1022219"/>
              <a:chOff x="634124" y="2426465"/>
              <a:chExt cx="1535626" cy="1022219"/>
            </a:xfrm>
          </p:grpSpPr>
          <p:sp>
            <p:nvSpPr>
              <p:cNvPr id="37" name="Figura a mano libera: forma 36">
                <a:extLst>
                  <a:ext uri="{FF2B5EF4-FFF2-40B4-BE49-F238E27FC236}">
                    <a16:creationId xmlns:a16="http://schemas.microsoft.com/office/drawing/2014/main" id="{77A30662-D3D1-D12E-5D06-C5BDF6404FA9}"/>
                  </a:ext>
                </a:extLst>
              </p:cNvPr>
              <p:cNvSpPr/>
              <p:nvPr/>
            </p:nvSpPr>
            <p:spPr>
              <a:xfrm>
                <a:off x="634124" y="2426465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Skin model development</a:t>
                </a:r>
              </a:p>
            </p:txBody>
          </p:sp>
          <p:sp>
            <p:nvSpPr>
              <p:cNvPr id="38" name="Figura a mano libera: forma 37">
                <a:extLst>
                  <a:ext uri="{FF2B5EF4-FFF2-40B4-BE49-F238E27FC236}">
                    <a16:creationId xmlns:a16="http://schemas.microsoft.com/office/drawing/2014/main" id="{80FEDC21-77B1-098F-85DE-102AE8A5E77E}"/>
                  </a:ext>
                </a:extLst>
              </p:cNvPr>
              <p:cNvSpPr/>
              <p:nvPr/>
            </p:nvSpPr>
            <p:spPr>
              <a:xfrm>
                <a:off x="941249" y="2960150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  <a:solidFill>
                <a:srgbClr val="70AD4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WP2.2</a:t>
                </a:r>
              </a:p>
            </p:txBody>
          </p:sp>
        </p:grpSp>
        <p:grpSp>
          <p:nvGrpSpPr>
            <p:cNvPr id="31" name="Gruppo 30">
              <a:extLst>
                <a:ext uri="{FF2B5EF4-FFF2-40B4-BE49-F238E27FC236}">
                  <a16:creationId xmlns:a16="http://schemas.microsoft.com/office/drawing/2014/main" id="{853ED4AD-1877-969F-0C5A-0A8B0087CB65}"/>
                </a:ext>
              </a:extLst>
            </p:cNvPr>
            <p:cNvGrpSpPr/>
            <p:nvPr/>
          </p:nvGrpSpPr>
          <p:grpSpPr>
            <a:xfrm>
              <a:off x="135586" y="4563492"/>
              <a:ext cx="1535626" cy="1022219"/>
              <a:chOff x="634124" y="3980710"/>
              <a:chExt cx="1535626" cy="1022219"/>
            </a:xfrm>
          </p:grpSpPr>
          <p:sp>
            <p:nvSpPr>
              <p:cNvPr id="35" name="Figura a mano libera: forma 34">
                <a:extLst>
                  <a:ext uri="{FF2B5EF4-FFF2-40B4-BE49-F238E27FC236}">
                    <a16:creationId xmlns:a16="http://schemas.microsoft.com/office/drawing/2014/main" id="{937C987F-0434-0997-E648-5CE30058E4DE}"/>
                  </a:ext>
                </a:extLst>
              </p:cNvPr>
              <p:cNvSpPr/>
              <p:nvPr/>
            </p:nvSpPr>
            <p:spPr>
              <a:xfrm>
                <a:off x="634124" y="3980710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Skin model calibration</a:t>
                </a:r>
              </a:p>
            </p:txBody>
          </p:sp>
          <p:sp>
            <p:nvSpPr>
              <p:cNvPr id="36" name="Figura a mano libera: forma 35">
                <a:extLst>
                  <a:ext uri="{FF2B5EF4-FFF2-40B4-BE49-F238E27FC236}">
                    <a16:creationId xmlns:a16="http://schemas.microsoft.com/office/drawing/2014/main" id="{975F2D63-1CF0-9B15-CA68-AC8D97B0F891}"/>
                  </a:ext>
                </a:extLst>
              </p:cNvPr>
              <p:cNvSpPr/>
              <p:nvPr/>
            </p:nvSpPr>
            <p:spPr>
              <a:xfrm>
                <a:off x="941249" y="4514395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  <a:solidFill>
                <a:srgbClr val="70AD4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WP2.3</a:t>
                </a:r>
              </a:p>
            </p:txBody>
          </p:sp>
        </p:grpSp>
        <p:sp>
          <p:nvSpPr>
            <p:cNvPr id="32" name="Freccia in giù 31">
              <a:extLst>
                <a:ext uri="{FF2B5EF4-FFF2-40B4-BE49-F238E27FC236}">
                  <a16:creationId xmlns:a16="http://schemas.microsoft.com/office/drawing/2014/main" id="{83CCE67F-B985-023A-ED76-84F6EE33ADEE}"/>
                </a:ext>
              </a:extLst>
            </p:cNvPr>
            <p:cNvSpPr/>
            <p:nvPr/>
          </p:nvSpPr>
          <p:spPr>
            <a:xfrm>
              <a:off x="725632" y="2923921"/>
              <a:ext cx="201969" cy="244268"/>
            </a:xfrm>
            <a:prstGeom prst="downArrow">
              <a:avLst/>
            </a:prstGeom>
            <a:solidFill>
              <a:srgbClr val="BBD3B1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  <p:sp>
          <p:nvSpPr>
            <p:cNvPr id="33" name="Freccia in giù 32">
              <a:extLst>
                <a:ext uri="{FF2B5EF4-FFF2-40B4-BE49-F238E27FC236}">
                  <a16:creationId xmlns:a16="http://schemas.microsoft.com/office/drawing/2014/main" id="{0F04AD6E-C920-05E6-0ABE-D3885ED6C343}"/>
                </a:ext>
              </a:extLst>
            </p:cNvPr>
            <p:cNvSpPr/>
            <p:nvPr/>
          </p:nvSpPr>
          <p:spPr>
            <a:xfrm>
              <a:off x="725632" y="4275733"/>
              <a:ext cx="201969" cy="244268"/>
            </a:xfrm>
            <a:prstGeom prst="downArrow">
              <a:avLst/>
            </a:prstGeom>
            <a:solidFill>
              <a:srgbClr val="BBD3B1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</p:grpSp>
      <p:sp>
        <p:nvSpPr>
          <p:cNvPr id="4" name="Rettangolo 3">
            <a:extLst>
              <a:ext uri="{FF2B5EF4-FFF2-40B4-BE49-F238E27FC236}">
                <a16:creationId xmlns:a16="http://schemas.microsoft.com/office/drawing/2014/main" id="{4E6B7607-2F61-308C-9D0C-F9B9D184D509}"/>
              </a:ext>
            </a:extLst>
          </p:cNvPr>
          <p:cNvSpPr/>
          <p:nvPr/>
        </p:nvSpPr>
        <p:spPr>
          <a:xfrm>
            <a:off x="102990" y="1500189"/>
            <a:ext cx="1568222" cy="137421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5F0346A-0546-B068-41E6-44EA9F4F820C}"/>
              </a:ext>
            </a:extLst>
          </p:cNvPr>
          <p:cNvSpPr/>
          <p:nvPr/>
        </p:nvSpPr>
        <p:spPr>
          <a:xfrm>
            <a:off x="102990" y="3956818"/>
            <a:ext cx="1568222" cy="1380711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6" name="Immagine 15" descr="Immagine che contiene testo, diagramma, schermata, cerchio&#10;&#10;Il contenuto generato dall'IA potrebbe non essere corretto.">
            <a:extLst>
              <a:ext uri="{FF2B5EF4-FFF2-40B4-BE49-F238E27FC236}">
                <a16:creationId xmlns:a16="http://schemas.microsoft.com/office/drawing/2014/main" id="{3FCD4BE3-C5DB-F38C-0914-D53271FFB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66" y="853224"/>
            <a:ext cx="10147114" cy="5656381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1390EB1-A556-7381-4ECE-A9918A7DC65B}"/>
              </a:ext>
            </a:extLst>
          </p:cNvPr>
          <p:cNvSpPr txBox="1"/>
          <p:nvPr/>
        </p:nvSpPr>
        <p:spPr>
          <a:xfrm>
            <a:off x="4392601" y="821667"/>
            <a:ext cx="24712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Energy deposition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E9DF653-F31A-2916-5C57-34EB717E36F5}"/>
              </a:ext>
            </a:extLst>
          </p:cNvPr>
          <p:cNvSpPr txBox="1"/>
          <p:nvPr/>
        </p:nvSpPr>
        <p:spPr>
          <a:xfrm>
            <a:off x="9088986" y="5982303"/>
            <a:ext cx="3097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(iv) Single-cell response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B77000D-033B-D242-0BBC-4E7A48C103F9}"/>
              </a:ext>
            </a:extLst>
          </p:cNvPr>
          <p:cNvSpPr txBox="1"/>
          <p:nvPr/>
        </p:nvSpPr>
        <p:spPr>
          <a:xfrm>
            <a:off x="6353664" y="2684411"/>
            <a:ext cx="2878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(iii) DNA damage formation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7A17A68-9514-2F79-EC1C-09837BF7ADAB}"/>
              </a:ext>
            </a:extLst>
          </p:cNvPr>
          <p:cNvSpPr txBox="1"/>
          <p:nvPr/>
        </p:nvSpPr>
        <p:spPr>
          <a:xfrm>
            <a:off x="9748207" y="3976289"/>
            <a:ext cx="2340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(v) Skin response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B606864B-6317-3F0B-B0B3-CCDB068C1B7A}"/>
              </a:ext>
            </a:extLst>
          </p:cNvPr>
          <p:cNvCxnSpPr/>
          <p:nvPr/>
        </p:nvCxnSpPr>
        <p:spPr>
          <a:xfrm>
            <a:off x="9305146" y="5323595"/>
            <a:ext cx="4430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5EC1E740-F5D9-FDE5-226B-B4849CE83636}"/>
              </a:ext>
            </a:extLst>
          </p:cNvPr>
          <p:cNvSpPr txBox="1"/>
          <p:nvPr/>
        </p:nvSpPr>
        <p:spPr>
          <a:xfrm>
            <a:off x="9683133" y="5001294"/>
            <a:ext cx="954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Cell survival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tangolo 24">
                <a:extLst>
                  <a:ext uri="{FF2B5EF4-FFF2-40B4-BE49-F238E27FC236}">
                    <a16:creationId xmlns:a16="http://schemas.microsoft.com/office/drawing/2014/main" id="{D342F5C2-7AB9-F407-2634-848843023601}"/>
                  </a:ext>
                </a:extLst>
              </p:cNvPr>
              <p:cNvSpPr/>
              <p:nvPr/>
            </p:nvSpPr>
            <p:spPr>
              <a:xfrm>
                <a:off x="7505055" y="4534586"/>
                <a:ext cx="33695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2"/>
                        </m:rPr>
                        <a:rPr kumimoji="0" lang="en-US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𝒓</m:t>
                      </m:r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Rettangolo 24">
                <a:extLst>
                  <a:ext uri="{FF2B5EF4-FFF2-40B4-BE49-F238E27FC236}">
                    <a16:creationId xmlns:a16="http://schemas.microsoft.com/office/drawing/2014/main" id="{D342F5C2-7AB9-F407-2634-8488430236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055" y="4534586"/>
                <a:ext cx="336951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ttangolo 25">
                <a:extLst>
                  <a:ext uri="{FF2B5EF4-FFF2-40B4-BE49-F238E27FC236}">
                    <a16:creationId xmlns:a16="http://schemas.microsoft.com/office/drawing/2014/main" id="{B2913F46-1711-2439-6F65-4F2C5C069452}"/>
                  </a:ext>
                </a:extLst>
              </p:cNvPr>
              <p:cNvSpPr/>
              <p:nvPr/>
            </p:nvSpPr>
            <p:spPr>
              <a:xfrm>
                <a:off x="7496238" y="5359269"/>
                <a:ext cx="35939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2"/>
                        </m:rPr>
                        <a:rPr kumimoji="0" lang="en-US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𝒂</m:t>
                      </m:r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Rettangolo 25">
                <a:extLst>
                  <a:ext uri="{FF2B5EF4-FFF2-40B4-BE49-F238E27FC236}">
                    <a16:creationId xmlns:a16="http://schemas.microsoft.com/office/drawing/2014/main" id="{B2913F46-1711-2439-6F65-4F2C5C0694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238" y="5359269"/>
                <a:ext cx="359394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tangolo 26">
                <a:extLst>
                  <a:ext uri="{FF2B5EF4-FFF2-40B4-BE49-F238E27FC236}">
                    <a16:creationId xmlns:a16="http://schemas.microsoft.com/office/drawing/2014/main" id="{0614426E-76A6-4EC9-2D57-311EBF31AB42}"/>
                  </a:ext>
                </a:extLst>
              </p:cNvPr>
              <p:cNvSpPr/>
              <p:nvPr/>
            </p:nvSpPr>
            <p:spPr>
              <a:xfrm>
                <a:off x="7280560" y="4967781"/>
                <a:ext cx="35618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𝒃</m:t>
                      </m:r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Rettangolo 26">
                <a:extLst>
                  <a:ext uri="{FF2B5EF4-FFF2-40B4-BE49-F238E27FC236}">
                    <a16:creationId xmlns:a16="http://schemas.microsoft.com/office/drawing/2014/main" id="{0614426E-76A6-4EC9-2D57-311EBF31A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0560" y="4967781"/>
                <a:ext cx="35618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ttangolo 27">
                <a:extLst>
                  <a:ext uri="{FF2B5EF4-FFF2-40B4-BE49-F238E27FC236}">
                    <a16:creationId xmlns:a16="http://schemas.microsoft.com/office/drawing/2014/main" id="{4026A7A1-3A9C-81B4-E28A-E20D847AFC53}"/>
                  </a:ext>
                </a:extLst>
              </p:cNvPr>
              <p:cNvSpPr/>
              <p:nvPr/>
            </p:nvSpPr>
            <p:spPr>
              <a:xfrm>
                <a:off x="4844751" y="2122591"/>
                <a:ext cx="33214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𝒛</m:t>
                      </m:r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Rettangolo 27">
                <a:extLst>
                  <a:ext uri="{FF2B5EF4-FFF2-40B4-BE49-F238E27FC236}">
                    <a16:creationId xmlns:a16="http://schemas.microsoft.com/office/drawing/2014/main" id="{4026A7A1-3A9C-81B4-E28A-E20D847AFC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751" y="2122591"/>
                <a:ext cx="332142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696DD2D-49F5-4A83-6998-07DAF4726DE9}"/>
              </a:ext>
            </a:extLst>
          </p:cNvPr>
          <p:cNvSpPr txBox="1"/>
          <p:nvPr/>
        </p:nvSpPr>
        <p:spPr>
          <a:xfrm>
            <a:off x="2133530" y="3021961"/>
            <a:ext cx="2792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(ii) Chemistry evolution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41C8E66A-4421-4899-27D8-3C00021908E4}"/>
              </a:ext>
            </a:extLst>
          </p:cNvPr>
          <p:cNvSpPr/>
          <p:nvPr/>
        </p:nvSpPr>
        <p:spPr>
          <a:xfrm>
            <a:off x="2003470" y="3418497"/>
            <a:ext cx="3056953" cy="304332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Picture 2" descr="Illustrated Glossary of Organic Chemistry - Hydroxyl radical">
            <a:extLst>
              <a:ext uri="{FF2B5EF4-FFF2-40B4-BE49-F238E27FC236}">
                <a16:creationId xmlns:a16="http://schemas.microsoft.com/office/drawing/2014/main" id="{6F3D3AB8-0EB8-0121-8961-8723899D9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1548">
            <a:off x="5705690" y="3758351"/>
            <a:ext cx="368831" cy="168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" name="Gruppo 50">
            <a:extLst>
              <a:ext uri="{FF2B5EF4-FFF2-40B4-BE49-F238E27FC236}">
                <a16:creationId xmlns:a16="http://schemas.microsoft.com/office/drawing/2014/main" id="{B8B0A8B7-DC8C-F1EE-F0D1-95A572D4B5D2}"/>
              </a:ext>
            </a:extLst>
          </p:cNvPr>
          <p:cNvGrpSpPr>
            <a:grpSpLocks noChangeAspect="1"/>
          </p:cNvGrpSpPr>
          <p:nvPr/>
        </p:nvGrpSpPr>
        <p:grpSpPr>
          <a:xfrm>
            <a:off x="6611795" y="3338153"/>
            <a:ext cx="283226" cy="335526"/>
            <a:chOff x="3409386" y="5426993"/>
            <a:chExt cx="545037" cy="6456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CasellaDiTesto 51">
                  <a:extLst>
                    <a:ext uri="{FF2B5EF4-FFF2-40B4-BE49-F238E27FC236}">
                      <a16:creationId xmlns:a16="http://schemas.microsoft.com/office/drawing/2014/main" id="{10CC51A3-DEBF-77E1-17DC-3B2C8224993E}"/>
                    </a:ext>
                  </a:extLst>
                </p:cNvPr>
                <p:cNvSpPr txBox="1"/>
                <p:nvPr/>
              </p:nvSpPr>
              <p:spPr>
                <a:xfrm>
                  <a:off x="3409386" y="5795676"/>
                  <a:ext cx="54503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0" lang="en-US" sz="1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LET</m:t>
                        </m:r>
                      </m:oMath>
                    </m:oMathPara>
                  </a14:m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2" name="CasellaDiTesto 51">
                  <a:extLst>
                    <a:ext uri="{FF2B5EF4-FFF2-40B4-BE49-F238E27FC236}">
                      <a16:creationId xmlns:a16="http://schemas.microsoft.com/office/drawing/2014/main" id="{10CC51A3-DEBF-77E1-17DC-3B2C82249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9386" y="5795676"/>
                  <a:ext cx="545037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1739" r="-8696" b="-6666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3" name="Picture 4" descr="Font,Line,Scale,Triangle,Symbol,Clip art,Parallel #98020 - Free Icon Library">
              <a:extLst>
                <a:ext uri="{FF2B5EF4-FFF2-40B4-BE49-F238E27FC236}">
                  <a16:creationId xmlns:a16="http://schemas.microsoft.com/office/drawing/2014/main" id="{CFBD7414-F089-0E3F-DE44-401ACB490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276" y="5426993"/>
              <a:ext cx="458011" cy="470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0" name="Immagine 59">
            <a:extLst>
              <a:ext uri="{FF2B5EF4-FFF2-40B4-BE49-F238E27FC236}">
                <a16:creationId xmlns:a16="http://schemas.microsoft.com/office/drawing/2014/main" id="{3F347F0E-DBD5-7FD6-D01C-7A2A96B92C40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4" t="31839" r="19668" b="31464"/>
          <a:stretch/>
        </p:blipFill>
        <p:spPr>
          <a:xfrm>
            <a:off x="81522" y="5914247"/>
            <a:ext cx="1161421" cy="397067"/>
          </a:xfrm>
          <a:prstGeom prst="rect">
            <a:avLst/>
          </a:prstGeom>
        </p:spPr>
      </p:pic>
      <p:pic>
        <p:nvPicPr>
          <p:cNvPr id="61" name="Immagine 60">
            <a:extLst>
              <a:ext uri="{FF2B5EF4-FFF2-40B4-BE49-F238E27FC236}">
                <a16:creationId xmlns:a16="http://schemas.microsoft.com/office/drawing/2014/main" id="{79E1317D-7BC2-0394-D42D-2E75C5AE655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0" y="5335874"/>
            <a:ext cx="992820" cy="619901"/>
          </a:xfrm>
          <a:prstGeom prst="rect">
            <a:avLst/>
          </a:prstGeom>
        </p:spPr>
      </p:pic>
      <p:pic>
        <p:nvPicPr>
          <p:cNvPr id="8" name="Elemento grafico 7" descr="Coppa con riempimento a tinta unita">
            <a:extLst>
              <a:ext uri="{FF2B5EF4-FFF2-40B4-BE49-F238E27FC236}">
                <a16:creationId xmlns:a16="http://schemas.microsoft.com/office/drawing/2014/main" id="{852E7742-2E1D-CF62-5247-B7A94889C0B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68471" y="5586069"/>
            <a:ext cx="526950" cy="526950"/>
          </a:xfrm>
          <a:prstGeom prst="rect">
            <a:avLst/>
          </a:prstGeom>
        </p:spPr>
      </p:pic>
      <p:sp>
        <p:nvSpPr>
          <p:cNvPr id="10" name="Ovale 9">
            <a:extLst>
              <a:ext uri="{FF2B5EF4-FFF2-40B4-BE49-F238E27FC236}">
                <a16:creationId xmlns:a16="http://schemas.microsoft.com/office/drawing/2014/main" id="{48D7E70F-5F03-8DC6-233C-EB0313E1298F}"/>
              </a:ext>
            </a:extLst>
          </p:cNvPr>
          <p:cNvSpPr/>
          <p:nvPr/>
        </p:nvSpPr>
        <p:spPr>
          <a:xfrm>
            <a:off x="5580206" y="3595085"/>
            <a:ext cx="847346" cy="750535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igura a mano libera: forma 28">
            <a:extLst>
              <a:ext uri="{FF2B5EF4-FFF2-40B4-BE49-F238E27FC236}">
                <a16:creationId xmlns:a16="http://schemas.microsoft.com/office/drawing/2014/main" id="{792F007E-A42B-561C-9584-8EA00362AFE5}"/>
              </a:ext>
            </a:extLst>
          </p:cNvPr>
          <p:cNvSpPr/>
          <p:nvPr/>
        </p:nvSpPr>
        <p:spPr>
          <a:xfrm>
            <a:off x="1772436" y="777251"/>
            <a:ext cx="2390504" cy="2151241"/>
          </a:xfrm>
          <a:custGeom>
            <a:avLst/>
            <a:gdLst>
              <a:gd name="connsiteX0" fmla="*/ 0 w 1487033"/>
              <a:gd name="connsiteY0" fmla="*/ 118963 h 1189626"/>
              <a:gd name="connsiteX1" fmla="*/ 118963 w 1487033"/>
              <a:gd name="connsiteY1" fmla="*/ 0 h 1189626"/>
              <a:gd name="connsiteX2" fmla="*/ 1368070 w 1487033"/>
              <a:gd name="connsiteY2" fmla="*/ 0 h 1189626"/>
              <a:gd name="connsiteX3" fmla="*/ 1487033 w 1487033"/>
              <a:gd name="connsiteY3" fmla="*/ 118963 h 1189626"/>
              <a:gd name="connsiteX4" fmla="*/ 1487033 w 1487033"/>
              <a:gd name="connsiteY4" fmla="*/ 1070663 h 1189626"/>
              <a:gd name="connsiteX5" fmla="*/ 1368070 w 1487033"/>
              <a:gd name="connsiteY5" fmla="*/ 1189626 h 1189626"/>
              <a:gd name="connsiteX6" fmla="*/ 118963 w 1487033"/>
              <a:gd name="connsiteY6" fmla="*/ 1189626 h 1189626"/>
              <a:gd name="connsiteX7" fmla="*/ 0 w 1487033"/>
              <a:gd name="connsiteY7" fmla="*/ 1070663 h 1189626"/>
              <a:gd name="connsiteX8" fmla="*/ 0 w 1487033"/>
              <a:gd name="connsiteY8" fmla="*/ 118963 h 118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7033" h="1189626">
                <a:moveTo>
                  <a:pt x="0" y="118963"/>
                </a:moveTo>
                <a:cubicBezTo>
                  <a:pt x="0" y="53262"/>
                  <a:pt x="53262" y="0"/>
                  <a:pt x="118963" y="0"/>
                </a:cubicBezTo>
                <a:lnTo>
                  <a:pt x="1368070" y="0"/>
                </a:lnTo>
                <a:cubicBezTo>
                  <a:pt x="1433771" y="0"/>
                  <a:pt x="1487033" y="53262"/>
                  <a:pt x="1487033" y="118963"/>
                </a:cubicBezTo>
                <a:lnTo>
                  <a:pt x="1487033" y="1070663"/>
                </a:lnTo>
                <a:cubicBezTo>
                  <a:pt x="1487033" y="1136364"/>
                  <a:pt x="1433771" y="1189626"/>
                  <a:pt x="1368070" y="1189626"/>
                </a:cubicBezTo>
                <a:lnTo>
                  <a:pt x="118963" y="1189626"/>
                </a:lnTo>
                <a:cubicBezTo>
                  <a:pt x="53262" y="1189626"/>
                  <a:pt x="0" y="1136364"/>
                  <a:pt x="0" y="1070663"/>
                </a:cubicBezTo>
                <a:lnTo>
                  <a:pt x="0" y="118963"/>
                </a:lnTo>
                <a:close/>
              </a:path>
            </a:pathLst>
          </a:custGeom>
          <a:ln w="28575">
            <a:prstDash val="sysDot"/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753" tIns="76753" rIns="76753" bIns="76753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kern="1200" noProof="0" dirty="0"/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noProof="0" dirty="0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8C981661-C0C0-9136-796D-567859046B13}"/>
              </a:ext>
            </a:extLst>
          </p:cNvPr>
          <p:cNvSpPr txBox="1"/>
          <p:nvPr/>
        </p:nvSpPr>
        <p:spPr>
          <a:xfrm>
            <a:off x="2380729" y="1753509"/>
            <a:ext cx="1162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MS-GSM</a:t>
            </a:r>
            <a:r>
              <a:rPr kumimoji="0" 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8AA9BBD9-8877-D5BC-05E2-DD616362A8A3}"/>
              </a:ext>
            </a:extLst>
          </p:cNvPr>
          <p:cNvSpPr/>
          <p:nvPr/>
        </p:nvSpPr>
        <p:spPr>
          <a:xfrm>
            <a:off x="2087491" y="2042422"/>
            <a:ext cx="1749126" cy="895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sng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M. Battestini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 et al., Front. Phys. (2023)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sng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M. Battestini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 et al.,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Radiother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. Oncol. (2025)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BD43C45A-25A3-2008-2FE0-F8336FD1357C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889" y="832580"/>
            <a:ext cx="1397051" cy="916098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4040AF8A-6423-B9F9-A536-0CA6B04D022D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97" y="984176"/>
            <a:ext cx="1090145" cy="605030"/>
          </a:xfrm>
          <a:prstGeom prst="rect">
            <a:avLst/>
          </a:prstGeom>
        </p:spPr>
      </p:pic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9097F1FE-7ED6-E437-4AB4-4739D77D0A22}"/>
              </a:ext>
            </a:extLst>
          </p:cNvPr>
          <p:cNvSpPr txBox="1"/>
          <p:nvPr/>
        </p:nvSpPr>
        <p:spPr>
          <a:xfrm>
            <a:off x="8088632" y="2336321"/>
            <a:ext cx="715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noProof="0" dirty="0">
                <a:solidFill>
                  <a:srgbClr val="41719C"/>
                </a:solidFill>
              </a:rPr>
              <a:t>Dermis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6F90BD64-F195-94E1-8D75-99DA70715592}"/>
              </a:ext>
            </a:extLst>
          </p:cNvPr>
          <p:cNvSpPr txBox="1"/>
          <p:nvPr/>
        </p:nvSpPr>
        <p:spPr>
          <a:xfrm>
            <a:off x="7891920" y="1542023"/>
            <a:ext cx="926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noProof="0" dirty="0">
                <a:solidFill>
                  <a:srgbClr val="41719C"/>
                </a:solidFill>
              </a:rPr>
              <a:t>Epidermis</a:t>
            </a:r>
          </a:p>
        </p:txBody>
      </p:sp>
      <p:sp>
        <p:nvSpPr>
          <p:cNvPr id="46" name="Parentesi graffa chiusa 45">
            <a:extLst>
              <a:ext uri="{FF2B5EF4-FFF2-40B4-BE49-F238E27FC236}">
                <a16:creationId xmlns:a16="http://schemas.microsoft.com/office/drawing/2014/main" id="{DE661E1E-E1C2-8557-1FAF-0953D456AD9C}"/>
              </a:ext>
            </a:extLst>
          </p:cNvPr>
          <p:cNvSpPr/>
          <p:nvPr/>
        </p:nvSpPr>
        <p:spPr>
          <a:xfrm rot="10800000">
            <a:off x="8775428" y="1467450"/>
            <a:ext cx="127239" cy="485629"/>
          </a:xfrm>
          <a:prstGeom prst="rightBrace">
            <a:avLst/>
          </a:prstGeom>
          <a:ln w="28575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8" name="Parentesi graffa chiusa 47">
            <a:extLst>
              <a:ext uri="{FF2B5EF4-FFF2-40B4-BE49-F238E27FC236}">
                <a16:creationId xmlns:a16="http://schemas.microsoft.com/office/drawing/2014/main" id="{D360B801-7CCA-52DD-158C-5DC5E0EE9CE5}"/>
              </a:ext>
            </a:extLst>
          </p:cNvPr>
          <p:cNvSpPr/>
          <p:nvPr/>
        </p:nvSpPr>
        <p:spPr>
          <a:xfrm rot="10800000">
            <a:off x="8775428" y="1949130"/>
            <a:ext cx="127238" cy="1125256"/>
          </a:xfrm>
          <a:prstGeom prst="rightBrace">
            <a:avLst/>
          </a:prstGeom>
          <a:ln w="28575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FB770F61-36B0-F671-1F9F-825EEFDE0CBE}"/>
              </a:ext>
            </a:extLst>
          </p:cNvPr>
          <p:cNvSpPr txBox="1"/>
          <p:nvPr/>
        </p:nvSpPr>
        <p:spPr>
          <a:xfrm>
            <a:off x="8497914" y="961556"/>
            <a:ext cx="1185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solidFill>
                  <a:srgbClr val="FF0000"/>
                </a:solidFill>
                <a:latin typeface="Calibri-Italic"/>
              </a:rPr>
              <a:t>Keratinocyte</a:t>
            </a: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FA43681C-69F9-552E-4EBD-2C94E7A708E2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9683133" y="1115445"/>
            <a:ext cx="282504" cy="1317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BB9676C5-76BD-E434-CB0F-0439967C2432}"/>
              </a:ext>
            </a:extLst>
          </p:cNvPr>
          <p:cNvSpPr txBox="1"/>
          <p:nvPr/>
        </p:nvSpPr>
        <p:spPr>
          <a:xfrm>
            <a:off x="8786315" y="3483192"/>
            <a:ext cx="9987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solidFill>
                  <a:srgbClr val="FF0000"/>
                </a:solidFill>
                <a:latin typeface="Calibri-Italic"/>
              </a:rPr>
              <a:t>Fibroblast</a:t>
            </a:r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8DF3B736-91DD-7EEE-8EE8-CB708D3F0822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9785058" y="3157170"/>
            <a:ext cx="242742" cy="4799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EFF8C5EB-285F-900A-69F3-99262868498E}"/>
              </a:ext>
            </a:extLst>
          </p:cNvPr>
          <p:cNvSpPr txBox="1"/>
          <p:nvPr/>
        </p:nvSpPr>
        <p:spPr>
          <a:xfrm>
            <a:off x="5025120" y="5324852"/>
            <a:ext cx="2035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Antioxidant defense</a:t>
            </a:r>
          </a:p>
        </p:txBody>
      </p: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9A137128-9DBC-6E49-1D8D-0BFCF3F7C083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6043083" y="5116946"/>
            <a:ext cx="0" cy="2079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FAA2FA9C-B36A-7A10-3D54-C73AD80AE4F0}"/>
              </a:ext>
            </a:extLst>
          </p:cNvPr>
          <p:cNvCxnSpPr>
            <a:cxnSpLocks/>
          </p:cNvCxnSpPr>
          <p:nvPr/>
        </p:nvCxnSpPr>
        <p:spPr>
          <a:xfrm flipV="1">
            <a:off x="9846581" y="1467450"/>
            <a:ext cx="0" cy="4816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asellaDiTesto 83">
                <a:extLst>
                  <a:ext uri="{FF2B5EF4-FFF2-40B4-BE49-F238E27FC236}">
                    <a16:creationId xmlns:a16="http://schemas.microsoft.com/office/drawing/2014/main" id="{4DECE828-4370-41A4-6919-CE181FDD9694}"/>
                  </a:ext>
                </a:extLst>
              </p:cNvPr>
              <p:cNvSpPr txBox="1"/>
              <p:nvPr/>
            </p:nvSpPr>
            <p:spPr>
              <a:xfrm>
                <a:off x="10001081" y="2159826"/>
                <a:ext cx="615236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b="1" i="0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𝐗𝐒𝐇</m:t>
                    </m:r>
                  </m:oMath>
                </a14:m>
                <a:r>
                  <a:rPr lang="en-US" sz="1400" b="1" noProof="0" dirty="0">
                    <a:solidFill>
                      <a:schemeClr val="tx1"/>
                    </a:solidFill>
                  </a:rPr>
                  <a:t> activity</a:t>
                </a:r>
              </a:p>
            </p:txBody>
          </p:sp>
        </mc:Choice>
        <mc:Fallback xmlns="">
          <p:sp>
            <p:nvSpPr>
              <p:cNvPr id="84" name="CasellaDiTesto 83">
                <a:extLst>
                  <a:ext uri="{FF2B5EF4-FFF2-40B4-BE49-F238E27FC236}">
                    <a16:creationId xmlns:a16="http://schemas.microsoft.com/office/drawing/2014/main" id="{4DECE828-4370-41A4-6919-CE181FDD9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081" y="2159826"/>
                <a:ext cx="615236" cy="430887"/>
              </a:xfrm>
              <a:prstGeom prst="rect">
                <a:avLst/>
              </a:prstGeom>
              <a:blipFill>
                <a:blip r:embed="rId17"/>
                <a:stretch>
                  <a:fillRect l="-11881" r="-10891" b="-2394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CasellaDiTesto 86">
            <a:extLst>
              <a:ext uri="{FF2B5EF4-FFF2-40B4-BE49-F238E27FC236}">
                <a16:creationId xmlns:a16="http://schemas.microsoft.com/office/drawing/2014/main" id="{C55EDF59-B6C1-D971-68E0-4089F8F5A67F}"/>
              </a:ext>
            </a:extLst>
          </p:cNvPr>
          <p:cNvSpPr txBox="1"/>
          <p:nvPr/>
        </p:nvSpPr>
        <p:spPr>
          <a:xfrm>
            <a:off x="11248277" y="848431"/>
            <a:ext cx="628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8" name="Connettore 2 87">
            <a:extLst>
              <a:ext uri="{FF2B5EF4-FFF2-40B4-BE49-F238E27FC236}">
                <a16:creationId xmlns:a16="http://schemas.microsoft.com/office/drawing/2014/main" id="{DE72ED1F-FE6F-ECA7-26EC-36B6379FC935}"/>
              </a:ext>
            </a:extLst>
          </p:cNvPr>
          <p:cNvCxnSpPr>
            <a:cxnSpLocks/>
            <a:stCxn id="87" idx="2"/>
          </p:cNvCxnSpPr>
          <p:nvPr/>
        </p:nvCxnSpPr>
        <p:spPr>
          <a:xfrm flipH="1">
            <a:off x="10998321" y="1156208"/>
            <a:ext cx="564280" cy="6264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CasellaDiTesto 97">
                <a:extLst>
                  <a:ext uri="{FF2B5EF4-FFF2-40B4-BE49-F238E27FC236}">
                    <a16:creationId xmlns:a16="http://schemas.microsoft.com/office/drawing/2014/main" id="{C800EFFB-3D66-0317-91EC-B137459DA679}"/>
                  </a:ext>
                </a:extLst>
              </p:cNvPr>
              <p:cNvSpPr txBox="1"/>
              <p:nvPr/>
            </p:nvSpPr>
            <p:spPr>
              <a:xfrm>
                <a:off x="9303275" y="2222374"/>
                <a:ext cx="58949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400" b="1" i="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𝐎</m:t>
                          </m:r>
                        </m:e>
                        <m:sub>
                          <m:r>
                            <a:rPr lang="en-US" sz="1400" b="1" i="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400" b="1" i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400" noProof="0" dirty="0"/>
              </a:p>
            </p:txBody>
          </p:sp>
        </mc:Choice>
        <mc:Fallback xmlns="">
          <p:sp>
            <p:nvSpPr>
              <p:cNvPr id="98" name="CasellaDiTesto 97">
                <a:extLst>
                  <a:ext uri="{FF2B5EF4-FFF2-40B4-BE49-F238E27FC236}">
                    <a16:creationId xmlns:a16="http://schemas.microsoft.com/office/drawing/2014/main" id="{C800EFFB-3D66-0317-91EC-B137459DA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275" y="2222374"/>
                <a:ext cx="589490" cy="307777"/>
              </a:xfrm>
              <a:prstGeom prst="rect">
                <a:avLst/>
              </a:prstGeom>
              <a:blipFill>
                <a:blip r:embed="rId1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Connettore 2 98">
            <a:extLst>
              <a:ext uri="{FF2B5EF4-FFF2-40B4-BE49-F238E27FC236}">
                <a16:creationId xmlns:a16="http://schemas.microsoft.com/office/drawing/2014/main" id="{14FECB40-5B07-451F-E1EF-EFB5617B2E6C}"/>
              </a:ext>
            </a:extLst>
          </p:cNvPr>
          <p:cNvCxnSpPr>
            <a:cxnSpLocks/>
          </p:cNvCxnSpPr>
          <p:nvPr/>
        </p:nvCxnSpPr>
        <p:spPr>
          <a:xfrm flipV="1">
            <a:off x="9992684" y="1471395"/>
            <a:ext cx="0" cy="14736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8FE76AAE-6CE8-F9FE-BA4B-CA793B07EEBA}"/>
              </a:ext>
            </a:extLst>
          </p:cNvPr>
          <p:cNvCxnSpPr>
            <a:cxnSpLocks/>
          </p:cNvCxnSpPr>
          <p:nvPr/>
        </p:nvCxnSpPr>
        <p:spPr>
          <a:xfrm>
            <a:off x="9846581" y="1994154"/>
            <a:ext cx="11830" cy="9742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CA7BF0D-424D-1480-8254-94301BC59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4BFD27C-8375-8226-6AD8-05073FA4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Elemento grafico 11" descr="Tiro a segno contorno">
            <a:extLst>
              <a:ext uri="{FF2B5EF4-FFF2-40B4-BE49-F238E27FC236}">
                <a16:creationId xmlns:a16="http://schemas.microsoft.com/office/drawing/2014/main" id="{5AEEAE2A-A4B0-F333-E8C9-489CCD6A74C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386336" y="3842860"/>
            <a:ext cx="605412" cy="60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7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4" grpId="0"/>
      <p:bldP spid="25" grpId="0"/>
      <p:bldP spid="26" grpId="0"/>
      <p:bldP spid="27" grpId="0"/>
      <p:bldP spid="28" grpId="0"/>
      <p:bldP spid="30" grpId="0"/>
      <p:bldP spid="34" grpId="0" animBg="1"/>
      <p:bldP spid="10" grpId="0" animBg="1"/>
      <p:bldP spid="29" grpId="0" animBg="1"/>
      <p:bldP spid="43" grpId="0"/>
      <p:bldP spid="44" grpId="0"/>
      <p:bldP spid="6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7D5C2-9298-2030-4D97-99C1BA59B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igura a mano libera: forma 18">
            <a:extLst>
              <a:ext uri="{FF2B5EF4-FFF2-40B4-BE49-F238E27FC236}">
                <a16:creationId xmlns:a16="http://schemas.microsoft.com/office/drawing/2014/main" id="{AF38C7D0-3D93-0B3D-8CFF-6AD6BA10E8E7}"/>
              </a:ext>
            </a:extLst>
          </p:cNvPr>
          <p:cNvSpPr/>
          <p:nvPr/>
        </p:nvSpPr>
        <p:spPr>
          <a:xfrm>
            <a:off x="8451990" y="1366432"/>
            <a:ext cx="3324181" cy="4662405"/>
          </a:xfrm>
          <a:custGeom>
            <a:avLst/>
            <a:gdLst>
              <a:gd name="connsiteX0" fmla="*/ 0 w 1487033"/>
              <a:gd name="connsiteY0" fmla="*/ 118963 h 1189626"/>
              <a:gd name="connsiteX1" fmla="*/ 118963 w 1487033"/>
              <a:gd name="connsiteY1" fmla="*/ 0 h 1189626"/>
              <a:gd name="connsiteX2" fmla="*/ 1368070 w 1487033"/>
              <a:gd name="connsiteY2" fmla="*/ 0 h 1189626"/>
              <a:gd name="connsiteX3" fmla="*/ 1487033 w 1487033"/>
              <a:gd name="connsiteY3" fmla="*/ 118963 h 1189626"/>
              <a:gd name="connsiteX4" fmla="*/ 1487033 w 1487033"/>
              <a:gd name="connsiteY4" fmla="*/ 1070663 h 1189626"/>
              <a:gd name="connsiteX5" fmla="*/ 1368070 w 1487033"/>
              <a:gd name="connsiteY5" fmla="*/ 1189626 h 1189626"/>
              <a:gd name="connsiteX6" fmla="*/ 118963 w 1487033"/>
              <a:gd name="connsiteY6" fmla="*/ 1189626 h 1189626"/>
              <a:gd name="connsiteX7" fmla="*/ 0 w 1487033"/>
              <a:gd name="connsiteY7" fmla="*/ 1070663 h 1189626"/>
              <a:gd name="connsiteX8" fmla="*/ 0 w 1487033"/>
              <a:gd name="connsiteY8" fmla="*/ 118963 h 118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7033" h="1189626">
                <a:moveTo>
                  <a:pt x="0" y="118963"/>
                </a:moveTo>
                <a:cubicBezTo>
                  <a:pt x="0" y="53262"/>
                  <a:pt x="53262" y="0"/>
                  <a:pt x="118963" y="0"/>
                </a:cubicBezTo>
                <a:lnTo>
                  <a:pt x="1368070" y="0"/>
                </a:lnTo>
                <a:cubicBezTo>
                  <a:pt x="1433771" y="0"/>
                  <a:pt x="1487033" y="53262"/>
                  <a:pt x="1487033" y="118963"/>
                </a:cubicBezTo>
                <a:lnTo>
                  <a:pt x="1487033" y="1070663"/>
                </a:lnTo>
                <a:cubicBezTo>
                  <a:pt x="1487033" y="1136364"/>
                  <a:pt x="1433771" y="1189626"/>
                  <a:pt x="1368070" y="1189626"/>
                </a:cubicBezTo>
                <a:lnTo>
                  <a:pt x="118963" y="1189626"/>
                </a:lnTo>
                <a:cubicBezTo>
                  <a:pt x="53262" y="1189626"/>
                  <a:pt x="0" y="1136364"/>
                  <a:pt x="0" y="1070663"/>
                </a:cubicBezTo>
                <a:lnTo>
                  <a:pt x="0" y="118963"/>
                </a:lnTo>
                <a:close/>
              </a:path>
            </a:pathLst>
          </a:custGeom>
          <a:ln w="28575">
            <a:prstDash val="sysDot"/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753" tIns="76753" rIns="76753" bIns="76753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kern="1200" noProof="0" dirty="0"/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noProof="0" dirty="0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8C4DC511-6458-4B0A-24BC-A562E451FA48}"/>
              </a:ext>
            </a:extLst>
          </p:cNvPr>
          <p:cNvSpPr/>
          <p:nvPr/>
        </p:nvSpPr>
        <p:spPr>
          <a:xfrm>
            <a:off x="2114904" y="915514"/>
            <a:ext cx="5426110" cy="2124184"/>
          </a:xfrm>
          <a:custGeom>
            <a:avLst/>
            <a:gdLst>
              <a:gd name="connsiteX0" fmla="*/ 0 w 1487033"/>
              <a:gd name="connsiteY0" fmla="*/ 118963 h 1189626"/>
              <a:gd name="connsiteX1" fmla="*/ 118963 w 1487033"/>
              <a:gd name="connsiteY1" fmla="*/ 0 h 1189626"/>
              <a:gd name="connsiteX2" fmla="*/ 1368070 w 1487033"/>
              <a:gd name="connsiteY2" fmla="*/ 0 h 1189626"/>
              <a:gd name="connsiteX3" fmla="*/ 1487033 w 1487033"/>
              <a:gd name="connsiteY3" fmla="*/ 118963 h 1189626"/>
              <a:gd name="connsiteX4" fmla="*/ 1487033 w 1487033"/>
              <a:gd name="connsiteY4" fmla="*/ 1070663 h 1189626"/>
              <a:gd name="connsiteX5" fmla="*/ 1368070 w 1487033"/>
              <a:gd name="connsiteY5" fmla="*/ 1189626 h 1189626"/>
              <a:gd name="connsiteX6" fmla="*/ 118963 w 1487033"/>
              <a:gd name="connsiteY6" fmla="*/ 1189626 h 1189626"/>
              <a:gd name="connsiteX7" fmla="*/ 0 w 1487033"/>
              <a:gd name="connsiteY7" fmla="*/ 1070663 h 1189626"/>
              <a:gd name="connsiteX8" fmla="*/ 0 w 1487033"/>
              <a:gd name="connsiteY8" fmla="*/ 118963 h 118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7033" h="1189626">
                <a:moveTo>
                  <a:pt x="0" y="118963"/>
                </a:moveTo>
                <a:cubicBezTo>
                  <a:pt x="0" y="53262"/>
                  <a:pt x="53262" y="0"/>
                  <a:pt x="118963" y="0"/>
                </a:cubicBezTo>
                <a:lnTo>
                  <a:pt x="1368070" y="0"/>
                </a:lnTo>
                <a:cubicBezTo>
                  <a:pt x="1433771" y="0"/>
                  <a:pt x="1487033" y="53262"/>
                  <a:pt x="1487033" y="118963"/>
                </a:cubicBezTo>
                <a:lnTo>
                  <a:pt x="1487033" y="1070663"/>
                </a:lnTo>
                <a:cubicBezTo>
                  <a:pt x="1487033" y="1136364"/>
                  <a:pt x="1433771" y="1189626"/>
                  <a:pt x="1368070" y="1189626"/>
                </a:cubicBezTo>
                <a:lnTo>
                  <a:pt x="118963" y="1189626"/>
                </a:lnTo>
                <a:cubicBezTo>
                  <a:pt x="53262" y="1189626"/>
                  <a:pt x="0" y="1136364"/>
                  <a:pt x="0" y="1070663"/>
                </a:cubicBezTo>
                <a:lnTo>
                  <a:pt x="0" y="118963"/>
                </a:lnTo>
                <a:close/>
              </a:path>
            </a:pathLst>
          </a:custGeom>
          <a:ln w="28575">
            <a:prstDash val="sysDot"/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753" tIns="76753" rIns="76753" bIns="76753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kern="1200" noProof="0" dirty="0"/>
          </a:p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noProof="0" dirty="0"/>
          </a:p>
        </p:txBody>
      </p:sp>
      <p:sp>
        <p:nvSpPr>
          <p:cNvPr id="43" name="Freccia a sinistra 42">
            <a:extLst>
              <a:ext uri="{FF2B5EF4-FFF2-40B4-BE49-F238E27FC236}">
                <a16:creationId xmlns:a16="http://schemas.microsoft.com/office/drawing/2014/main" id="{9081EAAB-385A-D841-4A6D-F406BA504808}"/>
              </a:ext>
            </a:extLst>
          </p:cNvPr>
          <p:cNvSpPr/>
          <p:nvPr/>
        </p:nvSpPr>
        <p:spPr>
          <a:xfrm rot="16200000">
            <a:off x="4224471" y="4302188"/>
            <a:ext cx="1201227" cy="446109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5" name="Segnaposto data 1">
            <a:extLst>
              <a:ext uri="{FF2B5EF4-FFF2-40B4-BE49-F238E27FC236}">
                <a16:creationId xmlns:a16="http://schemas.microsoft.com/office/drawing/2014/main" id="{775B3879-B519-FDE0-EAB6-017D3872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D2195FD-494C-C247-343F-97EDF9F96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E802563-7330-E533-EBA2-B7A10C107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FE832839-78A9-5075-B76C-644D7F5C4358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Bio-chemical model parameters calibration for skin lesions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290072E5-E910-A06F-D995-3E602D1F0CA7}"/>
              </a:ext>
            </a:extLst>
          </p:cNvPr>
          <p:cNvGrpSpPr/>
          <p:nvPr/>
        </p:nvGrpSpPr>
        <p:grpSpPr>
          <a:xfrm>
            <a:off x="131368" y="1564421"/>
            <a:ext cx="1539844" cy="3729158"/>
            <a:chOff x="135586" y="1856553"/>
            <a:chExt cx="1539844" cy="3729158"/>
          </a:xfrm>
        </p:grpSpPr>
        <p:grpSp>
          <p:nvGrpSpPr>
            <p:cNvPr id="22" name="Gruppo 21">
              <a:extLst>
                <a:ext uri="{FF2B5EF4-FFF2-40B4-BE49-F238E27FC236}">
                  <a16:creationId xmlns:a16="http://schemas.microsoft.com/office/drawing/2014/main" id="{118BD492-FAEE-CB1D-53A4-FF5E51D63BB6}"/>
                </a:ext>
              </a:extLst>
            </p:cNvPr>
            <p:cNvGrpSpPr/>
            <p:nvPr/>
          </p:nvGrpSpPr>
          <p:grpSpPr>
            <a:xfrm>
              <a:off x="135586" y="1856553"/>
              <a:ext cx="1535626" cy="1022218"/>
              <a:chOff x="634124" y="734039"/>
              <a:chExt cx="1535626" cy="1022218"/>
            </a:xfrm>
          </p:grpSpPr>
          <p:sp>
            <p:nvSpPr>
              <p:cNvPr id="39" name="Figura a mano libera: forma 38">
                <a:extLst>
                  <a:ext uri="{FF2B5EF4-FFF2-40B4-BE49-F238E27FC236}">
                    <a16:creationId xmlns:a16="http://schemas.microsoft.com/office/drawing/2014/main" id="{A5DB2DD5-97BA-8295-8C0E-3D15D04FD009}"/>
                  </a:ext>
                </a:extLst>
              </p:cNvPr>
              <p:cNvSpPr/>
              <p:nvPr/>
            </p:nvSpPr>
            <p:spPr>
              <a:xfrm>
                <a:off x="634124" y="734039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kern="1200" noProof="0" dirty="0"/>
                  <a:t>Irradiation of 3D skin tissue</a:t>
                </a:r>
              </a:p>
            </p:txBody>
          </p:sp>
          <p:sp>
            <p:nvSpPr>
              <p:cNvPr id="40" name="Figura a mano libera: forma 39">
                <a:extLst>
                  <a:ext uri="{FF2B5EF4-FFF2-40B4-BE49-F238E27FC236}">
                    <a16:creationId xmlns:a16="http://schemas.microsoft.com/office/drawing/2014/main" id="{0EC642DE-8E95-7804-DB46-8A2C025B1C09}"/>
                  </a:ext>
                </a:extLst>
              </p:cNvPr>
              <p:cNvSpPr/>
              <p:nvPr/>
            </p:nvSpPr>
            <p:spPr>
              <a:xfrm>
                <a:off x="941249" y="1267723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  <a:solidFill>
                <a:srgbClr val="70AD4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WP2.1</a:t>
                </a:r>
              </a:p>
            </p:txBody>
          </p:sp>
        </p:grpSp>
        <p:grpSp>
          <p:nvGrpSpPr>
            <p:cNvPr id="23" name="Gruppo 22">
              <a:extLst>
                <a:ext uri="{FF2B5EF4-FFF2-40B4-BE49-F238E27FC236}">
                  <a16:creationId xmlns:a16="http://schemas.microsoft.com/office/drawing/2014/main" id="{1A2FED5C-08F5-E904-7CB5-FA2A2D01F989}"/>
                </a:ext>
              </a:extLst>
            </p:cNvPr>
            <p:cNvGrpSpPr/>
            <p:nvPr/>
          </p:nvGrpSpPr>
          <p:grpSpPr>
            <a:xfrm>
              <a:off x="139804" y="3210023"/>
              <a:ext cx="1535626" cy="1022219"/>
              <a:chOff x="634124" y="2426465"/>
              <a:chExt cx="1535626" cy="1022219"/>
            </a:xfrm>
          </p:grpSpPr>
          <p:sp>
            <p:nvSpPr>
              <p:cNvPr id="37" name="Figura a mano libera: forma 36">
                <a:extLst>
                  <a:ext uri="{FF2B5EF4-FFF2-40B4-BE49-F238E27FC236}">
                    <a16:creationId xmlns:a16="http://schemas.microsoft.com/office/drawing/2014/main" id="{AEE0CF03-9B02-83CF-C7DA-85A33EEAAAA4}"/>
                  </a:ext>
                </a:extLst>
              </p:cNvPr>
              <p:cNvSpPr/>
              <p:nvPr/>
            </p:nvSpPr>
            <p:spPr>
              <a:xfrm>
                <a:off x="634124" y="2426465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Skin model development</a:t>
                </a:r>
              </a:p>
            </p:txBody>
          </p:sp>
          <p:sp>
            <p:nvSpPr>
              <p:cNvPr id="38" name="Figura a mano libera: forma 37">
                <a:extLst>
                  <a:ext uri="{FF2B5EF4-FFF2-40B4-BE49-F238E27FC236}">
                    <a16:creationId xmlns:a16="http://schemas.microsoft.com/office/drawing/2014/main" id="{23608984-5736-1474-9B95-6A189A2EE304}"/>
                  </a:ext>
                </a:extLst>
              </p:cNvPr>
              <p:cNvSpPr/>
              <p:nvPr/>
            </p:nvSpPr>
            <p:spPr>
              <a:xfrm>
                <a:off x="941249" y="2960150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  <a:solidFill>
                <a:srgbClr val="70AD4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WP2.2</a:t>
                </a:r>
              </a:p>
            </p:txBody>
          </p:sp>
        </p:grpSp>
        <p:grpSp>
          <p:nvGrpSpPr>
            <p:cNvPr id="31" name="Gruppo 30">
              <a:extLst>
                <a:ext uri="{FF2B5EF4-FFF2-40B4-BE49-F238E27FC236}">
                  <a16:creationId xmlns:a16="http://schemas.microsoft.com/office/drawing/2014/main" id="{05F25521-27F6-9D8A-CB85-6704AD8FD0C3}"/>
                </a:ext>
              </a:extLst>
            </p:cNvPr>
            <p:cNvGrpSpPr/>
            <p:nvPr/>
          </p:nvGrpSpPr>
          <p:grpSpPr>
            <a:xfrm>
              <a:off x="135586" y="4563492"/>
              <a:ext cx="1535626" cy="1022219"/>
              <a:chOff x="634124" y="3980710"/>
              <a:chExt cx="1535626" cy="1022219"/>
            </a:xfrm>
          </p:grpSpPr>
          <p:sp>
            <p:nvSpPr>
              <p:cNvPr id="35" name="Figura a mano libera: forma 34">
                <a:extLst>
                  <a:ext uri="{FF2B5EF4-FFF2-40B4-BE49-F238E27FC236}">
                    <a16:creationId xmlns:a16="http://schemas.microsoft.com/office/drawing/2014/main" id="{DC07EB8E-887C-9C0F-5E0F-B673B4F6A48B}"/>
                  </a:ext>
                </a:extLst>
              </p:cNvPr>
              <p:cNvSpPr/>
              <p:nvPr/>
            </p:nvSpPr>
            <p:spPr>
              <a:xfrm>
                <a:off x="634124" y="3980710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Skin model calibration</a:t>
                </a:r>
              </a:p>
            </p:txBody>
          </p:sp>
          <p:sp>
            <p:nvSpPr>
              <p:cNvPr id="36" name="Figura a mano libera: forma 35">
                <a:extLst>
                  <a:ext uri="{FF2B5EF4-FFF2-40B4-BE49-F238E27FC236}">
                    <a16:creationId xmlns:a16="http://schemas.microsoft.com/office/drawing/2014/main" id="{078973E3-7A11-F20D-9BE2-2E8B77842BD0}"/>
                  </a:ext>
                </a:extLst>
              </p:cNvPr>
              <p:cNvSpPr/>
              <p:nvPr/>
            </p:nvSpPr>
            <p:spPr>
              <a:xfrm>
                <a:off x="941249" y="4514395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  <a:solidFill>
                <a:srgbClr val="70AD4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WP2.3</a:t>
                </a:r>
              </a:p>
            </p:txBody>
          </p:sp>
        </p:grpSp>
        <p:sp>
          <p:nvSpPr>
            <p:cNvPr id="32" name="Freccia in giù 31">
              <a:extLst>
                <a:ext uri="{FF2B5EF4-FFF2-40B4-BE49-F238E27FC236}">
                  <a16:creationId xmlns:a16="http://schemas.microsoft.com/office/drawing/2014/main" id="{2E574F49-79C6-45AA-DA01-1EEA7DAD85F5}"/>
                </a:ext>
              </a:extLst>
            </p:cNvPr>
            <p:cNvSpPr/>
            <p:nvPr/>
          </p:nvSpPr>
          <p:spPr>
            <a:xfrm>
              <a:off x="725632" y="2923921"/>
              <a:ext cx="201969" cy="244268"/>
            </a:xfrm>
            <a:prstGeom prst="downArrow">
              <a:avLst/>
            </a:prstGeom>
            <a:solidFill>
              <a:srgbClr val="BBD3B1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  <p:sp>
          <p:nvSpPr>
            <p:cNvPr id="33" name="Freccia in giù 32">
              <a:extLst>
                <a:ext uri="{FF2B5EF4-FFF2-40B4-BE49-F238E27FC236}">
                  <a16:creationId xmlns:a16="http://schemas.microsoft.com/office/drawing/2014/main" id="{F3A0FB68-97B2-3DAC-4CC9-46A13A73C749}"/>
                </a:ext>
              </a:extLst>
            </p:cNvPr>
            <p:cNvSpPr/>
            <p:nvPr/>
          </p:nvSpPr>
          <p:spPr>
            <a:xfrm>
              <a:off x="725632" y="4275733"/>
              <a:ext cx="201969" cy="244268"/>
            </a:xfrm>
            <a:prstGeom prst="downArrow">
              <a:avLst/>
            </a:prstGeom>
            <a:solidFill>
              <a:srgbClr val="BBD3B1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</p:grpSp>
      <p:sp>
        <p:nvSpPr>
          <p:cNvPr id="4" name="Rettangolo 3">
            <a:extLst>
              <a:ext uri="{FF2B5EF4-FFF2-40B4-BE49-F238E27FC236}">
                <a16:creationId xmlns:a16="http://schemas.microsoft.com/office/drawing/2014/main" id="{0E57EC83-361C-5EF9-9A54-A9B2E9965D03}"/>
              </a:ext>
            </a:extLst>
          </p:cNvPr>
          <p:cNvSpPr/>
          <p:nvPr/>
        </p:nvSpPr>
        <p:spPr>
          <a:xfrm>
            <a:off x="102990" y="1446964"/>
            <a:ext cx="1568222" cy="2794008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C9079D33-A0AC-F098-D9FA-30277D2815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4" t="31839" r="19668" b="31464"/>
          <a:stretch/>
        </p:blipFill>
        <p:spPr>
          <a:xfrm>
            <a:off x="81522" y="5914247"/>
            <a:ext cx="1161421" cy="397067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09A564C9-CF57-3179-EE0D-744BE75CDF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0" y="5335874"/>
            <a:ext cx="992820" cy="619901"/>
          </a:xfrm>
          <a:prstGeom prst="rect">
            <a:avLst/>
          </a:prstGeom>
        </p:spPr>
      </p:pic>
      <p:sp>
        <p:nvSpPr>
          <p:cNvPr id="24" name="Rettangolo 23">
            <a:extLst>
              <a:ext uri="{FF2B5EF4-FFF2-40B4-BE49-F238E27FC236}">
                <a16:creationId xmlns:a16="http://schemas.microsoft.com/office/drawing/2014/main" id="{4DF64F7B-9E29-AC36-0576-3AA3C3CBECE1}"/>
              </a:ext>
            </a:extLst>
          </p:cNvPr>
          <p:cNvSpPr/>
          <p:nvPr/>
        </p:nvSpPr>
        <p:spPr>
          <a:xfrm>
            <a:off x="1862741" y="1044674"/>
            <a:ext cx="5924689" cy="3431441"/>
          </a:xfrm>
          <a:prstGeom prst="rect">
            <a:avLst/>
          </a:prstGeom>
          <a:ln w="19050"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Freccia a sinistra 27">
            <a:extLst>
              <a:ext uri="{FF2B5EF4-FFF2-40B4-BE49-F238E27FC236}">
                <a16:creationId xmlns:a16="http://schemas.microsoft.com/office/drawing/2014/main" id="{AF69E01A-1880-62B8-C274-A3B685D14EC4}"/>
              </a:ext>
            </a:extLst>
          </p:cNvPr>
          <p:cNvSpPr/>
          <p:nvPr/>
        </p:nvSpPr>
        <p:spPr>
          <a:xfrm rot="12900000">
            <a:off x="3225300" y="2636399"/>
            <a:ext cx="1201227" cy="446109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0" name="Freccia a sinistra 29">
            <a:extLst>
              <a:ext uri="{FF2B5EF4-FFF2-40B4-BE49-F238E27FC236}">
                <a16:creationId xmlns:a16="http://schemas.microsoft.com/office/drawing/2014/main" id="{C3764CA3-5C9F-5CD2-8F9C-9144A2046A78}"/>
              </a:ext>
            </a:extLst>
          </p:cNvPr>
          <p:cNvSpPr/>
          <p:nvPr/>
        </p:nvSpPr>
        <p:spPr>
          <a:xfrm rot="16200000">
            <a:off x="4224471" y="2167860"/>
            <a:ext cx="1201227" cy="446109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1" name="Freccia a sinistra 40">
            <a:extLst>
              <a:ext uri="{FF2B5EF4-FFF2-40B4-BE49-F238E27FC236}">
                <a16:creationId xmlns:a16="http://schemas.microsoft.com/office/drawing/2014/main" id="{65FDDD4D-34FE-B53D-F670-1C782AFBB0E1}"/>
              </a:ext>
            </a:extLst>
          </p:cNvPr>
          <p:cNvSpPr/>
          <p:nvPr/>
        </p:nvSpPr>
        <p:spPr>
          <a:xfrm rot="19500000">
            <a:off x="5235231" y="2636400"/>
            <a:ext cx="1201227" cy="446109"/>
          </a:xfrm>
          <a:prstGeom prst="leftArrow">
            <a:avLst>
              <a:gd name="adj1" fmla="val 60000"/>
              <a:gd name="adj2" fmla="val 50000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4" name="Figura a mano libera: forma 43">
            <a:extLst>
              <a:ext uri="{FF2B5EF4-FFF2-40B4-BE49-F238E27FC236}">
                <a16:creationId xmlns:a16="http://schemas.microsoft.com/office/drawing/2014/main" id="{13751616-6BAE-8B2B-30F2-D7C1D607330C}"/>
              </a:ext>
            </a:extLst>
          </p:cNvPr>
          <p:cNvSpPr/>
          <p:nvPr/>
        </p:nvSpPr>
        <p:spPr>
          <a:xfrm>
            <a:off x="3276201" y="5184619"/>
            <a:ext cx="3092832" cy="1201228"/>
          </a:xfrm>
          <a:custGeom>
            <a:avLst/>
            <a:gdLst>
              <a:gd name="connsiteX0" fmla="*/ 0 w 1487033"/>
              <a:gd name="connsiteY0" fmla="*/ 118963 h 1189626"/>
              <a:gd name="connsiteX1" fmla="*/ 118963 w 1487033"/>
              <a:gd name="connsiteY1" fmla="*/ 0 h 1189626"/>
              <a:gd name="connsiteX2" fmla="*/ 1368070 w 1487033"/>
              <a:gd name="connsiteY2" fmla="*/ 0 h 1189626"/>
              <a:gd name="connsiteX3" fmla="*/ 1487033 w 1487033"/>
              <a:gd name="connsiteY3" fmla="*/ 118963 h 1189626"/>
              <a:gd name="connsiteX4" fmla="*/ 1487033 w 1487033"/>
              <a:gd name="connsiteY4" fmla="*/ 1070663 h 1189626"/>
              <a:gd name="connsiteX5" fmla="*/ 1368070 w 1487033"/>
              <a:gd name="connsiteY5" fmla="*/ 1189626 h 1189626"/>
              <a:gd name="connsiteX6" fmla="*/ 118963 w 1487033"/>
              <a:gd name="connsiteY6" fmla="*/ 1189626 h 1189626"/>
              <a:gd name="connsiteX7" fmla="*/ 0 w 1487033"/>
              <a:gd name="connsiteY7" fmla="*/ 1070663 h 1189626"/>
              <a:gd name="connsiteX8" fmla="*/ 0 w 1487033"/>
              <a:gd name="connsiteY8" fmla="*/ 118963 h 1189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7033" h="1189626">
                <a:moveTo>
                  <a:pt x="0" y="118963"/>
                </a:moveTo>
                <a:cubicBezTo>
                  <a:pt x="0" y="53262"/>
                  <a:pt x="53262" y="0"/>
                  <a:pt x="118963" y="0"/>
                </a:cubicBezTo>
                <a:lnTo>
                  <a:pt x="1368070" y="0"/>
                </a:lnTo>
                <a:cubicBezTo>
                  <a:pt x="1433771" y="0"/>
                  <a:pt x="1487033" y="53262"/>
                  <a:pt x="1487033" y="118963"/>
                </a:cubicBezTo>
                <a:lnTo>
                  <a:pt x="1487033" y="1070663"/>
                </a:lnTo>
                <a:cubicBezTo>
                  <a:pt x="1487033" y="1136364"/>
                  <a:pt x="1433771" y="1189626"/>
                  <a:pt x="1368070" y="1189626"/>
                </a:cubicBezTo>
                <a:lnTo>
                  <a:pt x="118963" y="1189626"/>
                </a:lnTo>
                <a:cubicBezTo>
                  <a:pt x="53262" y="1189626"/>
                  <a:pt x="0" y="1136364"/>
                  <a:pt x="0" y="1070663"/>
                </a:cubicBezTo>
                <a:lnTo>
                  <a:pt x="0" y="118963"/>
                </a:lnTo>
                <a:close/>
              </a:path>
            </a:pathLst>
          </a:custGeom>
          <a:ln w="19050"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753" tIns="76753" rIns="76753" bIns="76753" numCol="1" spcCol="1270" anchor="ctr" anchorCtr="0">
            <a:noAutofit/>
          </a:bodyPr>
          <a:lstStyle/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600" noProof="0" dirty="0"/>
          </a:p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600" noProof="0" dirty="0"/>
          </a:p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100" noProof="0" dirty="0"/>
          </a:p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600" noProof="0" dirty="0"/>
          </a:p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noProof="0" dirty="0"/>
              <a:t>A mechanistic radiation biophysical model for skin toxicity in PT</a:t>
            </a:r>
          </a:p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600" kern="1200" noProof="0" dirty="0"/>
          </a:p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600" kern="1200" noProof="0" dirty="0"/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1BA9159E-B0A4-293A-3573-93B0288754E9}"/>
              </a:ext>
            </a:extLst>
          </p:cNvPr>
          <p:cNvGrpSpPr/>
          <p:nvPr/>
        </p:nvGrpSpPr>
        <p:grpSpPr>
          <a:xfrm>
            <a:off x="4081568" y="1326112"/>
            <a:ext cx="1487033" cy="1189626"/>
            <a:chOff x="4619434" y="1023695"/>
            <a:chExt cx="1487033" cy="1189626"/>
          </a:xfrm>
        </p:grpSpPr>
        <p:sp>
          <p:nvSpPr>
            <p:cNvPr id="34" name="Figura a mano libera: forma 33">
              <a:extLst>
                <a:ext uri="{FF2B5EF4-FFF2-40B4-BE49-F238E27FC236}">
                  <a16:creationId xmlns:a16="http://schemas.microsoft.com/office/drawing/2014/main" id="{2296A3B4-9361-A261-2191-9B587CAFA6D6}"/>
                </a:ext>
              </a:extLst>
            </p:cNvPr>
            <p:cNvSpPr/>
            <p:nvPr/>
          </p:nvSpPr>
          <p:spPr>
            <a:xfrm>
              <a:off x="4619434" y="1023695"/>
              <a:ext cx="1487033" cy="1189626"/>
            </a:xfrm>
            <a:custGeom>
              <a:avLst/>
              <a:gdLst>
                <a:gd name="connsiteX0" fmla="*/ 0 w 1487033"/>
                <a:gd name="connsiteY0" fmla="*/ 118963 h 1189626"/>
                <a:gd name="connsiteX1" fmla="*/ 118963 w 1487033"/>
                <a:gd name="connsiteY1" fmla="*/ 0 h 1189626"/>
                <a:gd name="connsiteX2" fmla="*/ 1368070 w 1487033"/>
                <a:gd name="connsiteY2" fmla="*/ 0 h 1189626"/>
                <a:gd name="connsiteX3" fmla="*/ 1487033 w 1487033"/>
                <a:gd name="connsiteY3" fmla="*/ 118963 h 1189626"/>
                <a:gd name="connsiteX4" fmla="*/ 1487033 w 1487033"/>
                <a:gd name="connsiteY4" fmla="*/ 1070663 h 1189626"/>
                <a:gd name="connsiteX5" fmla="*/ 1368070 w 1487033"/>
                <a:gd name="connsiteY5" fmla="*/ 1189626 h 1189626"/>
                <a:gd name="connsiteX6" fmla="*/ 118963 w 1487033"/>
                <a:gd name="connsiteY6" fmla="*/ 1189626 h 1189626"/>
                <a:gd name="connsiteX7" fmla="*/ 0 w 1487033"/>
                <a:gd name="connsiteY7" fmla="*/ 1070663 h 1189626"/>
                <a:gd name="connsiteX8" fmla="*/ 0 w 1487033"/>
                <a:gd name="connsiteY8" fmla="*/ 118963 h 118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7033" h="1189626">
                  <a:moveTo>
                    <a:pt x="0" y="118963"/>
                  </a:moveTo>
                  <a:cubicBezTo>
                    <a:pt x="0" y="53262"/>
                    <a:pt x="53262" y="0"/>
                    <a:pt x="118963" y="0"/>
                  </a:cubicBezTo>
                  <a:lnTo>
                    <a:pt x="1368070" y="0"/>
                  </a:lnTo>
                  <a:cubicBezTo>
                    <a:pt x="1433771" y="0"/>
                    <a:pt x="1487033" y="53262"/>
                    <a:pt x="1487033" y="118963"/>
                  </a:cubicBezTo>
                  <a:lnTo>
                    <a:pt x="1487033" y="1070663"/>
                  </a:lnTo>
                  <a:cubicBezTo>
                    <a:pt x="1487033" y="1136364"/>
                    <a:pt x="1433771" y="1189626"/>
                    <a:pt x="1368070" y="1189626"/>
                  </a:cubicBezTo>
                  <a:lnTo>
                    <a:pt x="118963" y="1189626"/>
                  </a:lnTo>
                  <a:cubicBezTo>
                    <a:pt x="53262" y="1189626"/>
                    <a:pt x="0" y="1136364"/>
                    <a:pt x="0" y="1070663"/>
                  </a:cubicBezTo>
                  <a:lnTo>
                    <a:pt x="0" y="118963"/>
                  </a:lnTo>
                  <a:close/>
                </a:path>
              </a:pathLst>
            </a:custGeom>
            <a:ln w="1905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753" tIns="76753" rIns="76753" bIns="76753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kern="1200" noProof="0" dirty="0"/>
            </a:p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noProof="0" dirty="0"/>
            </a:p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noProof="0" dirty="0"/>
                <a:t>O</a:t>
              </a:r>
              <a:r>
                <a:rPr lang="en-US" kern="1200" baseline="-25000" noProof="0" dirty="0"/>
                <a:t>2</a:t>
              </a:r>
              <a:r>
                <a:rPr lang="en-US" kern="1200" noProof="0" dirty="0"/>
                <a:t>, XSH</a:t>
              </a:r>
            </a:p>
          </p:txBody>
        </p:sp>
        <p:pic>
          <p:nvPicPr>
            <p:cNvPr id="45" name="Elemento grafico 44" descr="Coppa con riempimento a tinta unita">
              <a:extLst>
                <a:ext uri="{FF2B5EF4-FFF2-40B4-BE49-F238E27FC236}">
                  <a16:creationId xmlns:a16="http://schemas.microsoft.com/office/drawing/2014/main" id="{705CAA25-3A52-FACB-C58F-05A8B5538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95338" y="1198065"/>
              <a:ext cx="526950" cy="526950"/>
            </a:xfrm>
            <a:prstGeom prst="rect">
              <a:avLst/>
            </a:prstGeom>
          </p:spPr>
        </p:pic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70E88342-8074-9FEC-62E1-21B31E90AD05}"/>
              </a:ext>
            </a:extLst>
          </p:cNvPr>
          <p:cNvGrpSpPr/>
          <p:nvPr/>
        </p:nvGrpSpPr>
        <p:grpSpPr>
          <a:xfrm>
            <a:off x="5756906" y="1726554"/>
            <a:ext cx="1487033" cy="1189626"/>
            <a:chOff x="6494480" y="1685793"/>
            <a:chExt cx="1487033" cy="1189626"/>
          </a:xfrm>
        </p:grpSpPr>
        <p:sp>
          <p:nvSpPr>
            <p:cNvPr id="42" name="Figura a mano libera: forma 41">
              <a:extLst>
                <a:ext uri="{FF2B5EF4-FFF2-40B4-BE49-F238E27FC236}">
                  <a16:creationId xmlns:a16="http://schemas.microsoft.com/office/drawing/2014/main" id="{3E8C929D-94F7-2BDB-5CEE-62B91006C6A3}"/>
                </a:ext>
              </a:extLst>
            </p:cNvPr>
            <p:cNvSpPr/>
            <p:nvPr/>
          </p:nvSpPr>
          <p:spPr>
            <a:xfrm>
              <a:off x="6494480" y="1685793"/>
              <a:ext cx="1487033" cy="1189626"/>
            </a:xfrm>
            <a:custGeom>
              <a:avLst/>
              <a:gdLst>
                <a:gd name="connsiteX0" fmla="*/ 0 w 1487033"/>
                <a:gd name="connsiteY0" fmla="*/ 118963 h 1189626"/>
                <a:gd name="connsiteX1" fmla="*/ 118963 w 1487033"/>
                <a:gd name="connsiteY1" fmla="*/ 0 h 1189626"/>
                <a:gd name="connsiteX2" fmla="*/ 1368070 w 1487033"/>
                <a:gd name="connsiteY2" fmla="*/ 0 h 1189626"/>
                <a:gd name="connsiteX3" fmla="*/ 1487033 w 1487033"/>
                <a:gd name="connsiteY3" fmla="*/ 118963 h 1189626"/>
                <a:gd name="connsiteX4" fmla="*/ 1487033 w 1487033"/>
                <a:gd name="connsiteY4" fmla="*/ 1070663 h 1189626"/>
                <a:gd name="connsiteX5" fmla="*/ 1368070 w 1487033"/>
                <a:gd name="connsiteY5" fmla="*/ 1189626 h 1189626"/>
                <a:gd name="connsiteX6" fmla="*/ 118963 w 1487033"/>
                <a:gd name="connsiteY6" fmla="*/ 1189626 h 1189626"/>
                <a:gd name="connsiteX7" fmla="*/ 0 w 1487033"/>
                <a:gd name="connsiteY7" fmla="*/ 1070663 h 1189626"/>
                <a:gd name="connsiteX8" fmla="*/ 0 w 1487033"/>
                <a:gd name="connsiteY8" fmla="*/ 118963 h 118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7033" h="1189626">
                  <a:moveTo>
                    <a:pt x="0" y="118963"/>
                  </a:moveTo>
                  <a:cubicBezTo>
                    <a:pt x="0" y="53262"/>
                    <a:pt x="53262" y="0"/>
                    <a:pt x="118963" y="0"/>
                  </a:cubicBezTo>
                  <a:lnTo>
                    <a:pt x="1368070" y="0"/>
                  </a:lnTo>
                  <a:cubicBezTo>
                    <a:pt x="1433771" y="0"/>
                    <a:pt x="1487033" y="53262"/>
                    <a:pt x="1487033" y="118963"/>
                  </a:cubicBezTo>
                  <a:lnTo>
                    <a:pt x="1487033" y="1070663"/>
                  </a:lnTo>
                  <a:cubicBezTo>
                    <a:pt x="1487033" y="1136364"/>
                    <a:pt x="1433771" y="1189626"/>
                    <a:pt x="1368070" y="1189626"/>
                  </a:cubicBezTo>
                  <a:lnTo>
                    <a:pt x="118963" y="1189626"/>
                  </a:lnTo>
                  <a:cubicBezTo>
                    <a:pt x="53262" y="1189626"/>
                    <a:pt x="0" y="1136364"/>
                    <a:pt x="0" y="1070663"/>
                  </a:cubicBezTo>
                  <a:lnTo>
                    <a:pt x="0" y="118963"/>
                  </a:lnTo>
                  <a:close/>
                </a:path>
              </a:pathLst>
            </a:custGeom>
            <a:ln w="1905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753" tIns="76753" rIns="76753" bIns="76753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kern="1200" noProof="0" dirty="0"/>
            </a:p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noProof="0" dirty="0"/>
            </a:p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noProof="0" dirty="0"/>
                <a:t>a, b, r</a:t>
              </a:r>
            </a:p>
          </p:txBody>
        </p:sp>
        <p:pic>
          <p:nvPicPr>
            <p:cNvPr id="46" name="Elemento grafico 45" descr="DNA con riempimento a tinta unita">
              <a:extLst>
                <a:ext uri="{FF2B5EF4-FFF2-40B4-BE49-F238E27FC236}">
                  <a16:creationId xmlns:a16="http://schemas.microsoft.com/office/drawing/2014/main" id="{BF16919F-CA3B-B99A-5BE3-4C2D2CC26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974191" y="1880517"/>
              <a:ext cx="526949" cy="526949"/>
            </a:xfrm>
            <a:prstGeom prst="rect">
              <a:avLst/>
            </a:prstGeom>
          </p:spPr>
        </p:pic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23BCEF3A-0430-ACF5-37B0-F5AC66339B48}"/>
              </a:ext>
            </a:extLst>
          </p:cNvPr>
          <p:cNvGrpSpPr/>
          <p:nvPr/>
        </p:nvGrpSpPr>
        <p:grpSpPr>
          <a:xfrm>
            <a:off x="2417819" y="1726553"/>
            <a:ext cx="1487033" cy="1189626"/>
            <a:chOff x="2744389" y="1685793"/>
            <a:chExt cx="1487033" cy="1189626"/>
          </a:xfrm>
        </p:grpSpPr>
        <p:sp>
          <p:nvSpPr>
            <p:cNvPr id="29" name="Figura a mano libera: forma 28">
              <a:extLst>
                <a:ext uri="{FF2B5EF4-FFF2-40B4-BE49-F238E27FC236}">
                  <a16:creationId xmlns:a16="http://schemas.microsoft.com/office/drawing/2014/main" id="{65C398FE-482A-432A-EAE0-F9B67AAD8CB3}"/>
                </a:ext>
              </a:extLst>
            </p:cNvPr>
            <p:cNvSpPr/>
            <p:nvPr/>
          </p:nvSpPr>
          <p:spPr>
            <a:xfrm>
              <a:off x="2744389" y="1685793"/>
              <a:ext cx="1487033" cy="1189626"/>
            </a:xfrm>
            <a:custGeom>
              <a:avLst/>
              <a:gdLst>
                <a:gd name="connsiteX0" fmla="*/ 0 w 1487033"/>
                <a:gd name="connsiteY0" fmla="*/ 118963 h 1189626"/>
                <a:gd name="connsiteX1" fmla="*/ 118963 w 1487033"/>
                <a:gd name="connsiteY1" fmla="*/ 0 h 1189626"/>
                <a:gd name="connsiteX2" fmla="*/ 1368070 w 1487033"/>
                <a:gd name="connsiteY2" fmla="*/ 0 h 1189626"/>
                <a:gd name="connsiteX3" fmla="*/ 1487033 w 1487033"/>
                <a:gd name="connsiteY3" fmla="*/ 118963 h 1189626"/>
                <a:gd name="connsiteX4" fmla="*/ 1487033 w 1487033"/>
                <a:gd name="connsiteY4" fmla="*/ 1070663 h 1189626"/>
                <a:gd name="connsiteX5" fmla="*/ 1368070 w 1487033"/>
                <a:gd name="connsiteY5" fmla="*/ 1189626 h 1189626"/>
                <a:gd name="connsiteX6" fmla="*/ 118963 w 1487033"/>
                <a:gd name="connsiteY6" fmla="*/ 1189626 h 1189626"/>
                <a:gd name="connsiteX7" fmla="*/ 0 w 1487033"/>
                <a:gd name="connsiteY7" fmla="*/ 1070663 h 1189626"/>
                <a:gd name="connsiteX8" fmla="*/ 0 w 1487033"/>
                <a:gd name="connsiteY8" fmla="*/ 118963 h 1189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7033" h="1189626">
                  <a:moveTo>
                    <a:pt x="0" y="118963"/>
                  </a:moveTo>
                  <a:cubicBezTo>
                    <a:pt x="0" y="53262"/>
                    <a:pt x="53262" y="0"/>
                    <a:pt x="118963" y="0"/>
                  </a:cubicBezTo>
                  <a:lnTo>
                    <a:pt x="1368070" y="0"/>
                  </a:lnTo>
                  <a:cubicBezTo>
                    <a:pt x="1433771" y="0"/>
                    <a:pt x="1487033" y="53262"/>
                    <a:pt x="1487033" y="118963"/>
                  </a:cubicBezTo>
                  <a:lnTo>
                    <a:pt x="1487033" y="1070663"/>
                  </a:lnTo>
                  <a:cubicBezTo>
                    <a:pt x="1487033" y="1136364"/>
                    <a:pt x="1433771" y="1189626"/>
                    <a:pt x="1368070" y="1189626"/>
                  </a:cubicBezTo>
                  <a:lnTo>
                    <a:pt x="118963" y="1189626"/>
                  </a:lnTo>
                  <a:cubicBezTo>
                    <a:pt x="53262" y="1189626"/>
                    <a:pt x="0" y="1136364"/>
                    <a:pt x="0" y="1070663"/>
                  </a:cubicBezTo>
                  <a:lnTo>
                    <a:pt x="0" y="118963"/>
                  </a:lnTo>
                  <a:close/>
                </a:path>
              </a:pathLst>
            </a:custGeom>
            <a:ln w="1905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753" tIns="76753" rIns="76753" bIns="76753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noProof="0" dirty="0"/>
            </a:p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noProof="0" dirty="0"/>
            </a:p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noProof="0" dirty="0"/>
                <a:t>E, LET, D</a:t>
              </a:r>
              <a:endParaRPr lang="en-US" kern="1200" noProof="0" dirty="0"/>
            </a:p>
          </p:txBody>
        </p:sp>
        <p:pic>
          <p:nvPicPr>
            <p:cNvPr id="47" name="Elemento grafico 46" descr="Atomo con riempimento a tinta unita">
              <a:extLst>
                <a:ext uri="{FF2B5EF4-FFF2-40B4-BE49-F238E27FC236}">
                  <a16:creationId xmlns:a16="http://schemas.microsoft.com/office/drawing/2014/main" id="{21DAE23C-4FBD-1A0C-8ED8-F99F120F8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225054" y="1865211"/>
              <a:ext cx="526949" cy="526949"/>
            </a:xfrm>
            <a:prstGeom prst="rect">
              <a:avLst/>
            </a:prstGeom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71CF0CF4-CDBE-41E7-B529-0F25D8AC59C4}"/>
              </a:ext>
            </a:extLst>
          </p:cNvPr>
          <p:cNvGrpSpPr/>
          <p:nvPr/>
        </p:nvGrpSpPr>
        <p:grpSpPr>
          <a:xfrm>
            <a:off x="4042436" y="3101639"/>
            <a:ext cx="1565298" cy="1565298"/>
            <a:chOff x="4580302" y="2889649"/>
            <a:chExt cx="1565298" cy="1565298"/>
          </a:xfrm>
        </p:grpSpPr>
        <p:sp>
          <p:nvSpPr>
            <p:cNvPr id="27" name="Figura a mano libera: forma 26">
              <a:extLst>
                <a:ext uri="{FF2B5EF4-FFF2-40B4-BE49-F238E27FC236}">
                  <a16:creationId xmlns:a16="http://schemas.microsoft.com/office/drawing/2014/main" id="{AFBE4BDB-2280-92D9-6B62-1115C834007E}"/>
                </a:ext>
              </a:extLst>
            </p:cNvPr>
            <p:cNvSpPr/>
            <p:nvPr/>
          </p:nvSpPr>
          <p:spPr>
            <a:xfrm>
              <a:off x="4580302" y="2889649"/>
              <a:ext cx="1565298" cy="1565298"/>
            </a:xfrm>
            <a:custGeom>
              <a:avLst/>
              <a:gdLst>
                <a:gd name="connsiteX0" fmla="*/ 0 w 1565298"/>
                <a:gd name="connsiteY0" fmla="*/ 782649 h 1565298"/>
                <a:gd name="connsiteX1" fmla="*/ 782649 w 1565298"/>
                <a:gd name="connsiteY1" fmla="*/ 0 h 1565298"/>
                <a:gd name="connsiteX2" fmla="*/ 1565298 w 1565298"/>
                <a:gd name="connsiteY2" fmla="*/ 782649 h 1565298"/>
                <a:gd name="connsiteX3" fmla="*/ 782649 w 1565298"/>
                <a:gd name="connsiteY3" fmla="*/ 1565298 h 1565298"/>
                <a:gd name="connsiteX4" fmla="*/ 0 w 1565298"/>
                <a:gd name="connsiteY4" fmla="*/ 782649 h 156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5298" h="1565298">
                  <a:moveTo>
                    <a:pt x="0" y="782649"/>
                  </a:moveTo>
                  <a:cubicBezTo>
                    <a:pt x="0" y="350404"/>
                    <a:pt x="350404" y="0"/>
                    <a:pt x="782649" y="0"/>
                  </a:cubicBezTo>
                  <a:cubicBezTo>
                    <a:pt x="1214894" y="0"/>
                    <a:pt x="1565298" y="350404"/>
                    <a:pt x="1565298" y="782649"/>
                  </a:cubicBezTo>
                  <a:cubicBezTo>
                    <a:pt x="1565298" y="1214894"/>
                    <a:pt x="1214894" y="1565298"/>
                    <a:pt x="782649" y="1565298"/>
                  </a:cubicBezTo>
                  <a:cubicBezTo>
                    <a:pt x="350404" y="1565298"/>
                    <a:pt x="0" y="1214894"/>
                    <a:pt x="0" y="782649"/>
                  </a:cubicBezTo>
                  <a:close/>
                </a:path>
              </a:pathLst>
            </a:custGeom>
            <a:ln w="1905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2568" tIns="242568" rIns="242568" bIns="242568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1" kern="1200" noProof="0" dirty="0"/>
            </a:p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1" noProof="0" dirty="0"/>
            </a:p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noProof="0" dirty="0"/>
                <a:t>MS-GSM</a:t>
              </a:r>
              <a:r>
                <a:rPr lang="en-US" sz="1600" b="1" kern="1200" baseline="30000" noProof="0" dirty="0"/>
                <a:t>2</a:t>
              </a:r>
              <a:r>
                <a:rPr lang="en-US" sz="1600" b="1" kern="1200" noProof="0" dirty="0"/>
                <a:t>-based NTCP</a:t>
              </a:r>
            </a:p>
          </p:txBody>
        </p:sp>
        <p:pic>
          <p:nvPicPr>
            <p:cNvPr id="8" name="Elemento grafico 7" descr="Matematica per formazione da remoto con riempimento a tinta unita">
              <a:extLst>
                <a:ext uri="{FF2B5EF4-FFF2-40B4-BE49-F238E27FC236}">
                  <a16:creationId xmlns:a16="http://schemas.microsoft.com/office/drawing/2014/main" id="{50225F74-3936-8FBF-3E0C-2ADFECB08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105270" y="3174677"/>
              <a:ext cx="526949" cy="526949"/>
            </a:xfrm>
            <a:prstGeom prst="rect">
              <a:avLst/>
            </a:prstGeom>
          </p:spPr>
        </p:pic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5D2480F-3ADD-81CD-9FA4-84640EF029FE}"/>
              </a:ext>
            </a:extLst>
          </p:cNvPr>
          <p:cNvSpPr txBox="1"/>
          <p:nvPr/>
        </p:nvSpPr>
        <p:spPr>
          <a:xfrm>
            <a:off x="2022482" y="915514"/>
            <a:ext cx="5593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Experiments with multi-layer systems and bioreactor </a:t>
            </a:r>
          </a:p>
        </p:txBody>
      </p:sp>
      <p:pic>
        <p:nvPicPr>
          <p:cNvPr id="17" name="Picture 2" descr="MIRO">
            <a:extLst>
              <a:ext uri="{FF2B5EF4-FFF2-40B4-BE49-F238E27FC236}">
                <a16:creationId xmlns:a16="http://schemas.microsoft.com/office/drawing/2014/main" id="{56383818-5140-9E4B-33E5-089823ABF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6010" y="3210030"/>
            <a:ext cx="1397052" cy="651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470CF614-C0B8-B9EC-5E04-8EB8D673537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010" y="4430670"/>
            <a:ext cx="1397051" cy="916098"/>
          </a:xfrm>
          <a:prstGeom prst="rect">
            <a:avLst/>
          </a:prstGeom>
        </p:spPr>
      </p:pic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25EA77B7-1353-A248-AF00-DAF2F14D91E9}"/>
              </a:ext>
            </a:extLst>
          </p:cNvPr>
          <p:cNvSpPr txBox="1"/>
          <p:nvPr/>
        </p:nvSpPr>
        <p:spPr>
          <a:xfrm>
            <a:off x="9532192" y="4031190"/>
            <a:ext cx="11927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1200" noProof="0" dirty="0"/>
              <a:t>FLASH RT</a:t>
            </a:r>
            <a:endParaRPr lang="en-US" b="1" noProof="0" dirty="0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8817172E-7D97-A269-A3AF-6AF85F507189}"/>
              </a:ext>
            </a:extLst>
          </p:cNvPr>
          <p:cNvSpPr txBox="1"/>
          <p:nvPr/>
        </p:nvSpPr>
        <p:spPr>
          <a:xfrm>
            <a:off x="8844418" y="2772343"/>
            <a:ext cx="2568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kern="1200" noProof="0" dirty="0"/>
              <a:t>Spatially fractionated RT</a:t>
            </a:r>
            <a:endParaRPr lang="en-US" b="1" noProof="0" dirty="0"/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4B5FD6C0-7FE3-41ED-34DD-51927204A72C}"/>
              </a:ext>
            </a:extLst>
          </p:cNvPr>
          <p:cNvSpPr txBox="1"/>
          <p:nvPr/>
        </p:nvSpPr>
        <p:spPr>
          <a:xfrm>
            <a:off x="8777796" y="1366432"/>
            <a:ext cx="26989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noProof="0" dirty="0"/>
              <a:t>Possible spillovers </a:t>
            </a:r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A51B0091-E461-7873-EED1-01DC604FAB2E}"/>
              </a:ext>
            </a:extLst>
          </p:cNvPr>
          <p:cNvSpPr/>
          <p:nvPr/>
        </p:nvSpPr>
        <p:spPr>
          <a:xfrm>
            <a:off x="8670894" y="5407634"/>
            <a:ext cx="2912785" cy="5257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sng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M. Battestini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 et al., Front. Phys. (2023)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u="sng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M. Battestini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 et al.,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Radiother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  <a:sym typeface="Calibri"/>
              </a:rPr>
              <a:t>. Oncol. (2025)</a:t>
            </a:r>
          </a:p>
        </p:txBody>
      </p:sp>
      <p:sp>
        <p:nvSpPr>
          <p:cNvPr id="20" name="Freccia a sinistra 19">
            <a:extLst>
              <a:ext uri="{FF2B5EF4-FFF2-40B4-BE49-F238E27FC236}">
                <a16:creationId xmlns:a16="http://schemas.microsoft.com/office/drawing/2014/main" id="{7B32790E-01D7-8781-1ECC-48D9B803BDB0}"/>
              </a:ext>
            </a:extLst>
          </p:cNvPr>
          <p:cNvSpPr/>
          <p:nvPr/>
        </p:nvSpPr>
        <p:spPr>
          <a:xfrm rot="10800000">
            <a:off x="7703940" y="3493925"/>
            <a:ext cx="641897" cy="403836"/>
          </a:xfrm>
          <a:prstGeom prst="leftArrow">
            <a:avLst>
              <a:gd name="adj1" fmla="val 60000"/>
              <a:gd name="adj2" fmla="val 50000"/>
            </a:avLst>
          </a:prstGeom>
          <a:solidFill>
            <a:srgbClr val="5B9BD5">
              <a:lumMod val="75000"/>
            </a:srgbClr>
          </a:solidFill>
          <a:ln>
            <a:noFill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F8A92C6-4D07-C8CD-7EC4-9A3E30BEDC6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18" y="3232413"/>
            <a:ext cx="1090145" cy="60503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5075D667-3270-3C0B-FCE8-BF89935F0E2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18" y="4583098"/>
            <a:ext cx="1090145" cy="605030"/>
          </a:xfrm>
          <a:prstGeom prst="rect">
            <a:avLst/>
          </a:prstGeom>
        </p:spPr>
      </p:pic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CD845713-ECC0-0B06-36FD-B52407670864}"/>
              </a:ext>
            </a:extLst>
          </p:cNvPr>
          <p:cNvSpPr txBox="1"/>
          <p:nvPr/>
        </p:nvSpPr>
        <p:spPr>
          <a:xfrm>
            <a:off x="8466468" y="1830706"/>
            <a:ext cx="33241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chemeClr val="tx1"/>
                </a:solidFill>
                <a:latin typeface="Calibri (Corpo)"/>
              </a:rPr>
              <a:t>An integrated modeling-experimental approach to assess skin toxicity with innovative irradiation techniques</a:t>
            </a:r>
            <a:endParaRPr lang="en-US" sz="1600" noProof="0" dirty="0"/>
          </a:p>
        </p:txBody>
      </p:sp>
      <p:pic>
        <p:nvPicPr>
          <p:cNvPr id="21" name="Elemento grafico 20" descr="Tiro a segno contorno">
            <a:extLst>
              <a:ext uri="{FF2B5EF4-FFF2-40B4-BE49-F238E27FC236}">
                <a16:creationId xmlns:a16="http://schemas.microsoft.com/office/drawing/2014/main" id="{A4E4D051-7E39-1001-D372-D14F3EA0A24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555533" y="5269308"/>
            <a:ext cx="526949" cy="52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3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9" grpId="0" animBg="1"/>
      <p:bldP spid="43" grpId="0" animBg="1"/>
      <p:bldP spid="28" grpId="0" animBg="1"/>
      <p:bldP spid="30" grpId="0" animBg="1"/>
      <p:bldP spid="41" grpId="0" animBg="1"/>
      <p:bldP spid="44" grpId="0" animBg="1"/>
      <p:bldP spid="10" grpId="0"/>
      <p:bldP spid="48" grpId="0"/>
      <p:bldP spid="50" grpId="0"/>
      <p:bldP spid="52" grpId="0"/>
      <p:bldP spid="54" grpId="0"/>
      <p:bldP spid="20" grpId="0" animBg="1"/>
      <p:bldP spid="4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78CF-CB87-1465-FF73-1AB6E944E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1">
            <a:extLst>
              <a:ext uri="{FF2B5EF4-FFF2-40B4-BE49-F238E27FC236}">
                <a16:creationId xmlns:a16="http://schemas.microsoft.com/office/drawing/2014/main" id="{E559B4E1-881C-B631-16DC-AE65B1C3F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42769C4-6AAB-DB58-9384-B456BF46D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34C91A8A-D4E8-150E-107D-A1995E60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1B58F773-CAB2-33F4-A01A-6AE054F81670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n-US" sz="4000" b="1" noProof="0" dirty="0">
                <a:solidFill>
                  <a:prstClr val="black"/>
                </a:solidFill>
              </a:rPr>
              <a:t>Gantt chart and milestones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B7F0738-409D-FC82-5E96-034EADF84452}"/>
              </a:ext>
            </a:extLst>
          </p:cNvPr>
          <p:cNvSpPr txBox="1"/>
          <p:nvPr/>
        </p:nvSpPr>
        <p:spPr>
          <a:xfrm>
            <a:off x="6154613" y="1012319"/>
            <a:ext cx="551152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US" sz="1100" b="1" i="0" u="none" strike="noStrike" noProof="0" dirty="0">
                <a:solidFill>
                  <a:srgbClr val="3C78D8"/>
                </a:solidFill>
                <a:effectLst/>
                <a:latin typeface="Arial" panose="020B0604020202020204" pitchFamily="34" charset="0"/>
              </a:rPr>
              <a:t>WP1.1:</a:t>
            </a:r>
            <a:r>
              <a:rPr lang="en-US" sz="1100" b="1" i="0" u="none" strike="noStrike" noProof="0" dirty="0">
                <a:solidFill>
                  <a:srgbClr val="6AA84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100" b="0" i="0" u="none" strike="noStrike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Development of a general mechanistic-driven NTCP model and systematic analysis of model parameters</a:t>
            </a:r>
            <a:endParaRPr lang="en-US" sz="1100" b="0" noProof="0" dirty="0">
              <a:effectLst/>
            </a:endParaRPr>
          </a:p>
          <a:p>
            <a:pPr algn="just" rtl="0">
              <a:buNone/>
            </a:pPr>
            <a:r>
              <a:rPr lang="en-US" sz="1100" b="1" i="0" u="none" strike="noStrike" noProof="0" dirty="0">
                <a:solidFill>
                  <a:srgbClr val="3C78D8"/>
                </a:solidFill>
                <a:effectLst/>
                <a:latin typeface="Arial" panose="020B0604020202020204" pitchFamily="34" charset="0"/>
              </a:rPr>
              <a:t>WP1.2:</a:t>
            </a:r>
            <a:r>
              <a:rPr lang="en-US" sz="1100" b="0" i="0" u="none" strike="noStrike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Applications of the NTCP model to </a:t>
            </a:r>
            <a:r>
              <a:rPr lang="en-US" sz="1100" b="0" i="1" u="none" strike="noStrike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in-vivo</a:t>
            </a:r>
            <a:r>
              <a:rPr lang="en-US" sz="1100" b="0" i="0" u="none" strike="noStrike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experimental data from literature</a:t>
            </a:r>
            <a:endParaRPr lang="en-US" sz="1100" b="0" noProof="0" dirty="0">
              <a:effectLst/>
            </a:endParaRPr>
          </a:p>
          <a:p>
            <a:pPr algn="just" rtl="0">
              <a:buNone/>
            </a:pPr>
            <a:r>
              <a:rPr lang="en-US" sz="1100" b="1" i="0" u="none" strike="noStrike" noProof="0" dirty="0">
                <a:solidFill>
                  <a:srgbClr val="3C78D8"/>
                </a:solidFill>
                <a:effectLst/>
                <a:latin typeface="Arial" panose="020B0604020202020204" pitchFamily="34" charset="0"/>
              </a:rPr>
              <a:t>WP1.3:</a:t>
            </a:r>
            <a:r>
              <a:rPr lang="en-US" sz="1100" b="0" i="0" u="none" strike="noStrike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Model extension towards clinically relevant predictions for simple geometries  </a:t>
            </a:r>
            <a:endParaRPr lang="en-US" sz="1100" b="0" noProof="0" dirty="0">
              <a:effectLst/>
            </a:endParaRPr>
          </a:p>
          <a:p>
            <a:pPr algn="just">
              <a:buNone/>
            </a:pPr>
            <a:endParaRPr lang="en-US" sz="1100" b="0" noProof="0" dirty="0">
              <a:effectLst/>
            </a:endParaRPr>
          </a:p>
          <a:p>
            <a:pPr algn="just" rtl="0">
              <a:buNone/>
            </a:pPr>
            <a:r>
              <a:rPr lang="en-US" sz="1100" b="1" i="0" u="none" strike="noStrike" noProof="0" dirty="0">
                <a:solidFill>
                  <a:srgbClr val="6AA84F"/>
                </a:solidFill>
                <a:effectLst/>
                <a:latin typeface="Arial" panose="020B0604020202020204" pitchFamily="34" charset="0"/>
              </a:rPr>
              <a:t>WP2.1:</a:t>
            </a:r>
            <a:r>
              <a:rPr lang="en-US" sz="1100" b="0" i="0" u="none" strike="noStrike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Proton irradiation of biological multi-layer systems with proton beams and  bio-chemical analyses</a:t>
            </a:r>
            <a:endParaRPr lang="en-US" sz="1100" b="0" noProof="0" dirty="0">
              <a:effectLst/>
            </a:endParaRPr>
          </a:p>
          <a:p>
            <a:pPr algn="just" rtl="0">
              <a:buNone/>
            </a:pPr>
            <a:r>
              <a:rPr lang="en-US" sz="1100" b="1" i="0" u="none" strike="noStrike" noProof="0" dirty="0">
                <a:solidFill>
                  <a:srgbClr val="6AA84F"/>
                </a:solidFill>
                <a:effectLst/>
                <a:latin typeface="Arial" panose="020B0604020202020204" pitchFamily="34" charset="0"/>
              </a:rPr>
              <a:t>WP2.2:</a:t>
            </a:r>
            <a:r>
              <a:rPr lang="en-US" sz="1100" b="0" i="0" u="none" strike="noStrike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Development of a specific mechanistic-driven model for skin lesions</a:t>
            </a:r>
            <a:endParaRPr lang="en-US" sz="1100" b="0" noProof="0" dirty="0">
              <a:effectLst/>
            </a:endParaRPr>
          </a:p>
          <a:p>
            <a:pPr algn="just" rtl="0">
              <a:buNone/>
            </a:pPr>
            <a:r>
              <a:rPr lang="en-US" sz="1100" b="1" i="0" u="none" strike="noStrike" noProof="0" dirty="0">
                <a:solidFill>
                  <a:srgbClr val="6AA84F"/>
                </a:solidFill>
                <a:effectLst/>
                <a:latin typeface="Arial" panose="020B0604020202020204" pitchFamily="34" charset="0"/>
              </a:rPr>
              <a:t>WP2.3:</a:t>
            </a:r>
            <a:r>
              <a:rPr lang="en-US" sz="1100" b="0" i="0" u="none" strike="noStrike" noProof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Calibrations of bio-chemical model parameters on in-house experiments</a:t>
            </a:r>
            <a:endParaRPr lang="en-US" sz="1100" b="0" noProof="0" dirty="0">
              <a:effectLst/>
            </a:endParaRPr>
          </a:p>
          <a:p>
            <a:pPr algn="just">
              <a:buNone/>
            </a:pPr>
            <a:endParaRPr lang="en-US" sz="1100" noProof="0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3A1DB940-2385-FA70-81EC-7B78344B9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73" y="1049406"/>
            <a:ext cx="5727907" cy="5401716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8895F19D-E252-1AA3-D39B-D5986556E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613" y="2674533"/>
            <a:ext cx="5727907" cy="3744159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E4002574-201A-4B6B-3464-A67D240F9A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399" y="137073"/>
            <a:ext cx="2358606" cy="75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97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B1A1A-B583-4F3D-CAE3-46A90E6E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1">
            <a:extLst>
              <a:ext uri="{FF2B5EF4-FFF2-40B4-BE49-F238E27FC236}">
                <a16:creationId xmlns:a16="http://schemas.microsoft.com/office/drawing/2014/main" id="{A53FC3C8-6409-77A6-A766-1B2A181B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C901D62-DEA0-F036-13EB-6A10A03F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C432D82-AF1A-0F0D-0F53-664A259C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F0A51EAF-0859-F997-C090-468D360F1DCF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Organization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1F87390-C3E7-E3D2-D495-5293BAFBB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38" y="1023601"/>
            <a:ext cx="6614733" cy="508298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43BFA35-8247-534E-A1FA-098D13D1E9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7" r="4433"/>
          <a:stretch>
            <a:fillRect/>
          </a:stretch>
        </p:blipFill>
        <p:spPr bwMode="auto">
          <a:xfrm>
            <a:off x="7570238" y="1409461"/>
            <a:ext cx="2275519" cy="345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27103B3-A805-916A-AF3E-5BA050FE66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1" r="6418"/>
          <a:stretch>
            <a:fillRect/>
          </a:stretch>
        </p:blipFill>
        <p:spPr bwMode="auto">
          <a:xfrm>
            <a:off x="9817287" y="1409461"/>
            <a:ext cx="2275519" cy="345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arrotondato 55">
            <a:extLst>
              <a:ext uri="{FF2B5EF4-FFF2-40B4-BE49-F238E27FC236}">
                <a16:creationId xmlns:a16="http://schemas.microsoft.com/office/drawing/2014/main" id="{8DF8DE5A-453E-F59D-3466-C5DA8CB3AAFE}"/>
              </a:ext>
            </a:extLst>
          </p:cNvPr>
          <p:cNvSpPr/>
          <p:nvPr/>
        </p:nvSpPr>
        <p:spPr>
          <a:xfrm>
            <a:off x="959197" y="1507253"/>
            <a:ext cx="6501283" cy="1921747"/>
          </a:xfrm>
          <a:prstGeom prst="roundRect">
            <a:avLst>
              <a:gd name="adj" fmla="val 7236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ttangolo arrotondato 55">
            <a:extLst>
              <a:ext uri="{FF2B5EF4-FFF2-40B4-BE49-F238E27FC236}">
                <a16:creationId xmlns:a16="http://schemas.microsoft.com/office/drawing/2014/main" id="{5E78030E-704C-1AA2-D2C8-1E7552BA4CA2}"/>
              </a:ext>
            </a:extLst>
          </p:cNvPr>
          <p:cNvSpPr/>
          <p:nvPr/>
        </p:nvSpPr>
        <p:spPr>
          <a:xfrm>
            <a:off x="959197" y="3496750"/>
            <a:ext cx="6501283" cy="1100371"/>
          </a:xfrm>
          <a:prstGeom prst="roundRect">
            <a:avLst>
              <a:gd name="adj" fmla="val 11419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ttangolo arrotondato 55">
            <a:extLst>
              <a:ext uri="{FF2B5EF4-FFF2-40B4-BE49-F238E27FC236}">
                <a16:creationId xmlns:a16="http://schemas.microsoft.com/office/drawing/2014/main" id="{79865C10-6801-52BC-66D8-A689A4F89D99}"/>
              </a:ext>
            </a:extLst>
          </p:cNvPr>
          <p:cNvSpPr/>
          <p:nvPr/>
        </p:nvSpPr>
        <p:spPr>
          <a:xfrm>
            <a:off x="959197" y="4664872"/>
            <a:ext cx="6501283" cy="439692"/>
          </a:xfrm>
          <a:prstGeom prst="roundRect">
            <a:avLst>
              <a:gd name="adj" fmla="val 31987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4A24F33F-8167-7F00-501E-18A1BCD22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399" y="137073"/>
            <a:ext cx="2358606" cy="750037"/>
          </a:xfrm>
          <a:prstGeom prst="rect">
            <a:avLst/>
          </a:prstGeom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B16C37F8-CDC8-C574-C25B-76B2FB2DE27C}"/>
              </a:ext>
            </a:extLst>
          </p:cNvPr>
          <p:cNvGrpSpPr>
            <a:grpSpLocks noChangeAspect="1"/>
          </p:cNvGrpSpPr>
          <p:nvPr/>
        </p:nvGrpSpPr>
        <p:grpSpPr>
          <a:xfrm>
            <a:off x="117675" y="3864372"/>
            <a:ext cx="745565" cy="365125"/>
            <a:chOff x="2491255" y="6297394"/>
            <a:chExt cx="1090145" cy="533876"/>
          </a:xfrm>
        </p:grpSpPr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73DDAFF9-D032-44E3-3CFB-FDF4D15F2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941"/>
            <a:stretch>
              <a:fillRect/>
            </a:stretch>
          </p:blipFill>
          <p:spPr>
            <a:xfrm>
              <a:off x="2491255" y="6297394"/>
              <a:ext cx="1090145" cy="460181"/>
            </a:xfrm>
            <a:prstGeom prst="rect">
              <a:avLst/>
            </a:prstGeom>
          </p:spPr>
        </p:pic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15C3966C-9655-A671-2201-87A5AE0D2E7B}"/>
                </a:ext>
              </a:extLst>
            </p:cNvPr>
            <p:cNvSpPr txBox="1"/>
            <p:nvPr/>
          </p:nvSpPr>
          <p:spPr>
            <a:xfrm>
              <a:off x="3036327" y="6615826"/>
              <a:ext cx="47000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noProof="0" dirty="0">
                  <a:solidFill>
                    <a:srgbClr val="4E92A9"/>
                  </a:solidFill>
                </a:rPr>
                <a:t>PAVIA</a:t>
              </a:r>
            </a:p>
          </p:txBody>
        </p: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7E8B2034-4DD1-9DB0-1BBD-CC89001EB4E3}"/>
              </a:ext>
            </a:extLst>
          </p:cNvPr>
          <p:cNvGrpSpPr>
            <a:grpSpLocks noChangeAspect="1"/>
          </p:cNvGrpSpPr>
          <p:nvPr/>
        </p:nvGrpSpPr>
        <p:grpSpPr>
          <a:xfrm>
            <a:off x="117674" y="4683651"/>
            <a:ext cx="745565" cy="365125"/>
            <a:chOff x="3679890" y="6270239"/>
            <a:chExt cx="1090145" cy="533876"/>
          </a:xfrm>
        </p:grpSpPr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7AC4C92E-81DC-BDD0-FC1B-84935AB28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941"/>
            <a:stretch>
              <a:fillRect/>
            </a:stretch>
          </p:blipFill>
          <p:spPr>
            <a:xfrm>
              <a:off x="3679890" y="6270239"/>
              <a:ext cx="1090145" cy="460181"/>
            </a:xfrm>
            <a:prstGeom prst="rect">
              <a:avLst/>
            </a:prstGeom>
          </p:spPr>
        </p:pic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DFAF7141-068C-E526-2160-A7837EB5EDE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24962" y="6588671"/>
              <a:ext cx="5373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noProof="0" dirty="0">
                  <a:solidFill>
                    <a:srgbClr val="4E92A9"/>
                  </a:solidFill>
                </a:rPr>
                <a:t>NAPOLI</a:t>
              </a:r>
            </a:p>
          </p:txBody>
        </p:sp>
      </p:grpSp>
      <p:pic>
        <p:nvPicPr>
          <p:cNvPr id="18" name="Immagine 17">
            <a:extLst>
              <a:ext uri="{FF2B5EF4-FFF2-40B4-BE49-F238E27FC236}">
                <a16:creationId xmlns:a16="http://schemas.microsoft.com/office/drawing/2014/main" id="{B3CF8CB2-ED8A-F37A-FBA4-FD8B88E2A0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7952"/>
            <a:ext cx="992820" cy="6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210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55809-0E5A-B760-05D1-21823A37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1">
            <a:extLst>
              <a:ext uri="{FF2B5EF4-FFF2-40B4-BE49-F238E27FC236}">
                <a16:creationId xmlns:a16="http://schemas.microsoft.com/office/drawing/2014/main" id="{EC720068-1CAC-5E4D-DF0E-1EFFC5528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80148CA-82CA-7FB0-7170-4764E95B1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2847472-2986-104B-464F-1A115513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47944227-5541-CD6A-D0CC-35B204C935F9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Costs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DB50025-7ED2-9F31-3438-FE7BDA0FD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581" y="1272353"/>
            <a:ext cx="6652837" cy="4313294"/>
          </a:xfrm>
          <a:prstGeom prst="rect">
            <a:avLst/>
          </a:prstGeom>
        </p:spPr>
      </p:pic>
      <p:sp>
        <p:nvSpPr>
          <p:cNvPr id="7" name="Rettangolo arrotondato 55">
            <a:extLst>
              <a:ext uri="{FF2B5EF4-FFF2-40B4-BE49-F238E27FC236}">
                <a16:creationId xmlns:a16="http://schemas.microsoft.com/office/drawing/2014/main" id="{1F4C9F40-1D19-9B0B-B310-69DF685DD882}"/>
              </a:ext>
            </a:extLst>
          </p:cNvPr>
          <p:cNvSpPr/>
          <p:nvPr/>
        </p:nvSpPr>
        <p:spPr>
          <a:xfrm>
            <a:off x="2843684" y="2120202"/>
            <a:ext cx="6501283" cy="251209"/>
          </a:xfrm>
          <a:prstGeom prst="roundRect">
            <a:avLst>
              <a:gd name="adj" fmla="val 1141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54AD12B-E5A6-36CB-641D-5797623737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399" y="137073"/>
            <a:ext cx="2358606" cy="750037"/>
          </a:xfrm>
          <a:prstGeom prst="rect">
            <a:avLst/>
          </a:prstGeom>
        </p:spPr>
      </p:pic>
      <p:sp>
        <p:nvSpPr>
          <p:cNvPr id="8" name="Rettangolo arrotondato 55">
            <a:extLst>
              <a:ext uri="{FF2B5EF4-FFF2-40B4-BE49-F238E27FC236}">
                <a16:creationId xmlns:a16="http://schemas.microsoft.com/office/drawing/2014/main" id="{038DD917-5F89-A669-0AB7-B9B6EAFCA93B}"/>
              </a:ext>
            </a:extLst>
          </p:cNvPr>
          <p:cNvSpPr/>
          <p:nvPr/>
        </p:nvSpPr>
        <p:spPr>
          <a:xfrm>
            <a:off x="2843684" y="5227782"/>
            <a:ext cx="6501283" cy="316318"/>
          </a:xfrm>
          <a:prstGeom prst="roundRect">
            <a:avLst>
              <a:gd name="adj" fmla="val 1141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1900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80517-8FCD-AA31-22AD-B43D6B13B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data 1">
            <a:extLst>
              <a:ext uri="{FF2B5EF4-FFF2-40B4-BE49-F238E27FC236}">
                <a16:creationId xmlns:a16="http://schemas.microsoft.com/office/drawing/2014/main" id="{BAEED1B5-69A2-4354-9DDD-5BB0D905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11" name="Segnaposto piè di pagina 3">
            <a:extLst>
              <a:ext uri="{FF2B5EF4-FFF2-40B4-BE49-F238E27FC236}">
                <a16:creationId xmlns:a16="http://schemas.microsoft.com/office/drawing/2014/main" id="{021D71AF-4FDB-8046-8D5C-EBB53D01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9" name="Segnaposto numero diapositiva 10">
            <a:extLst>
              <a:ext uri="{FF2B5EF4-FFF2-40B4-BE49-F238E27FC236}">
                <a16:creationId xmlns:a16="http://schemas.microsoft.com/office/drawing/2014/main" id="{A17CBEDC-C20E-A15D-9739-E9074FB9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D6A94-FE70-45EA-859B-A205DD54D9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473BAE89-A17A-9D93-C9F2-0938B6DA08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5246125"/>
              </p:ext>
            </p:extLst>
          </p:nvPr>
        </p:nvGraphicFramePr>
        <p:xfrm>
          <a:off x="838200" y="119630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Immagine 1">
            <a:extLst>
              <a:ext uri="{FF2B5EF4-FFF2-40B4-BE49-F238E27FC236}">
                <a16:creationId xmlns:a16="http://schemas.microsoft.com/office/drawing/2014/main" id="{4F133DFB-DD9E-480C-7117-487219587A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359" y="243030"/>
            <a:ext cx="3433681" cy="109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35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64908C8-72CB-B1A0-0786-85CCB60F2814}"/>
              </a:ext>
            </a:extLst>
          </p:cNvPr>
          <p:cNvSpPr txBox="1">
            <a:spLocks/>
          </p:cNvSpPr>
          <p:nvPr/>
        </p:nvSpPr>
        <p:spPr>
          <a:xfrm>
            <a:off x="0" y="2714898"/>
            <a:ext cx="12192000" cy="142820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Backup slides</a:t>
            </a:r>
          </a:p>
        </p:txBody>
      </p:sp>
      <p:sp>
        <p:nvSpPr>
          <p:cNvPr id="6" name="Segnaposto data 1">
            <a:extLst>
              <a:ext uri="{FF2B5EF4-FFF2-40B4-BE49-F238E27FC236}">
                <a16:creationId xmlns:a16="http://schemas.microsoft.com/office/drawing/2014/main" id="{3660C442-D354-C893-7A75-0FD039835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</p:spTree>
    <p:extLst>
      <p:ext uri="{BB962C8B-B14F-4D97-AF65-F5344CB8AC3E}">
        <p14:creationId xmlns:p14="http://schemas.microsoft.com/office/powerpoint/2010/main" val="3492571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D1BD1-AE05-C16B-3F8F-A2B353282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1">
            <a:extLst>
              <a:ext uri="{FF2B5EF4-FFF2-40B4-BE49-F238E27FC236}">
                <a16:creationId xmlns:a16="http://schemas.microsoft.com/office/drawing/2014/main" id="{6A642C75-CF1C-CD36-B998-E8CCB3B4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A25257C-9CAB-7DCF-7202-65EFECAB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DB5C85D3-5D98-9646-43F9-E3845B644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A0E66EE6-6848-15B3-5D49-6D2A0B35E2B8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Risk assessment</a:t>
            </a:r>
          </a:p>
        </p:txBody>
      </p:sp>
      <p:sp>
        <p:nvSpPr>
          <p:cNvPr id="10" name="Figura a mano libera: forma 9">
            <a:extLst>
              <a:ext uri="{FF2B5EF4-FFF2-40B4-BE49-F238E27FC236}">
                <a16:creationId xmlns:a16="http://schemas.microsoft.com/office/drawing/2014/main" id="{744E19A8-8B16-29CD-A841-326420A79FEB}"/>
              </a:ext>
            </a:extLst>
          </p:cNvPr>
          <p:cNvSpPr/>
          <p:nvPr/>
        </p:nvSpPr>
        <p:spPr>
          <a:xfrm>
            <a:off x="450759" y="887107"/>
            <a:ext cx="3689161" cy="5469242"/>
          </a:xfrm>
          <a:custGeom>
            <a:avLst/>
            <a:gdLst>
              <a:gd name="connsiteX0" fmla="*/ 0 w 2579687"/>
              <a:gd name="connsiteY0" fmla="*/ 257969 h 5418667"/>
              <a:gd name="connsiteX1" fmla="*/ 257969 w 2579687"/>
              <a:gd name="connsiteY1" fmla="*/ 0 h 5418667"/>
              <a:gd name="connsiteX2" fmla="*/ 2321718 w 2579687"/>
              <a:gd name="connsiteY2" fmla="*/ 0 h 5418667"/>
              <a:gd name="connsiteX3" fmla="*/ 2579687 w 2579687"/>
              <a:gd name="connsiteY3" fmla="*/ 257969 h 5418667"/>
              <a:gd name="connsiteX4" fmla="*/ 2579687 w 2579687"/>
              <a:gd name="connsiteY4" fmla="*/ 5160698 h 5418667"/>
              <a:gd name="connsiteX5" fmla="*/ 2321718 w 2579687"/>
              <a:gd name="connsiteY5" fmla="*/ 5418667 h 5418667"/>
              <a:gd name="connsiteX6" fmla="*/ 257969 w 2579687"/>
              <a:gd name="connsiteY6" fmla="*/ 5418667 h 5418667"/>
              <a:gd name="connsiteX7" fmla="*/ 0 w 2579687"/>
              <a:gd name="connsiteY7" fmla="*/ 5160698 h 5418667"/>
              <a:gd name="connsiteX8" fmla="*/ 0 w 2579687"/>
              <a:gd name="connsiteY8" fmla="*/ 257969 h 541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9687" h="5418667">
                <a:moveTo>
                  <a:pt x="0" y="257969"/>
                </a:moveTo>
                <a:cubicBezTo>
                  <a:pt x="0" y="115497"/>
                  <a:pt x="115497" y="0"/>
                  <a:pt x="257969" y="0"/>
                </a:cubicBezTo>
                <a:lnTo>
                  <a:pt x="2321718" y="0"/>
                </a:lnTo>
                <a:cubicBezTo>
                  <a:pt x="2464190" y="0"/>
                  <a:pt x="2579687" y="115497"/>
                  <a:pt x="2579687" y="257969"/>
                </a:cubicBezTo>
                <a:lnTo>
                  <a:pt x="2579687" y="5160698"/>
                </a:lnTo>
                <a:cubicBezTo>
                  <a:pt x="2579687" y="5303170"/>
                  <a:pt x="2464190" y="5418667"/>
                  <a:pt x="2321718" y="5418667"/>
                </a:cubicBezTo>
                <a:lnTo>
                  <a:pt x="257969" y="5418667"/>
                </a:lnTo>
                <a:cubicBezTo>
                  <a:pt x="115497" y="5418667"/>
                  <a:pt x="0" y="5303170"/>
                  <a:pt x="0" y="5160698"/>
                </a:cubicBezTo>
                <a:lnTo>
                  <a:pt x="0" y="257969"/>
                </a:lnTo>
                <a:close/>
              </a:path>
            </a:pathLst>
          </a:cu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2400" tIns="152400" rIns="152400" bIns="3945467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4000" kern="1200" noProof="0" dirty="0"/>
          </a:p>
        </p:txBody>
      </p:sp>
      <p:sp>
        <p:nvSpPr>
          <p:cNvPr id="11" name="Figura a mano libera: forma 10">
            <a:extLst>
              <a:ext uri="{FF2B5EF4-FFF2-40B4-BE49-F238E27FC236}">
                <a16:creationId xmlns:a16="http://schemas.microsoft.com/office/drawing/2014/main" id="{2C03EEED-283F-7B40-7559-17FF08434217}"/>
              </a:ext>
            </a:extLst>
          </p:cNvPr>
          <p:cNvSpPr/>
          <p:nvPr/>
        </p:nvSpPr>
        <p:spPr>
          <a:xfrm>
            <a:off x="757391" y="1445059"/>
            <a:ext cx="3067125" cy="880576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noProof="0" dirty="0"/>
              <a:t>Delays in procuring the bioreactor and/or its malfunction</a:t>
            </a:r>
          </a:p>
        </p:txBody>
      </p:sp>
      <p:sp>
        <p:nvSpPr>
          <p:cNvPr id="12" name="Figura a mano libera: forma 11">
            <a:extLst>
              <a:ext uri="{FF2B5EF4-FFF2-40B4-BE49-F238E27FC236}">
                <a16:creationId xmlns:a16="http://schemas.microsoft.com/office/drawing/2014/main" id="{DA373F03-069A-34FA-B0D5-52BBAB276A83}"/>
              </a:ext>
            </a:extLst>
          </p:cNvPr>
          <p:cNvSpPr/>
          <p:nvPr/>
        </p:nvSpPr>
        <p:spPr>
          <a:xfrm>
            <a:off x="757391" y="2415200"/>
            <a:ext cx="3067125" cy="880577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noProof="0" dirty="0"/>
              <a:t>Malfunctions in the multi-cellular system and/or in its irradiation</a:t>
            </a:r>
          </a:p>
        </p:txBody>
      </p:sp>
      <p:sp>
        <p:nvSpPr>
          <p:cNvPr id="13" name="Figura a mano libera: forma 12">
            <a:extLst>
              <a:ext uri="{FF2B5EF4-FFF2-40B4-BE49-F238E27FC236}">
                <a16:creationId xmlns:a16="http://schemas.microsoft.com/office/drawing/2014/main" id="{338D5FEB-9F40-9766-0B19-D048A7AB6D42}"/>
              </a:ext>
            </a:extLst>
          </p:cNvPr>
          <p:cNvSpPr/>
          <p:nvPr/>
        </p:nvSpPr>
        <p:spPr>
          <a:xfrm>
            <a:off x="757391" y="3385342"/>
            <a:ext cx="3067125" cy="880577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noProof="0" dirty="0"/>
              <a:t>Delays in allocation of beamtime slots</a:t>
            </a:r>
          </a:p>
        </p:txBody>
      </p:sp>
      <p:sp>
        <p:nvSpPr>
          <p:cNvPr id="14" name="Figura a mano libera: forma 13">
            <a:extLst>
              <a:ext uri="{FF2B5EF4-FFF2-40B4-BE49-F238E27FC236}">
                <a16:creationId xmlns:a16="http://schemas.microsoft.com/office/drawing/2014/main" id="{F83E99D5-11B3-5B49-4AB4-A619962D4748}"/>
              </a:ext>
            </a:extLst>
          </p:cNvPr>
          <p:cNvSpPr/>
          <p:nvPr/>
        </p:nvSpPr>
        <p:spPr>
          <a:xfrm>
            <a:off x="757391" y="4355484"/>
            <a:ext cx="3067125" cy="880577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noProof="0" dirty="0"/>
              <a:t>Malfunctions in the biological and/or chemical analyses of the irradiated tissues</a:t>
            </a:r>
          </a:p>
        </p:txBody>
      </p:sp>
      <p:sp>
        <p:nvSpPr>
          <p:cNvPr id="16" name="Figura a mano libera: forma 15">
            <a:extLst>
              <a:ext uri="{FF2B5EF4-FFF2-40B4-BE49-F238E27FC236}">
                <a16:creationId xmlns:a16="http://schemas.microsoft.com/office/drawing/2014/main" id="{860F6D26-B606-E4DC-7E9B-9CFFDD3D423A}"/>
              </a:ext>
            </a:extLst>
          </p:cNvPr>
          <p:cNvSpPr/>
          <p:nvPr/>
        </p:nvSpPr>
        <p:spPr>
          <a:xfrm>
            <a:off x="757394" y="5325626"/>
            <a:ext cx="3067126" cy="880577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noProof="0" dirty="0"/>
              <a:t>Delays and/or issues in the development and/or calibration of the specific NTCP framework for skin toxicity</a:t>
            </a:r>
          </a:p>
        </p:txBody>
      </p:sp>
      <p:sp>
        <p:nvSpPr>
          <p:cNvPr id="17" name="Figura a mano libera: forma 16">
            <a:extLst>
              <a:ext uri="{FF2B5EF4-FFF2-40B4-BE49-F238E27FC236}">
                <a16:creationId xmlns:a16="http://schemas.microsoft.com/office/drawing/2014/main" id="{1C9F7F04-C196-CE7E-87FD-2F7DFCED84D0}"/>
              </a:ext>
            </a:extLst>
          </p:cNvPr>
          <p:cNvSpPr/>
          <p:nvPr/>
        </p:nvSpPr>
        <p:spPr>
          <a:xfrm>
            <a:off x="4251419" y="887108"/>
            <a:ext cx="3689161" cy="5469242"/>
          </a:xfrm>
          <a:custGeom>
            <a:avLst/>
            <a:gdLst>
              <a:gd name="connsiteX0" fmla="*/ 0 w 2579687"/>
              <a:gd name="connsiteY0" fmla="*/ 257969 h 5418667"/>
              <a:gd name="connsiteX1" fmla="*/ 257969 w 2579687"/>
              <a:gd name="connsiteY1" fmla="*/ 0 h 5418667"/>
              <a:gd name="connsiteX2" fmla="*/ 2321718 w 2579687"/>
              <a:gd name="connsiteY2" fmla="*/ 0 h 5418667"/>
              <a:gd name="connsiteX3" fmla="*/ 2579687 w 2579687"/>
              <a:gd name="connsiteY3" fmla="*/ 257969 h 5418667"/>
              <a:gd name="connsiteX4" fmla="*/ 2579687 w 2579687"/>
              <a:gd name="connsiteY4" fmla="*/ 5160698 h 5418667"/>
              <a:gd name="connsiteX5" fmla="*/ 2321718 w 2579687"/>
              <a:gd name="connsiteY5" fmla="*/ 5418667 h 5418667"/>
              <a:gd name="connsiteX6" fmla="*/ 257969 w 2579687"/>
              <a:gd name="connsiteY6" fmla="*/ 5418667 h 5418667"/>
              <a:gd name="connsiteX7" fmla="*/ 0 w 2579687"/>
              <a:gd name="connsiteY7" fmla="*/ 5160698 h 5418667"/>
              <a:gd name="connsiteX8" fmla="*/ 0 w 2579687"/>
              <a:gd name="connsiteY8" fmla="*/ 257969 h 541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9687" h="5418667">
                <a:moveTo>
                  <a:pt x="0" y="257969"/>
                </a:moveTo>
                <a:cubicBezTo>
                  <a:pt x="0" y="115497"/>
                  <a:pt x="115497" y="0"/>
                  <a:pt x="257969" y="0"/>
                </a:cubicBezTo>
                <a:lnTo>
                  <a:pt x="2321718" y="0"/>
                </a:lnTo>
                <a:cubicBezTo>
                  <a:pt x="2464190" y="0"/>
                  <a:pt x="2579687" y="115497"/>
                  <a:pt x="2579687" y="257969"/>
                </a:cubicBezTo>
                <a:lnTo>
                  <a:pt x="2579687" y="5160698"/>
                </a:lnTo>
                <a:cubicBezTo>
                  <a:pt x="2579687" y="5303170"/>
                  <a:pt x="2464190" y="5418667"/>
                  <a:pt x="2321718" y="5418667"/>
                </a:cubicBezTo>
                <a:lnTo>
                  <a:pt x="257969" y="5418667"/>
                </a:lnTo>
                <a:cubicBezTo>
                  <a:pt x="115497" y="5418667"/>
                  <a:pt x="0" y="5303170"/>
                  <a:pt x="0" y="5160698"/>
                </a:cubicBezTo>
                <a:lnTo>
                  <a:pt x="0" y="257969"/>
                </a:lnTo>
                <a:close/>
              </a:path>
            </a:pathLst>
          </a:cu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020" tIns="160020" rIns="160020" bIns="395308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4200" kern="1200" noProof="0" dirty="0"/>
          </a:p>
        </p:txBody>
      </p:sp>
      <p:sp>
        <p:nvSpPr>
          <p:cNvPr id="18" name="Figura a mano libera: forma 17">
            <a:extLst>
              <a:ext uri="{FF2B5EF4-FFF2-40B4-BE49-F238E27FC236}">
                <a16:creationId xmlns:a16="http://schemas.microsoft.com/office/drawing/2014/main" id="{C5432020-4C13-29F0-0179-246B9E9B6B6C}"/>
              </a:ext>
            </a:extLst>
          </p:cNvPr>
          <p:cNvSpPr/>
          <p:nvPr/>
        </p:nvSpPr>
        <p:spPr>
          <a:xfrm>
            <a:off x="4562436" y="1445059"/>
            <a:ext cx="3067125" cy="880576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noProof="0" dirty="0"/>
              <a:t>Delays in irradiation testing and/or a decreased number of measurement campaigns</a:t>
            </a:r>
          </a:p>
        </p:txBody>
      </p:sp>
      <p:sp>
        <p:nvSpPr>
          <p:cNvPr id="19" name="Figura a mano libera: forma 18">
            <a:extLst>
              <a:ext uri="{FF2B5EF4-FFF2-40B4-BE49-F238E27FC236}">
                <a16:creationId xmlns:a16="http://schemas.microsoft.com/office/drawing/2014/main" id="{D315D88F-F61E-2C61-B0CB-73CA88020CE9}"/>
              </a:ext>
            </a:extLst>
          </p:cNvPr>
          <p:cNvSpPr/>
          <p:nvPr/>
        </p:nvSpPr>
        <p:spPr>
          <a:xfrm>
            <a:off x="4562436" y="2415200"/>
            <a:ext cx="3067125" cy="880576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noProof="0" dirty="0"/>
              <a:t>Alternative and/or decreased number of measurement campaigns</a:t>
            </a:r>
          </a:p>
        </p:txBody>
      </p:sp>
      <p:sp>
        <p:nvSpPr>
          <p:cNvPr id="20" name="Figura a mano libera: forma 19">
            <a:extLst>
              <a:ext uri="{FF2B5EF4-FFF2-40B4-BE49-F238E27FC236}">
                <a16:creationId xmlns:a16="http://schemas.microsoft.com/office/drawing/2014/main" id="{D78FC2D3-26D2-5480-BC1B-752D07104288}"/>
              </a:ext>
            </a:extLst>
          </p:cNvPr>
          <p:cNvSpPr/>
          <p:nvPr/>
        </p:nvSpPr>
        <p:spPr>
          <a:xfrm>
            <a:off x="4562436" y="3383027"/>
            <a:ext cx="3067125" cy="879193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noProof="0" dirty="0"/>
              <a:t>Decreased number of measurement campaigns</a:t>
            </a:r>
          </a:p>
        </p:txBody>
      </p:sp>
      <p:sp>
        <p:nvSpPr>
          <p:cNvPr id="21" name="Figura a mano libera: forma 20">
            <a:extLst>
              <a:ext uri="{FF2B5EF4-FFF2-40B4-BE49-F238E27FC236}">
                <a16:creationId xmlns:a16="http://schemas.microsoft.com/office/drawing/2014/main" id="{14753233-0234-572F-5EB0-C1E3142310D8}"/>
              </a:ext>
            </a:extLst>
          </p:cNvPr>
          <p:cNvSpPr/>
          <p:nvPr/>
        </p:nvSpPr>
        <p:spPr>
          <a:xfrm>
            <a:off x="4562436" y="4355018"/>
            <a:ext cx="3067125" cy="877343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noProof="0" dirty="0"/>
              <a:t>Alternative and/or reduced number of analyses</a:t>
            </a:r>
          </a:p>
        </p:txBody>
      </p:sp>
      <p:sp>
        <p:nvSpPr>
          <p:cNvPr id="22" name="Figura a mano libera: forma 21">
            <a:extLst>
              <a:ext uri="{FF2B5EF4-FFF2-40B4-BE49-F238E27FC236}">
                <a16:creationId xmlns:a16="http://schemas.microsoft.com/office/drawing/2014/main" id="{7372501C-1CFD-B036-29AE-9BE761B328B5}"/>
              </a:ext>
            </a:extLst>
          </p:cNvPr>
          <p:cNvSpPr/>
          <p:nvPr/>
        </p:nvSpPr>
        <p:spPr>
          <a:xfrm>
            <a:off x="4562436" y="5325160"/>
            <a:ext cx="3067125" cy="873646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noProof="0" dirty="0"/>
              <a:t>Reduced number of biological endpoints available for analysis and incomplete model calibration</a:t>
            </a:r>
          </a:p>
        </p:txBody>
      </p:sp>
      <p:sp>
        <p:nvSpPr>
          <p:cNvPr id="23" name="Figura a mano libera: forma 22">
            <a:extLst>
              <a:ext uri="{FF2B5EF4-FFF2-40B4-BE49-F238E27FC236}">
                <a16:creationId xmlns:a16="http://schemas.microsoft.com/office/drawing/2014/main" id="{22E10DFC-B1D4-8086-FD21-6DF2A32F1129}"/>
              </a:ext>
            </a:extLst>
          </p:cNvPr>
          <p:cNvSpPr/>
          <p:nvPr/>
        </p:nvSpPr>
        <p:spPr>
          <a:xfrm>
            <a:off x="8052077" y="887108"/>
            <a:ext cx="3689161" cy="5469241"/>
          </a:xfrm>
          <a:custGeom>
            <a:avLst/>
            <a:gdLst>
              <a:gd name="connsiteX0" fmla="*/ 0 w 2579687"/>
              <a:gd name="connsiteY0" fmla="*/ 257969 h 5418667"/>
              <a:gd name="connsiteX1" fmla="*/ 257969 w 2579687"/>
              <a:gd name="connsiteY1" fmla="*/ 0 h 5418667"/>
              <a:gd name="connsiteX2" fmla="*/ 2321718 w 2579687"/>
              <a:gd name="connsiteY2" fmla="*/ 0 h 5418667"/>
              <a:gd name="connsiteX3" fmla="*/ 2579687 w 2579687"/>
              <a:gd name="connsiteY3" fmla="*/ 257969 h 5418667"/>
              <a:gd name="connsiteX4" fmla="*/ 2579687 w 2579687"/>
              <a:gd name="connsiteY4" fmla="*/ 5160698 h 5418667"/>
              <a:gd name="connsiteX5" fmla="*/ 2321718 w 2579687"/>
              <a:gd name="connsiteY5" fmla="*/ 5418667 h 5418667"/>
              <a:gd name="connsiteX6" fmla="*/ 257969 w 2579687"/>
              <a:gd name="connsiteY6" fmla="*/ 5418667 h 5418667"/>
              <a:gd name="connsiteX7" fmla="*/ 0 w 2579687"/>
              <a:gd name="connsiteY7" fmla="*/ 5160698 h 5418667"/>
              <a:gd name="connsiteX8" fmla="*/ 0 w 2579687"/>
              <a:gd name="connsiteY8" fmla="*/ 257969 h 541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79687" h="5418667">
                <a:moveTo>
                  <a:pt x="0" y="257969"/>
                </a:moveTo>
                <a:cubicBezTo>
                  <a:pt x="0" y="115497"/>
                  <a:pt x="115497" y="0"/>
                  <a:pt x="257969" y="0"/>
                </a:cubicBezTo>
                <a:lnTo>
                  <a:pt x="2321718" y="0"/>
                </a:lnTo>
                <a:cubicBezTo>
                  <a:pt x="2464190" y="0"/>
                  <a:pt x="2579687" y="115497"/>
                  <a:pt x="2579687" y="257969"/>
                </a:cubicBezTo>
                <a:lnTo>
                  <a:pt x="2579687" y="5160698"/>
                </a:lnTo>
                <a:cubicBezTo>
                  <a:pt x="2579687" y="5303170"/>
                  <a:pt x="2464190" y="5418667"/>
                  <a:pt x="2321718" y="5418667"/>
                </a:cubicBezTo>
                <a:lnTo>
                  <a:pt x="257969" y="5418667"/>
                </a:lnTo>
                <a:cubicBezTo>
                  <a:pt x="115497" y="5418667"/>
                  <a:pt x="0" y="5303170"/>
                  <a:pt x="0" y="5160698"/>
                </a:cubicBezTo>
                <a:lnTo>
                  <a:pt x="0" y="257969"/>
                </a:lnTo>
                <a:close/>
              </a:path>
            </a:pathLst>
          </a:cu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020" tIns="160020" rIns="160020" bIns="3953087" numCol="1" spcCol="1270" anchor="ctr" anchorCtr="0">
            <a:noAutofit/>
          </a:bodyPr>
          <a:lstStyle/>
          <a:p>
            <a:pPr marL="0" lvl="0" indent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4200" kern="1200" noProof="0" dirty="0"/>
          </a:p>
        </p:txBody>
      </p:sp>
      <p:sp>
        <p:nvSpPr>
          <p:cNvPr id="24" name="Figura a mano libera: forma 23">
            <a:extLst>
              <a:ext uri="{FF2B5EF4-FFF2-40B4-BE49-F238E27FC236}">
                <a16:creationId xmlns:a16="http://schemas.microsoft.com/office/drawing/2014/main" id="{A54B0F50-7681-A110-21F6-D95D3B57F765}"/>
              </a:ext>
            </a:extLst>
          </p:cNvPr>
          <p:cNvSpPr/>
          <p:nvPr/>
        </p:nvSpPr>
        <p:spPr>
          <a:xfrm>
            <a:off x="8367484" y="1445385"/>
            <a:ext cx="3067125" cy="880250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/>
              <a:t>We will focus on further model development and its in-silico applications (e.g. additional clinically relevant developments, model extensions for specific PT settings) and/or we will irradiate the multi-cellular system without the bioreactor</a:t>
            </a:r>
          </a:p>
        </p:txBody>
      </p:sp>
      <p:sp>
        <p:nvSpPr>
          <p:cNvPr id="25" name="Figura a mano libera: forma 24">
            <a:extLst>
              <a:ext uri="{FF2B5EF4-FFF2-40B4-BE49-F238E27FC236}">
                <a16:creationId xmlns:a16="http://schemas.microsoft.com/office/drawing/2014/main" id="{FBC046E4-4558-9CCC-C37C-BCF4F91B8732}"/>
              </a:ext>
            </a:extLst>
          </p:cNvPr>
          <p:cNvSpPr/>
          <p:nvPr/>
        </p:nvSpPr>
        <p:spPr>
          <a:xfrm>
            <a:off x="8367484" y="2415200"/>
            <a:ext cx="3067125" cy="880250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/>
              <a:t>We will assess irradiating simpler systems for calibration (e.g., 2D cell cultures) and/or alternative surrogate systems such as spheroids for chemical analyses</a:t>
            </a:r>
          </a:p>
        </p:txBody>
      </p:sp>
      <p:sp>
        <p:nvSpPr>
          <p:cNvPr id="26" name="Figura a mano libera: forma 25">
            <a:extLst>
              <a:ext uri="{FF2B5EF4-FFF2-40B4-BE49-F238E27FC236}">
                <a16:creationId xmlns:a16="http://schemas.microsoft.com/office/drawing/2014/main" id="{A661532F-6771-115B-DE02-E36987A24009}"/>
              </a:ext>
            </a:extLst>
          </p:cNvPr>
          <p:cNvSpPr/>
          <p:nvPr/>
        </p:nvSpPr>
        <p:spPr>
          <a:xfrm>
            <a:off x="8367484" y="3383026"/>
            <a:ext cx="3067125" cy="879193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/>
              <a:t>We will consider involving additional centers for irradiation currently not foreseen in the original project framework (e.g. CNAO)</a:t>
            </a:r>
          </a:p>
        </p:txBody>
      </p:sp>
      <p:sp>
        <p:nvSpPr>
          <p:cNvPr id="27" name="Figura a mano libera: forma 26">
            <a:extLst>
              <a:ext uri="{FF2B5EF4-FFF2-40B4-BE49-F238E27FC236}">
                <a16:creationId xmlns:a16="http://schemas.microsoft.com/office/drawing/2014/main" id="{D94E6B98-7AD6-3E34-97B5-B6E6A5B99BE9}"/>
              </a:ext>
            </a:extLst>
          </p:cNvPr>
          <p:cNvSpPr/>
          <p:nvPr/>
        </p:nvSpPr>
        <p:spPr>
          <a:xfrm>
            <a:off x="8367484" y="4349795"/>
            <a:ext cx="3067125" cy="879192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/>
              <a:t>We will carry out a detailed analysis of the available assays and/or we will assess the feasibility of additional analyses and/or we will focus on further model development and its in-silico applications (e.g. additional clinically relevant developments, model extensions for specific PT settings)</a:t>
            </a:r>
          </a:p>
        </p:txBody>
      </p:sp>
      <p:sp>
        <p:nvSpPr>
          <p:cNvPr id="28" name="Figura a mano libera: forma 27">
            <a:extLst>
              <a:ext uri="{FF2B5EF4-FFF2-40B4-BE49-F238E27FC236}">
                <a16:creationId xmlns:a16="http://schemas.microsoft.com/office/drawing/2014/main" id="{4161A1FE-4D05-B731-5187-B43D36317A9F}"/>
              </a:ext>
            </a:extLst>
          </p:cNvPr>
          <p:cNvSpPr/>
          <p:nvPr/>
        </p:nvSpPr>
        <p:spPr>
          <a:xfrm>
            <a:off x="8367484" y="5325160"/>
            <a:ext cx="3067122" cy="873646"/>
          </a:xfrm>
          <a:custGeom>
            <a:avLst/>
            <a:gdLst>
              <a:gd name="connsiteX0" fmla="*/ 0 w 2063749"/>
              <a:gd name="connsiteY0" fmla="*/ 62686 h 626864"/>
              <a:gd name="connsiteX1" fmla="*/ 62686 w 2063749"/>
              <a:gd name="connsiteY1" fmla="*/ 0 h 626864"/>
              <a:gd name="connsiteX2" fmla="*/ 2001063 w 2063749"/>
              <a:gd name="connsiteY2" fmla="*/ 0 h 626864"/>
              <a:gd name="connsiteX3" fmla="*/ 2063749 w 2063749"/>
              <a:gd name="connsiteY3" fmla="*/ 62686 h 626864"/>
              <a:gd name="connsiteX4" fmla="*/ 2063749 w 2063749"/>
              <a:gd name="connsiteY4" fmla="*/ 564178 h 626864"/>
              <a:gd name="connsiteX5" fmla="*/ 2001063 w 2063749"/>
              <a:gd name="connsiteY5" fmla="*/ 626864 h 626864"/>
              <a:gd name="connsiteX6" fmla="*/ 62686 w 2063749"/>
              <a:gd name="connsiteY6" fmla="*/ 626864 h 626864"/>
              <a:gd name="connsiteX7" fmla="*/ 0 w 2063749"/>
              <a:gd name="connsiteY7" fmla="*/ 564178 h 626864"/>
              <a:gd name="connsiteX8" fmla="*/ 0 w 2063749"/>
              <a:gd name="connsiteY8" fmla="*/ 62686 h 6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749" h="626864">
                <a:moveTo>
                  <a:pt x="0" y="62686"/>
                </a:moveTo>
                <a:cubicBezTo>
                  <a:pt x="0" y="28065"/>
                  <a:pt x="28065" y="0"/>
                  <a:pt x="62686" y="0"/>
                </a:cubicBezTo>
                <a:lnTo>
                  <a:pt x="2001063" y="0"/>
                </a:lnTo>
                <a:cubicBezTo>
                  <a:pt x="2035684" y="0"/>
                  <a:pt x="2063749" y="28065"/>
                  <a:pt x="2063749" y="62686"/>
                </a:cubicBezTo>
                <a:lnTo>
                  <a:pt x="2063749" y="564178"/>
                </a:lnTo>
                <a:cubicBezTo>
                  <a:pt x="2063749" y="598799"/>
                  <a:pt x="2035684" y="626864"/>
                  <a:pt x="2001063" y="626864"/>
                </a:cubicBezTo>
                <a:lnTo>
                  <a:pt x="62686" y="626864"/>
                </a:lnTo>
                <a:cubicBezTo>
                  <a:pt x="28065" y="626864"/>
                  <a:pt x="0" y="598799"/>
                  <a:pt x="0" y="564178"/>
                </a:cubicBezTo>
                <a:lnTo>
                  <a:pt x="0" y="62686"/>
                </a:lnTo>
                <a:close/>
              </a:path>
            </a:pathLst>
          </a:cu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600" tIns="29790" rIns="33600" bIns="29790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/>
              <a:t>We will focus on the study of the available endpoints and/or we will calibrate the model directly on in-vivo data from literature and/or we will focus on further model development and its in-silico applications (e.g. additional clinically relevant developments, model extensions for specific PT settings)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0F2DADEC-B2D1-C0C3-F002-44EF68CC3BB1}"/>
              </a:ext>
            </a:extLst>
          </p:cNvPr>
          <p:cNvSpPr txBox="1"/>
          <p:nvPr/>
        </p:nvSpPr>
        <p:spPr>
          <a:xfrm>
            <a:off x="1895652" y="875440"/>
            <a:ext cx="790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noProof="0" dirty="0"/>
              <a:t>Risk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D14B698A-966E-2067-37D2-8D13B3DFB402}"/>
              </a:ext>
            </a:extLst>
          </p:cNvPr>
          <p:cNvSpPr txBox="1"/>
          <p:nvPr/>
        </p:nvSpPr>
        <p:spPr>
          <a:xfrm>
            <a:off x="5486696" y="875440"/>
            <a:ext cx="1218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noProof="0" dirty="0"/>
              <a:t>Impact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6EBA94CF-FFD2-6D99-D92E-563542956D82}"/>
              </a:ext>
            </a:extLst>
          </p:cNvPr>
          <p:cNvSpPr txBox="1"/>
          <p:nvPr/>
        </p:nvSpPr>
        <p:spPr>
          <a:xfrm>
            <a:off x="8342321" y="874079"/>
            <a:ext cx="3108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noProof="0" dirty="0"/>
              <a:t>Solution/mitigation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AAAD9DC-A17A-48D0-6478-FD53EEBF9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399" y="137073"/>
            <a:ext cx="2358606" cy="75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55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1212-8946-E7D5-F2C0-EB7079687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36FFB7A-AB81-FF5A-BCAA-3B19DA5B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9158B6D-98C2-4224-C0BF-E81B8C91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4A96711B-6ED9-53FF-BAA1-93F8880C5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5AD3CD55-E82C-EA32-108C-1574C30B230A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The </a:t>
            </a:r>
            <a:r>
              <a:rPr lang="en-US" sz="4000" b="1" noProof="0" dirty="0">
                <a:solidFill>
                  <a:prstClr val="black"/>
                </a:solidFill>
              </a:rPr>
              <a:t>mathematical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workflow of the proposed NTCP model </a:t>
            </a: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C45B61FC-658C-BE67-550B-2BD90C01C271}"/>
              </a:ext>
            </a:extLst>
          </p:cNvPr>
          <p:cNvGrpSpPr/>
          <p:nvPr/>
        </p:nvGrpSpPr>
        <p:grpSpPr>
          <a:xfrm>
            <a:off x="135586" y="1564421"/>
            <a:ext cx="1539844" cy="3729158"/>
            <a:chOff x="135586" y="1856553"/>
            <a:chExt cx="1539844" cy="3729158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65686F57-9B00-9277-A6E3-7728F3292F87}"/>
                </a:ext>
              </a:extLst>
            </p:cNvPr>
            <p:cNvGrpSpPr/>
            <p:nvPr/>
          </p:nvGrpSpPr>
          <p:grpSpPr>
            <a:xfrm>
              <a:off x="135586" y="1856553"/>
              <a:ext cx="1535626" cy="1022218"/>
              <a:chOff x="634124" y="734039"/>
              <a:chExt cx="1535626" cy="1022218"/>
            </a:xfrm>
          </p:grpSpPr>
          <p:sp>
            <p:nvSpPr>
              <p:cNvPr id="8" name="Figura a mano libera: forma 7">
                <a:extLst>
                  <a:ext uri="{FF2B5EF4-FFF2-40B4-BE49-F238E27FC236}">
                    <a16:creationId xmlns:a16="http://schemas.microsoft.com/office/drawing/2014/main" id="{FAEEA3DA-9B8B-5995-6038-BBE06B25A37A}"/>
                  </a:ext>
                </a:extLst>
              </p:cNvPr>
              <p:cNvSpPr/>
              <p:nvPr/>
            </p:nvSpPr>
            <p:spPr>
              <a:xfrm>
                <a:off x="634124" y="734039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marR="0" lvl="1" indent="0" algn="ctr" defTabSz="4889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hueOff val="0"/>
                        <a:satOff val="0"/>
                        <a:lumOff val="0"/>
                        <a:alphaOff val="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General model development</a:t>
                </a:r>
              </a:p>
            </p:txBody>
          </p:sp>
          <p:sp>
            <p:nvSpPr>
              <p:cNvPr id="9" name="Figura a mano libera: forma 8">
                <a:extLst>
                  <a:ext uri="{FF2B5EF4-FFF2-40B4-BE49-F238E27FC236}">
                    <a16:creationId xmlns:a16="http://schemas.microsoft.com/office/drawing/2014/main" id="{4FA265F3-DBB5-5F70-7D22-31AFCE55628F}"/>
                  </a:ext>
                </a:extLst>
              </p:cNvPr>
              <p:cNvSpPr/>
              <p:nvPr/>
            </p:nvSpPr>
            <p:spPr>
              <a:xfrm>
                <a:off x="941249" y="1267723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marR="0" lvl="0" indent="0" algn="ctr" defTabSz="12001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WP1.1</a:t>
                </a:r>
              </a:p>
            </p:txBody>
          </p:sp>
        </p:grpSp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EB5D73E9-F3D5-8535-72B1-21908FB7147C}"/>
                </a:ext>
              </a:extLst>
            </p:cNvPr>
            <p:cNvGrpSpPr/>
            <p:nvPr/>
          </p:nvGrpSpPr>
          <p:grpSpPr>
            <a:xfrm>
              <a:off x="139804" y="3210023"/>
              <a:ext cx="1535626" cy="1022219"/>
              <a:chOff x="634124" y="2426465"/>
              <a:chExt cx="1535626" cy="1022219"/>
            </a:xfrm>
          </p:grpSpPr>
          <p:sp>
            <p:nvSpPr>
              <p:cNvPr id="11" name="Figura a mano libera: forma 10">
                <a:extLst>
                  <a:ext uri="{FF2B5EF4-FFF2-40B4-BE49-F238E27FC236}">
                    <a16:creationId xmlns:a16="http://schemas.microsoft.com/office/drawing/2014/main" id="{9A5A8C03-26B7-D259-850B-14265753AD97}"/>
                  </a:ext>
                </a:extLst>
              </p:cNvPr>
              <p:cNvSpPr/>
              <p:nvPr/>
            </p:nvSpPr>
            <p:spPr>
              <a:xfrm>
                <a:off x="634124" y="2426465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marR="0" lvl="1" indent="0" algn="ctr" defTabSz="4889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hueOff val="0"/>
                        <a:satOff val="0"/>
                        <a:lumOff val="0"/>
                        <a:alphaOff val="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General model validation</a:t>
                </a:r>
              </a:p>
            </p:txBody>
          </p:sp>
          <p:sp>
            <p:nvSpPr>
              <p:cNvPr id="12" name="Figura a mano libera: forma 11">
                <a:extLst>
                  <a:ext uri="{FF2B5EF4-FFF2-40B4-BE49-F238E27FC236}">
                    <a16:creationId xmlns:a16="http://schemas.microsoft.com/office/drawing/2014/main" id="{67763F0F-E73E-A2DF-42E6-73F79564FBB7}"/>
                  </a:ext>
                </a:extLst>
              </p:cNvPr>
              <p:cNvSpPr/>
              <p:nvPr/>
            </p:nvSpPr>
            <p:spPr>
              <a:xfrm>
                <a:off x="941249" y="2960150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marR="0" lvl="0" indent="0" algn="ctr" defTabSz="12001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WP1.2</a:t>
                </a:r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18F7C801-D48A-FBEC-242D-05A37908D641}"/>
                </a:ext>
              </a:extLst>
            </p:cNvPr>
            <p:cNvGrpSpPr/>
            <p:nvPr/>
          </p:nvGrpSpPr>
          <p:grpSpPr>
            <a:xfrm>
              <a:off x="135586" y="4563492"/>
              <a:ext cx="1535626" cy="1022219"/>
              <a:chOff x="634124" y="3980710"/>
              <a:chExt cx="1535626" cy="1022219"/>
            </a:xfrm>
          </p:grpSpPr>
          <p:sp>
            <p:nvSpPr>
              <p:cNvPr id="14" name="Figura a mano libera: forma 13">
                <a:extLst>
                  <a:ext uri="{FF2B5EF4-FFF2-40B4-BE49-F238E27FC236}">
                    <a16:creationId xmlns:a16="http://schemas.microsoft.com/office/drawing/2014/main" id="{338682A2-6488-D37D-DD0C-4EECB24645FE}"/>
                  </a:ext>
                </a:extLst>
              </p:cNvPr>
              <p:cNvSpPr/>
              <p:nvPr/>
            </p:nvSpPr>
            <p:spPr>
              <a:xfrm>
                <a:off x="634124" y="3980710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marR="0" lvl="1" indent="0" algn="ctr" defTabSz="4889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hueOff val="0"/>
                        <a:satOff val="0"/>
                        <a:lumOff val="0"/>
                        <a:alphaOff val="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Model extension to clinic</a:t>
                </a:r>
              </a:p>
            </p:txBody>
          </p:sp>
          <p:sp>
            <p:nvSpPr>
              <p:cNvPr id="16" name="Figura a mano libera: forma 15">
                <a:extLst>
                  <a:ext uri="{FF2B5EF4-FFF2-40B4-BE49-F238E27FC236}">
                    <a16:creationId xmlns:a16="http://schemas.microsoft.com/office/drawing/2014/main" id="{48F9387A-FDDB-4F7A-0AA6-DBB509DFF877}"/>
                  </a:ext>
                </a:extLst>
              </p:cNvPr>
              <p:cNvSpPr/>
              <p:nvPr/>
            </p:nvSpPr>
            <p:spPr>
              <a:xfrm>
                <a:off x="941249" y="4514395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marR="0" lvl="0" indent="0" algn="ctr" defTabSz="120015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WP1.3</a:t>
                </a:r>
              </a:p>
            </p:txBody>
          </p:sp>
        </p:grpSp>
        <p:sp>
          <p:nvSpPr>
            <p:cNvPr id="17" name="Freccia in giù 16">
              <a:extLst>
                <a:ext uri="{FF2B5EF4-FFF2-40B4-BE49-F238E27FC236}">
                  <a16:creationId xmlns:a16="http://schemas.microsoft.com/office/drawing/2014/main" id="{14E91663-20BD-C995-3C76-50BFF4811FA3}"/>
                </a:ext>
              </a:extLst>
            </p:cNvPr>
            <p:cNvSpPr/>
            <p:nvPr/>
          </p:nvSpPr>
          <p:spPr>
            <a:xfrm>
              <a:off x="725632" y="2923921"/>
              <a:ext cx="201969" cy="244268"/>
            </a:xfrm>
            <a:prstGeom prst="downArrow">
              <a:avLst/>
            </a:prstGeom>
            <a:solidFill>
              <a:srgbClr val="B5CBE7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CBE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ccia in giù 17">
              <a:extLst>
                <a:ext uri="{FF2B5EF4-FFF2-40B4-BE49-F238E27FC236}">
                  <a16:creationId xmlns:a16="http://schemas.microsoft.com/office/drawing/2014/main" id="{F4FDEC75-ABF8-D19D-DFBD-559E78640FA0}"/>
                </a:ext>
              </a:extLst>
            </p:cNvPr>
            <p:cNvSpPr/>
            <p:nvPr/>
          </p:nvSpPr>
          <p:spPr>
            <a:xfrm>
              <a:off x="725632" y="4275733"/>
              <a:ext cx="201969" cy="244268"/>
            </a:xfrm>
            <a:prstGeom prst="downArrow">
              <a:avLst/>
            </a:prstGeom>
            <a:solidFill>
              <a:srgbClr val="B5CBE7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CBE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A819BCEB-F756-6C86-89F2-03B273C8DBF2}"/>
              </a:ext>
            </a:extLst>
          </p:cNvPr>
          <p:cNvSpPr/>
          <p:nvPr/>
        </p:nvSpPr>
        <p:spPr>
          <a:xfrm>
            <a:off x="102990" y="2611959"/>
            <a:ext cx="1568222" cy="2723915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55059E6A-C5D3-389D-106F-6390ADCEAC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4" t="31839" r="19668" b="31464"/>
          <a:stretch/>
        </p:blipFill>
        <p:spPr>
          <a:xfrm>
            <a:off x="81522" y="5914247"/>
            <a:ext cx="1161421" cy="397067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776EEAD4-E2E9-19AB-A2B5-EAC5EB9CCE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0" y="5335874"/>
            <a:ext cx="992820" cy="619901"/>
          </a:xfrm>
          <a:prstGeom prst="rect">
            <a:avLst/>
          </a:prstGeom>
        </p:spPr>
      </p:pic>
      <p:pic>
        <p:nvPicPr>
          <p:cNvPr id="45" name="Immagine 44">
            <a:extLst>
              <a:ext uri="{FF2B5EF4-FFF2-40B4-BE49-F238E27FC236}">
                <a16:creationId xmlns:a16="http://schemas.microsoft.com/office/drawing/2014/main" id="{61789C95-C83F-DAC1-658B-AF9663639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220" y="902225"/>
            <a:ext cx="2752193" cy="2715357"/>
          </a:xfrm>
          <a:prstGeom prst="rect">
            <a:avLst/>
          </a:prstGeom>
        </p:spPr>
      </p:pic>
      <p:pic>
        <p:nvPicPr>
          <p:cNvPr id="46" name="Immagine 45" descr="Immagine che contiene cerchio, rosa, Arte bambini, cartone animato&#10;&#10;Descrizione generata automaticamente">
            <a:extLst>
              <a:ext uri="{FF2B5EF4-FFF2-40B4-BE49-F238E27FC236}">
                <a16:creationId xmlns:a16="http://schemas.microsoft.com/office/drawing/2014/main" id="{D8A154DC-5227-2617-E867-F162955A09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83"/>
          <a:stretch/>
        </p:blipFill>
        <p:spPr>
          <a:xfrm>
            <a:off x="2194581" y="3676081"/>
            <a:ext cx="3200399" cy="2715357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34821CE2-1A4C-F274-DD8B-E1D368032500}"/>
              </a:ext>
            </a:extLst>
          </p:cNvPr>
          <p:cNvCxnSpPr>
            <a:cxnSpLocks/>
          </p:cNvCxnSpPr>
          <p:nvPr/>
        </p:nvCxnSpPr>
        <p:spPr>
          <a:xfrm flipV="1">
            <a:off x="2194581" y="2232174"/>
            <a:ext cx="1795296" cy="1431129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diritto 47">
            <a:extLst>
              <a:ext uri="{FF2B5EF4-FFF2-40B4-BE49-F238E27FC236}">
                <a16:creationId xmlns:a16="http://schemas.microsoft.com/office/drawing/2014/main" id="{F5D0DE98-CD9C-4F4C-A9BF-115D62233829}"/>
              </a:ext>
            </a:extLst>
          </p:cNvPr>
          <p:cNvCxnSpPr>
            <a:cxnSpLocks/>
          </p:cNvCxnSpPr>
          <p:nvPr/>
        </p:nvCxnSpPr>
        <p:spPr>
          <a:xfrm flipH="1" flipV="1">
            <a:off x="4499131" y="2432237"/>
            <a:ext cx="896927" cy="1230258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0699F3E6-B39D-334F-6B61-232CF7DFCD85}"/>
              </a:ext>
            </a:extLst>
          </p:cNvPr>
          <p:cNvSpPr txBox="1"/>
          <p:nvPr/>
        </p:nvSpPr>
        <p:spPr>
          <a:xfrm>
            <a:off x="3898657" y="3770049"/>
            <a:ext cx="748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GSM</a:t>
            </a:r>
            <a:r>
              <a:rPr kumimoji="0" 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magine 49" descr="Immagine che contiene diagramma, linea&#10;&#10;Descrizione generata automaticamente">
            <a:extLst>
              <a:ext uri="{FF2B5EF4-FFF2-40B4-BE49-F238E27FC236}">
                <a16:creationId xmlns:a16="http://schemas.microsoft.com/office/drawing/2014/main" id="{D906EFDF-967A-2EE3-68A8-F08BA6E7325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71" t="56945" r="18220" b="8193"/>
          <a:stretch>
            <a:fillRect/>
          </a:stretch>
        </p:blipFill>
        <p:spPr>
          <a:xfrm>
            <a:off x="5875194" y="3465510"/>
            <a:ext cx="1427020" cy="10079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sellaDiTesto 50">
                <a:extLst>
                  <a:ext uri="{FF2B5EF4-FFF2-40B4-BE49-F238E27FC236}">
                    <a16:creationId xmlns:a16="http://schemas.microsoft.com/office/drawing/2014/main" id="{76FD2F54-6D74-E79D-5697-6A9C359C02C9}"/>
                  </a:ext>
                </a:extLst>
              </p:cNvPr>
              <p:cNvSpPr txBox="1"/>
              <p:nvPr/>
            </p:nvSpPr>
            <p:spPr>
              <a:xfrm>
                <a:off x="5735794" y="5247359"/>
                <a:ext cx="4424993" cy="700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NTCP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𝑗</m:t>
                          </m:r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nary>
                                <m:naryPr>
                                  <m:chr m:val="∏"/>
                                  <m:ctrl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𝑚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sz="16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16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𝑷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1600" b="1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𝒊𝒋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kumimoji="0" lang="en-US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US" sz="1600" b="0" i="0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LET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US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𝐷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kumimoji="0" lang="en-US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kumimoji="0" lang="en-US" sz="16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kumimoji="0" lang="en-US" sz="1600" b="0" i="1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kumimoji="0" lang="en-US" sz="1600" b="0" i="0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O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kumimoji="0" lang="en-US" sz="1600" b="0" i="0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ea typeface="+mn-ea"/>
                                                          <a:cs typeface="+mn-cs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1" name="CasellaDiTesto 50">
                <a:extLst>
                  <a:ext uri="{FF2B5EF4-FFF2-40B4-BE49-F238E27FC236}">
                    <a16:creationId xmlns:a16="http://schemas.microsoft.com/office/drawing/2014/main" id="{76FD2F54-6D74-E79D-5697-6A9C359C0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794" y="5247359"/>
                <a:ext cx="4424993" cy="7000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sellaDiTesto 51">
                <a:extLst>
                  <a:ext uri="{FF2B5EF4-FFF2-40B4-BE49-F238E27FC236}">
                    <a16:creationId xmlns:a16="http://schemas.microsoft.com/office/drawing/2014/main" id="{1EA95455-E12E-4443-D5A8-7ACAD76B3F93}"/>
                  </a:ext>
                </a:extLst>
              </p:cNvPr>
              <p:cNvSpPr txBox="1"/>
              <p:nvPr/>
            </p:nvSpPr>
            <p:spPr>
              <a:xfrm>
                <a:off x="7188136" y="3779019"/>
                <a:ext cx="40294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2" name="CasellaDiTesto 51">
                <a:extLst>
                  <a:ext uri="{FF2B5EF4-FFF2-40B4-BE49-F238E27FC236}">
                    <a16:creationId xmlns:a16="http://schemas.microsoft.com/office/drawing/2014/main" id="{1EA95455-E12E-4443-D5A8-7ACAD76B3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136" y="3779019"/>
                <a:ext cx="402948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sellaDiTesto 52">
                <a:extLst>
                  <a:ext uri="{FF2B5EF4-FFF2-40B4-BE49-F238E27FC236}">
                    <a16:creationId xmlns:a16="http://schemas.microsoft.com/office/drawing/2014/main" id="{704F68CF-91AE-B1DC-4932-E991E31E2B77}"/>
                  </a:ext>
                </a:extLst>
              </p:cNvPr>
              <p:cNvSpPr txBox="1"/>
              <p:nvPr/>
            </p:nvSpPr>
            <p:spPr>
              <a:xfrm>
                <a:off x="6328667" y="4366990"/>
                <a:ext cx="44641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CasellaDiTesto 52">
                <a:extLst>
                  <a:ext uri="{FF2B5EF4-FFF2-40B4-BE49-F238E27FC236}">
                    <a16:creationId xmlns:a16="http://schemas.microsoft.com/office/drawing/2014/main" id="{704F68CF-91AE-B1DC-4932-E991E31E2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667" y="4366990"/>
                <a:ext cx="446417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sellaDiTesto 53">
                <a:extLst>
                  <a:ext uri="{FF2B5EF4-FFF2-40B4-BE49-F238E27FC236}">
                    <a16:creationId xmlns:a16="http://schemas.microsoft.com/office/drawing/2014/main" id="{E0D66AE1-C4EA-7A2F-13CE-874295A66F92}"/>
                  </a:ext>
                </a:extLst>
              </p:cNvPr>
              <p:cNvSpPr txBox="1"/>
              <p:nvPr/>
            </p:nvSpPr>
            <p:spPr>
              <a:xfrm>
                <a:off x="2183215" y="4085508"/>
                <a:ext cx="534119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𝑷</m:t>
                          </m:r>
                        </m:e>
                        <m:sub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4" name="CasellaDiTesto 53">
                <a:extLst>
                  <a:ext uri="{FF2B5EF4-FFF2-40B4-BE49-F238E27FC236}">
                    <a16:creationId xmlns:a16="http://schemas.microsoft.com/office/drawing/2014/main" id="{E0D66AE1-C4EA-7A2F-13CE-874295A66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215" y="4085508"/>
                <a:ext cx="534119" cy="395621"/>
              </a:xfrm>
              <a:prstGeom prst="rect">
                <a:avLst/>
              </a:prstGeom>
              <a:blipFill>
                <a:blip r:embed="rId1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Croce 54">
            <a:extLst>
              <a:ext uri="{FF2B5EF4-FFF2-40B4-BE49-F238E27FC236}">
                <a16:creationId xmlns:a16="http://schemas.microsoft.com/office/drawing/2014/main" id="{B0436667-18CD-ECFE-8D40-F3949BAC74E5}"/>
              </a:ext>
            </a:extLst>
          </p:cNvPr>
          <p:cNvSpPr/>
          <p:nvPr/>
        </p:nvSpPr>
        <p:spPr>
          <a:xfrm rot="2643157">
            <a:off x="6245002" y="3506290"/>
            <a:ext cx="223689" cy="223428"/>
          </a:xfrm>
          <a:prstGeom prst="plus">
            <a:avLst>
              <a:gd name="adj" fmla="val 4640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46D2248B-A7E1-539E-594F-D65DBE8644F9}"/>
              </a:ext>
            </a:extLst>
          </p:cNvPr>
          <p:cNvSpPr txBox="1"/>
          <p:nvPr/>
        </p:nvSpPr>
        <p:spPr>
          <a:xfrm>
            <a:off x="5661100" y="2423514"/>
            <a:ext cx="4321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Probability that all cells in the FSU die 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A3C3160D-64A3-B5FF-9B4A-E8F219E9EAB2}"/>
              </a:ext>
            </a:extLst>
          </p:cNvPr>
          <p:cNvSpPr txBox="1"/>
          <p:nvPr/>
        </p:nvSpPr>
        <p:spPr>
          <a:xfrm>
            <a:off x="2194581" y="3684694"/>
            <a:ext cx="104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ij-th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FSU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5AA8D0B6-0F9A-BF2C-4C76-0B70D8A7E218}"/>
              </a:ext>
            </a:extLst>
          </p:cNvPr>
          <p:cNvSpPr txBox="1"/>
          <p:nvPr/>
        </p:nvSpPr>
        <p:spPr>
          <a:xfrm>
            <a:off x="2325946" y="902225"/>
            <a:ext cx="804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asellaDiTesto 73">
                <a:extLst>
                  <a:ext uri="{FF2B5EF4-FFF2-40B4-BE49-F238E27FC236}">
                    <a16:creationId xmlns:a16="http://schemas.microsoft.com/office/drawing/2014/main" id="{C6885C40-B46B-E018-CEF2-C0E36E509F9B}"/>
                  </a:ext>
                </a:extLst>
              </p:cNvPr>
              <p:cNvSpPr txBox="1"/>
              <p:nvPr/>
            </p:nvSpPr>
            <p:spPr>
              <a:xfrm>
                <a:off x="5662131" y="1478175"/>
                <a:ext cx="6333080" cy="6923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𝑷</m:t>
                          </m:r>
                        </m:e>
                        <m:sub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𝒊𝒋</m:t>
                          </m:r>
                        </m:sub>
                      </m:sSub>
                      <m:d>
                        <m:d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1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LET</m:t>
                              </m:r>
                            </m:e>
                            <m:sub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𝑖𝑗</m:t>
                              </m:r>
                            </m:sub>
                          </m:sSub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𝑖𝑗</m:t>
                              </m:r>
                            </m:sub>
                          </m:sSub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0" lang="en-US" sz="16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O</m:t>
                                      </m:r>
                                    </m:e>
                                    <m:sub>
                                      <m:r>
                                        <a:rPr kumimoji="0" lang="en-US" sz="16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e>
                            <m:sub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kumimoji="0" lang="en-US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kumimoji="0" lang="en-US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𝒊𝒋</m:t>
                                  </m:r>
                                </m:sub>
                                <m:sup>
                                  <m:r>
                                    <a:rPr kumimoji="0" lang="en-US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B05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𝒌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0" lang="en-US" sz="16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LET</m:t>
                                      </m:r>
                                    </m:e>
                                    <m:sup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𝑌</m:t>
                                      </m:r>
                                    </m:e>
                                    <m:sup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  <m:e>
                                  <m:sSub>
                                    <m:sSub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kumimoji="0" lang="en-US" sz="16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LET</m:t>
                                      </m:r>
                                    </m:e>
                                    <m:sub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kumimoji="0" lang="en-US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kumimoji="0" lang="en-US" sz="1600" b="0" i="0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O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US" sz="1600" b="0" i="0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4" name="CasellaDiTesto 73">
                <a:extLst>
                  <a:ext uri="{FF2B5EF4-FFF2-40B4-BE49-F238E27FC236}">
                    <a16:creationId xmlns:a16="http://schemas.microsoft.com/office/drawing/2014/main" id="{C6885C40-B46B-E018-CEF2-C0E36E509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131" y="1478175"/>
                <a:ext cx="6333080" cy="6923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CDA9C608-718A-FA90-A7E0-ED9D814479CB}"/>
              </a:ext>
            </a:extLst>
          </p:cNvPr>
          <p:cNvSpPr txBox="1"/>
          <p:nvPr/>
        </p:nvSpPr>
        <p:spPr>
          <a:xfrm>
            <a:off x="5665939" y="4796352"/>
            <a:ext cx="4693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 response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2679A2D6-E993-2437-EBAA-A4510D49CFD5}"/>
              </a:ext>
            </a:extLst>
          </p:cNvPr>
          <p:cNvSpPr txBox="1"/>
          <p:nvPr/>
        </p:nvSpPr>
        <p:spPr>
          <a:xfrm>
            <a:off x="5665939" y="1132938"/>
            <a:ext cx="4693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FSU 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asellaDiTesto 76">
                <a:extLst>
                  <a:ext uri="{FF2B5EF4-FFF2-40B4-BE49-F238E27FC236}">
                    <a16:creationId xmlns:a16="http://schemas.microsoft.com/office/drawing/2014/main" id="{7943CD2E-1552-3EE5-BADE-819CCDCA6917}"/>
                  </a:ext>
                </a:extLst>
              </p:cNvPr>
              <p:cNvSpPr txBox="1"/>
              <p:nvPr/>
            </p:nvSpPr>
            <p:spPr>
              <a:xfrm>
                <a:off x="3597768" y="4748607"/>
                <a:ext cx="4170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𝑺</m:t>
                          </m:r>
                        </m:e>
                        <m:sub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7" name="CasellaDiTesto 76">
                <a:extLst>
                  <a:ext uri="{FF2B5EF4-FFF2-40B4-BE49-F238E27FC236}">
                    <a16:creationId xmlns:a16="http://schemas.microsoft.com/office/drawing/2014/main" id="{7943CD2E-1552-3EE5-BADE-819CCDCA6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768" y="4748607"/>
                <a:ext cx="41709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7AEF5676-EC55-8D4A-833C-DA27F26BFC50}"/>
              </a:ext>
            </a:extLst>
          </p:cNvPr>
          <p:cNvSpPr txBox="1"/>
          <p:nvPr/>
        </p:nvSpPr>
        <p:spPr>
          <a:xfrm>
            <a:off x="5753266" y="3303008"/>
            <a:ext cx="596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FSU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asellaDiTesto 78">
                <a:extLst>
                  <a:ext uri="{FF2B5EF4-FFF2-40B4-BE49-F238E27FC236}">
                    <a16:creationId xmlns:a16="http://schemas.microsoft.com/office/drawing/2014/main" id="{75A0B55D-B73F-485E-F832-86941B99931E}"/>
                  </a:ext>
                </a:extLst>
              </p:cNvPr>
              <p:cNvSpPr txBox="1"/>
              <p:nvPr/>
            </p:nvSpPr>
            <p:spPr>
              <a:xfrm>
                <a:off x="6120765" y="3094941"/>
                <a:ext cx="534119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𝑷</m:t>
                          </m:r>
                        </m:e>
                        <m:sub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9" name="CasellaDiTesto 78">
                <a:extLst>
                  <a:ext uri="{FF2B5EF4-FFF2-40B4-BE49-F238E27FC236}">
                    <a16:creationId xmlns:a16="http://schemas.microsoft.com/office/drawing/2014/main" id="{75A0B55D-B73F-485E-F832-86941B999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765" y="3094941"/>
                <a:ext cx="534119" cy="395621"/>
              </a:xfrm>
              <a:prstGeom prst="rect">
                <a:avLst/>
              </a:prstGeom>
              <a:blipFill>
                <a:blip r:embed="rId1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3079B1A9-DCA9-8DC5-07CB-95D7D2488E1E}"/>
              </a:ext>
            </a:extLst>
          </p:cNvPr>
          <p:cNvSpPr txBox="1"/>
          <p:nvPr/>
        </p:nvSpPr>
        <p:spPr>
          <a:xfrm>
            <a:off x="3446791" y="5369716"/>
            <a:ext cx="1445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k-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nucleus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6" name="Connettore 2 85">
            <a:extLst>
              <a:ext uri="{FF2B5EF4-FFF2-40B4-BE49-F238E27FC236}">
                <a16:creationId xmlns:a16="http://schemas.microsoft.com/office/drawing/2014/main" id="{A0EEFD0C-DE52-AAE5-CC3F-10691CB2AD1C}"/>
              </a:ext>
            </a:extLst>
          </p:cNvPr>
          <p:cNvCxnSpPr>
            <a:cxnSpLocks/>
            <a:stCxn id="80" idx="0"/>
          </p:cNvCxnSpPr>
          <p:nvPr/>
        </p:nvCxnSpPr>
        <p:spPr>
          <a:xfrm flipH="1" flipV="1">
            <a:off x="3894646" y="5235493"/>
            <a:ext cx="274665" cy="13422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asellaDiTesto 86">
            <a:extLst>
              <a:ext uri="{FF2B5EF4-FFF2-40B4-BE49-F238E27FC236}">
                <a16:creationId xmlns:a16="http://schemas.microsoft.com/office/drawing/2014/main" id="{BD4025A0-3D86-BB76-2697-646C7AB528EA}"/>
              </a:ext>
            </a:extLst>
          </p:cNvPr>
          <p:cNvSpPr txBox="1"/>
          <p:nvPr/>
        </p:nvSpPr>
        <p:spPr>
          <a:xfrm>
            <a:off x="3848447" y="6000491"/>
            <a:ext cx="1235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DNA damages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8" name="Connettore 2 87">
            <a:extLst>
              <a:ext uri="{FF2B5EF4-FFF2-40B4-BE49-F238E27FC236}">
                <a16:creationId xmlns:a16="http://schemas.microsoft.com/office/drawing/2014/main" id="{6F1E04F1-0AAF-1E26-807B-E7E71000E8CF}"/>
              </a:ext>
            </a:extLst>
          </p:cNvPr>
          <p:cNvCxnSpPr>
            <a:cxnSpLocks/>
            <a:stCxn id="87" idx="0"/>
          </p:cNvCxnSpPr>
          <p:nvPr/>
        </p:nvCxnSpPr>
        <p:spPr>
          <a:xfrm flipH="1" flipV="1">
            <a:off x="4169311" y="5788745"/>
            <a:ext cx="296768" cy="2117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8E054C56-985A-B5D7-26BC-42C587C7AF3D}"/>
              </a:ext>
            </a:extLst>
          </p:cNvPr>
          <p:cNvSpPr txBox="1"/>
          <p:nvPr/>
        </p:nvSpPr>
        <p:spPr>
          <a:xfrm>
            <a:off x="1923366" y="1541499"/>
            <a:ext cx="6780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0" name="Connettore 2 89">
            <a:extLst>
              <a:ext uri="{FF2B5EF4-FFF2-40B4-BE49-F238E27FC236}">
                <a16:creationId xmlns:a16="http://schemas.microsoft.com/office/drawing/2014/main" id="{5EAF3080-E6CB-4285-6E4A-43470968E0EF}"/>
              </a:ext>
            </a:extLst>
          </p:cNvPr>
          <p:cNvCxnSpPr>
            <a:cxnSpLocks/>
            <a:stCxn id="89" idx="3"/>
          </p:cNvCxnSpPr>
          <p:nvPr/>
        </p:nvCxnSpPr>
        <p:spPr>
          <a:xfrm flipV="1">
            <a:off x="2601383" y="1637847"/>
            <a:ext cx="1094396" cy="575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CasellaDiTesto 90">
            <a:extLst>
              <a:ext uri="{FF2B5EF4-FFF2-40B4-BE49-F238E27FC236}">
                <a16:creationId xmlns:a16="http://schemas.microsoft.com/office/drawing/2014/main" id="{57E086FA-D41C-4EB4-2815-12AE6C889551}"/>
              </a:ext>
            </a:extLst>
          </p:cNvPr>
          <p:cNvSpPr txBox="1"/>
          <p:nvPr/>
        </p:nvSpPr>
        <p:spPr>
          <a:xfrm>
            <a:off x="7634869" y="1046858"/>
            <a:ext cx="3458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Surviving probability of a single cell</a:t>
            </a:r>
          </a:p>
        </p:txBody>
      </p:sp>
      <p:cxnSp>
        <p:nvCxnSpPr>
          <p:cNvPr id="92" name="Connettore 2 91">
            <a:extLst>
              <a:ext uri="{FF2B5EF4-FFF2-40B4-BE49-F238E27FC236}">
                <a16:creationId xmlns:a16="http://schemas.microsoft.com/office/drawing/2014/main" id="{84E997EC-8A1B-4D07-641B-8EF8C5A01273}"/>
              </a:ext>
            </a:extLst>
          </p:cNvPr>
          <p:cNvCxnSpPr>
            <a:cxnSpLocks/>
          </p:cNvCxnSpPr>
          <p:nvPr/>
        </p:nvCxnSpPr>
        <p:spPr>
          <a:xfrm flipH="1">
            <a:off x="8691513" y="1401166"/>
            <a:ext cx="137158" cy="2482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ttore 2 92">
            <a:extLst>
              <a:ext uri="{FF2B5EF4-FFF2-40B4-BE49-F238E27FC236}">
                <a16:creationId xmlns:a16="http://schemas.microsoft.com/office/drawing/2014/main" id="{24253D24-B201-3F0F-3959-BDEE6F760078}"/>
              </a:ext>
            </a:extLst>
          </p:cNvPr>
          <p:cNvCxnSpPr>
            <a:cxnSpLocks/>
          </p:cNvCxnSpPr>
          <p:nvPr/>
        </p:nvCxnSpPr>
        <p:spPr>
          <a:xfrm flipH="1" flipV="1">
            <a:off x="5941737" y="2090907"/>
            <a:ext cx="390129" cy="38679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CasellaDiTesto 93">
                <a:extLst>
                  <a:ext uri="{FF2B5EF4-FFF2-40B4-BE49-F238E27FC236}">
                    <a16:creationId xmlns:a16="http://schemas.microsoft.com/office/drawing/2014/main" id="{CA00D8ED-3914-E4BD-1228-66E5217A54B4}"/>
                  </a:ext>
                </a:extLst>
              </p:cNvPr>
              <p:cNvSpPr txBox="1"/>
              <p:nvPr/>
            </p:nvSpPr>
            <p:spPr>
              <a:xfrm>
                <a:off x="8148423" y="3648799"/>
                <a:ext cx="1647652" cy="554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s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≔</m:t>
                      </m:r>
                      <m:f>
                        <m:f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num>
                        <m:den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∙</m:t>
                          </m:r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cs typeface="+mn-cs"/>
                </a:endParaRPr>
              </a:p>
            </p:txBody>
          </p:sp>
        </mc:Choice>
        <mc:Fallback xmlns="">
          <p:sp>
            <p:nvSpPr>
              <p:cNvPr id="94" name="CasellaDiTesto 93">
                <a:extLst>
                  <a:ext uri="{FF2B5EF4-FFF2-40B4-BE49-F238E27FC236}">
                    <a16:creationId xmlns:a16="http://schemas.microsoft.com/office/drawing/2014/main" id="{CA00D8ED-3914-E4BD-1228-66E5217A5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23" y="3648799"/>
                <a:ext cx="1647652" cy="55496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Connettore 2 94">
            <a:extLst>
              <a:ext uri="{FF2B5EF4-FFF2-40B4-BE49-F238E27FC236}">
                <a16:creationId xmlns:a16="http://schemas.microsoft.com/office/drawing/2014/main" id="{B354E0EB-B558-7456-241A-AF83171014DD}"/>
              </a:ext>
            </a:extLst>
          </p:cNvPr>
          <p:cNvCxnSpPr>
            <a:cxnSpLocks/>
            <a:stCxn id="94" idx="3"/>
            <a:endCxn id="98" idx="1"/>
          </p:cNvCxnSpPr>
          <p:nvPr/>
        </p:nvCxnSpPr>
        <p:spPr>
          <a:xfrm flipV="1">
            <a:off x="9796075" y="3775239"/>
            <a:ext cx="336883" cy="151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5D765C68-5C41-652A-175B-62169911BEC8}"/>
              </a:ext>
            </a:extLst>
          </p:cNvPr>
          <p:cNvCxnSpPr>
            <a:cxnSpLocks/>
            <a:stCxn id="94" idx="3"/>
            <a:endCxn id="97" idx="1"/>
          </p:cNvCxnSpPr>
          <p:nvPr/>
        </p:nvCxnSpPr>
        <p:spPr>
          <a:xfrm>
            <a:off x="9796075" y="3926279"/>
            <a:ext cx="336361" cy="2091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CasellaDiTesto 96">
                <a:extLst>
                  <a:ext uri="{FF2B5EF4-FFF2-40B4-BE49-F238E27FC236}">
                    <a16:creationId xmlns:a16="http://schemas.microsoft.com/office/drawing/2014/main" id="{D7D03B09-A346-47C6-B866-1E90CC5C289B}"/>
                  </a:ext>
                </a:extLst>
              </p:cNvPr>
              <p:cNvSpPr txBox="1"/>
              <p:nvPr/>
            </p:nvSpPr>
            <p:spPr>
              <a:xfrm>
                <a:off x="10132436" y="3966193"/>
                <a:ext cx="3726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7" name="CasellaDiTesto 96">
                <a:extLst>
                  <a:ext uri="{FF2B5EF4-FFF2-40B4-BE49-F238E27FC236}">
                    <a16:creationId xmlns:a16="http://schemas.microsoft.com/office/drawing/2014/main" id="{D7D03B09-A346-47C6-B866-1E90CC5C2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2436" y="3966193"/>
                <a:ext cx="372643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CasellaDiTesto 97">
                <a:extLst>
                  <a:ext uri="{FF2B5EF4-FFF2-40B4-BE49-F238E27FC236}">
                    <a16:creationId xmlns:a16="http://schemas.microsoft.com/office/drawing/2014/main" id="{4FF57DFE-60A9-A5A6-CBF5-8269F7DBEB3E}"/>
                  </a:ext>
                </a:extLst>
              </p:cNvPr>
              <p:cNvSpPr txBox="1"/>
              <p:nvPr/>
            </p:nvSpPr>
            <p:spPr>
              <a:xfrm>
                <a:off x="10132958" y="3605962"/>
                <a:ext cx="3726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8" name="CasellaDiTesto 97">
                <a:extLst>
                  <a:ext uri="{FF2B5EF4-FFF2-40B4-BE49-F238E27FC236}">
                    <a16:creationId xmlns:a16="http://schemas.microsoft.com/office/drawing/2014/main" id="{4FF57DFE-60A9-A5A6-CBF5-8269F7DBE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2958" y="3605962"/>
                <a:ext cx="372643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CasellaDiTesto 98">
            <a:extLst>
              <a:ext uri="{FF2B5EF4-FFF2-40B4-BE49-F238E27FC236}">
                <a16:creationId xmlns:a16="http://schemas.microsoft.com/office/drawing/2014/main" id="{FDD6C572-FA72-1EB9-478D-75634CD93277}"/>
              </a:ext>
            </a:extLst>
          </p:cNvPr>
          <p:cNvSpPr txBox="1"/>
          <p:nvPr/>
        </p:nvSpPr>
        <p:spPr>
          <a:xfrm>
            <a:off x="10505079" y="3966192"/>
            <a:ext cx="1167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 organ</a:t>
            </a:r>
          </a:p>
        </p:txBody>
      </p:sp>
      <p:sp>
        <p:nvSpPr>
          <p:cNvPr id="100" name="CasellaDiTesto 99">
            <a:extLst>
              <a:ext uri="{FF2B5EF4-FFF2-40B4-BE49-F238E27FC236}">
                <a16:creationId xmlns:a16="http://schemas.microsoft.com/office/drawing/2014/main" id="{A95CA155-3F72-C01D-B2A4-69AE6C640214}"/>
              </a:ext>
            </a:extLst>
          </p:cNvPr>
          <p:cNvSpPr txBox="1"/>
          <p:nvPr/>
        </p:nvSpPr>
        <p:spPr>
          <a:xfrm>
            <a:off x="10505079" y="3605962"/>
            <a:ext cx="1313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Parallel organ</a:t>
            </a:r>
          </a:p>
        </p:txBody>
      </p:sp>
      <p:sp>
        <p:nvSpPr>
          <p:cNvPr id="101" name="CasellaDiTesto 100">
            <a:extLst>
              <a:ext uri="{FF2B5EF4-FFF2-40B4-BE49-F238E27FC236}">
                <a16:creationId xmlns:a16="http://schemas.microsoft.com/office/drawing/2014/main" id="{A57A2FF7-4D99-7BA3-DBD2-211EFB284D2F}"/>
              </a:ext>
            </a:extLst>
          </p:cNvPr>
          <p:cNvSpPr txBox="1"/>
          <p:nvPr/>
        </p:nvSpPr>
        <p:spPr>
          <a:xfrm>
            <a:off x="8183322" y="3278907"/>
            <a:ext cx="2574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Volume effect parameter</a:t>
            </a:r>
          </a:p>
        </p:txBody>
      </p:sp>
      <p:cxnSp>
        <p:nvCxnSpPr>
          <p:cNvPr id="102" name="Connettore diritto 101">
            <a:extLst>
              <a:ext uri="{FF2B5EF4-FFF2-40B4-BE49-F238E27FC236}">
                <a16:creationId xmlns:a16="http://schemas.microsoft.com/office/drawing/2014/main" id="{AA8C06A9-6710-341F-67FF-8EB751DD25A3}"/>
              </a:ext>
            </a:extLst>
          </p:cNvPr>
          <p:cNvCxnSpPr>
            <a:cxnSpLocks/>
          </p:cNvCxnSpPr>
          <p:nvPr/>
        </p:nvCxnSpPr>
        <p:spPr>
          <a:xfrm>
            <a:off x="3639620" y="2577603"/>
            <a:ext cx="580272" cy="23375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ttore diritto 102">
            <a:extLst>
              <a:ext uri="{FF2B5EF4-FFF2-40B4-BE49-F238E27FC236}">
                <a16:creationId xmlns:a16="http://schemas.microsoft.com/office/drawing/2014/main" id="{3E91D967-3BC5-A2E3-0207-58232C390532}"/>
              </a:ext>
            </a:extLst>
          </p:cNvPr>
          <p:cNvCxnSpPr>
            <a:cxnSpLocks/>
          </p:cNvCxnSpPr>
          <p:nvPr/>
        </p:nvCxnSpPr>
        <p:spPr>
          <a:xfrm flipH="1">
            <a:off x="4203522" y="2421946"/>
            <a:ext cx="294739" cy="39159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diritto 103">
            <a:extLst>
              <a:ext uri="{FF2B5EF4-FFF2-40B4-BE49-F238E27FC236}">
                <a16:creationId xmlns:a16="http://schemas.microsoft.com/office/drawing/2014/main" id="{7BD1DFDE-211C-BFF6-DEB5-68DF0A41278E}"/>
              </a:ext>
            </a:extLst>
          </p:cNvPr>
          <p:cNvCxnSpPr>
            <a:cxnSpLocks/>
          </p:cNvCxnSpPr>
          <p:nvPr/>
        </p:nvCxnSpPr>
        <p:spPr>
          <a:xfrm flipH="1">
            <a:off x="3639620" y="2232174"/>
            <a:ext cx="357959" cy="350909"/>
          </a:xfrm>
          <a:prstGeom prst="line">
            <a:avLst/>
          </a:prstGeom>
          <a:ln w="1905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ttore diritto 104">
            <a:extLst>
              <a:ext uri="{FF2B5EF4-FFF2-40B4-BE49-F238E27FC236}">
                <a16:creationId xmlns:a16="http://schemas.microsoft.com/office/drawing/2014/main" id="{9D7415CC-08A4-EEBF-C94A-4339AC95496B}"/>
              </a:ext>
            </a:extLst>
          </p:cNvPr>
          <p:cNvCxnSpPr>
            <a:cxnSpLocks/>
          </p:cNvCxnSpPr>
          <p:nvPr/>
        </p:nvCxnSpPr>
        <p:spPr>
          <a:xfrm>
            <a:off x="3986839" y="2234038"/>
            <a:ext cx="500644" cy="187761"/>
          </a:xfrm>
          <a:prstGeom prst="line">
            <a:avLst/>
          </a:prstGeom>
          <a:ln w="1905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Saetta 105">
            <a:extLst>
              <a:ext uri="{FF2B5EF4-FFF2-40B4-BE49-F238E27FC236}">
                <a16:creationId xmlns:a16="http://schemas.microsoft.com/office/drawing/2014/main" id="{3A968EE0-897C-7B21-5973-3A6AB9AFAFFD}"/>
              </a:ext>
            </a:extLst>
          </p:cNvPr>
          <p:cNvSpPr/>
          <p:nvPr/>
        </p:nvSpPr>
        <p:spPr>
          <a:xfrm rot="9287334" flipV="1">
            <a:off x="6549794" y="2973669"/>
            <a:ext cx="504665" cy="375051"/>
          </a:xfrm>
          <a:prstGeom prst="lightningBol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7" name="Connettore diritto 106">
            <a:extLst>
              <a:ext uri="{FF2B5EF4-FFF2-40B4-BE49-F238E27FC236}">
                <a16:creationId xmlns:a16="http://schemas.microsoft.com/office/drawing/2014/main" id="{E2FA6C0E-4D8F-3FC1-08E2-CEB223A5F818}"/>
              </a:ext>
            </a:extLst>
          </p:cNvPr>
          <p:cNvCxnSpPr>
            <a:cxnSpLocks/>
          </p:cNvCxnSpPr>
          <p:nvPr/>
        </p:nvCxnSpPr>
        <p:spPr>
          <a:xfrm>
            <a:off x="3637281" y="2048737"/>
            <a:ext cx="580272" cy="23375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ttore diritto 107">
            <a:extLst>
              <a:ext uri="{FF2B5EF4-FFF2-40B4-BE49-F238E27FC236}">
                <a16:creationId xmlns:a16="http://schemas.microsoft.com/office/drawing/2014/main" id="{C90969F5-61B9-46A2-D854-028A62C7F117}"/>
              </a:ext>
            </a:extLst>
          </p:cNvPr>
          <p:cNvCxnSpPr>
            <a:cxnSpLocks/>
          </p:cNvCxnSpPr>
          <p:nvPr/>
        </p:nvCxnSpPr>
        <p:spPr>
          <a:xfrm flipH="1">
            <a:off x="4201183" y="1896372"/>
            <a:ext cx="313450" cy="38830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ttore diritto 108">
            <a:extLst>
              <a:ext uri="{FF2B5EF4-FFF2-40B4-BE49-F238E27FC236}">
                <a16:creationId xmlns:a16="http://schemas.microsoft.com/office/drawing/2014/main" id="{0FCF63C6-788D-C320-38AC-BC785394B821}"/>
              </a:ext>
            </a:extLst>
          </p:cNvPr>
          <p:cNvCxnSpPr>
            <a:cxnSpLocks/>
          </p:cNvCxnSpPr>
          <p:nvPr/>
        </p:nvCxnSpPr>
        <p:spPr>
          <a:xfrm flipH="1">
            <a:off x="3637281" y="1703308"/>
            <a:ext cx="357959" cy="350909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ttore diritto 109">
            <a:extLst>
              <a:ext uri="{FF2B5EF4-FFF2-40B4-BE49-F238E27FC236}">
                <a16:creationId xmlns:a16="http://schemas.microsoft.com/office/drawing/2014/main" id="{CB617AEB-4B78-B158-5572-6FF1EE6FD4D9}"/>
              </a:ext>
            </a:extLst>
          </p:cNvPr>
          <p:cNvCxnSpPr>
            <a:cxnSpLocks/>
          </p:cNvCxnSpPr>
          <p:nvPr/>
        </p:nvCxnSpPr>
        <p:spPr>
          <a:xfrm>
            <a:off x="3984500" y="1705172"/>
            <a:ext cx="530133" cy="1912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ttore diritto 110">
            <a:extLst>
              <a:ext uri="{FF2B5EF4-FFF2-40B4-BE49-F238E27FC236}">
                <a16:creationId xmlns:a16="http://schemas.microsoft.com/office/drawing/2014/main" id="{E0EE90AB-8B75-535A-A2C4-FCACD96CABF6}"/>
              </a:ext>
            </a:extLst>
          </p:cNvPr>
          <p:cNvCxnSpPr>
            <a:cxnSpLocks/>
          </p:cNvCxnSpPr>
          <p:nvPr/>
        </p:nvCxnSpPr>
        <p:spPr>
          <a:xfrm>
            <a:off x="3986839" y="1723848"/>
            <a:ext cx="11684" cy="510145"/>
          </a:xfrm>
          <a:prstGeom prst="line">
            <a:avLst/>
          </a:prstGeom>
          <a:ln w="19050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ttore diritto 111">
            <a:extLst>
              <a:ext uri="{FF2B5EF4-FFF2-40B4-BE49-F238E27FC236}">
                <a16:creationId xmlns:a16="http://schemas.microsoft.com/office/drawing/2014/main" id="{419BD2BD-B456-7473-59E6-E11B3A672852}"/>
              </a:ext>
            </a:extLst>
          </p:cNvPr>
          <p:cNvCxnSpPr>
            <a:cxnSpLocks/>
          </p:cNvCxnSpPr>
          <p:nvPr/>
        </p:nvCxnSpPr>
        <p:spPr>
          <a:xfrm>
            <a:off x="3637281" y="2048737"/>
            <a:ext cx="12978" cy="53434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diritto 112">
            <a:extLst>
              <a:ext uri="{FF2B5EF4-FFF2-40B4-BE49-F238E27FC236}">
                <a16:creationId xmlns:a16="http://schemas.microsoft.com/office/drawing/2014/main" id="{2121AA16-5DA3-D7F7-B66D-AD04F948EC9D}"/>
              </a:ext>
            </a:extLst>
          </p:cNvPr>
          <p:cNvCxnSpPr>
            <a:cxnSpLocks/>
          </p:cNvCxnSpPr>
          <p:nvPr/>
        </p:nvCxnSpPr>
        <p:spPr>
          <a:xfrm>
            <a:off x="4203115" y="2267055"/>
            <a:ext cx="3731" cy="54429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ttore diritto 113">
            <a:extLst>
              <a:ext uri="{FF2B5EF4-FFF2-40B4-BE49-F238E27FC236}">
                <a16:creationId xmlns:a16="http://schemas.microsoft.com/office/drawing/2014/main" id="{63BEA328-BB5F-627E-F639-179DF25C3EE7}"/>
              </a:ext>
            </a:extLst>
          </p:cNvPr>
          <p:cNvCxnSpPr>
            <a:cxnSpLocks/>
          </p:cNvCxnSpPr>
          <p:nvPr/>
        </p:nvCxnSpPr>
        <p:spPr>
          <a:xfrm flipH="1">
            <a:off x="4487483" y="1903371"/>
            <a:ext cx="23296" cy="52886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CasellaDiTesto 114">
            <a:extLst>
              <a:ext uri="{FF2B5EF4-FFF2-40B4-BE49-F238E27FC236}">
                <a16:creationId xmlns:a16="http://schemas.microsoft.com/office/drawing/2014/main" id="{0862ED5D-EB00-5AD0-4B7A-E2471DE18C0A}"/>
              </a:ext>
            </a:extLst>
          </p:cNvPr>
          <p:cNvSpPr txBox="1"/>
          <p:nvPr/>
        </p:nvSpPr>
        <p:spPr>
          <a:xfrm>
            <a:off x="1730887" y="1953987"/>
            <a:ext cx="9924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Functional sub-unit (FSU)</a:t>
            </a:r>
          </a:p>
        </p:txBody>
      </p:sp>
      <p:cxnSp>
        <p:nvCxnSpPr>
          <p:cNvPr id="116" name="Connettore 2 115">
            <a:extLst>
              <a:ext uri="{FF2B5EF4-FFF2-40B4-BE49-F238E27FC236}">
                <a16:creationId xmlns:a16="http://schemas.microsoft.com/office/drawing/2014/main" id="{217E5555-721D-A909-6E5F-FE287A908E65}"/>
              </a:ext>
            </a:extLst>
          </p:cNvPr>
          <p:cNvCxnSpPr>
            <a:cxnSpLocks/>
            <a:stCxn id="115" idx="3"/>
          </p:cNvCxnSpPr>
          <p:nvPr/>
        </p:nvCxnSpPr>
        <p:spPr>
          <a:xfrm>
            <a:off x="2723309" y="2323319"/>
            <a:ext cx="841221" cy="694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asellaDiTesto 117">
            <a:extLst>
              <a:ext uri="{FF2B5EF4-FFF2-40B4-BE49-F238E27FC236}">
                <a16:creationId xmlns:a16="http://schemas.microsoft.com/office/drawing/2014/main" id="{D5414413-DDE9-DD4D-4353-FD81C4B4B1A0}"/>
              </a:ext>
            </a:extLst>
          </p:cNvPr>
          <p:cNvSpPr txBox="1"/>
          <p:nvPr/>
        </p:nvSpPr>
        <p:spPr>
          <a:xfrm>
            <a:off x="2121939" y="2687489"/>
            <a:ext cx="5143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9" name="Connettore 2 118">
            <a:extLst>
              <a:ext uri="{FF2B5EF4-FFF2-40B4-BE49-F238E27FC236}">
                <a16:creationId xmlns:a16="http://schemas.microsoft.com/office/drawing/2014/main" id="{5FF52034-5393-B9B8-00D1-94A6EB9C101B}"/>
              </a:ext>
            </a:extLst>
          </p:cNvPr>
          <p:cNvCxnSpPr>
            <a:cxnSpLocks/>
            <a:stCxn id="118" idx="3"/>
          </p:cNvCxnSpPr>
          <p:nvPr/>
        </p:nvCxnSpPr>
        <p:spPr>
          <a:xfrm flipV="1">
            <a:off x="2636291" y="2703606"/>
            <a:ext cx="409088" cy="1377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32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1" grpId="0"/>
      <p:bldP spid="52" grpId="0"/>
      <p:bldP spid="53" grpId="0"/>
      <p:bldP spid="54" grpId="0"/>
      <p:bldP spid="55" grpId="0" animBg="1"/>
      <p:bldP spid="56" grpId="0"/>
      <p:bldP spid="68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7" grpId="0"/>
      <p:bldP spid="91" grpId="0"/>
      <p:bldP spid="94" grpId="0"/>
      <p:bldP spid="97" grpId="0"/>
      <p:bldP spid="98" grpId="0"/>
      <p:bldP spid="99" grpId="0"/>
      <p:bldP spid="100" grpId="0"/>
      <p:bldP spid="101" grpId="0"/>
      <p:bldP spid="106" grpId="0" animBg="1"/>
      <p:bldP spid="1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F13AF-D1DF-9FA2-C4E7-1C2DD3D4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1">
            <a:extLst>
              <a:ext uri="{FF2B5EF4-FFF2-40B4-BE49-F238E27FC236}">
                <a16:creationId xmlns:a16="http://schemas.microsoft.com/office/drawing/2014/main" id="{167D1694-73ED-EB56-C697-BBBEB5393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01/12/2025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28E07E5-EE85-EDD8-7880-F751FCEE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Marco Battestini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670F651-FA50-2E24-B103-1CD222BB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20E51B-BD1A-4F97-8445-E96D00856F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itolo 1">
            <a:extLst>
              <a:ext uri="{FF2B5EF4-FFF2-40B4-BE49-F238E27FC236}">
                <a16:creationId xmlns:a16="http://schemas.microsoft.com/office/drawing/2014/main" id="{CEFED57B-FCA5-1B8A-CA13-36CF21EB2420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10235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Irradiation scheme of the skin tissue experiment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FAC83CA-C9AF-F756-AFD4-3FEF8E986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838" y="1892700"/>
            <a:ext cx="7266300" cy="1913593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3B65B028-9BAE-AF08-A0B2-376D9246CB24}"/>
              </a:ext>
            </a:extLst>
          </p:cNvPr>
          <p:cNvGrpSpPr/>
          <p:nvPr/>
        </p:nvGrpSpPr>
        <p:grpSpPr>
          <a:xfrm>
            <a:off x="131368" y="1564421"/>
            <a:ext cx="1539844" cy="3729158"/>
            <a:chOff x="135586" y="1856553"/>
            <a:chExt cx="1539844" cy="3729158"/>
          </a:xfrm>
        </p:grpSpPr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DDE07C21-CE5C-69CF-62A8-1846A2DDE9D0}"/>
                </a:ext>
              </a:extLst>
            </p:cNvPr>
            <p:cNvGrpSpPr/>
            <p:nvPr/>
          </p:nvGrpSpPr>
          <p:grpSpPr>
            <a:xfrm>
              <a:off x="135586" y="1856553"/>
              <a:ext cx="1535626" cy="1022218"/>
              <a:chOff x="634124" y="734039"/>
              <a:chExt cx="1535626" cy="1022218"/>
            </a:xfrm>
          </p:grpSpPr>
          <p:sp>
            <p:nvSpPr>
              <p:cNvPr id="40" name="Figura a mano libera: forma 39">
                <a:extLst>
                  <a:ext uri="{FF2B5EF4-FFF2-40B4-BE49-F238E27FC236}">
                    <a16:creationId xmlns:a16="http://schemas.microsoft.com/office/drawing/2014/main" id="{28A50DB5-7989-3B49-F2A3-E96759D39EE5}"/>
                  </a:ext>
                </a:extLst>
              </p:cNvPr>
              <p:cNvSpPr/>
              <p:nvPr/>
            </p:nvSpPr>
            <p:spPr>
              <a:xfrm>
                <a:off x="634124" y="734039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kern="1200" noProof="0" dirty="0"/>
                  <a:t>Irradiation of 3D skin tissue</a:t>
                </a:r>
              </a:p>
            </p:txBody>
          </p:sp>
          <p:sp>
            <p:nvSpPr>
              <p:cNvPr id="41" name="Figura a mano libera: forma 40">
                <a:extLst>
                  <a:ext uri="{FF2B5EF4-FFF2-40B4-BE49-F238E27FC236}">
                    <a16:creationId xmlns:a16="http://schemas.microsoft.com/office/drawing/2014/main" id="{17455922-7D17-5E1F-6165-21B38BE7604A}"/>
                  </a:ext>
                </a:extLst>
              </p:cNvPr>
              <p:cNvSpPr/>
              <p:nvPr/>
            </p:nvSpPr>
            <p:spPr>
              <a:xfrm>
                <a:off x="941249" y="1267723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  <a:solidFill>
                <a:srgbClr val="70AD4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WP2.1</a:t>
                </a:r>
              </a:p>
            </p:txBody>
          </p:sp>
        </p:grpSp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3C6D5379-1B8D-EBAE-B9B7-4D26F4840BAB}"/>
                </a:ext>
              </a:extLst>
            </p:cNvPr>
            <p:cNvGrpSpPr/>
            <p:nvPr/>
          </p:nvGrpSpPr>
          <p:grpSpPr>
            <a:xfrm>
              <a:off x="139804" y="3210023"/>
              <a:ext cx="1535626" cy="1022219"/>
              <a:chOff x="634124" y="2426465"/>
              <a:chExt cx="1535626" cy="1022219"/>
            </a:xfrm>
          </p:grpSpPr>
          <p:sp>
            <p:nvSpPr>
              <p:cNvPr id="38" name="Figura a mano libera: forma 37">
                <a:extLst>
                  <a:ext uri="{FF2B5EF4-FFF2-40B4-BE49-F238E27FC236}">
                    <a16:creationId xmlns:a16="http://schemas.microsoft.com/office/drawing/2014/main" id="{E37EF75B-8A89-99BA-2623-A4DDC21FC70D}"/>
                  </a:ext>
                </a:extLst>
              </p:cNvPr>
              <p:cNvSpPr/>
              <p:nvPr/>
            </p:nvSpPr>
            <p:spPr>
              <a:xfrm>
                <a:off x="634124" y="2426465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Skin model development</a:t>
                </a:r>
              </a:p>
            </p:txBody>
          </p:sp>
          <p:sp>
            <p:nvSpPr>
              <p:cNvPr id="39" name="Figura a mano libera: forma 38">
                <a:extLst>
                  <a:ext uri="{FF2B5EF4-FFF2-40B4-BE49-F238E27FC236}">
                    <a16:creationId xmlns:a16="http://schemas.microsoft.com/office/drawing/2014/main" id="{6D782426-644A-B55A-EA2D-5AC5194C1260}"/>
                  </a:ext>
                </a:extLst>
              </p:cNvPr>
              <p:cNvSpPr/>
              <p:nvPr/>
            </p:nvSpPr>
            <p:spPr>
              <a:xfrm>
                <a:off x="941249" y="2960150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  <a:solidFill>
                <a:srgbClr val="70AD4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WP2.2</a:t>
                </a:r>
              </a:p>
            </p:txBody>
          </p:sp>
        </p:grpSp>
        <p:grpSp>
          <p:nvGrpSpPr>
            <p:cNvPr id="33" name="Gruppo 32">
              <a:extLst>
                <a:ext uri="{FF2B5EF4-FFF2-40B4-BE49-F238E27FC236}">
                  <a16:creationId xmlns:a16="http://schemas.microsoft.com/office/drawing/2014/main" id="{EA92BEB4-B3F9-03F9-1D63-DBF8E4E5112D}"/>
                </a:ext>
              </a:extLst>
            </p:cNvPr>
            <p:cNvGrpSpPr/>
            <p:nvPr/>
          </p:nvGrpSpPr>
          <p:grpSpPr>
            <a:xfrm>
              <a:off x="135586" y="4563492"/>
              <a:ext cx="1535626" cy="1022219"/>
              <a:chOff x="634124" y="3980710"/>
              <a:chExt cx="1535626" cy="1022219"/>
            </a:xfrm>
          </p:grpSpPr>
          <p:sp>
            <p:nvSpPr>
              <p:cNvPr id="36" name="Figura a mano libera: forma 35">
                <a:extLst>
                  <a:ext uri="{FF2B5EF4-FFF2-40B4-BE49-F238E27FC236}">
                    <a16:creationId xmlns:a16="http://schemas.microsoft.com/office/drawing/2014/main" id="{BE34F096-D76D-A01F-4C65-09200945C279}"/>
                  </a:ext>
                </a:extLst>
              </p:cNvPr>
              <p:cNvSpPr/>
              <p:nvPr/>
            </p:nvSpPr>
            <p:spPr>
              <a:xfrm>
                <a:off x="634124" y="3980710"/>
                <a:ext cx="1382063" cy="777952"/>
              </a:xfrm>
              <a:custGeom>
                <a:avLst/>
                <a:gdLst>
                  <a:gd name="connsiteX0" fmla="*/ 0 w 1382063"/>
                  <a:gd name="connsiteY0" fmla="*/ 113991 h 1139913"/>
                  <a:gd name="connsiteX1" fmla="*/ 113991 w 1382063"/>
                  <a:gd name="connsiteY1" fmla="*/ 0 h 1139913"/>
                  <a:gd name="connsiteX2" fmla="*/ 1268072 w 1382063"/>
                  <a:gd name="connsiteY2" fmla="*/ 0 h 1139913"/>
                  <a:gd name="connsiteX3" fmla="*/ 1382063 w 1382063"/>
                  <a:gd name="connsiteY3" fmla="*/ 113991 h 1139913"/>
                  <a:gd name="connsiteX4" fmla="*/ 1382063 w 1382063"/>
                  <a:gd name="connsiteY4" fmla="*/ 1025922 h 1139913"/>
                  <a:gd name="connsiteX5" fmla="*/ 1268072 w 1382063"/>
                  <a:gd name="connsiteY5" fmla="*/ 1139913 h 1139913"/>
                  <a:gd name="connsiteX6" fmla="*/ 113991 w 1382063"/>
                  <a:gd name="connsiteY6" fmla="*/ 1139913 h 1139913"/>
                  <a:gd name="connsiteX7" fmla="*/ 0 w 1382063"/>
                  <a:gd name="connsiteY7" fmla="*/ 1025922 h 1139913"/>
                  <a:gd name="connsiteX8" fmla="*/ 0 w 1382063"/>
                  <a:gd name="connsiteY8" fmla="*/ 113991 h 113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2063" h="1139913">
                    <a:moveTo>
                      <a:pt x="0" y="113991"/>
                    </a:moveTo>
                    <a:cubicBezTo>
                      <a:pt x="0" y="51036"/>
                      <a:pt x="51036" y="0"/>
                      <a:pt x="113991" y="0"/>
                    </a:cubicBezTo>
                    <a:lnTo>
                      <a:pt x="1268072" y="0"/>
                    </a:lnTo>
                    <a:cubicBezTo>
                      <a:pt x="1331027" y="0"/>
                      <a:pt x="1382063" y="51036"/>
                      <a:pt x="1382063" y="113991"/>
                    </a:cubicBezTo>
                    <a:lnTo>
                      <a:pt x="1382063" y="1025922"/>
                    </a:lnTo>
                    <a:cubicBezTo>
                      <a:pt x="1382063" y="1088877"/>
                      <a:pt x="1331027" y="1139913"/>
                      <a:pt x="1268072" y="1139913"/>
                    </a:cubicBezTo>
                    <a:lnTo>
                      <a:pt x="113991" y="1139913"/>
                    </a:lnTo>
                    <a:cubicBezTo>
                      <a:pt x="51036" y="1139913"/>
                      <a:pt x="0" y="1088877"/>
                      <a:pt x="0" y="1025922"/>
                    </a:cubicBezTo>
                    <a:lnTo>
                      <a:pt x="0" y="113991"/>
                    </a:lnTo>
                    <a:close/>
                  </a:path>
                </a:pathLst>
              </a:custGeom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7188" tIns="47188" rIns="47188" bIns="291455" numCol="1" spcCol="1270" anchor="ctr" anchorCtr="0">
                <a:noAutofit/>
              </a:bodyPr>
              <a:lstStyle/>
              <a:p>
                <a:pPr marL="0" lvl="1" algn="ctr" defTabSz="4889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400" b="1" noProof="0" dirty="0"/>
                  <a:t>Skin model calibration</a:t>
                </a:r>
              </a:p>
            </p:txBody>
          </p:sp>
          <p:sp>
            <p:nvSpPr>
              <p:cNvPr id="37" name="Figura a mano libera: forma 36">
                <a:extLst>
                  <a:ext uri="{FF2B5EF4-FFF2-40B4-BE49-F238E27FC236}">
                    <a16:creationId xmlns:a16="http://schemas.microsoft.com/office/drawing/2014/main" id="{D6029CA3-B7B1-50C3-5A62-2E3CB5312E9C}"/>
                  </a:ext>
                </a:extLst>
              </p:cNvPr>
              <p:cNvSpPr/>
              <p:nvPr/>
            </p:nvSpPr>
            <p:spPr>
              <a:xfrm>
                <a:off x="941249" y="4514395"/>
                <a:ext cx="1228501" cy="488534"/>
              </a:xfrm>
              <a:custGeom>
                <a:avLst/>
                <a:gdLst>
                  <a:gd name="connsiteX0" fmla="*/ 0 w 1228501"/>
                  <a:gd name="connsiteY0" fmla="*/ 48853 h 488534"/>
                  <a:gd name="connsiteX1" fmla="*/ 48853 w 1228501"/>
                  <a:gd name="connsiteY1" fmla="*/ 0 h 488534"/>
                  <a:gd name="connsiteX2" fmla="*/ 1179648 w 1228501"/>
                  <a:gd name="connsiteY2" fmla="*/ 0 h 488534"/>
                  <a:gd name="connsiteX3" fmla="*/ 1228501 w 1228501"/>
                  <a:gd name="connsiteY3" fmla="*/ 48853 h 488534"/>
                  <a:gd name="connsiteX4" fmla="*/ 1228501 w 1228501"/>
                  <a:gd name="connsiteY4" fmla="*/ 439681 h 488534"/>
                  <a:gd name="connsiteX5" fmla="*/ 1179648 w 1228501"/>
                  <a:gd name="connsiteY5" fmla="*/ 488534 h 488534"/>
                  <a:gd name="connsiteX6" fmla="*/ 48853 w 1228501"/>
                  <a:gd name="connsiteY6" fmla="*/ 488534 h 488534"/>
                  <a:gd name="connsiteX7" fmla="*/ 0 w 1228501"/>
                  <a:gd name="connsiteY7" fmla="*/ 439681 h 488534"/>
                  <a:gd name="connsiteX8" fmla="*/ 0 w 1228501"/>
                  <a:gd name="connsiteY8" fmla="*/ 48853 h 48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8501" h="488534">
                    <a:moveTo>
                      <a:pt x="0" y="48853"/>
                    </a:moveTo>
                    <a:cubicBezTo>
                      <a:pt x="0" y="21872"/>
                      <a:pt x="21872" y="0"/>
                      <a:pt x="48853" y="0"/>
                    </a:cubicBezTo>
                    <a:lnTo>
                      <a:pt x="1179648" y="0"/>
                    </a:lnTo>
                    <a:cubicBezTo>
                      <a:pt x="1206629" y="0"/>
                      <a:pt x="1228501" y="21872"/>
                      <a:pt x="1228501" y="48853"/>
                    </a:cubicBezTo>
                    <a:lnTo>
                      <a:pt x="1228501" y="439681"/>
                    </a:lnTo>
                    <a:cubicBezTo>
                      <a:pt x="1228501" y="466662"/>
                      <a:pt x="1206629" y="488534"/>
                      <a:pt x="1179648" y="488534"/>
                    </a:cubicBezTo>
                    <a:lnTo>
                      <a:pt x="48853" y="488534"/>
                    </a:lnTo>
                    <a:cubicBezTo>
                      <a:pt x="21872" y="488534"/>
                      <a:pt x="0" y="466662"/>
                      <a:pt x="0" y="439681"/>
                    </a:cubicBezTo>
                    <a:lnTo>
                      <a:pt x="0" y="48853"/>
                    </a:lnTo>
                    <a:close/>
                  </a:path>
                </a:pathLst>
              </a:custGeom>
              <a:solidFill>
                <a:srgbClr val="70AD4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5744" tIns="48599" rIns="65744" bIns="48599" numCol="1" spcCol="1270" anchor="ctr" anchorCtr="0">
                <a:noAutofit/>
              </a:bodyPr>
              <a:lstStyle/>
              <a:p>
                <a:pPr marL="0" lvl="0" indent="0" algn="ctr" defTabSz="1200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 noProof="0" dirty="0"/>
                  <a:t>WP2.3</a:t>
                </a:r>
              </a:p>
            </p:txBody>
          </p:sp>
        </p:grpSp>
        <p:sp>
          <p:nvSpPr>
            <p:cNvPr id="34" name="Freccia in giù 33">
              <a:extLst>
                <a:ext uri="{FF2B5EF4-FFF2-40B4-BE49-F238E27FC236}">
                  <a16:creationId xmlns:a16="http://schemas.microsoft.com/office/drawing/2014/main" id="{1C72450D-1F6E-0912-98B4-64AD894F1483}"/>
                </a:ext>
              </a:extLst>
            </p:cNvPr>
            <p:cNvSpPr/>
            <p:nvPr/>
          </p:nvSpPr>
          <p:spPr>
            <a:xfrm>
              <a:off x="725632" y="2923921"/>
              <a:ext cx="201969" cy="244268"/>
            </a:xfrm>
            <a:prstGeom prst="downArrow">
              <a:avLst/>
            </a:prstGeom>
            <a:solidFill>
              <a:srgbClr val="BBD3B1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  <p:sp>
          <p:nvSpPr>
            <p:cNvPr id="35" name="Freccia in giù 34">
              <a:extLst>
                <a:ext uri="{FF2B5EF4-FFF2-40B4-BE49-F238E27FC236}">
                  <a16:creationId xmlns:a16="http://schemas.microsoft.com/office/drawing/2014/main" id="{EB162CA1-8DC0-496B-13FC-0D0A11426C83}"/>
                </a:ext>
              </a:extLst>
            </p:cNvPr>
            <p:cNvSpPr/>
            <p:nvPr/>
          </p:nvSpPr>
          <p:spPr>
            <a:xfrm>
              <a:off x="725632" y="4275733"/>
              <a:ext cx="201969" cy="244268"/>
            </a:xfrm>
            <a:prstGeom prst="downArrow">
              <a:avLst/>
            </a:prstGeom>
            <a:solidFill>
              <a:srgbClr val="BBD3B1"/>
            </a:solidFill>
            <a:ln>
              <a:solidFill>
                <a:srgbClr val="B5CB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rgbClr val="B5CBE7"/>
                </a:solidFill>
              </a:endParaRPr>
            </a:p>
          </p:txBody>
        </p:sp>
      </p:grpSp>
      <p:sp>
        <p:nvSpPr>
          <p:cNvPr id="42" name="Rettangolo 41">
            <a:extLst>
              <a:ext uri="{FF2B5EF4-FFF2-40B4-BE49-F238E27FC236}">
                <a16:creationId xmlns:a16="http://schemas.microsoft.com/office/drawing/2014/main" id="{415AFD0D-F6FF-549A-F86D-563A4378C425}"/>
              </a:ext>
            </a:extLst>
          </p:cNvPr>
          <p:cNvSpPr/>
          <p:nvPr/>
        </p:nvSpPr>
        <p:spPr>
          <a:xfrm>
            <a:off x="102990" y="2631789"/>
            <a:ext cx="1568222" cy="2729136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973B920A-519E-63E3-7C9F-CD9129664197}"/>
              </a:ext>
            </a:extLst>
          </p:cNvPr>
          <p:cNvGrpSpPr>
            <a:grpSpLocks noChangeAspect="1"/>
          </p:cNvGrpSpPr>
          <p:nvPr/>
        </p:nvGrpSpPr>
        <p:grpSpPr>
          <a:xfrm>
            <a:off x="1242943" y="5462139"/>
            <a:ext cx="745565" cy="365125"/>
            <a:chOff x="2491255" y="6297394"/>
            <a:chExt cx="1090145" cy="533876"/>
          </a:xfrm>
        </p:grpSpPr>
        <p:pic>
          <p:nvPicPr>
            <p:cNvPr id="44" name="Immagine 43">
              <a:extLst>
                <a:ext uri="{FF2B5EF4-FFF2-40B4-BE49-F238E27FC236}">
                  <a16:creationId xmlns:a16="http://schemas.microsoft.com/office/drawing/2014/main" id="{9D77A051-4231-06C5-77A2-504EEE41F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941"/>
            <a:stretch>
              <a:fillRect/>
            </a:stretch>
          </p:blipFill>
          <p:spPr>
            <a:xfrm>
              <a:off x="2491255" y="6297394"/>
              <a:ext cx="1090145" cy="460181"/>
            </a:xfrm>
            <a:prstGeom prst="rect">
              <a:avLst/>
            </a:prstGeom>
          </p:spPr>
        </p:pic>
        <p:sp>
          <p:nvSpPr>
            <p:cNvPr id="45" name="CasellaDiTesto 44">
              <a:extLst>
                <a:ext uri="{FF2B5EF4-FFF2-40B4-BE49-F238E27FC236}">
                  <a16:creationId xmlns:a16="http://schemas.microsoft.com/office/drawing/2014/main" id="{5A4556CA-04F6-00EB-7C55-5BC9782BA64D}"/>
                </a:ext>
              </a:extLst>
            </p:cNvPr>
            <p:cNvSpPr txBox="1"/>
            <p:nvPr/>
          </p:nvSpPr>
          <p:spPr>
            <a:xfrm>
              <a:off x="3036327" y="6615826"/>
              <a:ext cx="47000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noProof="0" dirty="0">
                  <a:solidFill>
                    <a:srgbClr val="4E92A9"/>
                  </a:solidFill>
                </a:rPr>
                <a:t>PAVIA</a:t>
              </a:r>
            </a:p>
          </p:txBody>
        </p:sp>
      </p:grp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94C552FD-1C75-4894-7252-F6EEC8B499CB}"/>
              </a:ext>
            </a:extLst>
          </p:cNvPr>
          <p:cNvGrpSpPr>
            <a:grpSpLocks noChangeAspect="1"/>
          </p:cNvGrpSpPr>
          <p:nvPr/>
        </p:nvGrpSpPr>
        <p:grpSpPr>
          <a:xfrm>
            <a:off x="1240883" y="5940412"/>
            <a:ext cx="745565" cy="365125"/>
            <a:chOff x="3679890" y="6270239"/>
            <a:chExt cx="1090145" cy="533876"/>
          </a:xfrm>
        </p:grpSpPr>
        <p:pic>
          <p:nvPicPr>
            <p:cNvPr id="47" name="Immagine 46">
              <a:extLst>
                <a:ext uri="{FF2B5EF4-FFF2-40B4-BE49-F238E27FC236}">
                  <a16:creationId xmlns:a16="http://schemas.microsoft.com/office/drawing/2014/main" id="{120466B6-A0A5-5C65-FC6A-F00210E51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941"/>
            <a:stretch>
              <a:fillRect/>
            </a:stretch>
          </p:blipFill>
          <p:spPr>
            <a:xfrm>
              <a:off x="3679890" y="6270239"/>
              <a:ext cx="1090145" cy="460181"/>
            </a:xfrm>
            <a:prstGeom prst="rect">
              <a:avLst/>
            </a:prstGeom>
          </p:spPr>
        </p:pic>
        <p:sp>
          <p:nvSpPr>
            <p:cNvPr id="48" name="CasellaDiTesto 47">
              <a:extLst>
                <a:ext uri="{FF2B5EF4-FFF2-40B4-BE49-F238E27FC236}">
                  <a16:creationId xmlns:a16="http://schemas.microsoft.com/office/drawing/2014/main" id="{23C86B72-FCA0-9129-3768-0D3306662822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224962" y="6588671"/>
              <a:ext cx="5373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noProof="0" dirty="0">
                  <a:solidFill>
                    <a:srgbClr val="4E92A9"/>
                  </a:solidFill>
                </a:rPr>
                <a:t>NAPOLI</a:t>
              </a:r>
            </a:p>
          </p:txBody>
        </p:sp>
      </p:grpSp>
      <p:pic>
        <p:nvPicPr>
          <p:cNvPr id="49" name="Immagine 48">
            <a:extLst>
              <a:ext uri="{FF2B5EF4-FFF2-40B4-BE49-F238E27FC236}">
                <a16:creationId xmlns:a16="http://schemas.microsoft.com/office/drawing/2014/main" id="{DA6DB7C7-2E9F-20F3-6F3E-A0C4E857D54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4" t="31839" r="19668" b="31464"/>
          <a:stretch/>
        </p:blipFill>
        <p:spPr>
          <a:xfrm>
            <a:off x="81522" y="5914247"/>
            <a:ext cx="1161421" cy="397067"/>
          </a:xfrm>
          <a:prstGeom prst="rect">
            <a:avLst/>
          </a:prstGeom>
        </p:spPr>
      </p:pic>
      <p:pic>
        <p:nvPicPr>
          <p:cNvPr id="50" name="Immagine 49">
            <a:extLst>
              <a:ext uri="{FF2B5EF4-FFF2-40B4-BE49-F238E27FC236}">
                <a16:creationId xmlns:a16="http://schemas.microsoft.com/office/drawing/2014/main" id="{29D14433-4D95-536F-7C77-ABD6B1B193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0" y="5335874"/>
            <a:ext cx="992820" cy="619901"/>
          </a:xfrm>
          <a:prstGeom prst="rect">
            <a:avLst/>
          </a:prstGeom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650AD776-113D-4C40-9B09-7D9E9FECA5A4}"/>
              </a:ext>
            </a:extLst>
          </p:cNvPr>
          <p:cNvSpPr txBox="1"/>
          <p:nvPr/>
        </p:nvSpPr>
        <p:spPr>
          <a:xfrm>
            <a:off x="3357028" y="1070605"/>
            <a:ext cx="6909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/>
              <a:t>Goal: </a:t>
            </a:r>
            <a:r>
              <a:rPr lang="en-US" noProof="0" dirty="0"/>
              <a:t>investigation of the </a:t>
            </a:r>
            <a:r>
              <a:rPr lang="en-US" b="1" noProof="0" dirty="0"/>
              <a:t>biological and chemical processes </a:t>
            </a:r>
            <a:r>
              <a:rPr lang="en-US" noProof="0" dirty="0"/>
              <a:t>induced by </a:t>
            </a:r>
            <a:r>
              <a:rPr lang="en-US" b="1" noProof="0" dirty="0"/>
              <a:t>X-ray</a:t>
            </a:r>
            <a:r>
              <a:rPr lang="en-US" noProof="0" dirty="0"/>
              <a:t> and </a:t>
            </a:r>
            <a:r>
              <a:rPr lang="en-US" b="1" noProof="0" dirty="0"/>
              <a:t>proton beam </a:t>
            </a:r>
            <a:r>
              <a:rPr lang="en-US" noProof="0" dirty="0"/>
              <a:t>radiation at different irradiation conditions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695AD7F-3F22-EC31-6D3B-ECFC3645883F}"/>
              </a:ext>
            </a:extLst>
          </p:cNvPr>
          <p:cNvSpPr txBox="1"/>
          <p:nvPr/>
        </p:nvSpPr>
        <p:spPr>
          <a:xfrm>
            <a:off x="2426027" y="4524465"/>
            <a:ext cx="46494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/>
              <a:t>Experimental proton beam for radiobiology @ TPTC: </a:t>
            </a:r>
          </a:p>
          <a:p>
            <a:r>
              <a:rPr lang="en-US" sz="1600" noProof="0" dirty="0"/>
              <a:t>148 MeV nominal energy, dual-ring setup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51633A2-2401-BB5E-2593-7C73B01F30AE}"/>
              </a:ext>
            </a:extLst>
          </p:cNvPr>
          <p:cNvSpPr/>
          <p:nvPr/>
        </p:nvSpPr>
        <p:spPr>
          <a:xfrm>
            <a:off x="8077070" y="6174680"/>
            <a:ext cx="30905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kumimoji="0" lang="en-US" sz="1200" b="0" i="1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F. Tommasino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et al., Phys. Medica (2019)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CA0AD5B-52C4-B95E-764F-0E07800038A4}"/>
              </a:ext>
            </a:extLst>
          </p:cNvPr>
          <p:cNvSpPr txBox="1"/>
          <p:nvPr/>
        </p:nvSpPr>
        <p:spPr>
          <a:xfrm>
            <a:off x="2426026" y="5212143"/>
            <a:ext cx="52501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/>
              <a:t>Radiation quality characterization with </a:t>
            </a:r>
            <a:r>
              <a:rPr lang="en-US" sz="1600" b="1" noProof="0" dirty="0" err="1"/>
              <a:t>microdosimetry</a:t>
            </a:r>
            <a:r>
              <a:rPr lang="en-US" sz="1600" b="1" noProof="0" dirty="0"/>
              <a:t>:</a:t>
            </a:r>
          </a:p>
          <a:p>
            <a:r>
              <a:rPr lang="en-US" sz="1600" noProof="0" dirty="0"/>
              <a:t>Benchmark between experiments and MC TOPAS simulations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8FAD3C3-AA4F-F838-42CE-C6E0F7315C6E}"/>
              </a:ext>
            </a:extLst>
          </p:cNvPr>
          <p:cNvSpPr/>
          <p:nvPr/>
        </p:nvSpPr>
        <p:spPr>
          <a:xfrm>
            <a:off x="2426162" y="5805867"/>
            <a:ext cx="3859452" cy="525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M</a:t>
            </a:r>
            <a:r>
              <a:rPr kumimoji="0" lang="en-US" sz="1200" b="0" i="1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. </a:t>
            </a:r>
            <a:r>
              <a:rPr kumimoji="0" lang="en-US" sz="1200" b="0" i="1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Missiaggia</a:t>
            </a:r>
            <a:r>
              <a:rPr kumimoji="0" lang="en-US" sz="1200" b="0" i="1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et al., Int. J.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Radiat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10000"/>
                  </a:srgbClr>
                </a:solidFill>
                <a:effectLst/>
                <a:uLnTx/>
                <a:uFillTx/>
                <a:latin typeface="Calibri-Italic"/>
                <a:ea typeface="+mn-ea"/>
                <a:cs typeface="+mn-cs"/>
              </a:rPr>
              <a:t>. Oncol. Biol. Phys. (2023)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effectLst/>
              </a:defRPr>
            </a:pPr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A. Bianchi et al., </a:t>
            </a:r>
            <a:r>
              <a:rPr lang="en-US" sz="1200" i="1" noProof="0" dirty="0" err="1">
                <a:solidFill>
                  <a:srgbClr val="44546A">
                    <a:lumMod val="10000"/>
                  </a:srgbClr>
                </a:solidFill>
                <a:latin typeface="Calibri-Italic"/>
              </a:rPr>
              <a:t>Radat</a:t>
            </a:r>
            <a:r>
              <a:rPr lang="en-US" sz="1200" i="1" noProof="0" dirty="0">
                <a:solidFill>
                  <a:srgbClr val="44546A">
                    <a:lumMod val="10000"/>
                  </a:srgbClr>
                </a:solidFill>
                <a:latin typeface="Calibri-Italic"/>
              </a:rPr>
              <a:t>. Phys. Chem. (2023)</a:t>
            </a:r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10000"/>
                </a:srgbClr>
              </a:solidFill>
              <a:effectLst/>
              <a:uLnTx/>
              <a:uFillTx/>
              <a:latin typeface="Calibri-Italic"/>
              <a:ea typeface="+mn-ea"/>
              <a:cs typeface="+mn-cs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A81B56A-946E-4796-E655-8F7ADFA7C078}"/>
              </a:ext>
            </a:extLst>
          </p:cNvPr>
          <p:cNvSpPr txBox="1"/>
          <p:nvPr/>
        </p:nvSpPr>
        <p:spPr>
          <a:xfrm>
            <a:off x="2426027" y="4079993"/>
            <a:ext cx="46494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/>
              <a:t>Orthovoltage X-ray @ TIFPA: </a:t>
            </a:r>
            <a:r>
              <a:rPr lang="en-US" sz="1600" noProof="0" dirty="0"/>
              <a:t>195 </a:t>
            </a:r>
            <a:r>
              <a:rPr lang="en-US" sz="1600" noProof="0" dirty="0" err="1"/>
              <a:t>kVp</a:t>
            </a:r>
            <a:r>
              <a:rPr lang="en-US" sz="1600" noProof="0" dirty="0"/>
              <a:t>, 10 mA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32F41520-E392-FED1-600D-45976C051C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1163" y="3970259"/>
            <a:ext cx="3546432" cy="218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0403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Sfaccettatura">
  <a:themeElements>
    <a:clrScheme name="Blu cal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1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9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2013 - Tema 2022">
  <a:themeElements>
    <a:clrScheme name="Office 2013 - Tema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13016</TotalTime>
  <Words>2137</Words>
  <Application>Microsoft Office PowerPoint</Application>
  <PresentationFormat>Widescreen</PresentationFormat>
  <Paragraphs>499</Paragraphs>
  <Slides>26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5</vt:i4>
      </vt:variant>
      <vt:variant>
        <vt:lpstr>Titoli diapositive</vt:lpstr>
      </vt:variant>
      <vt:variant>
        <vt:i4>26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Calibri (Corpo)</vt:lpstr>
      <vt:lpstr>Calibri Light</vt:lpstr>
      <vt:lpstr>Calibri-Italic</vt:lpstr>
      <vt:lpstr>Cambria Math</vt:lpstr>
      <vt:lpstr>Trebuchet MS</vt:lpstr>
      <vt:lpstr>Wingdings 3</vt:lpstr>
      <vt:lpstr>Tema di Office</vt:lpstr>
      <vt:lpstr>1_Sfaccettatura</vt:lpstr>
      <vt:lpstr>12_Tema di Office</vt:lpstr>
      <vt:lpstr>19_Tema di Office</vt:lpstr>
      <vt:lpstr>Office 2013 - Tema 2022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Modeling starting point</vt:lpstr>
      <vt:lpstr>Presentazione standard di PowerPoint</vt:lpstr>
      <vt:lpstr>The       project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Battestini, Marco</dc:creator>
  <cp:lastModifiedBy>Battestini, Marco</cp:lastModifiedBy>
  <cp:revision>652</cp:revision>
  <dcterms:created xsi:type="dcterms:W3CDTF">2025-06-20T15:35:06Z</dcterms:created>
  <dcterms:modified xsi:type="dcterms:W3CDTF">2025-11-30T10:56:08Z</dcterms:modified>
</cp:coreProperties>
</file>