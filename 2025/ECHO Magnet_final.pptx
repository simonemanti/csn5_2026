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tif" ContentType="image/ti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4"/>
  </p:notesMasterIdLst>
  <p:sldIdLst>
    <p:sldId id="257" r:id="rId2"/>
    <p:sldId id="2661" r:id="rId3"/>
    <p:sldId id="258" r:id="rId4"/>
    <p:sldId id="262" r:id="rId5"/>
    <p:sldId id="260" r:id="rId6"/>
    <p:sldId id="2675" r:id="rId7"/>
    <p:sldId id="265" r:id="rId8"/>
    <p:sldId id="2682" r:id="rId9"/>
    <p:sldId id="2667" r:id="rId10"/>
    <p:sldId id="2683" r:id="rId11"/>
    <p:sldId id="2686" r:id="rId12"/>
    <p:sldId id="2685" r:id="rId13"/>
    <p:sldId id="2655" r:id="rId14"/>
    <p:sldId id="2680" r:id="rId15"/>
    <p:sldId id="2688" r:id="rId16"/>
    <p:sldId id="2689" r:id="rId17"/>
    <p:sldId id="2669" r:id="rId18"/>
    <p:sldId id="2690" r:id="rId19"/>
    <p:sldId id="2663" r:id="rId20"/>
    <p:sldId id="2691" r:id="rId21"/>
    <p:sldId id="2664" r:id="rId22"/>
    <p:sldId id="269" r:id="rId23"/>
    <p:sldId id="2692" r:id="rId24"/>
    <p:sldId id="2694" r:id="rId25"/>
    <p:sldId id="2665" r:id="rId26"/>
    <p:sldId id="2659" r:id="rId27"/>
    <p:sldId id="2673" r:id="rId28"/>
    <p:sldId id="2687" r:id="rId29"/>
    <p:sldId id="2672" r:id="rId30"/>
    <p:sldId id="2670" r:id="rId31"/>
    <p:sldId id="2656" r:id="rId32"/>
    <p:sldId id="2677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97B7"/>
    <a:srgbClr val="FFFFFF"/>
    <a:srgbClr val="F2F2F2"/>
    <a:srgbClr val="34B2DA"/>
    <a:srgbClr val="BE1010"/>
    <a:srgbClr val="00BBFE"/>
    <a:srgbClr val="FF0000"/>
    <a:srgbClr val="00B9FB"/>
    <a:srgbClr val="87BDD1"/>
    <a:srgbClr val="C2E1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059719F-C7E6-4E94-BF19-37B03D5C6503}" v="10" dt="2025-11-29T16:56:29.7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C083E6E3-FA7D-4D7B-A595-EF9225AFEA82}" styleName="Light Style 1 –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–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88617" autoAdjust="0"/>
  </p:normalViewPr>
  <p:slideViewPr>
    <p:cSldViewPr snapToGrid="0">
      <p:cViewPr varScale="1">
        <p:scale>
          <a:sx n="73" d="100"/>
          <a:sy n="73" d="100"/>
        </p:scale>
        <p:origin x="102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renzo Balconi" userId="d88b6d40-d84a-405d-beff-7950aa762ee7" providerId="ADAL" clId="{94D6695F-CFCF-4A22-AA86-61BE84928EE8}"/>
    <pc:docChg chg="custSel modSld">
      <pc:chgData name="Lorenzo Balconi" userId="d88b6d40-d84a-405d-beff-7950aa762ee7" providerId="ADAL" clId="{94D6695F-CFCF-4A22-AA86-61BE84928EE8}" dt="2025-11-29T16:56:29.732" v="289"/>
      <pc:docMkLst>
        <pc:docMk/>
      </pc:docMkLst>
      <pc:sldChg chg="modTransition">
        <pc:chgData name="Lorenzo Balconi" userId="d88b6d40-d84a-405d-beff-7950aa762ee7" providerId="ADAL" clId="{94D6695F-CFCF-4A22-AA86-61BE84928EE8}" dt="2025-11-29T16:56:29.732" v="289"/>
        <pc:sldMkLst>
          <pc:docMk/>
          <pc:sldMk cId="1340380246" sldId="257"/>
        </pc:sldMkLst>
      </pc:sldChg>
      <pc:sldChg chg="modTransition">
        <pc:chgData name="Lorenzo Balconi" userId="d88b6d40-d84a-405d-beff-7950aa762ee7" providerId="ADAL" clId="{94D6695F-CFCF-4A22-AA86-61BE84928EE8}" dt="2025-11-29T16:56:29.732" v="289"/>
        <pc:sldMkLst>
          <pc:docMk/>
          <pc:sldMk cId="3048805484" sldId="258"/>
        </pc:sldMkLst>
      </pc:sldChg>
      <pc:sldChg chg="modTransition">
        <pc:chgData name="Lorenzo Balconi" userId="d88b6d40-d84a-405d-beff-7950aa762ee7" providerId="ADAL" clId="{94D6695F-CFCF-4A22-AA86-61BE84928EE8}" dt="2025-11-29T16:56:29.732" v="289"/>
        <pc:sldMkLst>
          <pc:docMk/>
          <pc:sldMk cId="1311279982" sldId="262"/>
        </pc:sldMkLst>
      </pc:sldChg>
      <pc:sldChg chg="addSp delSp modSp mod">
        <pc:chgData name="Lorenzo Balconi" userId="d88b6d40-d84a-405d-beff-7950aa762ee7" providerId="ADAL" clId="{94D6695F-CFCF-4A22-AA86-61BE84928EE8}" dt="2025-11-29T16:06:42.866" v="288" actId="20577"/>
        <pc:sldMkLst>
          <pc:docMk/>
          <pc:sldMk cId="3048107081" sldId="2656"/>
        </pc:sldMkLst>
        <pc:spChg chg="del">
          <ac:chgData name="Lorenzo Balconi" userId="d88b6d40-d84a-405d-beff-7950aa762ee7" providerId="ADAL" clId="{94D6695F-CFCF-4A22-AA86-61BE84928EE8}" dt="2025-11-29T16:02:12.299" v="15" actId="478"/>
          <ac:spMkLst>
            <pc:docMk/>
            <pc:sldMk cId="3048107081" sldId="2656"/>
            <ac:spMk id="2" creationId="{5D56EA0E-304A-7140-D253-4727196B2CED}"/>
          </ac:spMkLst>
        </pc:spChg>
        <pc:spChg chg="add mod">
          <ac:chgData name="Lorenzo Balconi" userId="d88b6d40-d84a-405d-beff-7950aa762ee7" providerId="ADAL" clId="{94D6695F-CFCF-4A22-AA86-61BE84928EE8}" dt="2025-11-29T16:02:12.646" v="16"/>
          <ac:spMkLst>
            <pc:docMk/>
            <pc:sldMk cId="3048107081" sldId="2656"/>
            <ac:spMk id="3" creationId="{EAA8BB41-5FFD-6B03-2276-912419C1014C}"/>
          </ac:spMkLst>
        </pc:spChg>
        <pc:spChg chg="mod">
          <ac:chgData name="Lorenzo Balconi" userId="d88b6d40-d84a-405d-beff-7950aa762ee7" providerId="ADAL" clId="{94D6695F-CFCF-4A22-AA86-61BE84928EE8}" dt="2025-11-29T16:06:42.866" v="288" actId="20577"/>
          <ac:spMkLst>
            <pc:docMk/>
            <pc:sldMk cId="3048107081" sldId="2656"/>
            <ac:spMk id="11" creationId="{A978CD50-ADA1-3F59-F304-586000B27E21}"/>
          </ac:spMkLst>
        </pc:spChg>
      </pc:sldChg>
      <pc:sldChg chg="modTransition">
        <pc:chgData name="Lorenzo Balconi" userId="d88b6d40-d84a-405d-beff-7950aa762ee7" providerId="ADAL" clId="{94D6695F-CFCF-4A22-AA86-61BE84928EE8}" dt="2025-11-29T16:56:29.732" v="289"/>
        <pc:sldMkLst>
          <pc:docMk/>
          <pc:sldMk cId="1177408007" sldId="2661"/>
        </pc:sldMkLst>
      </pc:sldChg>
      <pc:sldChg chg="addSp delSp modSp mod">
        <pc:chgData name="Lorenzo Balconi" userId="d88b6d40-d84a-405d-beff-7950aa762ee7" providerId="ADAL" clId="{94D6695F-CFCF-4A22-AA86-61BE84928EE8}" dt="2025-11-29T16:02:07.354" v="14"/>
        <pc:sldMkLst>
          <pc:docMk/>
          <pc:sldMk cId="524791081" sldId="2670"/>
        </pc:sldMkLst>
        <pc:spChg chg="add mod">
          <ac:chgData name="Lorenzo Balconi" userId="d88b6d40-d84a-405d-beff-7950aa762ee7" providerId="ADAL" clId="{94D6695F-CFCF-4A22-AA86-61BE84928EE8}" dt="2025-11-29T16:02:07.354" v="14"/>
          <ac:spMkLst>
            <pc:docMk/>
            <pc:sldMk cId="524791081" sldId="2670"/>
            <ac:spMk id="4" creationId="{9788AD75-C386-5006-3834-31C173F9C2CD}"/>
          </ac:spMkLst>
        </pc:spChg>
        <pc:spChg chg="del">
          <ac:chgData name="Lorenzo Balconi" userId="d88b6d40-d84a-405d-beff-7950aa762ee7" providerId="ADAL" clId="{94D6695F-CFCF-4A22-AA86-61BE84928EE8}" dt="2025-11-29T16:02:06.689" v="13" actId="478"/>
          <ac:spMkLst>
            <pc:docMk/>
            <pc:sldMk cId="524791081" sldId="2670"/>
            <ac:spMk id="12" creationId="{C797B42C-7F35-3439-1113-02931C6431DD}"/>
          </ac:spMkLst>
        </pc:spChg>
      </pc:sldChg>
      <pc:sldChg chg="addSp delSp modSp mod">
        <pc:chgData name="Lorenzo Balconi" userId="d88b6d40-d84a-405d-beff-7950aa762ee7" providerId="ADAL" clId="{94D6695F-CFCF-4A22-AA86-61BE84928EE8}" dt="2025-11-29T16:06:35.859" v="287" actId="1076"/>
        <pc:sldMkLst>
          <pc:docMk/>
          <pc:sldMk cId="1867008626" sldId="2672"/>
        </pc:sldMkLst>
        <pc:spChg chg="add mod">
          <ac:chgData name="Lorenzo Balconi" userId="d88b6d40-d84a-405d-beff-7950aa762ee7" providerId="ADAL" clId="{94D6695F-CFCF-4A22-AA86-61BE84928EE8}" dt="2025-11-29T16:01:09.904" v="6"/>
          <ac:spMkLst>
            <pc:docMk/>
            <pc:sldMk cId="1867008626" sldId="2672"/>
            <ac:spMk id="5" creationId="{5B939CEE-4BE5-9481-5EDD-6EACDA68EA2C}"/>
          </ac:spMkLst>
        </pc:spChg>
        <pc:spChg chg="add mod">
          <ac:chgData name="Lorenzo Balconi" userId="d88b6d40-d84a-405d-beff-7950aa762ee7" providerId="ADAL" clId="{94D6695F-CFCF-4A22-AA86-61BE84928EE8}" dt="2025-11-29T16:01:57.921" v="12" actId="20577"/>
          <ac:spMkLst>
            <pc:docMk/>
            <pc:sldMk cId="1867008626" sldId="2672"/>
            <ac:spMk id="6" creationId="{9EEFFFE2-718D-567F-B1F6-5E514F31B281}"/>
          </ac:spMkLst>
        </pc:spChg>
        <pc:spChg chg="add mod">
          <ac:chgData name="Lorenzo Balconi" userId="d88b6d40-d84a-405d-beff-7950aa762ee7" providerId="ADAL" clId="{94D6695F-CFCF-4A22-AA86-61BE84928EE8}" dt="2025-11-29T16:06:27.590" v="286" actId="12"/>
          <ac:spMkLst>
            <pc:docMk/>
            <pc:sldMk cId="1867008626" sldId="2672"/>
            <ac:spMk id="7" creationId="{E61588ED-D2A3-A7A9-E977-70A3DB402561}"/>
          </ac:spMkLst>
        </pc:spChg>
        <pc:spChg chg="mod">
          <ac:chgData name="Lorenzo Balconi" userId="d88b6d40-d84a-405d-beff-7950aa762ee7" providerId="ADAL" clId="{94D6695F-CFCF-4A22-AA86-61BE84928EE8}" dt="2025-11-29T16:06:35.859" v="287" actId="1076"/>
          <ac:spMkLst>
            <pc:docMk/>
            <pc:sldMk cId="1867008626" sldId="2672"/>
            <ac:spMk id="8" creationId="{F1A307E3-78E4-AD92-82C7-A592BD5B7EF0}"/>
          </ac:spMkLst>
        </pc:spChg>
        <pc:spChg chg="del">
          <ac:chgData name="Lorenzo Balconi" userId="d88b6d40-d84a-405d-beff-7950aa762ee7" providerId="ADAL" clId="{94D6695F-CFCF-4A22-AA86-61BE84928EE8}" dt="2025-11-29T16:01:07.657" v="4" actId="478"/>
          <ac:spMkLst>
            <pc:docMk/>
            <pc:sldMk cId="1867008626" sldId="2672"/>
            <ac:spMk id="12" creationId="{A7339EE9-9A7D-9C25-FBE2-A37B1BD507D6}"/>
          </ac:spMkLst>
        </pc:spChg>
        <pc:spChg chg="del">
          <ac:chgData name="Lorenzo Balconi" userId="d88b6d40-d84a-405d-beff-7950aa762ee7" providerId="ADAL" clId="{94D6695F-CFCF-4A22-AA86-61BE84928EE8}" dt="2025-11-29T16:03:53.914" v="25" actId="478"/>
          <ac:spMkLst>
            <pc:docMk/>
            <pc:sldMk cId="1867008626" sldId="2672"/>
            <ac:spMk id="15" creationId="{B3E6FF42-8ECE-1D2A-C80A-62AF7CDCEACF}"/>
          </ac:spMkLst>
        </pc:spChg>
        <pc:spChg chg="del">
          <ac:chgData name="Lorenzo Balconi" userId="d88b6d40-d84a-405d-beff-7950aa762ee7" providerId="ADAL" clId="{94D6695F-CFCF-4A22-AA86-61BE84928EE8}" dt="2025-11-29T16:03:59.351" v="27" actId="478"/>
          <ac:spMkLst>
            <pc:docMk/>
            <pc:sldMk cId="1867008626" sldId="2672"/>
            <ac:spMk id="59" creationId="{F3B75C8E-E240-A6BC-07EC-24BEBE9334C1}"/>
          </ac:spMkLst>
        </pc:spChg>
        <pc:spChg chg="del mod">
          <ac:chgData name="Lorenzo Balconi" userId="d88b6d40-d84a-405d-beff-7950aa762ee7" providerId="ADAL" clId="{94D6695F-CFCF-4A22-AA86-61BE84928EE8}" dt="2025-11-29T16:04:05.795" v="31" actId="478"/>
          <ac:spMkLst>
            <pc:docMk/>
            <pc:sldMk cId="1867008626" sldId="2672"/>
            <ac:spMk id="60" creationId="{AF8F7173-645D-0755-627F-BA8920537B89}"/>
          </ac:spMkLst>
        </pc:spChg>
        <pc:picChg chg="del">
          <ac:chgData name="Lorenzo Balconi" userId="d88b6d40-d84a-405d-beff-7950aa762ee7" providerId="ADAL" clId="{94D6695F-CFCF-4A22-AA86-61BE84928EE8}" dt="2025-11-29T16:03:56.440" v="26" actId="478"/>
          <ac:picMkLst>
            <pc:docMk/>
            <pc:sldMk cId="1867008626" sldId="2672"/>
            <ac:picMk id="16" creationId="{47CFC079-F1FF-290C-4B29-08EEEE51D565}"/>
          </ac:picMkLst>
        </pc:picChg>
        <pc:picChg chg="del">
          <ac:chgData name="Lorenzo Balconi" userId="d88b6d40-d84a-405d-beff-7950aa762ee7" providerId="ADAL" clId="{94D6695F-CFCF-4A22-AA86-61BE84928EE8}" dt="2025-11-29T16:04:01.898" v="29" actId="478"/>
          <ac:picMkLst>
            <pc:docMk/>
            <pc:sldMk cId="1867008626" sldId="2672"/>
            <ac:picMk id="54" creationId="{42D9BAC0-C5C3-2902-5C9D-C55F8A9082C9}"/>
          </ac:picMkLst>
        </pc:picChg>
        <pc:picChg chg="del">
          <ac:chgData name="Lorenzo Balconi" userId="d88b6d40-d84a-405d-beff-7950aa762ee7" providerId="ADAL" clId="{94D6695F-CFCF-4A22-AA86-61BE84928EE8}" dt="2025-11-29T16:04:00.409" v="28" actId="478"/>
          <ac:picMkLst>
            <pc:docMk/>
            <pc:sldMk cId="1867008626" sldId="2672"/>
            <ac:picMk id="55" creationId="{6F7DE5EF-ACAB-9AB3-6058-FF3250333D09}"/>
          </ac:picMkLst>
        </pc:picChg>
      </pc:sldChg>
      <pc:sldChg chg="addSp delSp modSp mod">
        <pc:chgData name="Lorenzo Balconi" userId="d88b6d40-d84a-405d-beff-7950aa762ee7" providerId="ADAL" clId="{94D6695F-CFCF-4A22-AA86-61BE84928EE8}" dt="2025-11-29T16:00:56.953" v="1"/>
        <pc:sldMkLst>
          <pc:docMk/>
          <pc:sldMk cId="3889229866" sldId="2673"/>
        </pc:sldMkLst>
        <pc:spChg chg="del">
          <ac:chgData name="Lorenzo Balconi" userId="d88b6d40-d84a-405d-beff-7950aa762ee7" providerId="ADAL" clId="{94D6695F-CFCF-4A22-AA86-61BE84928EE8}" dt="2025-11-29T16:00:56.108" v="0" actId="478"/>
          <ac:spMkLst>
            <pc:docMk/>
            <pc:sldMk cId="3889229866" sldId="2673"/>
            <ac:spMk id="3" creationId="{BA95CA2E-5D66-A100-025F-573B526BCE48}"/>
          </ac:spMkLst>
        </pc:spChg>
        <pc:spChg chg="add mod">
          <ac:chgData name="Lorenzo Balconi" userId="d88b6d40-d84a-405d-beff-7950aa762ee7" providerId="ADAL" clId="{94D6695F-CFCF-4A22-AA86-61BE84928EE8}" dt="2025-11-29T16:00:56.953" v="1"/>
          <ac:spMkLst>
            <pc:docMk/>
            <pc:sldMk cId="3889229866" sldId="2673"/>
            <ac:spMk id="6" creationId="{455568A9-9F48-6BE9-3EBF-F10B9D84C948}"/>
          </ac:spMkLst>
        </pc:spChg>
      </pc:sldChg>
      <pc:sldChg chg="addSp delSp modSp mod">
        <pc:chgData name="Lorenzo Balconi" userId="d88b6d40-d84a-405d-beff-7950aa762ee7" providerId="ADAL" clId="{94D6695F-CFCF-4A22-AA86-61BE84928EE8}" dt="2025-11-29T16:02:17.206" v="18"/>
        <pc:sldMkLst>
          <pc:docMk/>
          <pc:sldMk cId="2909800290" sldId="2677"/>
        </pc:sldMkLst>
        <pc:spChg chg="add mod">
          <ac:chgData name="Lorenzo Balconi" userId="d88b6d40-d84a-405d-beff-7950aa762ee7" providerId="ADAL" clId="{94D6695F-CFCF-4A22-AA86-61BE84928EE8}" dt="2025-11-29T16:02:17.206" v="18"/>
          <ac:spMkLst>
            <pc:docMk/>
            <pc:sldMk cId="2909800290" sldId="2677"/>
            <ac:spMk id="3" creationId="{950D4250-5DDE-D12E-378A-8628E3984532}"/>
          </ac:spMkLst>
        </pc:spChg>
        <pc:spChg chg="del">
          <ac:chgData name="Lorenzo Balconi" userId="d88b6d40-d84a-405d-beff-7950aa762ee7" providerId="ADAL" clId="{94D6695F-CFCF-4A22-AA86-61BE84928EE8}" dt="2025-11-29T16:02:16.943" v="17" actId="478"/>
          <ac:spMkLst>
            <pc:docMk/>
            <pc:sldMk cId="2909800290" sldId="2677"/>
            <ac:spMk id="5" creationId="{F75899E2-0521-458E-9FBE-19E9E20CF9CF}"/>
          </ac:spMkLst>
        </pc:spChg>
      </pc:sldChg>
      <pc:sldChg chg="addSp delSp modSp mod">
        <pc:chgData name="Lorenzo Balconi" userId="d88b6d40-d84a-405d-beff-7950aa762ee7" providerId="ADAL" clId="{94D6695F-CFCF-4A22-AA86-61BE84928EE8}" dt="2025-11-29T16:01:02.201" v="3"/>
        <pc:sldMkLst>
          <pc:docMk/>
          <pc:sldMk cId="2440589491" sldId="2687"/>
        </pc:sldMkLst>
        <pc:spChg chg="del">
          <ac:chgData name="Lorenzo Balconi" userId="d88b6d40-d84a-405d-beff-7950aa762ee7" providerId="ADAL" clId="{94D6695F-CFCF-4A22-AA86-61BE84928EE8}" dt="2025-11-29T16:01:01.775" v="2" actId="478"/>
          <ac:spMkLst>
            <pc:docMk/>
            <pc:sldMk cId="2440589491" sldId="2687"/>
            <ac:spMk id="3" creationId="{E8F3647A-F1D7-A43D-9CF9-5572CBC64C2F}"/>
          </ac:spMkLst>
        </pc:spChg>
        <pc:spChg chg="add mod">
          <ac:chgData name="Lorenzo Balconi" userId="d88b6d40-d84a-405d-beff-7950aa762ee7" providerId="ADAL" clId="{94D6695F-CFCF-4A22-AA86-61BE84928EE8}" dt="2025-11-29T16:01:02.201" v="3"/>
          <ac:spMkLst>
            <pc:docMk/>
            <pc:sldMk cId="2440589491" sldId="2687"/>
            <ac:spMk id="7" creationId="{F5FC1CAD-23BD-697F-284C-E7A426B5137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6AE1B5-CA0C-4034-A70B-EEC72374E253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476644-1EAA-498E-9D13-3B5D6957C9A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4375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476644-1EAA-498E-9D13-3B5D6957C9A7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51640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Dire che gli HTS sono nastri </a:t>
            </a:r>
            <a:r>
              <a:rPr lang="it-IT" dirty="0">
                <a:sym typeface="Wingdings" panose="05000000000000000000" pitchFamily="2" charset="2"/>
              </a:rPr>
              <a:t> avvolgimenti piani ok</a:t>
            </a: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476644-1EAA-498E-9D13-3B5D6957C9A7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54049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Rivisitando nota geometria CCT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476644-1EAA-498E-9D13-3B5D6957C9A7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40859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80FF1-65AA-FA63-935C-A4AFFAD1D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E1EB48-DBCF-40CD-D140-00DE917EE6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97CDDB-FB7F-4E7C-CD00-CB889F7BB3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07FF62-9476-9CCE-17DE-51BFD309A0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476644-1EAA-498E-9D13-3B5D6957C9A7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9919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476644-1EAA-498E-9D13-3B5D6957C9A7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84568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FTE x tecnici (1.4/2)</a:t>
            </a:r>
          </a:p>
          <a:p>
            <a:r>
              <a:rPr lang="it-IT" dirty="0" err="1"/>
              <a:t>Assessment</a:t>
            </a:r>
            <a:r>
              <a:rPr lang="it-IT" dirty="0"/>
              <a:t> of the assembly, specificare bene del magnete finale (parte arancione della figura iniziale)</a:t>
            </a:r>
          </a:p>
          <a:p>
            <a:endParaRPr lang="it-IT" dirty="0"/>
          </a:p>
          <a:p>
            <a:endParaRPr lang="it-IT" dirty="0"/>
          </a:p>
          <a:p>
            <a:pPr marL="400050" lvl="0" indent="-400050" algn="just">
              <a:spcAft>
                <a:spcPts val="600"/>
              </a:spcAft>
              <a:buClr>
                <a:srgbClr val="4297B7"/>
              </a:buClr>
              <a:buSzPct val="90000"/>
              <a:buFont typeface="+mj-lt"/>
              <a:buAutoNum type="romanUcPeriod"/>
              <a:tabLst>
                <a:tab pos="457200" algn="l"/>
              </a:tabLst>
            </a:pPr>
            <a:r>
              <a:rPr lang="en-GB" sz="1200" dirty="0">
                <a:solidFill>
                  <a:srgbClr val="4297B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M1 (Month 6) </a:t>
            </a:r>
            <a:r>
              <a:rPr lang="en-GB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– Completion of full </a:t>
            </a:r>
            <a:r>
              <a:rPr lang="en-GB" sz="1200" dirty="0">
                <a:solidFill>
                  <a:srgbClr val="4297B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3D</a:t>
            </a:r>
            <a:r>
              <a:rPr lang="en-GB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electromagnetic and mechanical </a:t>
            </a:r>
            <a:r>
              <a:rPr lang="en-GB" sz="1200" dirty="0">
                <a:solidFill>
                  <a:srgbClr val="4297B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model</a:t>
            </a:r>
            <a:r>
              <a:rPr lang="en-GB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400050" lvl="0" indent="-400050" algn="just">
              <a:spcAft>
                <a:spcPts val="600"/>
              </a:spcAft>
              <a:buClr>
                <a:srgbClr val="4297B7"/>
              </a:buClr>
              <a:buSzPct val="90000"/>
              <a:buFont typeface="+mj-lt"/>
              <a:buAutoNum type="romanUcPeriod"/>
              <a:tabLst>
                <a:tab pos="457200" algn="l"/>
              </a:tabLst>
            </a:pPr>
            <a:r>
              <a:rPr lang="en-GB" sz="1200" dirty="0">
                <a:solidFill>
                  <a:srgbClr val="4297B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M2 (Month 10) </a:t>
            </a:r>
            <a:r>
              <a:rPr lang="en-GB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– Successful winding and </a:t>
            </a:r>
            <a:r>
              <a:rPr lang="en-GB" sz="1200" dirty="0">
                <a:solidFill>
                  <a:srgbClr val="4297B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LN₂ testing </a:t>
            </a:r>
            <a:r>
              <a:rPr lang="en-GB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 the first HTS coil module.</a:t>
            </a:r>
          </a:p>
          <a:p>
            <a:pPr marL="400050" lvl="0" indent="-400050" algn="just">
              <a:spcAft>
                <a:spcPts val="600"/>
              </a:spcAft>
              <a:buClr>
                <a:srgbClr val="4297B7"/>
              </a:buClr>
              <a:buSzPct val="90000"/>
              <a:buFont typeface="+mj-lt"/>
              <a:buAutoNum type="romanUcPeriod"/>
              <a:tabLst>
                <a:tab pos="457200" algn="l"/>
              </a:tabLst>
            </a:pPr>
            <a:r>
              <a:rPr lang="en-GB" sz="1200" dirty="0">
                <a:solidFill>
                  <a:srgbClr val="4297B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M3 (Month 14) </a:t>
            </a:r>
            <a:r>
              <a:rPr lang="en-GB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– Completion of </a:t>
            </a:r>
            <a:r>
              <a:rPr lang="en-GB" sz="1200" dirty="0">
                <a:solidFill>
                  <a:srgbClr val="4297B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10 coil modules </a:t>
            </a:r>
            <a:r>
              <a:rPr lang="en-GB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with validated performance.</a:t>
            </a:r>
          </a:p>
          <a:p>
            <a:pPr marL="400050" lvl="0" indent="-400050" algn="just">
              <a:spcAft>
                <a:spcPts val="600"/>
              </a:spcAft>
              <a:buClr>
                <a:srgbClr val="4297B7"/>
              </a:buClr>
              <a:buSzPct val="90000"/>
              <a:buFont typeface="+mj-lt"/>
              <a:buAutoNum type="romanUcPeriod"/>
              <a:tabLst>
                <a:tab pos="457200" algn="l"/>
              </a:tabLst>
            </a:pPr>
            <a:r>
              <a:rPr lang="en-GB" sz="1200" dirty="0">
                <a:solidFill>
                  <a:srgbClr val="4297B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M4 (Month 20) </a:t>
            </a:r>
            <a:r>
              <a:rPr lang="en-GB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– Completion of full </a:t>
            </a:r>
            <a:r>
              <a:rPr lang="en-GB" sz="1200" dirty="0">
                <a:solidFill>
                  <a:srgbClr val="4297B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mechanical assembly </a:t>
            </a:r>
            <a:r>
              <a:rPr lang="en-GB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 the short MCCT prototype.</a:t>
            </a:r>
          </a:p>
          <a:p>
            <a:pPr marL="400050" lvl="0" indent="-400050" algn="just">
              <a:spcAft>
                <a:spcPts val="600"/>
              </a:spcAft>
              <a:buClr>
                <a:srgbClr val="4297B7"/>
              </a:buClr>
              <a:buSzPct val="90000"/>
              <a:buFont typeface="+mj-lt"/>
              <a:buAutoNum type="romanUcPeriod"/>
              <a:tabLst>
                <a:tab pos="457200" algn="l"/>
              </a:tabLst>
            </a:pPr>
            <a:r>
              <a:rPr lang="en-GB" sz="1200" dirty="0">
                <a:solidFill>
                  <a:srgbClr val="4297B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M5 (Month 24) </a:t>
            </a:r>
            <a:r>
              <a:rPr lang="en-GB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– Completion of </a:t>
            </a:r>
            <a:r>
              <a:rPr lang="en-GB" sz="1200" dirty="0">
                <a:solidFill>
                  <a:srgbClr val="4297B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cryogenic testing at 20 K</a:t>
            </a:r>
            <a:r>
              <a:rPr lang="en-GB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GB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it-IT" dirty="0"/>
          </a:p>
          <a:p>
            <a:pPr marL="400050" lvl="0" indent="-400050" algn="just">
              <a:spcAft>
                <a:spcPts val="600"/>
              </a:spcAft>
              <a:buSzPct val="90000"/>
              <a:buFont typeface="+mj-lt"/>
              <a:buAutoNum type="romanUcPeriod"/>
              <a:tabLst>
                <a:tab pos="457200" algn="l"/>
              </a:tabLst>
            </a:pPr>
            <a:r>
              <a:rPr lang="en-GB" sz="1200" dirty="0">
                <a:solidFill>
                  <a:srgbClr val="4297B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D1</a:t>
            </a:r>
            <a:r>
              <a:rPr lang="en-GB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n-GB" dirty="0">
                <a:latin typeface="Times New Roman" panose="02020603050405020304" pitchFamily="18" charset="0"/>
                <a:ea typeface="Times New Roman" panose="02020603050405020304" pitchFamily="18" charset="0"/>
              </a:rPr>
              <a:t>Conceptual design report</a:t>
            </a:r>
            <a:r>
              <a:rPr lang="en-GB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400050" lvl="0" indent="-400050" algn="just">
              <a:spcAft>
                <a:spcPts val="600"/>
              </a:spcAft>
              <a:buSzPct val="90000"/>
              <a:buFont typeface="+mj-lt"/>
              <a:buAutoNum type="romanUcPeriod"/>
              <a:tabLst>
                <a:tab pos="457200" algn="l"/>
              </a:tabLst>
            </a:pPr>
            <a:r>
              <a:rPr lang="en-GB" sz="1200" dirty="0">
                <a:solidFill>
                  <a:srgbClr val="4297B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D2</a:t>
            </a:r>
            <a:r>
              <a:rPr lang="en-GB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Fabrication and testing logs for a HTS racetrack coil modulus, at LN₂ temperature.</a:t>
            </a:r>
          </a:p>
          <a:p>
            <a:pPr marL="400050" lvl="0" indent="-400050" algn="just">
              <a:spcAft>
                <a:spcPts val="600"/>
              </a:spcAft>
              <a:buSzPct val="90000"/>
              <a:buFont typeface="+mj-lt"/>
              <a:buAutoNum type="romanUcPeriod"/>
              <a:tabLst>
                <a:tab pos="457200" algn="l"/>
              </a:tabLst>
            </a:pPr>
            <a:r>
              <a:rPr lang="en-GB" sz="1200" dirty="0">
                <a:solidFill>
                  <a:srgbClr val="4297B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D3</a:t>
            </a:r>
            <a:r>
              <a:rPr lang="en-GB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Assembling report of the short prototype magnet.</a:t>
            </a:r>
          </a:p>
          <a:p>
            <a:pPr marL="400050" lvl="0" indent="-400050" algn="just">
              <a:spcAft>
                <a:spcPts val="600"/>
              </a:spcAft>
              <a:buSzPct val="90000"/>
              <a:buFont typeface="+mj-lt"/>
              <a:buAutoNum type="romanUcPeriod"/>
              <a:tabLst>
                <a:tab pos="457200" algn="l"/>
              </a:tabLst>
            </a:pPr>
            <a:r>
              <a:rPr lang="en-GB" sz="1200" dirty="0">
                <a:solidFill>
                  <a:srgbClr val="4297B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D4</a:t>
            </a:r>
            <a:r>
              <a:rPr lang="en-GB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Final test report.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476644-1EAA-498E-9D13-3B5D6957C9A7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34199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06088-433F-759B-EDEE-05BF3E0CA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ED369C-FE74-F2CA-6B72-5C7BD08A18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08351A-E2F9-834F-C26B-896B33AA06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 err="1"/>
              <a:t>Mit</a:t>
            </a:r>
            <a:r>
              <a:rPr lang="it-IT" dirty="0"/>
              <a:t> for </a:t>
            </a:r>
            <a:r>
              <a:rPr lang="it-IT" dirty="0" err="1"/>
              <a:t>defects</a:t>
            </a:r>
            <a:r>
              <a:rPr lang="it-IT" dirty="0"/>
              <a:t>: 1: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cut the weak portion of the cable and joint. 2: remove. 3: targeting shorter batches of 4 mm wide (or narrower) tape which have proven to be manufactured in a more controlled way.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Mit for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Anticipate a quench with an early detection. A further measure could be to pass from insulated to Controlled Resistance (CI) mode.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Mit for FQ: 1: in the design phase consider a narrow tape; 2: during testing, we will verify that the errors are stable ramp-to-ramp, such as to implement feed-forward correcting strategies.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Mit for win: more demanding specs or winding tension profile.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Mit for cryogenic: enhance cooling power or run a temporary test in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Lhe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or LN2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47C61C-BAFE-78A0-6468-E7D736ADD2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476644-1EAA-498E-9D13-3B5D6957C9A7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49829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35BCD-6388-D143-A431-1EA971DD3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B5618C-402D-8E16-CFFF-3962BB2E91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88BE7B-4B06-E5A6-E264-5CF81E8204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 err="1"/>
              <a:t>Mit</a:t>
            </a:r>
            <a:r>
              <a:rPr lang="it-IT" dirty="0"/>
              <a:t> for </a:t>
            </a:r>
            <a:r>
              <a:rPr lang="it-IT" dirty="0" err="1"/>
              <a:t>defects</a:t>
            </a:r>
            <a:r>
              <a:rPr lang="it-IT" dirty="0"/>
              <a:t>: 1: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cut the weak portion of the cable and joint. 2: remove. 3: targeting shorter batches of 4 mm wide (or narrower) tape which have proven to be manufactured in a more controlled way.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Mit for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Anticipate a quench with an early detection. A further measure could be to pass from insulated to Controlled Resistance (CI) mode.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Mit for FQ: 1: in the design phase consider a narrow tape; 2: during testing, we will verify that the errors are stable ramp-to-ramp, such as to implement feed-forward correcting strategies.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Mit for win: more demanding specs or winding tension profile.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Mit for cryogenic: enhance cooling power or run a temporary test in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Lhe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or LN2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0876C9-0AC9-4140-929C-530CA62F0C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476644-1EAA-498E-9D13-3B5D6957C9A7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04372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476644-1EAA-498E-9D13-3B5D6957C9A7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06694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A13F9-2EC8-E9B9-2968-0236D7C1AD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70D9AD-748C-C0FB-7449-55D97A1F48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AB7148-C723-CBF9-4178-995F42442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L. Balconi | Young </a:t>
            </a:r>
            <a:r>
              <a:rPr lang="fr-FR" dirty="0" err="1"/>
              <a:t>researchers</a:t>
            </a:r>
            <a:r>
              <a:rPr lang="fr-FR" dirty="0"/>
              <a:t> </a:t>
            </a:r>
            <a:r>
              <a:rPr lang="fr-FR" dirty="0" err="1"/>
              <a:t>grant</a:t>
            </a:r>
            <a:endParaRPr lang="it-IT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B79FA2-7E39-F0F6-70E1-36A0D261B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6D798-1883-974D-96D0-4E82B243DEDE}" type="slidenum">
              <a:rPr lang="it-IT" smtClean="0"/>
              <a:t>‹#›</a:t>
            </a:fld>
            <a:endParaRPr lang="it-IT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B42DB004-43A6-20C8-BBF3-14C5F4C85F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01/12/2025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3477610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176EE-AC63-C6CC-5074-63ED1FDCD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4297B7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CC6860-1B19-10B0-8301-130EB56AB3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51D362-CAE8-459F-1090-09611ECE4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L. Balconi | Young </a:t>
            </a:r>
            <a:r>
              <a:rPr lang="fr-FR" dirty="0" err="1"/>
              <a:t>researchers</a:t>
            </a:r>
            <a:r>
              <a:rPr lang="fr-FR" dirty="0"/>
              <a:t> </a:t>
            </a:r>
            <a:r>
              <a:rPr lang="fr-FR" dirty="0" err="1"/>
              <a:t>grant</a:t>
            </a:r>
            <a:endParaRPr lang="it-IT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97D90C-0A5A-06A2-3289-75C3F09B8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6D798-1883-974D-96D0-4E82B243DEDE}" type="slidenum">
              <a:rPr lang="it-IT" smtClean="0"/>
              <a:t>‹#›</a:t>
            </a:fld>
            <a:endParaRPr lang="it-IT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5D5BB01F-B9F0-71A3-4EF2-A27FA2602C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01/12/2025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364863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580E0-E843-33DF-4265-AAE132148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BC4760-428F-DE9B-2036-EF870B059D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7CB05-05D0-4F9A-5830-C88AD67B2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09/10/2025</a:t>
            </a:r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3158F1-B1C7-E8BF-284A-184387B82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L. Balconi | Young </a:t>
            </a:r>
            <a:r>
              <a:rPr lang="fr-FR" dirty="0" err="1"/>
              <a:t>researchers</a:t>
            </a:r>
            <a:r>
              <a:rPr lang="fr-FR" dirty="0"/>
              <a:t> </a:t>
            </a:r>
            <a:r>
              <a:rPr lang="fr-FR" dirty="0" err="1"/>
              <a:t>grant</a:t>
            </a:r>
            <a:endParaRPr lang="it-IT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AFC09E-358A-9B49-C1E5-4CF08D38B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6D798-1883-974D-96D0-4E82B243DEDE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17566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A336D-69E4-9A83-BEB5-6478304A7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4400" b="1" kern="1200" dirty="0">
                <a:solidFill>
                  <a:srgbClr val="4297B7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06CBDC-2E35-BF32-64A6-69FE54E3E1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DAE175-ABEC-C5D6-9572-997153CC0F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4CB289-E9A2-6472-EA5C-2BEB034A7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09/10/2025</a:t>
            </a:r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FED069-D484-69AD-BD0A-DEA350A2C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L. Balconi | Young </a:t>
            </a:r>
            <a:r>
              <a:rPr lang="fr-FR" dirty="0" err="1"/>
              <a:t>researchers</a:t>
            </a:r>
            <a:r>
              <a:rPr lang="fr-FR" dirty="0"/>
              <a:t> </a:t>
            </a:r>
            <a:r>
              <a:rPr lang="fr-FR" dirty="0" err="1"/>
              <a:t>grant</a:t>
            </a:r>
            <a:endParaRPr lang="it-IT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A3629E-9271-20C2-9088-EAB63FDFA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6D798-1883-974D-96D0-4E82B243DEDE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74499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940FA-20E5-4EA9-DFE2-4D257AA5C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4400" b="1" kern="1200" dirty="0">
                <a:solidFill>
                  <a:srgbClr val="4297B7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B1904A-988C-7946-DCBC-D3B8DBD06D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01F0CA-99F5-3B64-D77E-8DF44F8857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0AF46D-A351-9FDE-585F-E3DC4129CC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1E3749-DE1B-BF0C-323B-CF89716E4D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070171-A91A-0D34-9CBC-BD905DD9D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09/10/2025</a:t>
            </a:r>
            <a:endParaRPr lang="it-I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9AAECC-C614-4BB8-11E3-53B8553FE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L. Balconi | Young </a:t>
            </a:r>
            <a:r>
              <a:rPr lang="fr-FR" dirty="0" err="1"/>
              <a:t>researchers</a:t>
            </a:r>
            <a:r>
              <a:rPr lang="fr-FR" dirty="0"/>
              <a:t> </a:t>
            </a:r>
            <a:r>
              <a:rPr lang="fr-FR" dirty="0" err="1"/>
              <a:t>grant</a:t>
            </a:r>
            <a:endParaRPr lang="it-IT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926B25-49B3-8C02-DB96-1D2B4A0CF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6D798-1883-974D-96D0-4E82B243DEDE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88386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50274-5846-1125-BEBA-90525F7E9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4400" b="1" kern="1200" dirty="0">
                <a:solidFill>
                  <a:srgbClr val="4297B7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CC010A-E996-8F67-E685-7B02326EE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L. Balconi | Young </a:t>
            </a:r>
            <a:r>
              <a:rPr lang="fr-FR" dirty="0" err="1"/>
              <a:t>researchers</a:t>
            </a:r>
            <a:r>
              <a:rPr lang="fr-FR" dirty="0"/>
              <a:t> </a:t>
            </a:r>
            <a:r>
              <a:rPr lang="fr-FR" dirty="0" err="1"/>
              <a:t>grant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E95225-059C-AA8D-FC2E-36A1D441F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6D798-1883-974D-96D0-4E82B243DEDE}" type="slidenum">
              <a:rPr lang="it-IT" smtClean="0"/>
              <a:t>‹#›</a:t>
            </a:fld>
            <a:endParaRPr lang="it-IT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3F478B7-411A-24CA-E173-8E25231836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01/12/2025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740885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959371-6306-B818-36FC-8DD0A1C36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09/10/2025</a:t>
            </a:r>
            <a:endParaRPr lang="it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C11803-31B8-78AA-5572-0939AE563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L. Balconi | Young </a:t>
            </a:r>
            <a:r>
              <a:rPr lang="fr-FR" dirty="0" err="1"/>
              <a:t>researchers</a:t>
            </a:r>
            <a:r>
              <a:rPr lang="fr-FR" dirty="0"/>
              <a:t> </a:t>
            </a:r>
            <a:r>
              <a:rPr lang="fr-FR" dirty="0" err="1"/>
              <a:t>grant</a:t>
            </a:r>
            <a:endParaRPr lang="it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0C6FF7-0026-CBEE-640F-D910C5F16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6D798-1883-974D-96D0-4E82B243DEDE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00401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B17B3-E206-3EBD-986C-0220A41AD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921B06-5444-5CA9-8828-27FB232B1C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35D369-2BAA-89B9-DB6A-1039DC6D57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ACD438-4E52-7BE0-DC3C-0A71A5675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09/10/2025</a:t>
            </a:r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AE81D2-3342-3B86-5429-E73A5FC9E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L. Balconi | Young </a:t>
            </a:r>
            <a:r>
              <a:rPr lang="fr-FR" dirty="0" err="1"/>
              <a:t>researchers</a:t>
            </a:r>
            <a:r>
              <a:rPr lang="fr-FR" dirty="0"/>
              <a:t> </a:t>
            </a:r>
            <a:r>
              <a:rPr lang="fr-FR" dirty="0" err="1"/>
              <a:t>grant</a:t>
            </a:r>
            <a:endParaRPr lang="it-IT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3E3995-65F8-AECF-25D5-2DC5615EE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6D798-1883-974D-96D0-4E82B243DEDE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22989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47A30-5E43-125B-BF6E-0506E748C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284F3B-A9FA-34C6-33DA-AEF98BF37E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218334-9827-03FC-F14B-484F5DF368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46C769-D5AF-018D-2DCB-53E1211F0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09/10/2025</a:t>
            </a:r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E51CB1-1DA1-ED55-64B7-07DB39BAC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L. Balconi | Young </a:t>
            </a:r>
            <a:r>
              <a:rPr lang="fr-FR" dirty="0" err="1"/>
              <a:t>researchers</a:t>
            </a:r>
            <a:r>
              <a:rPr lang="fr-FR" dirty="0"/>
              <a:t> </a:t>
            </a:r>
            <a:r>
              <a:rPr lang="fr-FR" dirty="0" err="1"/>
              <a:t>grant</a:t>
            </a:r>
            <a:endParaRPr lang="it-IT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108C91-CB57-7902-0039-07327391E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6D798-1883-974D-96D0-4E82B243DEDE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27237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EPRTI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65AE2A7E-927D-4B57-B64A-3BC102C42E8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5" y="0"/>
            <a:ext cx="12183535" cy="2748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dirty="0"/>
              <a:t>L. Balconi | Young </a:t>
            </a:r>
            <a:r>
              <a:rPr lang="fr-FR" dirty="0" err="1"/>
              <a:t>researchers</a:t>
            </a:r>
            <a:r>
              <a:rPr lang="fr-FR" dirty="0"/>
              <a:t> </a:t>
            </a:r>
            <a:r>
              <a:rPr lang="fr-FR" dirty="0" err="1"/>
              <a:t>grant</a:t>
            </a:r>
            <a:endParaRPr lang="it-IT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D393AE7-DBE5-9042-B12E-12F62FFA8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465" y="3429000"/>
            <a:ext cx="7784567" cy="1089529"/>
          </a:xfrm>
        </p:spPr>
        <p:txBody>
          <a:bodyPr wrap="square" anchor="ctr" anchorCtr="1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it-IT" dirty="0"/>
              <a:t>Fare clic per modificare lo stile del titolo dello schema</a:t>
            </a:r>
            <a:endParaRPr lang="en-US" dirty="0"/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E1560F4E-6C8D-1726-1D90-6E1C5CB3319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047032" y="3273417"/>
            <a:ext cx="3882503" cy="2024723"/>
          </a:xfrm>
          <a:prstGeom prst="rect">
            <a:avLst/>
          </a:prstGeom>
        </p:spPr>
      </p:pic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84A044CC-07B6-11F3-CF4F-E9C3E11604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01/12/2025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925964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23C25-57A7-422D-B6C7-C275549FF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35635"/>
            <a:ext cx="10515600" cy="54453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it-I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D1D7BD-5B6C-4729-8C26-EC0268815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96619"/>
            <a:ext cx="10515600" cy="368034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E677E2-EEEB-4625-AFD0-BA41ADF9E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Tape Defects</a:t>
            </a:r>
            <a:endParaRPr lang="it-IT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DC0B7-3FBE-491C-8FE8-55BD53B99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1013" y="6430138"/>
            <a:ext cx="4401879" cy="365125"/>
          </a:xfrm>
        </p:spPr>
        <p:txBody>
          <a:bodyPr/>
          <a:lstStyle/>
          <a:p>
            <a:r>
              <a:rPr lang="it-IT"/>
              <a:t>24/10/2025 HiTAT-2</a:t>
            </a:r>
            <a:endParaRPr lang="it-IT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3BC19-E814-447A-9737-03C21E843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3B172-409A-48BF-92CD-9E808051E234}" type="slidenum">
              <a:rPr lang="it-IT" smtClean="0"/>
              <a:t>‹#›</a:t>
            </a:fld>
            <a:endParaRPr lang="it-IT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BC8B6CE-46DE-458F-9FB7-666DF33C8D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1931597"/>
            <a:ext cx="10515600" cy="45200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it-IT" sz="2400" b="1" dirty="0">
                <a:solidFill>
                  <a:srgbClr val="B27F47"/>
                </a:solidFill>
                <a:latin typeface="Titillium Bd" pitchFamily="2" charset="77"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sub-title styles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698177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E2B073-C25E-C17B-2123-471B6117A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5811B4-B665-3868-7740-B05A0A2BA8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7820C-38F3-4C9E-1F48-99E121751D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01/12/2025</a:t>
            </a:r>
            <a:endParaRPr lang="it-IT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2D38A8-9E1D-0150-F3D2-D33E2FB140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FR" dirty="0"/>
              <a:t>L. Balconi | Young </a:t>
            </a:r>
            <a:r>
              <a:rPr lang="fr-FR" dirty="0" err="1"/>
              <a:t>researchers</a:t>
            </a:r>
            <a:r>
              <a:rPr lang="fr-FR" dirty="0"/>
              <a:t> </a:t>
            </a:r>
            <a:r>
              <a:rPr lang="fr-FR" dirty="0" err="1"/>
              <a:t>grant</a:t>
            </a:r>
            <a:endParaRPr lang="it-IT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D9E770-A9D3-5305-A7FF-A61C8E05D7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D6D798-1883-974D-96D0-4E82B243DEDE}" type="slidenum">
              <a:rPr lang="it-IT" smtClean="0"/>
              <a:t>‹#›</a:t>
            </a:fld>
            <a:endParaRPr lang="it-IT"/>
          </a:p>
        </p:txBody>
      </p:sp>
      <p:pic>
        <p:nvPicPr>
          <p:cNvPr id="7" name="Immagine 8">
            <a:extLst>
              <a:ext uri="{FF2B5EF4-FFF2-40B4-BE49-F238E27FC236}">
                <a16:creationId xmlns:a16="http://schemas.microsoft.com/office/drawing/2014/main" id="{E49A30CA-A1B4-8793-1078-D1AAD31745B2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1380755" y="6356350"/>
            <a:ext cx="715263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629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82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tif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jpeg"/><Relationship Id="rId13" Type="http://schemas.openxmlformats.org/officeDocument/2006/relationships/image" Target="../media/image30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microsoft.com/office/2007/relationships/hdphoto" Target="../media/hdphoto1.wdp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5.png"/><Relationship Id="rId11" Type="http://schemas.openxmlformats.org/officeDocument/2006/relationships/image" Target="../media/image29.png"/><Relationship Id="rId5" Type="http://schemas.openxmlformats.org/officeDocument/2006/relationships/image" Target="../media/image24.png"/><Relationship Id="rId10" Type="http://schemas.openxmlformats.org/officeDocument/2006/relationships/image" Target="../media/image9.png"/><Relationship Id="rId4" Type="http://schemas.openxmlformats.org/officeDocument/2006/relationships/image" Target="../media/image23.svg"/><Relationship Id="rId9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41.jpg"/><Relationship Id="rId5" Type="http://schemas.openxmlformats.org/officeDocument/2006/relationships/image" Target="../media/image40.jpg"/><Relationship Id="rId4" Type="http://schemas.openxmlformats.org/officeDocument/2006/relationships/image" Target="../media/image39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3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9.svg"/><Relationship Id="rId5" Type="http://schemas.openxmlformats.org/officeDocument/2006/relationships/image" Target="../media/image48.png"/><Relationship Id="rId10" Type="http://schemas.microsoft.com/office/2007/relationships/hdphoto" Target="../media/hdphoto2.wdp"/><Relationship Id="rId4" Type="http://schemas.openxmlformats.org/officeDocument/2006/relationships/image" Target="../media/image47.svg"/><Relationship Id="rId9" Type="http://schemas.openxmlformats.org/officeDocument/2006/relationships/image" Target="../media/image5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0.jpeg"/><Relationship Id="rId5" Type="http://schemas.openxmlformats.org/officeDocument/2006/relationships/image" Target="../media/image59.jpeg"/><Relationship Id="rId4" Type="http://schemas.openxmlformats.org/officeDocument/2006/relationships/image" Target="../media/image58.jpe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BF8509-3A3F-B4A5-83FA-F07F70A92F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it-IT" dirty="0"/>
              <a:t>01/12/2025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9FA1E9-70A9-67C1-BFDD-689353B18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L. Balconi | Young </a:t>
            </a:r>
            <a:r>
              <a:rPr lang="fr-FR" dirty="0" err="1"/>
              <a:t>researchers</a:t>
            </a:r>
            <a:r>
              <a:rPr lang="fr-FR" dirty="0"/>
              <a:t> </a:t>
            </a:r>
            <a:r>
              <a:rPr lang="fr-FR" dirty="0" err="1"/>
              <a:t>grant</a:t>
            </a:r>
            <a:endParaRPr lang="it-IT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A9E01A7-9AFC-C450-6984-156B63193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13" y="3308235"/>
            <a:ext cx="7784567" cy="757130"/>
          </a:xfrm>
        </p:spPr>
        <p:txBody>
          <a:bodyPr/>
          <a:lstStyle/>
          <a:p>
            <a:r>
              <a:rPr lang="en-GB" sz="4800" b="1" dirty="0">
                <a:solidFill>
                  <a:srgbClr val="4297B7"/>
                </a:solidFill>
              </a:rPr>
              <a:t> ECHO Magnet </a:t>
            </a:r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id="{F3B98A95-B417-A9C9-EB03-66870329A10F}"/>
              </a:ext>
            </a:extLst>
          </p:cNvPr>
          <p:cNvSpPr txBox="1"/>
          <p:nvPr/>
        </p:nvSpPr>
        <p:spPr>
          <a:xfrm>
            <a:off x="478971" y="5369221"/>
            <a:ext cx="71192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400" i="1" noProof="0" dirty="0">
                <a:solidFill>
                  <a:srgbClr val="4297B7"/>
                </a:solidFill>
              </a:rPr>
              <a:t>L. Balconi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2D844203-152A-9C2A-C0EB-B7015B46B759}"/>
              </a:ext>
            </a:extLst>
          </p:cNvPr>
          <p:cNvSpPr txBox="1">
            <a:spLocks/>
          </p:cNvSpPr>
          <p:nvPr/>
        </p:nvSpPr>
        <p:spPr>
          <a:xfrm>
            <a:off x="368831" y="4631363"/>
            <a:ext cx="7784567" cy="480131"/>
          </a:xfrm>
          <a:prstGeom prst="rect">
            <a:avLst/>
          </a:prstGeom>
        </p:spPr>
        <p:txBody>
          <a:bodyPr vert="horz" wrap="square" lIns="91440" tIns="45720" rIns="91440" bIns="45720" rtlCol="0" anchor="ctr" anchorCtr="1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2800" dirty="0" err="1">
                <a:solidFill>
                  <a:srgbClr val="4297B7"/>
                </a:solidFill>
              </a:rPr>
              <a:t>Proposal</a:t>
            </a:r>
            <a:r>
              <a:rPr lang="it-IT" sz="2800" dirty="0">
                <a:solidFill>
                  <a:srgbClr val="4297B7"/>
                </a:solidFill>
              </a:rPr>
              <a:t> for </a:t>
            </a:r>
            <a:r>
              <a:rPr lang="it-IT" sz="2800" dirty="0" err="1">
                <a:solidFill>
                  <a:srgbClr val="4297B7"/>
                </a:solidFill>
              </a:rPr>
              <a:t>young</a:t>
            </a:r>
            <a:r>
              <a:rPr lang="it-IT" sz="2800" dirty="0">
                <a:solidFill>
                  <a:srgbClr val="4297B7"/>
                </a:solidFill>
              </a:rPr>
              <a:t> </a:t>
            </a:r>
            <a:r>
              <a:rPr lang="it-IT" sz="2800" dirty="0" err="1">
                <a:solidFill>
                  <a:srgbClr val="4297B7"/>
                </a:solidFill>
              </a:rPr>
              <a:t>researchers</a:t>
            </a:r>
            <a:r>
              <a:rPr lang="it-IT" sz="2800" dirty="0">
                <a:solidFill>
                  <a:srgbClr val="4297B7"/>
                </a:solidFill>
              </a:rPr>
              <a:t> </a:t>
            </a:r>
            <a:r>
              <a:rPr lang="it-IT" sz="2800" dirty="0" err="1">
                <a:solidFill>
                  <a:srgbClr val="4297B7"/>
                </a:solidFill>
              </a:rPr>
              <a:t>grant</a:t>
            </a:r>
            <a:r>
              <a:rPr lang="it-IT" sz="2800" dirty="0">
                <a:solidFill>
                  <a:srgbClr val="4297B7"/>
                </a:solidFill>
              </a:rPr>
              <a:t> – CSN5</a:t>
            </a:r>
            <a:endParaRPr lang="en-GB" sz="2800" dirty="0">
              <a:solidFill>
                <a:srgbClr val="4297B7"/>
              </a:solidFill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CF0D1300-08BE-79A0-9AD5-6A66A3B044F6}"/>
              </a:ext>
            </a:extLst>
          </p:cNvPr>
          <p:cNvSpPr txBox="1">
            <a:spLocks/>
          </p:cNvSpPr>
          <p:nvPr/>
        </p:nvSpPr>
        <p:spPr>
          <a:xfrm>
            <a:off x="-200856" y="3854565"/>
            <a:ext cx="8923943" cy="757130"/>
          </a:xfrm>
          <a:prstGeom prst="rect">
            <a:avLst/>
          </a:prstGeom>
        </p:spPr>
        <p:txBody>
          <a:bodyPr vert="horz" wrap="square" lIns="91440" tIns="45720" rIns="91440" bIns="45720" rtlCol="0" anchor="ctr" anchorCtr="1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800" b="1" dirty="0">
                <a:solidFill>
                  <a:srgbClr val="4297B7"/>
                </a:solidFill>
              </a:rPr>
              <a:t> </a:t>
            </a:r>
            <a:r>
              <a:rPr lang="en-GB" sz="3200" b="1" dirty="0">
                <a:solidFill>
                  <a:srgbClr val="4297B7"/>
                </a:solidFill>
              </a:rPr>
              <a:t>Extremely Curved </a:t>
            </a:r>
            <a:r>
              <a:rPr lang="en-GB" sz="3200" b="1" dirty="0" err="1">
                <a:solidFill>
                  <a:srgbClr val="4297B7"/>
                </a:solidFill>
              </a:rPr>
              <a:t>Hadrontherapy</a:t>
            </a:r>
            <a:r>
              <a:rPr lang="en-GB" sz="3200" b="1" dirty="0">
                <a:solidFill>
                  <a:srgbClr val="4297B7"/>
                </a:solidFill>
              </a:rPr>
              <a:t> Optics Magnet</a:t>
            </a:r>
          </a:p>
        </p:txBody>
      </p:sp>
    </p:spTree>
    <p:extLst>
      <p:ext uri="{BB962C8B-B14F-4D97-AF65-F5344CB8AC3E}">
        <p14:creationId xmlns:p14="http://schemas.microsoft.com/office/powerpoint/2010/main" val="13403802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4964"/>
    </mc:Choice>
    <mc:Fallback>
      <p:transition spd="slow" advTm="14964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2">
            <a:extLst>
              <a:ext uri="{FF2B5EF4-FFF2-40B4-BE49-F238E27FC236}">
                <a16:creationId xmlns:a16="http://schemas.microsoft.com/office/drawing/2014/main" id="{4A295925-5808-4716-7F11-03ACDD3901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1353" y="2378677"/>
            <a:ext cx="3045578" cy="2226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6D77092-DD95-7EE7-B073-072D530E9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About me: 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0E2383-1A9B-229F-33B7-1B05732D7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L. Balconi | Young </a:t>
            </a:r>
            <a:r>
              <a:rPr lang="fr-FR" dirty="0" err="1"/>
              <a:t>researchers</a:t>
            </a:r>
            <a:r>
              <a:rPr lang="fr-FR" dirty="0"/>
              <a:t> </a:t>
            </a:r>
            <a:r>
              <a:rPr lang="fr-FR" dirty="0" err="1"/>
              <a:t>grant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5B3B0A-B9ED-C29E-2112-B6EBFF8EC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6D798-1883-974D-96D0-4E82B243DEDE}" type="slidenum">
              <a:rPr lang="it-IT" smtClean="0"/>
              <a:t>2</a:t>
            </a:fld>
            <a:endParaRPr lang="it-IT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A5A8C0-FAE8-A1E5-3F14-2EDDFD0CB79E}"/>
              </a:ext>
            </a:extLst>
          </p:cNvPr>
          <p:cNvSpPr txBox="1"/>
          <p:nvPr/>
        </p:nvSpPr>
        <p:spPr>
          <a:xfrm>
            <a:off x="1048405" y="1622861"/>
            <a:ext cx="57859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solidFill>
                  <a:srgbClr val="4297B7"/>
                </a:solidFill>
              </a:rPr>
              <a:t>2020 – Bachelor degree in Physics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dirty="0"/>
              <a:t>University of Milan, </a:t>
            </a:r>
            <a:r>
              <a:rPr lang="it-IT" dirty="0" err="1"/>
              <a:t>Medical</a:t>
            </a:r>
            <a:r>
              <a:rPr lang="it-IT" dirty="0"/>
              <a:t> Physics</a:t>
            </a:r>
            <a:br>
              <a:rPr lang="it-IT" dirty="0"/>
            </a:br>
            <a:r>
              <a:rPr lang="en-GB" i="1" u="sng" dirty="0"/>
              <a:t>”Feasibility study of an innovative range monitoring technique using prompt gamma in </a:t>
            </a:r>
            <a:r>
              <a:rPr lang="en-GB" i="1" u="sng" dirty="0" err="1"/>
              <a:t>hadrontherapy</a:t>
            </a:r>
            <a:r>
              <a:rPr lang="en-GB" i="1" u="sng" dirty="0"/>
              <a:t>”</a:t>
            </a:r>
            <a:endParaRPr lang="it-IT" i="1" u="sng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43CFAB-9D12-0494-6D44-237D75A2E69C}"/>
              </a:ext>
            </a:extLst>
          </p:cNvPr>
          <p:cNvSpPr txBox="1"/>
          <p:nvPr/>
        </p:nvSpPr>
        <p:spPr>
          <a:xfrm>
            <a:off x="1048405" y="2823190"/>
            <a:ext cx="64244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solidFill>
                  <a:srgbClr val="4297B7"/>
                </a:solidFill>
              </a:rPr>
              <a:t>2022 – Master degree in Fusion Plasma Physics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dirty="0"/>
              <a:t>University of Milan, CNR Padova – Consorzio RFX</a:t>
            </a:r>
            <a:br>
              <a:rPr lang="it-IT" dirty="0"/>
            </a:br>
            <a:r>
              <a:rPr lang="en-GB" i="1" u="sng" dirty="0"/>
              <a:t>”Set-up of the spectroscopic diagnostics for MITICA”</a:t>
            </a:r>
            <a:endParaRPr lang="it-IT" i="1" u="sng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93BF63-1E7B-63B9-1301-AE8133D86E27}"/>
              </a:ext>
            </a:extLst>
          </p:cNvPr>
          <p:cNvSpPr txBox="1"/>
          <p:nvPr/>
        </p:nvSpPr>
        <p:spPr>
          <a:xfrm>
            <a:off x="1048405" y="3843804"/>
            <a:ext cx="6211616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solidFill>
                  <a:srgbClr val="4297B7"/>
                </a:solidFill>
              </a:rPr>
              <a:t>2022 – Present PhD in Applied Physics (</a:t>
            </a:r>
            <a:r>
              <a:rPr lang="it-IT" dirty="0" err="1">
                <a:solidFill>
                  <a:srgbClr val="4297B7"/>
                </a:solidFill>
              </a:rPr>
              <a:t>Final</a:t>
            </a:r>
            <a:r>
              <a:rPr lang="it-IT" dirty="0">
                <a:solidFill>
                  <a:srgbClr val="4297B7"/>
                </a:solidFill>
              </a:rPr>
              <a:t> defense </a:t>
            </a:r>
            <a:r>
              <a:rPr lang="it-IT" dirty="0" err="1">
                <a:solidFill>
                  <a:srgbClr val="4297B7"/>
                </a:solidFill>
              </a:rPr>
              <a:t>expected</a:t>
            </a:r>
            <a:r>
              <a:rPr lang="it-IT" dirty="0">
                <a:solidFill>
                  <a:srgbClr val="4297B7"/>
                </a:solidFill>
              </a:rPr>
              <a:t> early </a:t>
            </a:r>
            <a:r>
              <a:rPr lang="it-IT" dirty="0" err="1">
                <a:solidFill>
                  <a:srgbClr val="4297B7"/>
                </a:solidFill>
              </a:rPr>
              <a:t>jan</a:t>
            </a:r>
            <a:r>
              <a:rPr lang="it-IT" dirty="0">
                <a:solidFill>
                  <a:srgbClr val="4297B7"/>
                </a:solidFill>
              </a:rPr>
              <a:t> 2026)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dirty="0"/>
              <a:t>University of Milan, LASA </a:t>
            </a:r>
            <a:r>
              <a:rPr lang="it-IT" dirty="0" err="1"/>
              <a:t>laboratory</a:t>
            </a:r>
            <a:br>
              <a:rPr lang="it-IT" dirty="0"/>
            </a:br>
            <a:r>
              <a:rPr lang="en-GB" u="sng" dirty="0"/>
              <a:t>”Design and study of the IRIS 10 T Energy Saving dipole Magnet for Accelerators ESMA”</a:t>
            </a:r>
          </a:p>
          <a:p>
            <a:pPr lvl="1"/>
            <a:endParaRPr lang="en-GB" dirty="0">
              <a:sym typeface="Wingdings" panose="05000000000000000000" pitchFamily="2" charset="2"/>
            </a:endParaRPr>
          </a:p>
          <a:p>
            <a:pPr marL="742950" lvl="1" indent="-285750">
              <a:buFont typeface="Wingdings" panose="05000000000000000000" pitchFamily="2" charset="2"/>
              <a:buChar char="à"/>
            </a:pPr>
            <a:r>
              <a:rPr lang="en-GB" sz="2000" b="1" dirty="0">
                <a:solidFill>
                  <a:srgbClr val="4297B7"/>
                </a:solidFill>
                <a:sym typeface="Wingdings" panose="05000000000000000000" pitchFamily="2" charset="2"/>
              </a:rPr>
              <a:t>CSC Graduate Study Fellowship Award</a:t>
            </a:r>
            <a:br>
              <a:rPr lang="en-GB" sz="2000" b="1" dirty="0">
                <a:solidFill>
                  <a:srgbClr val="4297B7"/>
                </a:solidFill>
                <a:sym typeface="Wingdings" panose="05000000000000000000" pitchFamily="2" charset="2"/>
              </a:rPr>
            </a:br>
            <a:r>
              <a:rPr lang="en-GB" sz="2000" b="1" dirty="0">
                <a:solidFill>
                  <a:srgbClr val="4297B7"/>
                </a:solidFill>
                <a:sym typeface="Wingdings" panose="05000000000000000000" pitchFamily="2" charset="2"/>
              </a:rPr>
              <a:t>by IEEE, Council on </a:t>
            </a:r>
            <a:r>
              <a:rPr lang="en-GB" sz="2000" b="1" dirty="0" err="1">
                <a:solidFill>
                  <a:srgbClr val="4297B7"/>
                </a:solidFill>
                <a:sym typeface="Wingdings" panose="05000000000000000000" pitchFamily="2" charset="2"/>
              </a:rPr>
              <a:t>SuperConductivity</a:t>
            </a:r>
            <a:r>
              <a:rPr lang="en-GB" sz="2000" b="1" dirty="0">
                <a:solidFill>
                  <a:srgbClr val="4297B7"/>
                </a:solidFill>
                <a:sym typeface="Wingdings" panose="05000000000000000000" pitchFamily="2" charset="2"/>
              </a:rPr>
              <a:t> (CSC)</a:t>
            </a:r>
            <a:endParaRPr lang="it-IT" sz="2000" b="1" dirty="0">
              <a:solidFill>
                <a:srgbClr val="4297B7"/>
              </a:solidFill>
            </a:endParaRPr>
          </a:p>
        </p:txBody>
      </p:sp>
      <p:grpSp>
        <p:nvGrpSpPr>
          <p:cNvPr id="10" name="Gruppo">
            <a:extLst>
              <a:ext uri="{FF2B5EF4-FFF2-40B4-BE49-F238E27FC236}">
                <a16:creationId xmlns:a16="http://schemas.microsoft.com/office/drawing/2014/main" id="{468F96A1-DD0E-3099-3A40-3F6A7994B7B4}"/>
              </a:ext>
            </a:extLst>
          </p:cNvPr>
          <p:cNvGrpSpPr/>
          <p:nvPr/>
        </p:nvGrpSpPr>
        <p:grpSpPr>
          <a:xfrm>
            <a:off x="9082428" y="68853"/>
            <a:ext cx="2538600" cy="2154172"/>
            <a:chOff x="0" y="0"/>
            <a:chExt cx="4346651" cy="3877692"/>
          </a:xfrm>
        </p:grpSpPr>
        <p:pic>
          <p:nvPicPr>
            <p:cNvPr id="11" name="e^-.pdf" descr="e^-.pdf">
              <a:extLst>
                <a:ext uri="{FF2B5EF4-FFF2-40B4-BE49-F238E27FC236}">
                  <a16:creationId xmlns:a16="http://schemas.microsoft.com/office/drawing/2014/main" id="{C433DA8D-22B3-1187-8B64-5D63B899BD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18034" y="1095255"/>
              <a:ext cx="428618" cy="28574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e^+.pdf" descr="e^+.pdf">
              <a:extLst>
                <a:ext uri="{FF2B5EF4-FFF2-40B4-BE49-F238E27FC236}">
                  <a16:creationId xmlns:a16="http://schemas.microsoft.com/office/drawing/2014/main" id="{D99ED5F0-ED75-8CE8-61BA-4B5ADA0BAF2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18869" y="0"/>
              <a:ext cx="428619" cy="38099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" name="Immagine" descr="Immagine">
              <a:extLst>
                <a:ext uri="{FF2B5EF4-FFF2-40B4-BE49-F238E27FC236}">
                  <a16:creationId xmlns:a16="http://schemas.microsoft.com/office/drawing/2014/main" id="{20ED72C1-F4F7-2775-86CE-9DDE0AC9B12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35825" y="3532653"/>
              <a:ext cx="276032" cy="345040"/>
            </a:xfrm>
            <a:prstGeom prst="rect">
              <a:avLst/>
            </a:prstGeom>
            <a:ln w="12700" cap="flat">
              <a:noFill/>
              <a:miter lim="400000"/>
            </a:ln>
            <a:effectLst>
              <a:outerShdw dist="12700" dir="2700000" rotWithShape="0">
                <a:srgbClr val="000000">
                  <a:alpha val="75000"/>
                </a:srgbClr>
              </a:outerShdw>
            </a:effectLst>
          </p:spPr>
        </p:pic>
        <p:pic>
          <p:nvPicPr>
            <p:cNvPr id="14" name="Immagine" descr="Immagine">
              <a:extLst>
                <a:ext uri="{FF2B5EF4-FFF2-40B4-BE49-F238E27FC236}">
                  <a16:creationId xmlns:a16="http://schemas.microsoft.com/office/drawing/2014/main" id="{ED0B7353-BB2E-AF0E-3C31-E5CE4508C46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0" y="463436"/>
              <a:ext cx="3771776" cy="3233912"/>
            </a:xfrm>
            <a:prstGeom prst="rect">
              <a:avLst/>
            </a:prstGeom>
            <a:ln w="12700" cap="flat">
              <a:noFill/>
              <a:miter lim="400000"/>
            </a:ln>
            <a:effectLst>
              <a:outerShdw blurRad="127000" dist="76200" dir="2700000" rotWithShape="0">
                <a:srgbClr val="000000">
                  <a:alpha val="75000"/>
                </a:srgbClr>
              </a:outerShdw>
            </a:effectLst>
          </p:spPr>
        </p:pic>
      </p:grpSp>
      <p:pic>
        <p:nvPicPr>
          <p:cNvPr id="17" name="Picture 2">
            <a:extLst>
              <a:ext uri="{FF2B5EF4-FFF2-40B4-BE49-F238E27FC236}">
                <a16:creationId xmlns:a16="http://schemas.microsoft.com/office/drawing/2014/main" id="{62A305A4-EEC1-0B4A-A16E-BD68687EDB17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997852" y="4221009"/>
            <a:ext cx="2372848" cy="2051184"/>
          </a:xfrm>
          <a:prstGeom prst="rect">
            <a:avLst/>
          </a:prstGeom>
          <a:effectLst>
            <a:outerShdw blurRad="152400" dist="863600" dir="1440000" sx="92000" sy="92000" algn="l" rotWithShape="0">
              <a:prstClr val="black">
                <a:alpha val="15000"/>
              </a:prstClr>
            </a:outerShdw>
          </a:effec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0FB656A-0319-3FC4-FBD4-DF999B5D5739}"/>
              </a:ext>
            </a:extLst>
          </p:cNvPr>
          <p:cNvSpPr txBox="1"/>
          <p:nvPr/>
        </p:nvSpPr>
        <p:spPr>
          <a:xfrm>
            <a:off x="7693087" y="1623381"/>
            <a:ext cx="34933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i="1" dirty="0">
                <a:solidFill>
                  <a:schemeClr val="bg1">
                    <a:lumMod val="65000"/>
                  </a:schemeClr>
                </a:solidFill>
              </a:rPr>
              <a:t>PAPRICA detector</a:t>
            </a:r>
            <a:endParaRPr lang="en-GB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6B82BA3-7FBE-0800-839F-C31702C4D30A}"/>
              </a:ext>
            </a:extLst>
          </p:cNvPr>
          <p:cNvSpPr txBox="1"/>
          <p:nvPr/>
        </p:nvSpPr>
        <p:spPr>
          <a:xfrm>
            <a:off x="9749176" y="3982963"/>
            <a:ext cx="34933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i="1" dirty="0">
                <a:solidFill>
                  <a:schemeClr val="bg1">
                    <a:lumMod val="65000"/>
                  </a:schemeClr>
                </a:solidFill>
              </a:rPr>
              <a:t>MITICA </a:t>
            </a:r>
            <a:r>
              <a:rPr lang="it-IT" sz="1400" i="1" dirty="0" err="1">
                <a:solidFill>
                  <a:schemeClr val="bg1">
                    <a:lumMod val="65000"/>
                  </a:schemeClr>
                </a:solidFill>
              </a:rPr>
              <a:t>Neutral</a:t>
            </a:r>
            <a:r>
              <a:rPr lang="it-IT" sz="1400" i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it-IT" sz="1400" i="1" dirty="0" err="1">
                <a:solidFill>
                  <a:schemeClr val="bg1">
                    <a:lumMod val="65000"/>
                  </a:schemeClr>
                </a:solidFill>
              </a:rPr>
              <a:t>Beam</a:t>
            </a:r>
            <a:r>
              <a:rPr lang="it-IT" sz="1400" i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it-IT" sz="1400" i="1" dirty="0" err="1">
                <a:solidFill>
                  <a:schemeClr val="bg1">
                    <a:lumMod val="65000"/>
                  </a:schemeClr>
                </a:solidFill>
              </a:rPr>
              <a:t>Injector</a:t>
            </a:r>
            <a:endParaRPr lang="en-GB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FD8C163-8038-345C-969E-DC5D278AEB5A}"/>
              </a:ext>
            </a:extLst>
          </p:cNvPr>
          <p:cNvSpPr txBox="1"/>
          <p:nvPr/>
        </p:nvSpPr>
        <p:spPr>
          <a:xfrm>
            <a:off x="7472855" y="5782796"/>
            <a:ext cx="34933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i="1" dirty="0">
                <a:solidFill>
                  <a:schemeClr val="bg1">
                    <a:lumMod val="65000"/>
                  </a:schemeClr>
                </a:solidFill>
              </a:rPr>
              <a:t>ESMA </a:t>
            </a:r>
            <a:r>
              <a:rPr lang="it-IT" sz="1400" i="1" dirty="0" err="1">
                <a:solidFill>
                  <a:schemeClr val="bg1">
                    <a:lumMod val="65000"/>
                  </a:schemeClr>
                </a:solidFill>
              </a:rPr>
              <a:t>dipole</a:t>
            </a:r>
            <a:r>
              <a:rPr lang="it-IT" sz="1400" i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it-IT" sz="1400" i="1" dirty="0" err="1">
                <a:solidFill>
                  <a:schemeClr val="bg1">
                    <a:lumMod val="65000"/>
                  </a:schemeClr>
                </a:solidFill>
              </a:rPr>
              <a:t>magnet</a:t>
            </a:r>
            <a:endParaRPr lang="en-GB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Date Placeholder 1">
            <a:extLst>
              <a:ext uri="{FF2B5EF4-FFF2-40B4-BE49-F238E27FC236}">
                <a16:creationId xmlns:a16="http://schemas.microsoft.com/office/drawing/2014/main" id="{D2891678-CCB2-BE02-D861-31C367595A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it-IT" dirty="0"/>
              <a:t>01/12/2025</a:t>
            </a:r>
          </a:p>
        </p:txBody>
      </p:sp>
      <p:pic>
        <p:nvPicPr>
          <p:cNvPr id="15" name="Picture 14" descr="A person with curly hair and glasses smiling at the camera&#10;&#10;AI-generated content may be incorrect.">
            <a:extLst>
              <a:ext uri="{FF2B5EF4-FFF2-40B4-BE49-F238E27FC236}">
                <a16:creationId xmlns:a16="http://schemas.microsoft.com/office/drawing/2014/main" id="{0E7F2705-5033-CBE7-5226-FA8BF397A1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4156" y="365125"/>
            <a:ext cx="1343442" cy="1273304"/>
          </a:xfrm>
          <a:prstGeom prst="ellipse">
            <a:avLst/>
          </a:prstGeom>
          <a:ln w="28575" cap="rnd">
            <a:solidFill>
              <a:srgbClr val="4297B7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1774080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8788"/>
    </mc:Choice>
    <mc:Fallback>
      <p:transition spd="slow" advTm="48788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C8564-E0C7-3B85-9463-224272FA4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 err="1"/>
              <a:t>Outline</a:t>
            </a: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6091D4-FECF-2391-F880-13401ABB1E37}"/>
              </a:ext>
            </a:extLst>
          </p:cNvPr>
          <p:cNvSpPr txBox="1"/>
          <p:nvPr/>
        </p:nvSpPr>
        <p:spPr>
          <a:xfrm>
            <a:off x="838200" y="1690688"/>
            <a:ext cx="5181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1800"/>
              </a:spcBef>
              <a:buClr>
                <a:srgbClr val="4297B7"/>
              </a:buClr>
              <a:buFont typeface="Arial" panose="020B0604020202020204" pitchFamily="34" charset="0"/>
              <a:buChar char="•"/>
            </a:pPr>
            <a:r>
              <a:rPr lang="en-US" sz="2800" dirty="0"/>
              <a:t>Status of the art,</a:t>
            </a:r>
            <a:br>
              <a:rPr lang="en-US" sz="2800" dirty="0"/>
            </a:br>
            <a:r>
              <a:rPr lang="en-US" sz="2800" dirty="0"/>
              <a:t>Why ECHO Magnet?</a:t>
            </a:r>
          </a:p>
          <a:p>
            <a:pPr marL="228600" indent="-228600">
              <a:lnSpc>
                <a:spcPct val="90000"/>
              </a:lnSpc>
              <a:spcBef>
                <a:spcPts val="1800"/>
              </a:spcBef>
              <a:buClr>
                <a:srgbClr val="4297B7"/>
              </a:buClr>
              <a:buFont typeface="Arial" panose="020B0604020202020204" pitchFamily="34" charset="0"/>
              <a:buChar char="•"/>
            </a:pPr>
            <a:r>
              <a:rPr lang="en-US" sz="2800" dirty="0"/>
              <a:t>Realization plan of ECHO</a:t>
            </a:r>
          </a:p>
          <a:p>
            <a:pPr marL="971550" lvl="2" indent="-514350">
              <a:lnSpc>
                <a:spcPct val="90000"/>
              </a:lnSpc>
              <a:spcBef>
                <a:spcPts val="1800"/>
              </a:spcBef>
              <a:buClr>
                <a:srgbClr val="4297B7"/>
              </a:buClr>
              <a:buFont typeface="+mj-lt"/>
              <a:buAutoNum type="arabicPeriod"/>
            </a:pPr>
            <a:r>
              <a:rPr lang="en-US" sz="2800" dirty="0"/>
              <a:t>Design</a:t>
            </a:r>
          </a:p>
          <a:p>
            <a:pPr marL="971550" lvl="2" indent="-514350">
              <a:lnSpc>
                <a:spcPct val="90000"/>
              </a:lnSpc>
              <a:spcBef>
                <a:spcPts val="1800"/>
              </a:spcBef>
              <a:buClr>
                <a:srgbClr val="4297B7"/>
              </a:buClr>
              <a:buFont typeface="+mj-lt"/>
              <a:buAutoNum type="arabicPeriod"/>
            </a:pPr>
            <a:r>
              <a:rPr lang="en-US" sz="2800" dirty="0"/>
              <a:t>Manufacturing</a:t>
            </a:r>
          </a:p>
          <a:p>
            <a:pPr marL="228600" indent="-228600">
              <a:lnSpc>
                <a:spcPct val="90000"/>
              </a:lnSpc>
              <a:spcBef>
                <a:spcPts val="1800"/>
              </a:spcBef>
              <a:buClr>
                <a:srgbClr val="4297B7"/>
              </a:buClr>
              <a:buFont typeface="Arial" panose="020B0604020202020204" pitchFamily="34" charset="0"/>
              <a:buChar char="•"/>
            </a:pPr>
            <a:r>
              <a:rPr lang="en-US" sz="2800" dirty="0"/>
              <a:t>Timeline, risks and costs analysis</a:t>
            </a:r>
          </a:p>
          <a:p>
            <a:pPr marL="228600" indent="-228600">
              <a:lnSpc>
                <a:spcPct val="90000"/>
              </a:lnSpc>
              <a:spcBef>
                <a:spcPts val="1800"/>
              </a:spcBef>
              <a:buClr>
                <a:srgbClr val="4297B7"/>
              </a:buClr>
              <a:buFont typeface="Arial" panose="020B0604020202020204" pitchFamily="34" charset="0"/>
              <a:buChar char="•"/>
            </a:pPr>
            <a:r>
              <a:rPr lang="en-US" sz="2800" dirty="0"/>
              <a:t>Conclusions</a:t>
            </a:r>
          </a:p>
        </p:txBody>
      </p:sp>
      <p:pic>
        <p:nvPicPr>
          <p:cNvPr id="11" name="Picture 10" descr="A wire with blue and orange lines&#10;&#10;AI-generated content may be incorrect.">
            <a:extLst>
              <a:ext uri="{FF2B5EF4-FFF2-40B4-BE49-F238E27FC236}">
                <a16:creationId xmlns:a16="http://schemas.microsoft.com/office/drawing/2014/main" id="{21AF7683-6AC6-B547-2392-FDCA6CB676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4538" y="1279326"/>
            <a:ext cx="5992123" cy="4299348"/>
          </a:xfrm>
          <a:prstGeom prst="rect">
            <a:avLst/>
          </a:prstGeom>
          <a:noFill/>
        </p:spPr>
      </p:pic>
      <p:sp>
        <p:nvSpPr>
          <p:cNvPr id="7" name="Date Placeholder 1">
            <a:extLst>
              <a:ext uri="{FF2B5EF4-FFF2-40B4-BE49-F238E27FC236}">
                <a16:creationId xmlns:a16="http://schemas.microsoft.com/office/drawing/2014/main" id="{A936740B-12D1-946D-C555-2EF2CBD206D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it-IT"/>
              <a:t>01/12/2025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E1FD97-CAC6-68E3-A78E-06D51AEEB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fr-FR"/>
              <a:t>L. Balconi | Young researchers grant</a:t>
            </a:r>
            <a:endParaRPr lang="it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DCACDC-212D-B6AE-8CD4-64D98CACC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6D6D798-1883-974D-96D0-4E82B243DEDE}" type="slidenum">
              <a:rPr lang="it-IT" smtClean="0"/>
              <a:pPr>
                <a:spcAft>
                  <a:spcPts val="600"/>
                </a:spcAft>
              </a:pPr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488054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7997"/>
    </mc:Choice>
    <mc:Fallback>
      <p:transition spd="slow" advTm="27997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7B285-6036-EE78-B745-1ACF07B36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A diagram of a machine&#10;&#10;AI-generated content may be incorrect.">
            <a:extLst>
              <a:ext uri="{FF2B5EF4-FFF2-40B4-BE49-F238E27FC236}">
                <a16:creationId xmlns:a16="http://schemas.microsoft.com/office/drawing/2014/main" id="{CCDBDE0E-C16D-2AB7-02C6-28D2E17291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7948" y="1386523"/>
            <a:ext cx="6415566" cy="50444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3366C34-C1D2-F9B8-E7BD-85107E7DE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174" y="0"/>
            <a:ext cx="10515600" cy="1325563"/>
          </a:xfrm>
        </p:spPr>
        <p:txBody>
          <a:bodyPr/>
          <a:lstStyle/>
          <a:p>
            <a:r>
              <a:rPr lang="it-IT" dirty="0"/>
              <a:t>State-of-the-art &amp; </a:t>
            </a:r>
            <a:r>
              <a:rPr lang="it-IT" dirty="0" err="1"/>
              <a:t>actual</a:t>
            </a:r>
            <a:r>
              <a:rPr lang="it-IT" dirty="0"/>
              <a:t> R&amp;D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E37F65-993A-5E39-83C5-42EF717CB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L. Balconi | Young </a:t>
            </a:r>
            <a:r>
              <a:rPr lang="fr-FR" dirty="0" err="1"/>
              <a:t>researchers</a:t>
            </a:r>
            <a:r>
              <a:rPr lang="fr-FR" dirty="0"/>
              <a:t> </a:t>
            </a:r>
            <a:r>
              <a:rPr lang="fr-FR" dirty="0" err="1"/>
              <a:t>grant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22339A-9A3A-18C1-C522-061AF0F36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6D798-1883-974D-96D0-4E82B243DEDE}" type="slidenum">
              <a:rPr lang="it-IT" smtClean="0"/>
              <a:t>4</a:t>
            </a:fld>
            <a:endParaRPr lang="it-IT"/>
          </a:p>
        </p:txBody>
      </p:sp>
      <p:sp>
        <p:nvSpPr>
          <p:cNvPr id="6" name="Date Placeholder 1">
            <a:extLst>
              <a:ext uri="{FF2B5EF4-FFF2-40B4-BE49-F238E27FC236}">
                <a16:creationId xmlns:a16="http://schemas.microsoft.com/office/drawing/2014/main" id="{44480F27-4381-C71A-0332-60190A7450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it-IT" dirty="0"/>
              <a:t>01/12/2025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830039F-1474-4DC6-463E-3F3B1F469272}"/>
              </a:ext>
            </a:extLst>
          </p:cNvPr>
          <p:cNvGrpSpPr/>
          <p:nvPr/>
        </p:nvGrpSpPr>
        <p:grpSpPr>
          <a:xfrm>
            <a:off x="563828" y="1325563"/>
            <a:ext cx="5076255" cy="5170646"/>
            <a:chOff x="679174" y="1325563"/>
            <a:chExt cx="5076255" cy="5170646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439761B5-9925-FCB6-B903-B734644BD662}"/>
                </a:ext>
              </a:extLst>
            </p:cNvPr>
            <p:cNvGrpSpPr/>
            <p:nvPr/>
          </p:nvGrpSpPr>
          <p:grpSpPr>
            <a:xfrm>
              <a:off x="679174" y="1325563"/>
              <a:ext cx="4566920" cy="5170646"/>
              <a:chOff x="679174" y="1325563"/>
              <a:chExt cx="4566920" cy="5170646"/>
            </a:xfrm>
          </p:grpSpPr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830F50B-F350-6EFE-3405-8110510C1517}"/>
                  </a:ext>
                </a:extLst>
              </p:cNvPr>
              <p:cNvSpPr txBox="1"/>
              <p:nvPr/>
            </p:nvSpPr>
            <p:spPr>
              <a:xfrm>
                <a:off x="679174" y="2402781"/>
                <a:ext cx="4402540" cy="40934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spcAft>
                    <a:spcPts val="1200"/>
                  </a:spcAft>
                  <a:buClr>
                    <a:srgbClr val="4297B7"/>
                  </a:buClr>
                  <a:buFont typeface="Wingdings" panose="05000000000000000000" pitchFamily="2" charset="2"/>
                  <a:buChar char="Ø"/>
                </a:pPr>
                <a:r>
                  <a:rPr lang="en-GB" b="1" dirty="0">
                    <a:solidFill>
                      <a:srgbClr val="4297B7"/>
                    </a:solidFill>
                  </a:rPr>
                  <a:t>L</a:t>
                </a:r>
                <a:r>
                  <a:rPr lang="en-GB" dirty="0"/>
                  <a:t>ow </a:t>
                </a:r>
                <a:r>
                  <a:rPr lang="en-GB" b="1" dirty="0">
                    <a:solidFill>
                      <a:srgbClr val="4297B7"/>
                    </a:solidFill>
                  </a:rPr>
                  <a:t>T</a:t>
                </a:r>
                <a:r>
                  <a:rPr lang="en-GB" dirty="0"/>
                  <a:t>emperature </a:t>
                </a:r>
                <a:r>
                  <a:rPr lang="en-GB" b="1" dirty="0">
                    <a:solidFill>
                      <a:srgbClr val="4297B7"/>
                    </a:solidFill>
                  </a:rPr>
                  <a:t>S</a:t>
                </a:r>
                <a:r>
                  <a:rPr lang="en-GB" dirty="0"/>
                  <a:t>uperconductors (</a:t>
                </a:r>
                <a:r>
                  <a:rPr lang="en-GB" dirty="0">
                    <a:solidFill>
                      <a:srgbClr val="4297B7"/>
                    </a:solidFill>
                  </a:rPr>
                  <a:t>LTS</a:t>
                </a:r>
                <a:r>
                  <a:rPr lang="en-GB" dirty="0"/>
                  <a:t>)</a:t>
                </a:r>
              </a:p>
              <a:p>
                <a:pPr marL="742950" lvl="1" indent="-2857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dirty="0"/>
                  <a:t>Toshiba/NIRST: </a:t>
                </a:r>
                <a:r>
                  <a:rPr lang="it-IT" dirty="0"/>
                  <a:t>B = 2.88 T, </a:t>
                </a:r>
                <a:r>
                  <a:rPr lang="el-GR" dirty="0"/>
                  <a:t>ρ</a:t>
                </a:r>
                <a:r>
                  <a:rPr lang="it-IT" dirty="0"/>
                  <a:t> = 2.3 m,</a:t>
                </a:r>
              </a:p>
              <a:p>
                <a:pPr marL="1200150" lvl="2" indent="-28575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it-IT" dirty="0"/>
                  <a:t> 300 tons </a:t>
                </a:r>
              </a:p>
              <a:p>
                <a:pPr marL="742950" lvl="1" indent="-2857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it-IT" dirty="0"/>
                  <a:t>Yamagata: B = 3.5 T, </a:t>
                </a:r>
                <a:r>
                  <a:rPr lang="el-GR" dirty="0"/>
                  <a:t>ρ</a:t>
                </a:r>
                <a:r>
                  <a:rPr lang="it-IT" dirty="0"/>
                  <a:t> = 1.9 m</a:t>
                </a:r>
              </a:p>
              <a:p>
                <a:pPr marL="1200150" lvl="2" indent="-28575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it-IT" dirty="0"/>
                  <a:t>200 tons</a:t>
                </a:r>
                <a:endParaRPr lang="en-US" dirty="0"/>
              </a:p>
              <a:p>
                <a:pPr marL="742950" lvl="1" indent="-285750">
                  <a:spcAft>
                    <a:spcPts val="12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4297B7"/>
                    </a:solidFill>
                  </a:rPr>
                  <a:t>SIG</a:t>
                </a:r>
                <a:r>
                  <a:rPr lang="en-US" dirty="0"/>
                  <a:t>: </a:t>
                </a:r>
                <a:r>
                  <a:rPr lang="it-IT" dirty="0"/>
                  <a:t>B = 4 T, </a:t>
                </a:r>
                <a:r>
                  <a:rPr lang="el-GR" dirty="0"/>
                  <a:t>ρ</a:t>
                </a:r>
                <a:r>
                  <a:rPr lang="it-IT" dirty="0"/>
                  <a:t> = 1.65 m</a:t>
                </a:r>
                <a:endParaRPr lang="en-US" dirty="0"/>
              </a:p>
              <a:p>
                <a:pPr marL="742950" lvl="1" indent="-285750">
                  <a:spcAft>
                    <a:spcPts val="12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4297B7"/>
                    </a:solidFill>
                  </a:rPr>
                  <a:t>HITRI+: </a:t>
                </a:r>
                <a:r>
                  <a:rPr lang="it-IT" dirty="0"/>
                  <a:t>B = 4 T, </a:t>
                </a:r>
                <a:r>
                  <a:rPr lang="el-GR" dirty="0"/>
                  <a:t>ρ</a:t>
                </a:r>
                <a:r>
                  <a:rPr lang="it-IT" dirty="0"/>
                  <a:t> = 1.65 m </a:t>
                </a:r>
              </a:p>
              <a:p>
                <a:pPr marL="285750" indent="-285750">
                  <a:spcAft>
                    <a:spcPts val="1200"/>
                  </a:spcAft>
                  <a:buClr>
                    <a:srgbClr val="4297B7"/>
                  </a:buClr>
                  <a:buFont typeface="Wingdings" panose="05000000000000000000" pitchFamily="2" charset="2"/>
                  <a:buChar char="Ø"/>
                </a:pPr>
                <a:r>
                  <a:rPr lang="it-IT" dirty="0">
                    <a:solidFill>
                      <a:srgbClr val="4297B7"/>
                    </a:solidFill>
                  </a:rPr>
                  <a:t>H</a:t>
                </a:r>
                <a:r>
                  <a:rPr lang="it-IT" dirty="0"/>
                  <a:t>igh</a:t>
                </a:r>
                <a:r>
                  <a:rPr lang="it-IT" dirty="0">
                    <a:solidFill>
                      <a:srgbClr val="4297B7"/>
                    </a:solidFill>
                  </a:rPr>
                  <a:t> T</a:t>
                </a:r>
                <a:r>
                  <a:rPr lang="it-IT" dirty="0"/>
                  <a:t>emperature</a:t>
                </a:r>
                <a:r>
                  <a:rPr lang="it-IT" dirty="0">
                    <a:solidFill>
                      <a:srgbClr val="4297B7"/>
                    </a:solidFill>
                  </a:rPr>
                  <a:t> </a:t>
                </a:r>
                <a:r>
                  <a:rPr lang="it-IT" dirty="0" err="1">
                    <a:solidFill>
                      <a:srgbClr val="4297B7"/>
                    </a:solidFill>
                  </a:rPr>
                  <a:t>S</a:t>
                </a:r>
                <a:r>
                  <a:rPr lang="it-IT" dirty="0" err="1"/>
                  <a:t>uperconducting</a:t>
                </a:r>
                <a:r>
                  <a:rPr lang="it-IT" dirty="0">
                    <a:solidFill>
                      <a:srgbClr val="4297B7"/>
                    </a:solidFill>
                  </a:rPr>
                  <a:t> (HTS) </a:t>
                </a:r>
                <a:r>
                  <a:rPr lang="it-IT" dirty="0"/>
                  <a:t>tapes are </a:t>
                </a:r>
                <a:r>
                  <a:rPr lang="it-IT" dirty="0" err="1"/>
                  <a:t>promising</a:t>
                </a:r>
                <a:r>
                  <a:rPr lang="it-IT" dirty="0"/>
                  <a:t> </a:t>
                </a:r>
                <a:r>
                  <a:rPr lang="it-IT" dirty="0" err="1"/>
                  <a:t>candidates</a:t>
                </a:r>
                <a:endParaRPr lang="it-IT" dirty="0"/>
              </a:p>
              <a:p>
                <a:pPr>
                  <a:spcAft>
                    <a:spcPts val="1200"/>
                  </a:spcAft>
                </a:pPr>
                <a:endParaRPr lang="en-US" dirty="0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178FCBF-E955-0850-940D-D96C60CF2525}"/>
                  </a:ext>
                </a:extLst>
              </p:cNvPr>
              <p:cNvSpPr txBox="1"/>
              <p:nvPr/>
            </p:nvSpPr>
            <p:spPr>
              <a:xfrm>
                <a:off x="679174" y="1325563"/>
                <a:ext cx="4566920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Clr>
                    <a:srgbClr val="4297B7"/>
                  </a:buClr>
                  <a:buSzPct val="105000"/>
                  <a:buFont typeface="Wingdings" panose="05000000000000000000" pitchFamily="2" charset="2"/>
                  <a:buChar char="Ø"/>
                </a:pPr>
                <a:r>
                  <a:rPr lang="it-IT" dirty="0"/>
                  <a:t>Resistive </a:t>
                </a:r>
                <a:r>
                  <a:rPr lang="it-IT" dirty="0" err="1"/>
                  <a:t>magnets</a:t>
                </a:r>
                <a:r>
                  <a:rPr lang="it-IT" dirty="0"/>
                  <a:t> for </a:t>
                </a:r>
                <a:r>
                  <a:rPr lang="it-IT" dirty="0" err="1"/>
                  <a:t>ion</a:t>
                </a:r>
                <a:r>
                  <a:rPr lang="it-IT" dirty="0"/>
                  <a:t> </a:t>
                </a:r>
                <a:r>
                  <a:rPr lang="it-IT" dirty="0" err="1"/>
                  <a:t>gantry</a:t>
                </a:r>
                <a:r>
                  <a:rPr lang="it-IT" dirty="0"/>
                  <a:t>:</a:t>
                </a:r>
              </a:p>
              <a:p>
                <a:pPr marL="742950" lvl="1" indent="-28575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it-IT" dirty="0"/>
                  <a:t>HIT: B = 1.8 T, </a:t>
                </a:r>
                <a:r>
                  <a:rPr lang="el-GR" dirty="0"/>
                  <a:t>ρ</a:t>
                </a:r>
                <a:r>
                  <a:rPr lang="it-IT" dirty="0"/>
                  <a:t> = 3.65 m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it-IT" dirty="0"/>
                  <a:t>650 tons</a:t>
                </a:r>
                <a:endParaRPr lang="en-GB" dirty="0"/>
              </a:p>
            </p:txBody>
          </p:sp>
        </p:grpSp>
        <p:sp>
          <p:nvSpPr>
            <p:cNvPr id="10" name="Right Brace 9">
              <a:extLst>
                <a:ext uri="{FF2B5EF4-FFF2-40B4-BE49-F238E27FC236}">
                  <a16:creationId xmlns:a16="http://schemas.microsoft.com/office/drawing/2014/main" id="{1C2657F7-118F-A0F5-EDD4-5CA149A4D069}"/>
                </a:ext>
              </a:extLst>
            </p:cNvPr>
            <p:cNvSpPr/>
            <p:nvPr/>
          </p:nvSpPr>
          <p:spPr>
            <a:xfrm>
              <a:off x="3908623" y="4449495"/>
              <a:ext cx="444500" cy="726876"/>
            </a:xfrm>
            <a:prstGeom prst="rightBrace">
              <a:avLst>
                <a:gd name="adj1" fmla="val 18589"/>
                <a:gd name="adj2" fmla="val 50000"/>
              </a:avLst>
            </a:prstGeom>
            <a:ln w="19050">
              <a:solidFill>
                <a:srgbClr val="4297B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rgbClr val="4297B7"/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ECD48F4-4068-305A-AFDD-6C701F09A2B4}"/>
                </a:ext>
              </a:extLst>
            </p:cNvPr>
            <p:cNvSpPr txBox="1"/>
            <p:nvPr/>
          </p:nvSpPr>
          <p:spPr>
            <a:xfrm>
              <a:off x="4353122" y="4628267"/>
              <a:ext cx="14023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dirty="0"/>
                <a:t>m ~ 100 tons</a:t>
              </a:r>
              <a:endParaRPr lang="en-GB" dirty="0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831EB90D-0A86-52DE-194F-1F694D9469C4}"/>
              </a:ext>
            </a:extLst>
          </p:cNvPr>
          <p:cNvSpPr txBox="1"/>
          <p:nvPr/>
        </p:nvSpPr>
        <p:spPr>
          <a:xfrm>
            <a:off x="7475220" y="1876783"/>
            <a:ext cx="9677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FF0000"/>
                </a:solidFill>
              </a:rPr>
              <a:t>HTS?</a:t>
            </a:r>
            <a:endParaRPr lang="en-GB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12799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6768"/>
    </mc:Choice>
    <mc:Fallback>
      <p:transition spd="slow" advTm="26768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E4B84-3317-5BAB-779A-0D521B077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7148"/>
            <a:ext cx="10515600" cy="1325563"/>
          </a:xfrm>
        </p:spPr>
        <p:txBody>
          <a:bodyPr/>
          <a:lstStyle/>
          <a:p>
            <a:r>
              <a:rPr lang="it-IT" dirty="0"/>
              <a:t>ECHO </a:t>
            </a:r>
            <a:r>
              <a:rPr lang="it-IT" dirty="0" err="1"/>
              <a:t>Magnet</a:t>
            </a:r>
            <a:r>
              <a:rPr lang="it-IT" dirty="0"/>
              <a:t>: Targets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B0EF05-70A1-3933-BC5D-19F06DA23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L. Balconi | Young researchers grant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D4DA67-92BD-FFB9-47BF-CE60DDB24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6D798-1883-974D-96D0-4E82B243DEDE}" type="slidenum">
              <a:rPr lang="it-IT" smtClean="0"/>
              <a:t>5</a:t>
            </a:fld>
            <a:endParaRPr lang="it-IT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BF547AC-BAD1-EDEB-748F-F2158554C1C1}"/>
              </a:ext>
            </a:extLst>
          </p:cNvPr>
          <p:cNvSpPr txBox="1"/>
          <p:nvPr/>
        </p:nvSpPr>
        <p:spPr>
          <a:xfrm>
            <a:off x="838200" y="1307364"/>
            <a:ext cx="6192451" cy="29392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  <a:buClr>
                <a:srgbClr val="4297B7"/>
              </a:buClr>
            </a:pPr>
            <a:r>
              <a:rPr lang="en-GB" sz="2000" dirty="0" err="1">
                <a:solidFill>
                  <a:srgbClr val="4297B7"/>
                </a:solidFill>
              </a:rPr>
              <a:t>E</a:t>
            </a:r>
            <a:r>
              <a:rPr lang="en-GB" sz="2000" dirty="0" err="1"/>
              <a:t>xtremly</a:t>
            </a:r>
            <a:r>
              <a:rPr lang="en-GB" sz="2000" dirty="0"/>
              <a:t> </a:t>
            </a:r>
            <a:r>
              <a:rPr lang="en-GB" sz="2000" dirty="0">
                <a:solidFill>
                  <a:srgbClr val="4297B7"/>
                </a:solidFill>
              </a:rPr>
              <a:t>C</a:t>
            </a:r>
            <a:r>
              <a:rPr lang="en-GB" sz="2000" dirty="0"/>
              <a:t>urved </a:t>
            </a:r>
            <a:r>
              <a:rPr lang="en-GB" sz="2000" dirty="0" err="1">
                <a:solidFill>
                  <a:srgbClr val="4297B7"/>
                </a:solidFill>
              </a:rPr>
              <a:t>H</a:t>
            </a:r>
            <a:r>
              <a:rPr lang="en-GB" sz="2000" dirty="0" err="1"/>
              <a:t>adrontherapy</a:t>
            </a:r>
            <a:r>
              <a:rPr lang="en-GB" sz="2000" dirty="0"/>
              <a:t> </a:t>
            </a:r>
            <a:r>
              <a:rPr lang="en-GB" sz="2000" dirty="0">
                <a:solidFill>
                  <a:srgbClr val="4297B7"/>
                </a:solidFill>
              </a:rPr>
              <a:t>O</a:t>
            </a:r>
            <a:r>
              <a:rPr lang="en-GB" sz="2000" dirty="0"/>
              <a:t>ptics (</a:t>
            </a:r>
            <a:r>
              <a:rPr lang="en-GB" sz="2000" dirty="0">
                <a:solidFill>
                  <a:srgbClr val="4297B7"/>
                </a:solidFill>
              </a:rPr>
              <a:t>ECHO</a:t>
            </a:r>
            <a:r>
              <a:rPr lang="en-GB" sz="2000" dirty="0"/>
              <a:t>) Magnet:</a:t>
            </a:r>
          </a:p>
          <a:p>
            <a:pPr marL="285750" indent="-285750">
              <a:spcAft>
                <a:spcPts val="1200"/>
              </a:spcAft>
              <a:buClr>
                <a:srgbClr val="4297B7"/>
              </a:buClr>
              <a:buFont typeface="Arial" panose="020B0604020202020204" pitchFamily="34" charset="0"/>
              <a:buChar char="•"/>
            </a:pPr>
            <a:r>
              <a:rPr lang="en-GB" sz="2000" dirty="0"/>
              <a:t>Gantries and particle accelerators for </a:t>
            </a:r>
            <a:r>
              <a:rPr lang="en-GB" sz="2000" dirty="0" err="1">
                <a:solidFill>
                  <a:srgbClr val="4297B7"/>
                </a:solidFill>
              </a:rPr>
              <a:t>hadrontherapy</a:t>
            </a:r>
            <a:r>
              <a:rPr lang="en-GB" sz="2000" dirty="0"/>
              <a:t>.</a:t>
            </a:r>
          </a:p>
          <a:p>
            <a:pPr marL="285750" indent="-285750">
              <a:spcAft>
                <a:spcPts val="1200"/>
              </a:spcAft>
              <a:buClr>
                <a:srgbClr val="4297B7"/>
              </a:buClr>
              <a:buFont typeface="Arial" panose="020B0604020202020204" pitchFamily="34" charset="0"/>
              <a:buChar char="•"/>
            </a:pPr>
            <a:r>
              <a:rPr lang="en-GB" sz="2000" dirty="0"/>
              <a:t>Demonstrating the </a:t>
            </a:r>
            <a:r>
              <a:rPr lang="en-GB" sz="2000" b="1" dirty="0">
                <a:solidFill>
                  <a:srgbClr val="4297B7"/>
                </a:solidFill>
              </a:rPr>
              <a:t>T</a:t>
            </a:r>
            <a:r>
              <a:rPr lang="en-GB" sz="2000" dirty="0"/>
              <a:t>echnological </a:t>
            </a:r>
            <a:r>
              <a:rPr lang="en-GB" sz="2000" b="1" dirty="0">
                <a:solidFill>
                  <a:srgbClr val="4297B7"/>
                </a:solidFill>
              </a:rPr>
              <a:t>R</a:t>
            </a:r>
            <a:r>
              <a:rPr lang="en-GB" sz="2000" dirty="0"/>
              <a:t>eadiness </a:t>
            </a:r>
            <a:r>
              <a:rPr lang="en-GB" sz="2000" b="1" dirty="0">
                <a:solidFill>
                  <a:srgbClr val="4297B7"/>
                </a:solidFill>
              </a:rPr>
              <a:t>L</a:t>
            </a:r>
            <a:r>
              <a:rPr lang="en-GB" sz="2000" dirty="0"/>
              <a:t>evel (</a:t>
            </a:r>
            <a:r>
              <a:rPr lang="en-GB" sz="2000" dirty="0">
                <a:solidFill>
                  <a:srgbClr val="4297B7"/>
                </a:solidFill>
              </a:rPr>
              <a:t>TRL</a:t>
            </a:r>
            <a:r>
              <a:rPr lang="en-GB" sz="2000" dirty="0"/>
              <a:t>) of </a:t>
            </a:r>
            <a:r>
              <a:rPr lang="en-GB" sz="2000" b="1" dirty="0">
                <a:solidFill>
                  <a:srgbClr val="4297B7"/>
                </a:solidFill>
              </a:rPr>
              <a:t>H</a:t>
            </a:r>
            <a:r>
              <a:rPr lang="en-GB" sz="2000" dirty="0"/>
              <a:t>igh </a:t>
            </a:r>
            <a:r>
              <a:rPr lang="en-GB" sz="2000" b="1" dirty="0">
                <a:solidFill>
                  <a:srgbClr val="4297B7"/>
                </a:solidFill>
              </a:rPr>
              <a:t>T</a:t>
            </a:r>
            <a:r>
              <a:rPr lang="en-GB" sz="2000" dirty="0"/>
              <a:t>emperature </a:t>
            </a:r>
            <a:r>
              <a:rPr lang="en-GB" sz="2000" dirty="0">
                <a:solidFill>
                  <a:srgbClr val="4297B7"/>
                </a:solidFill>
              </a:rPr>
              <a:t>S</a:t>
            </a:r>
            <a:r>
              <a:rPr lang="en-GB" sz="2000" dirty="0"/>
              <a:t>uperconductors (</a:t>
            </a:r>
            <a:r>
              <a:rPr lang="en-GB" sz="2000" dirty="0">
                <a:solidFill>
                  <a:srgbClr val="4297B7"/>
                </a:solidFill>
              </a:rPr>
              <a:t>HTS</a:t>
            </a:r>
            <a:r>
              <a:rPr lang="en-GB" sz="2000" dirty="0"/>
              <a:t>)</a:t>
            </a:r>
            <a:endParaRPr lang="en-GB" sz="2000" b="1" dirty="0"/>
          </a:p>
          <a:p>
            <a:pPr marL="285750" indent="-285750">
              <a:spcAft>
                <a:spcPts val="1200"/>
              </a:spcAft>
              <a:buClr>
                <a:srgbClr val="4297B7"/>
              </a:buClr>
              <a:buFont typeface="Arial" panose="020B0604020202020204" pitchFamily="34" charset="0"/>
              <a:buChar char="•"/>
            </a:pPr>
            <a:r>
              <a:rPr lang="en-GB" sz="2000" dirty="0"/>
              <a:t>Energy saving with respect to classical </a:t>
            </a:r>
            <a:br>
              <a:rPr lang="en-GB" sz="2000" dirty="0"/>
            </a:br>
            <a:r>
              <a:rPr lang="en-GB" sz="2000" b="1" dirty="0">
                <a:solidFill>
                  <a:srgbClr val="4297B7"/>
                </a:solidFill>
              </a:rPr>
              <a:t>L</a:t>
            </a:r>
            <a:r>
              <a:rPr lang="en-GB" sz="2000" dirty="0"/>
              <a:t>ow </a:t>
            </a:r>
            <a:r>
              <a:rPr lang="en-GB" sz="2000" b="1" dirty="0">
                <a:solidFill>
                  <a:srgbClr val="4297B7"/>
                </a:solidFill>
              </a:rPr>
              <a:t>T</a:t>
            </a:r>
            <a:r>
              <a:rPr lang="en-GB" sz="2000" dirty="0"/>
              <a:t>emperature </a:t>
            </a:r>
            <a:r>
              <a:rPr lang="en-GB" sz="2000" b="1" dirty="0">
                <a:solidFill>
                  <a:srgbClr val="4297B7"/>
                </a:solidFill>
              </a:rPr>
              <a:t>S</a:t>
            </a:r>
            <a:r>
              <a:rPr lang="en-GB" sz="2000" dirty="0"/>
              <a:t>uperconductors (</a:t>
            </a:r>
            <a:r>
              <a:rPr lang="en-GB" sz="2000" dirty="0">
                <a:solidFill>
                  <a:srgbClr val="4297B7"/>
                </a:solidFill>
              </a:rPr>
              <a:t>LTS</a:t>
            </a:r>
            <a:r>
              <a:rPr lang="en-GB" sz="2000" dirty="0"/>
              <a:t>)</a:t>
            </a:r>
          </a:p>
          <a:p>
            <a:pPr marL="285750" indent="-285750">
              <a:spcAft>
                <a:spcPts val="1200"/>
              </a:spcAft>
              <a:buClr>
                <a:srgbClr val="4297B7"/>
              </a:buClr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rgbClr val="4297B7"/>
                </a:solidFill>
              </a:rPr>
              <a:t>Modular</a:t>
            </a:r>
            <a:r>
              <a:rPr lang="en-GB" sz="2000" dirty="0"/>
              <a:t> </a:t>
            </a:r>
            <a:r>
              <a:rPr lang="en-GB" sz="2000" dirty="0">
                <a:solidFill>
                  <a:srgbClr val="4297B7"/>
                </a:solidFill>
              </a:rPr>
              <a:t>design</a:t>
            </a:r>
            <a:r>
              <a:rPr lang="en-GB" sz="2000" dirty="0"/>
              <a:t> assembled in a </a:t>
            </a:r>
            <a:r>
              <a:rPr lang="en-GB" sz="2000" dirty="0">
                <a:solidFill>
                  <a:srgbClr val="4297B7"/>
                </a:solidFill>
              </a:rPr>
              <a:t>curved geometry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6">
                <a:extLst>
                  <a:ext uri="{FF2B5EF4-FFF2-40B4-BE49-F238E27FC236}">
                    <a16:creationId xmlns:a16="http://schemas.microsoft.com/office/drawing/2014/main" id="{6209FED2-D10A-6A01-196F-F9AAEAAE76F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31966892"/>
                  </p:ext>
                </p:extLst>
              </p:nvPr>
            </p:nvGraphicFramePr>
            <p:xfrm>
              <a:off x="923279" y="4460451"/>
              <a:ext cx="5557519" cy="1840500"/>
            </p:xfrm>
            <a:graphic>
              <a:graphicData uri="http://schemas.openxmlformats.org/drawingml/2006/table">
                <a:tbl>
                  <a:tblPr>
                    <a:tableStyleId>{2D5ABB26-0587-4C30-8999-92F81FD0307C}</a:tableStyleId>
                  </a:tblPr>
                  <a:tblGrid>
                    <a:gridCol w="2881322">
                      <a:extLst>
                        <a:ext uri="{9D8B030D-6E8A-4147-A177-3AD203B41FA5}">
                          <a16:colId xmlns:a16="http://schemas.microsoft.com/office/drawing/2014/main" val="113922037"/>
                        </a:ext>
                      </a:extLst>
                    </a:gridCol>
                    <a:gridCol w="744822">
                      <a:extLst>
                        <a:ext uri="{9D8B030D-6E8A-4147-A177-3AD203B41FA5}">
                          <a16:colId xmlns:a16="http://schemas.microsoft.com/office/drawing/2014/main" val="1490116165"/>
                        </a:ext>
                      </a:extLst>
                    </a:gridCol>
                    <a:gridCol w="1931375">
                      <a:extLst>
                        <a:ext uri="{9D8B030D-6E8A-4147-A177-3AD203B41FA5}">
                          <a16:colId xmlns:a16="http://schemas.microsoft.com/office/drawing/2014/main" val="198259223"/>
                        </a:ext>
                      </a:extLst>
                    </a:gridCol>
                  </a:tblGrid>
                  <a:tr h="506620"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0" hangingPunct="1"/>
                          <a:r>
                            <a:rPr lang="en-GB" sz="1800" b="1" kern="1200" noProof="0" dirty="0">
                              <a:solidFill>
                                <a:schemeClr val="tx1"/>
                              </a:solidFill>
                            </a:rPr>
                            <a:t>Target central field B</a:t>
                          </a:r>
                          <a:r>
                            <a:rPr lang="en-GB" sz="1800" b="1" kern="1200" baseline="-25000" noProof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GB" sz="1800" b="1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5234" marR="5234" marT="5234" marB="0" anchor="ctr">
                        <a:lnT w="9525" cap="flat" cmpd="sng" algn="ctr">
                          <a:solidFill>
                            <a:srgbClr val="3333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333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0" hangingPunct="1"/>
                          <a:r>
                            <a:rPr lang="en-GB" sz="18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T</a:t>
                          </a:r>
                        </a:p>
                      </a:txBody>
                      <a:tcPr marL="5234" marR="5234" marT="5234" marB="0" anchor="ctr">
                        <a:lnT w="9525" cap="flat" cmpd="sng" algn="ctr">
                          <a:solidFill>
                            <a:srgbClr val="3333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333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0" hangingPunct="1"/>
                          <a:r>
                            <a:rPr lang="en-GB" sz="1800" b="1" kern="1200" noProof="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en-GB" sz="1800" b="1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5234" marR="5234" marT="5234" marB="0" anchor="ctr">
                        <a:lnT w="9525" cap="flat" cmpd="sng" algn="ctr">
                          <a:solidFill>
                            <a:srgbClr val="3333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333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684971173"/>
                      </a:ext>
                    </a:extLst>
                  </a:tr>
                  <a:tr h="328242"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0" hangingPunct="1"/>
                          <a:r>
                            <a:rPr lang="en-GB" sz="1800" b="1" kern="1200" noProof="0" dirty="0">
                              <a:solidFill>
                                <a:schemeClr val="tx1"/>
                              </a:solidFill>
                            </a:rPr>
                            <a:t>Curvature radius</a:t>
                          </a:r>
                          <a:endParaRPr lang="en-GB" sz="1800" b="1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5234" marR="5234" marT="5234" marB="0" anchor="ctr">
                        <a:lnT w="9525" cap="flat" cmpd="sng" algn="ctr">
                          <a:solidFill>
                            <a:srgbClr val="3333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333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0" hangingPunct="1"/>
                          <a:r>
                            <a:rPr lang="it-IT" sz="18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m</a:t>
                          </a:r>
                          <a:endParaRPr lang="en-GB" sz="180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5234" marR="5234" marT="5234" marB="0" anchor="ctr">
                        <a:lnT w="9525" cap="flat" cmpd="sng" algn="ctr">
                          <a:solidFill>
                            <a:srgbClr val="3333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333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0" hangingPunct="1"/>
                          <a:r>
                            <a:rPr lang="it-IT" sz="1800" b="1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1.3</a:t>
                          </a:r>
                          <a:endParaRPr lang="en-GB" sz="1800" b="1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5234" marR="5234" marT="5234" marB="0" anchor="ctr">
                        <a:lnT w="9525" cap="flat" cmpd="sng" algn="ctr">
                          <a:solidFill>
                            <a:srgbClr val="3333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333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0920697"/>
                      </a:ext>
                    </a:extLst>
                  </a:tr>
                  <a:tr h="328242"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0" hangingPunct="1"/>
                          <a:r>
                            <a:rPr lang="en-GB" sz="1800" b="1" kern="1200" noProof="0" dirty="0">
                              <a:solidFill>
                                <a:schemeClr val="tx1"/>
                              </a:solidFill>
                            </a:rPr>
                            <a:t>Free aperture </a:t>
                          </a:r>
                          <a14:m>
                            <m:oMath xmlns:m="http://schemas.openxmlformats.org/officeDocument/2006/math">
                              <m:r>
                                <a:rPr lang="en-GB" sz="1800" kern="1200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∅</m:t>
                              </m:r>
                            </m:oMath>
                          </a14:m>
                          <a:r>
                            <a:rPr lang="en-GB" sz="1800" kern="1200" noProof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endParaRPr lang="en-GB" sz="1800" b="1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5234" marR="5234" marT="5234" marB="0" anchor="ctr">
                        <a:lnT w="9525" cap="flat" cmpd="sng" algn="ctr">
                          <a:solidFill>
                            <a:srgbClr val="3333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333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0" hangingPunct="1"/>
                          <a:r>
                            <a:rPr lang="en-GB" sz="1800" kern="1200" noProof="0" dirty="0">
                              <a:solidFill>
                                <a:schemeClr val="tx1"/>
                              </a:solidFill>
                            </a:rPr>
                            <a:t>mm</a:t>
                          </a:r>
                          <a:endParaRPr lang="en-GB" sz="180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5234" marR="5234" marT="5234" marB="0" anchor="ctr">
                        <a:lnT w="9525" cap="flat" cmpd="sng" algn="ctr">
                          <a:solidFill>
                            <a:srgbClr val="3333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333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0" hangingPunct="1"/>
                          <a:r>
                            <a:rPr lang="en-GB" sz="1800" kern="1200" noProof="0" dirty="0">
                              <a:solidFill>
                                <a:schemeClr val="tx1"/>
                              </a:solidFill>
                            </a:rPr>
                            <a:t>50</a:t>
                          </a:r>
                          <a:endParaRPr lang="en-GB" sz="180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5234" marR="5234" marT="5234" marB="0" anchor="ctr">
                        <a:lnT w="9525" cap="flat" cmpd="sng" algn="ctr">
                          <a:solidFill>
                            <a:srgbClr val="3333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333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12734506"/>
                      </a:ext>
                    </a:extLst>
                  </a:tr>
                  <a:tr h="338698"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0" hangingPunct="1"/>
                          <a:r>
                            <a:rPr lang="en-GB" sz="1800" b="1" kern="1200" noProof="0" dirty="0">
                              <a:solidFill>
                                <a:schemeClr val="tx1"/>
                              </a:solidFill>
                            </a:rPr>
                            <a:t>Operating temperature</a:t>
                          </a:r>
                          <a:endParaRPr lang="en-GB" sz="1800" b="1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5234" marR="5234" marT="5234" marB="0" anchor="ctr">
                        <a:lnT w="9525" cap="flat" cmpd="sng" algn="ctr">
                          <a:solidFill>
                            <a:srgbClr val="3333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333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0" hangingPunct="1"/>
                          <a:r>
                            <a:rPr lang="en-GB" sz="1800" kern="1200" noProof="0" dirty="0">
                              <a:solidFill>
                                <a:schemeClr val="tx1"/>
                              </a:solidFill>
                            </a:rPr>
                            <a:t>K</a:t>
                          </a:r>
                          <a:endParaRPr lang="en-GB" sz="180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5234" marR="5234" marT="5234" marB="0" anchor="ctr">
                        <a:lnT w="9525" cap="flat" cmpd="sng" algn="ctr">
                          <a:solidFill>
                            <a:srgbClr val="3333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333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0" hangingPunct="1"/>
                          <a:r>
                            <a:rPr lang="en-GB" sz="1800" kern="1200" noProof="0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  <a:endParaRPr lang="en-GB" sz="180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5234" marR="5234" marT="5234" marB="0" anchor="ctr">
                        <a:lnT w="9525" cap="flat" cmpd="sng" algn="ctr">
                          <a:solidFill>
                            <a:srgbClr val="3333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333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0838332"/>
                      </a:ext>
                    </a:extLst>
                  </a:tr>
                  <a:tr h="338698"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0" hangingPunct="1"/>
                          <a:r>
                            <a:rPr lang="en-GB" sz="1800" b="1" kern="1200" noProof="0" dirty="0">
                              <a:solidFill>
                                <a:schemeClr val="tx1"/>
                              </a:solidFill>
                            </a:rPr>
                            <a:t>Critical current margin</a:t>
                          </a:r>
                          <a:endParaRPr lang="en-GB" sz="1800" b="1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5234" marR="5234" marT="5234" marB="0" anchor="ctr">
                        <a:lnT w="9525" cap="flat" cmpd="sng" algn="ctr">
                          <a:solidFill>
                            <a:srgbClr val="3333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333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0" hangingPunct="1"/>
                          <a:r>
                            <a:rPr lang="en-GB" sz="1800" kern="1200" noProof="0" dirty="0">
                              <a:solidFill>
                                <a:schemeClr val="tx1"/>
                              </a:solidFill>
                            </a:rPr>
                            <a:t>N/A</a:t>
                          </a:r>
                          <a:endParaRPr lang="en-GB" sz="180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5234" marR="5234" marT="5234" marB="0" anchor="ctr">
                        <a:lnT w="9525" cap="flat" cmpd="sng" algn="ctr">
                          <a:solidFill>
                            <a:srgbClr val="3333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333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0" hangingPunct="1"/>
                          <a:r>
                            <a:rPr lang="en-GB" sz="1800" kern="1200" noProof="0" dirty="0">
                              <a:solidFill>
                                <a:schemeClr val="tx1"/>
                              </a:solidFill>
                            </a:rPr>
                            <a:t>&gt;20%</a:t>
                          </a:r>
                          <a:endParaRPr lang="en-GB" sz="180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5234" marR="5234" marT="5234" marB="0" anchor="ctr">
                        <a:lnT w="9525" cap="flat" cmpd="sng" algn="ctr">
                          <a:solidFill>
                            <a:srgbClr val="3333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333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9114299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6">
                <a:extLst>
                  <a:ext uri="{FF2B5EF4-FFF2-40B4-BE49-F238E27FC236}">
                    <a16:creationId xmlns:a16="http://schemas.microsoft.com/office/drawing/2014/main" id="{6209FED2-D10A-6A01-196F-F9AAEAAE76F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31966892"/>
                  </p:ext>
                </p:extLst>
              </p:nvPr>
            </p:nvGraphicFramePr>
            <p:xfrm>
              <a:off x="923279" y="4460451"/>
              <a:ext cx="5557519" cy="1840500"/>
            </p:xfrm>
            <a:graphic>
              <a:graphicData uri="http://schemas.openxmlformats.org/drawingml/2006/table">
                <a:tbl>
                  <a:tblPr>
                    <a:tableStyleId>{2D5ABB26-0587-4C30-8999-92F81FD0307C}</a:tableStyleId>
                  </a:tblPr>
                  <a:tblGrid>
                    <a:gridCol w="2881322">
                      <a:extLst>
                        <a:ext uri="{9D8B030D-6E8A-4147-A177-3AD203B41FA5}">
                          <a16:colId xmlns:a16="http://schemas.microsoft.com/office/drawing/2014/main" val="113922037"/>
                        </a:ext>
                      </a:extLst>
                    </a:gridCol>
                    <a:gridCol w="744822">
                      <a:extLst>
                        <a:ext uri="{9D8B030D-6E8A-4147-A177-3AD203B41FA5}">
                          <a16:colId xmlns:a16="http://schemas.microsoft.com/office/drawing/2014/main" val="1490116165"/>
                        </a:ext>
                      </a:extLst>
                    </a:gridCol>
                    <a:gridCol w="1931375">
                      <a:extLst>
                        <a:ext uri="{9D8B030D-6E8A-4147-A177-3AD203B41FA5}">
                          <a16:colId xmlns:a16="http://schemas.microsoft.com/office/drawing/2014/main" val="198259223"/>
                        </a:ext>
                      </a:extLst>
                    </a:gridCol>
                  </a:tblGrid>
                  <a:tr h="506620"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0" hangingPunct="1"/>
                          <a:r>
                            <a:rPr lang="en-GB" sz="1800" b="1" kern="1200" noProof="0" dirty="0">
                              <a:solidFill>
                                <a:schemeClr val="tx1"/>
                              </a:solidFill>
                            </a:rPr>
                            <a:t>Target central field B</a:t>
                          </a:r>
                          <a:r>
                            <a:rPr lang="en-GB" sz="1800" b="1" kern="1200" baseline="-25000" noProof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GB" sz="1800" b="1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5234" marR="5234" marT="5234" marB="0" anchor="ctr">
                        <a:lnT w="9525" cap="flat" cmpd="sng" algn="ctr">
                          <a:solidFill>
                            <a:srgbClr val="3333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333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0" hangingPunct="1"/>
                          <a:r>
                            <a:rPr lang="en-GB" sz="18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T</a:t>
                          </a:r>
                        </a:p>
                      </a:txBody>
                      <a:tcPr marL="5234" marR="5234" marT="5234" marB="0" anchor="ctr">
                        <a:lnT w="9525" cap="flat" cmpd="sng" algn="ctr">
                          <a:solidFill>
                            <a:srgbClr val="3333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333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0" hangingPunct="1"/>
                          <a:r>
                            <a:rPr lang="en-GB" sz="1800" b="1" kern="1200" noProof="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  <a:endParaRPr lang="en-GB" sz="1800" b="1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5234" marR="5234" marT="5234" marB="0" anchor="ctr">
                        <a:lnT w="9525" cap="flat" cmpd="sng" algn="ctr">
                          <a:solidFill>
                            <a:srgbClr val="3333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333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684971173"/>
                      </a:ext>
                    </a:extLst>
                  </a:tr>
                  <a:tr h="328242"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0" hangingPunct="1"/>
                          <a:r>
                            <a:rPr lang="en-GB" sz="1800" b="1" kern="1200" noProof="0" dirty="0">
                              <a:solidFill>
                                <a:schemeClr val="tx1"/>
                              </a:solidFill>
                            </a:rPr>
                            <a:t>Curvature radius</a:t>
                          </a:r>
                          <a:endParaRPr lang="en-GB" sz="1800" b="1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5234" marR="5234" marT="5234" marB="0" anchor="ctr">
                        <a:lnT w="9525" cap="flat" cmpd="sng" algn="ctr">
                          <a:solidFill>
                            <a:srgbClr val="3333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333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0" hangingPunct="1"/>
                          <a:r>
                            <a:rPr lang="it-IT" sz="1800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m</a:t>
                          </a:r>
                          <a:endParaRPr lang="en-GB" sz="180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5234" marR="5234" marT="5234" marB="0" anchor="ctr">
                        <a:lnT w="9525" cap="flat" cmpd="sng" algn="ctr">
                          <a:solidFill>
                            <a:srgbClr val="3333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333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0" hangingPunct="1"/>
                          <a:r>
                            <a:rPr lang="it-IT" sz="1800" b="1" kern="1200" noProof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1.3</a:t>
                          </a:r>
                          <a:endParaRPr lang="en-GB" sz="1800" b="1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5234" marR="5234" marT="5234" marB="0" anchor="ctr">
                        <a:lnT w="9525" cap="flat" cmpd="sng" algn="ctr">
                          <a:solidFill>
                            <a:srgbClr val="3333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333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0920697"/>
                      </a:ext>
                    </a:extLst>
                  </a:tr>
                  <a:tr h="3282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234" marR="5234" marT="5234" marB="0" anchor="ctr">
                        <a:lnT w="9525" cap="flat" cmpd="sng" algn="ctr">
                          <a:solidFill>
                            <a:srgbClr val="3333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333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255556" r="-93023" b="-2425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0" hangingPunct="1"/>
                          <a:r>
                            <a:rPr lang="en-GB" sz="1800" kern="1200" noProof="0" dirty="0">
                              <a:solidFill>
                                <a:schemeClr val="tx1"/>
                              </a:solidFill>
                            </a:rPr>
                            <a:t>mm</a:t>
                          </a:r>
                          <a:endParaRPr lang="en-GB" sz="180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5234" marR="5234" marT="5234" marB="0" anchor="ctr">
                        <a:lnT w="9525" cap="flat" cmpd="sng" algn="ctr">
                          <a:solidFill>
                            <a:srgbClr val="3333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333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0" hangingPunct="1"/>
                          <a:r>
                            <a:rPr lang="en-GB" sz="1800" kern="1200" noProof="0" dirty="0">
                              <a:solidFill>
                                <a:schemeClr val="tx1"/>
                              </a:solidFill>
                            </a:rPr>
                            <a:t>50</a:t>
                          </a:r>
                          <a:endParaRPr lang="en-GB" sz="180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5234" marR="5234" marT="5234" marB="0" anchor="ctr">
                        <a:lnT w="9525" cap="flat" cmpd="sng" algn="ctr">
                          <a:solidFill>
                            <a:srgbClr val="3333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333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12734506"/>
                      </a:ext>
                    </a:extLst>
                  </a:tr>
                  <a:tr h="338698"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0" hangingPunct="1"/>
                          <a:r>
                            <a:rPr lang="en-GB" sz="1800" b="1" kern="1200" noProof="0" dirty="0">
                              <a:solidFill>
                                <a:schemeClr val="tx1"/>
                              </a:solidFill>
                            </a:rPr>
                            <a:t>Operating temperature</a:t>
                          </a:r>
                          <a:endParaRPr lang="en-GB" sz="1800" b="1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5234" marR="5234" marT="5234" marB="0" anchor="ctr">
                        <a:lnT w="9525" cap="flat" cmpd="sng" algn="ctr">
                          <a:solidFill>
                            <a:srgbClr val="3333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333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0" hangingPunct="1"/>
                          <a:r>
                            <a:rPr lang="en-GB" sz="1800" kern="1200" noProof="0" dirty="0">
                              <a:solidFill>
                                <a:schemeClr val="tx1"/>
                              </a:solidFill>
                            </a:rPr>
                            <a:t>K</a:t>
                          </a:r>
                          <a:endParaRPr lang="en-GB" sz="180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5234" marR="5234" marT="5234" marB="0" anchor="ctr">
                        <a:lnT w="9525" cap="flat" cmpd="sng" algn="ctr">
                          <a:solidFill>
                            <a:srgbClr val="3333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333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0" hangingPunct="1"/>
                          <a:r>
                            <a:rPr lang="en-GB" sz="1800" kern="1200" noProof="0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  <a:endParaRPr lang="en-GB" sz="180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5234" marR="5234" marT="5234" marB="0" anchor="ctr">
                        <a:lnT w="9525" cap="flat" cmpd="sng" algn="ctr">
                          <a:solidFill>
                            <a:srgbClr val="3333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333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0838332"/>
                      </a:ext>
                    </a:extLst>
                  </a:tr>
                  <a:tr h="338698"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0" hangingPunct="1"/>
                          <a:r>
                            <a:rPr lang="en-GB" sz="1800" b="1" kern="1200" noProof="0" dirty="0">
                              <a:solidFill>
                                <a:schemeClr val="tx1"/>
                              </a:solidFill>
                            </a:rPr>
                            <a:t>Critical current margin</a:t>
                          </a:r>
                          <a:endParaRPr lang="en-GB" sz="1800" b="1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5234" marR="5234" marT="5234" marB="0" anchor="ctr">
                        <a:lnT w="9525" cap="flat" cmpd="sng" algn="ctr">
                          <a:solidFill>
                            <a:srgbClr val="3333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333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0" hangingPunct="1"/>
                          <a:r>
                            <a:rPr lang="en-GB" sz="1800" kern="1200" noProof="0" dirty="0">
                              <a:solidFill>
                                <a:schemeClr val="tx1"/>
                              </a:solidFill>
                            </a:rPr>
                            <a:t>N/A</a:t>
                          </a:r>
                          <a:endParaRPr lang="en-GB" sz="180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5234" marR="5234" marT="5234" marB="0" anchor="ctr">
                        <a:lnT w="9525" cap="flat" cmpd="sng" algn="ctr">
                          <a:solidFill>
                            <a:srgbClr val="3333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333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0" hangingPunct="1"/>
                          <a:r>
                            <a:rPr lang="en-GB" sz="1800" kern="1200" noProof="0" dirty="0">
                              <a:solidFill>
                                <a:schemeClr val="tx1"/>
                              </a:solidFill>
                            </a:rPr>
                            <a:t>&gt;20%</a:t>
                          </a:r>
                          <a:endParaRPr lang="en-GB" sz="1800" kern="1200" noProof="0" dirty="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5234" marR="5234" marT="5234" marB="0" anchor="ctr">
                        <a:lnT w="9525" cap="flat" cmpd="sng" algn="ctr">
                          <a:solidFill>
                            <a:srgbClr val="3333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333333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9114299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Date Placeholder 1">
            <a:extLst>
              <a:ext uri="{FF2B5EF4-FFF2-40B4-BE49-F238E27FC236}">
                <a16:creationId xmlns:a16="http://schemas.microsoft.com/office/drawing/2014/main" id="{D5DEF151-CFF3-4082-DB3C-4035B9004E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it-IT" dirty="0"/>
              <a:t>01/12/2025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D47910E5-9E88-CE98-BE33-16321719CAA5}"/>
              </a:ext>
            </a:extLst>
          </p:cNvPr>
          <p:cNvGrpSpPr/>
          <p:nvPr/>
        </p:nvGrpSpPr>
        <p:grpSpPr>
          <a:xfrm>
            <a:off x="6609194" y="4348774"/>
            <a:ext cx="5612744" cy="2033672"/>
            <a:chOff x="6690488" y="4439750"/>
            <a:chExt cx="5096807" cy="1846731"/>
          </a:xfrm>
        </p:grpSpPr>
        <p:pic>
          <p:nvPicPr>
            <p:cNvPr id="22" name="Picture 21" descr="A blue and orange spring&#10;&#10;AI-generated content may be incorrect.">
              <a:extLst>
                <a:ext uri="{FF2B5EF4-FFF2-40B4-BE49-F238E27FC236}">
                  <a16:creationId xmlns:a16="http://schemas.microsoft.com/office/drawing/2014/main" id="{067B3142-2622-F5DD-A405-62A56748C04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523" t="16578" r="3881" b="36768"/>
            <a:stretch>
              <a:fillRect/>
            </a:stretch>
          </p:blipFill>
          <p:spPr>
            <a:xfrm>
              <a:off x="6862260" y="4439750"/>
              <a:ext cx="4925035" cy="1846731"/>
            </a:xfrm>
            <a:prstGeom prst="rect">
              <a:avLst/>
            </a:prstGeom>
          </p:spPr>
        </p:pic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9F58CF14-2F3E-5DE7-26D2-CF744EE4DDB5}"/>
                </a:ext>
              </a:extLst>
            </p:cNvPr>
            <p:cNvSpPr txBox="1"/>
            <p:nvPr/>
          </p:nvSpPr>
          <p:spPr>
            <a:xfrm>
              <a:off x="6690488" y="4699721"/>
              <a:ext cx="1357745" cy="3446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b="1" dirty="0">
                  <a:solidFill>
                    <a:srgbClr val="4297B7"/>
                  </a:solidFill>
                </a:rPr>
                <a:t>Inner </a:t>
              </a:r>
              <a:r>
                <a:rPr lang="it-IT" b="1" dirty="0" err="1">
                  <a:solidFill>
                    <a:srgbClr val="4297B7"/>
                  </a:solidFill>
                </a:rPr>
                <a:t>layer</a:t>
              </a:r>
              <a:endParaRPr lang="en-GB" b="1" dirty="0">
                <a:solidFill>
                  <a:srgbClr val="4297B7"/>
                </a:solidFill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8238AB50-4833-4FE8-556C-01F4BF87F417}"/>
                </a:ext>
              </a:extLst>
            </p:cNvPr>
            <p:cNvSpPr txBox="1"/>
            <p:nvPr/>
          </p:nvSpPr>
          <p:spPr>
            <a:xfrm>
              <a:off x="10214589" y="5156663"/>
              <a:ext cx="1357745" cy="3446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b="1" dirty="0">
                  <a:solidFill>
                    <a:srgbClr val="D4855A"/>
                  </a:solidFill>
                </a:rPr>
                <a:t>Outer </a:t>
              </a:r>
              <a:r>
                <a:rPr lang="it-IT" b="1" dirty="0" err="1">
                  <a:solidFill>
                    <a:srgbClr val="D4855A"/>
                  </a:solidFill>
                </a:rPr>
                <a:t>layer</a:t>
              </a:r>
              <a:endParaRPr lang="en-GB" b="1" dirty="0">
                <a:solidFill>
                  <a:srgbClr val="D4855A"/>
                </a:solidFill>
              </a:endParaRP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8BE9D534-B3C0-F9BB-B098-F83815F5D161}"/>
              </a:ext>
            </a:extLst>
          </p:cNvPr>
          <p:cNvGrpSpPr/>
          <p:nvPr/>
        </p:nvGrpSpPr>
        <p:grpSpPr>
          <a:xfrm>
            <a:off x="7439695" y="212172"/>
            <a:ext cx="4189000" cy="1981342"/>
            <a:chOff x="7239459" y="1901574"/>
            <a:chExt cx="4778227" cy="2260038"/>
          </a:xfrm>
        </p:grpSpPr>
        <p:pic>
          <p:nvPicPr>
            <p:cNvPr id="46" name="Immagine 4">
              <a:extLst>
                <a:ext uri="{FF2B5EF4-FFF2-40B4-BE49-F238E27FC236}">
                  <a16:creationId xmlns:a16="http://schemas.microsoft.com/office/drawing/2014/main" id="{B8DA9244-2A5B-4861-BBB7-E69D40DE603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239459" y="3177950"/>
              <a:ext cx="4778227" cy="983662"/>
            </a:xfrm>
            <a:prstGeom prst="rect">
              <a:avLst/>
            </a:prstGeom>
          </p:spPr>
        </p:pic>
        <p:pic>
          <p:nvPicPr>
            <p:cNvPr id="47" name="Immagine 6">
              <a:extLst>
                <a:ext uri="{FF2B5EF4-FFF2-40B4-BE49-F238E27FC236}">
                  <a16:creationId xmlns:a16="http://schemas.microsoft.com/office/drawing/2014/main" id="{AA27618D-6FE8-427A-B3E6-7A5360D3450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94713" t="1617"/>
            <a:stretch>
              <a:fillRect/>
            </a:stretch>
          </p:blipFill>
          <p:spPr>
            <a:xfrm>
              <a:off x="11599039" y="1901574"/>
              <a:ext cx="333015" cy="1745077"/>
            </a:xfrm>
            <a:prstGeom prst="rect">
              <a:avLst/>
            </a:prstGeom>
          </p:spPr>
        </p:pic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2369E74F-E72D-15D7-FDC7-F90C424AF4BD}"/>
                </a:ext>
              </a:extLst>
            </p:cNvPr>
            <p:cNvGrpSpPr/>
            <p:nvPr/>
          </p:nvGrpSpPr>
          <p:grpSpPr>
            <a:xfrm>
              <a:off x="8025071" y="2085504"/>
              <a:ext cx="1064777" cy="1206626"/>
              <a:chOff x="7503975" y="1924172"/>
              <a:chExt cx="1185425" cy="1343346"/>
            </a:xfrm>
          </p:grpSpPr>
          <p:pic>
            <p:nvPicPr>
              <p:cNvPr id="54" name="Immagine 6">
                <a:extLst>
                  <a:ext uri="{FF2B5EF4-FFF2-40B4-BE49-F238E27FC236}">
                    <a16:creationId xmlns:a16="http://schemas.microsoft.com/office/drawing/2014/main" id="{D0EC362E-C75A-F8DC-64C3-13529A516B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l="22852" t="18218" r="56824"/>
              <a:stretch>
                <a:fillRect/>
              </a:stretch>
            </p:blipFill>
            <p:spPr>
              <a:xfrm>
                <a:off x="7503975" y="1924172"/>
                <a:ext cx="1185425" cy="1343346"/>
              </a:xfrm>
              <a:prstGeom prst="rect">
                <a:avLst/>
              </a:prstGeom>
            </p:spPr>
          </p:pic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953E9421-5B23-F69E-D7AC-95C071D66D90}"/>
                  </a:ext>
                </a:extLst>
              </p:cNvPr>
              <p:cNvSpPr txBox="1"/>
              <p:nvPr/>
            </p:nvSpPr>
            <p:spPr>
              <a:xfrm>
                <a:off x="7977830" y="2290695"/>
                <a:ext cx="601980" cy="4001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2000" dirty="0">
                    <a:solidFill>
                      <a:srgbClr val="00B9FB"/>
                    </a:solidFill>
                  </a:rPr>
                  <a:t>B</a:t>
                </a:r>
                <a:endParaRPr lang="en-GB" sz="2000" dirty="0">
                  <a:solidFill>
                    <a:srgbClr val="00B9FB"/>
                  </a:solidFill>
                </a:endParaRPr>
              </a:p>
            </p:txBody>
          </p:sp>
        </p:grp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8A7BE152-485E-BF47-6C67-4500FD3CB9EC}"/>
                </a:ext>
              </a:extLst>
            </p:cNvPr>
            <p:cNvGrpSpPr/>
            <p:nvPr/>
          </p:nvGrpSpPr>
          <p:grpSpPr>
            <a:xfrm>
              <a:off x="9477169" y="2276925"/>
              <a:ext cx="1007142" cy="1041743"/>
              <a:chOff x="8730362" y="2109330"/>
              <a:chExt cx="1163350" cy="1203319"/>
            </a:xfrm>
          </p:grpSpPr>
          <p:pic>
            <p:nvPicPr>
              <p:cNvPr id="53" name="Immagine 6">
                <a:extLst>
                  <a:ext uri="{FF2B5EF4-FFF2-40B4-BE49-F238E27FC236}">
                    <a16:creationId xmlns:a16="http://schemas.microsoft.com/office/drawing/2014/main" id="{4198B731-6866-D1E6-F458-04609780E83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l="47623" t="31330" r="33280" b="-1467"/>
              <a:stretch>
                <a:fillRect/>
              </a:stretch>
            </p:blipFill>
            <p:spPr>
              <a:xfrm>
                <a:off x="8730362" y="2109330"/>
                <a:ext cx="1163350" cy="1203319"/>
              </a:xfrm>
              <a:prstGeom prst="rect">
                <a:avLst/>
              </a:prstGeom>
            </p:spPr>
          </p:pic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4517F4F8-7443-F9F4-EE5D-1045D38BB7EF}"/>
                  </a:ext>
                </a:extLst>
              </p:cNvPr>
              <p:cNvSpPr txBox="1"/>
              <p:nvPr/>
            </p:nvSpPr>
            <p:spPr>
              <a:xfrm>
                <a:off x="9251573" y="2238648"/>
                <a:ext cx="60198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2000" dirty="0">
                    <a:solidFill>
                      <a:srgbClr val="FF0000"/>
                    </a:solidFill>
                  </a:rPr>
                  <a:t>B</a:t>
                </a:r>
                <a:endParaRPr lang="en-GB" sz="2000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71" name="Plus Sign 70">
              <a:extLst>
                <a:ext uri="{FF2B5EF4-FFF2-40B4-BE49-F238E27FC236}">
                  <a16:creationId xmlns:a16="http://schemas.microsoft.com/office/drawing/2014/main" id="{D751D307-F0F0-E9C8-FCAD-B87A8E6E05FE}"/>
                </a:ext>
              </a:extLst>
            </p:cNvPr>
            <p:cNvSpPr/>
            <p:nvPr/>
          </p:nvSpPr>
          <p:spPr>
            <a:xfrm>
              <a:off x="9123581" y="2625115"/>
              <a:ext cx="377082" cy="377082"/>
            </a:xfrm>
            <a:prstGeom prst="mathPlus">
              <a:avLst>
                <a:gd name="adj1" fmla="val 11395"/>
              </a:avLst>
            </a:prstGeom>
            <a:solidFill>
              <a:srgbClr val="4297B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2" name="Equals 71">
              <a:extLst>
                <a:ext uri="{FF2B5EF4-FFF2-40B4-BE49-F238E27FC236}">
                  <a16:creationId xmlns:a16="http://schemas.microsoft.com/office/drawing/2014/main" id="{6AAE1F33-D270-C78F-F452-FDCAFAB7CFC1}"/>
                </a:ext>
              </a:extLst>
            </p:cNvPr>
            <p:cNvSpPr/>
            <p:nvPr/>
          </p:nvSpPr>
          <p:spPr>
            <a:xfrm>
              <a:off x="10933465" y="2608650"/>
              <a:ext cx="532168" cy="387742"/>
            </a:xfrm>
            <a:prstGeom prst="mathEqual">
              <a:avLst>
                <a:gd name="adj1" fmla="val 11729"/>
                <a:gd name="adj2" fmla="val 23551"/>
              </a:avLst>
            </a:prstGeom>
            <a:solidFill>
              <a:srgbClr val="4297B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</p:grpSp>
      <p:sp>
        <p:nvSpPr>
          <p:cNvPr id="77" name="TextBox 76">
            <a:extLst>
              <a:ext uri="{FF2B5EF4-FFF2-40B4-BE49-F238E27FC236}">
                <a16:creationId xmlns:a16="http://schemas.microsoft.com/office/drawing/2014/main" id="{6CC68FCB-84E2-84C5-0923-A86724776653}"/>
              </a:ext>
            </a:extLst>
          </p:cNvPr>
          <p:cNvSpPr txBox="1"/>
          <p:nvPr/>
        </p:nvSpPr>
        <p:spPr>
          <a:xfrm>
            <a:off x="8187288" y="166261"/>
            <a:ext cx="33833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 dirty="0" err="1">
                <a:solidFill>
                  <a:srgbClr val="4297B7"/>
                </a:solidFill>
              </a:rPr>
              <a:t>Canted</a:t>
            </a:r>
            <a:r>
              <a:rPr lang="it-IT" sz="1600" b="1" dirty="0">
                <a:solidFill>
                  <a:srgbClr val="4297B7"/>
                </a:solidFill>
              </a:rPr>
              <a:t> Cosine Theta - CCT</a:t>
            </a:r>
            <a:endParaRPr lang="en-GB" sz="1600" b="1" dirty="0">
              <a:solidFill>
                <a:srgbClr val="4297B7"/>
              </a:solidFill>
            </a:endParaRPr>
          </a:p>
        </p:txBody>
      </p:sp>
      <p:pic>
        <p:nvPicPr>
          <p:cNvPr id="79" name="Picture 78" descr="A gold ring with blue and white stripes&#10;&#10;AI-generated content may be incorrect.">
            <a:extLst>
              <a:ext uri="{FF2B5EF4-FFF2-40B4-BE49-F238E27FC236}">
                <a16:creationId xmlns:a16="http://schemas.microsoft.com/office/drawing/2014/main" id="{08158E13-3102-031E-93F9-C3D3CE8BEB3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5099" y="1950839"/>
            <a:ext cx="4118192" cy="2833126"/>
          </a:xfrm>
          <a:prstGeom prst="rect">
            <a:avLst/>
          </a:prstGeom>
        </p:spPr>
      </p:pic>
      <p:sp>
        <p:nvSpPr>
          <p:cNvPr id="80" name="TextBox 79">
            <a:extLst>
              <a:ext uri="{FF2B5EF4-FFF2-40B4-BE49-F238E27FC236}">
                <a16:creationId xmlns:a16="http://schemas.microsoft.com/office/drawing/2014/main" id="{93D6D603-B3ED-8FD3-E9D0-E9B46B3CEA2F}"/>
              </a:ext>
            </a:extLst>
          </p:cNvPr>
          <p:cNvSpPr txBox="1"/>
          <p:nvPr/>
        </p:nvSpPr>
        <p:spPr>
          <a:xfrm>
            <a:off x="7439695" y="2887980"/>
            <a:ext cx="15359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 err="1">
                <a:solidFill>
                  <a:srgbClr val="4297B7"/>
                </a:solidFill>
              </a:rPr>
              <a:t>Beam</a:t>
            </a:r>
            <a:r>
              <a:rPr lang="it-IT" sz="1600" dirty="0">
                <a:solidFill>
                  <a:srgbClr val="4297B7"/>
                </a:solidFill>
              </a:rPr>
              <a:t>-pipe</a:t>
            </a:r>
            <a:endParaRPr lang="en-GB" dirty="0">
              <a:solidFill>
                <a:srgbClr val="4297B7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4DF3B7F-4B92-78CF-D032-ACCB034FCF8E}"/>
              </a:ext>
            </a:extLst>
          </p:cNvPr>
          <p:cNvSpPr txBox="1"/>
          <p:nvPr/>
        </p:nvSpPr>
        <p:spPr>
          <a:xfrm>
            <a:off x="7439695" y="2031068"/>
            <a:ext cx="14951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 dirty="0">
                <a:solidFill>
                  <a:srgbClr val="34B2DA"/>
                </a:solidFill>
              </a:rPr>
              <a:t>Inner </a:t>
            </a:r>
            <a:r>
              <a:rPr lang="it-IT" sz="1600" b="1" dirty="0" err="1">
                <a:solidFill>
                  <a:srgbClr val="34B2DA"/>
                </a:solidFill>
              </a:rPr>
              <a:t>layer</a:t>
            </a:r>
            <a:endParaRPr lang="en-GB" sz="1600" b="1" dirty="0">
              <a:solidFill>
                <a:srgbClr val="34B2DA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1AFC37B-5285-CB09-C8F8-613B2E95D296}"/>
              </a:ext>
            </a:extLst>
          </p:cNvPr>
          <p:cNvSpPr txBox="1"/>
          <p:nvPr/>
        </p:nvSpPr>
        <p:spPr>
          <a:xfrm>
            <a:off x="10412429" y="2124946"/>
            <a:ext cx="14951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 dirty="0">
                <a:solidFill>
                  <a:srgbClr val="BE1010"/>
                </a:solidFill>
              </a:rPr>
              <a:t>Outer </a:t>
            </a:r>
            <a:r>
              <a:rPr lang="it-IT" sz="1600" b="1" dirty="0" err="1">
                <a:solidFill>
                  <a:srgbClr val="BE1010"/>
                </a:solidFill>
              </a:rPr>
              <a:t>layer</a:t>
            </a:r>
            <a:endParaRPr lang="en-GB" sz="1600" b="1" dirty="0">
              <a:solidFill>
                <a:srgbClr val="BE101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6410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7B285-6036-EE78-B745-1ACF07B36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5" descr="A graph showing different types of machinery&#10;&#10;AI-generated content may be incorrect.">
            <a:extLst>
              <a:ext uri="{FF2B5EF4-FFF2-40B4-BE49-F238E27FC236}">
                <a16:creationId xmlns:a16="http://schemas.microsoft.com/office/drawing/2014/main" id="{4EA67158-AF7B-14CC-5A44-606F4C82E4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7197" y="1386523"/>
            <a:ext cx="6436317" cy="505421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E37F65-993A-5E39-83C5-42EF717CB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L. Balconi | Young </a:t>
            </a:r>
            <a:r>
              <a:rPr lang="fr-FR" dirty="0" err="1"/>
              <a:t>researchers</a:t>
            </a:r>
            <a:r>
              <a:rPr lang="fr-FR" dirty="0"/>
              <a:t> </a:t>
            </a:r>
            <a:r>
              <a:rPr lang="fr-FR" dirty="0" err="1"/>
              <a:t>grant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22339A-9A3A-18C1-C522-061AF0F36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6D798-1883-974D-96D0-4E82B243DEDE}" type="slidenum">
              <a:rPr lang="it-IT" smtClean="0"/>
              <a:t>6</a:t>
            </a:fld>
            <a:endParaRPr lang="it-IT"/>
          </a:p>
        </p:txBody>
      </p:sp>
      <p:sp>
        <p:nvSpPr>
          <p:cNvPr id="6" name="Date Placeholder 1">
            <a:extLst>
              <a:ext uri="{FF2B5EF4-FFF2-40B4-BE49-F238E27FC236}">
                <a16:creationId xmlns:a16="http://schemas.microsoft.com/office/drawing/2014/main" id="{44480F27-4381-C71A-0332-60190A7450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it-IT" dirty="0"/>
              <a:t>01/12/2025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24284E-AAD5-FC21-9E4F-755B9FC8F35F}"/>
              </a:ext>
            </a:extLst>
          </p:cNvPr>
          <p:cNvSpPr txBox="1"/>
          <p:nvPr/>
        </p:nvSpPr>
        <p:spPr>
          <a:xfrm>
            <a:off x="8993504" y="1290006"/>
            <a:ext cx="44025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  <a:buClr>
                <a:srgbClr val="4297B7"/>
              </a:buClr>
            </a:pPr>
            <a:r>
              <a:rPr lang="it-IT" sz="2000" b="1" dirty="0">
                <a:solidFill>
                  <a:srgbClr val="FF0000"/>
                </a:solidFill>
              </a:rPr>
              <a:t>B = 5 T, </a:t>
            </a:r>
            <a:r>
              <a:rPr lang="el-GR" sz="2000" b="1" dirty="0">
                <a:solidFill>
                  <a:srgbClr val="FF0000"/>
                </a:solidFill>
              </a:rPr>
              <a:t>ρ</a:t>
            </a:r>
            <a:r>
              <a:rPr lang="it-IT" sz="2000" b="1" dirty="0">
                <a:solidFill>
                  <a:srgbClr val="FF0000"/>
                </a:solidFill>
              </a:rPr>
              <a:t> = 1.3 m</a:t>
            </a:r>
            <a:endParaRPr lang="en-GB" sz="2000" b="1" dirty="0">
              <a:solidFill>
                <a:srgbClr val="FF0000"/>
              </a:solidFill>
            </a:endParaRPr>
          </a:p>
          <a:p>
            <a:pPr>
              <a:spcAft>
                <a:spcPts val="1200"/>
              </a:spcAft>
            </a:pPr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DBB961A-79FB-7C5B-27AF-B9CEB11B1718}"/>
              </a:ext>
            </a:extLst>
          </p:cNvPr>
          <p:cNvSpPr txBox="1">
            <a:spLocks/>
          </p:cNvSpPr>
          <p:nvPr/>
        </p:nvSpPr>
        <p:spPr>
          <a:xfrm>
            <a:off x="679174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4400" b="1" kern="1200" dirty="0">
                <a:solidFill>
                  <a:srgbClr val="4297B7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dirty="0"/>
              <a:t>State-of-the-art &amp; </a:t>
            </a:r>
            <a:r>
              <a:rPr lang="it-IT" dirty="0" err="1"/>
              <a:t>actual</a:t>
            </a:r>
            <a:r>
              <a:rPr lang="it-IT" dirty="0"/>
              <a:t> R&amp;D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7CD39040-DB37-FE30-4940-ECCF2BC64E43}"/>
              </a:ext>
            </a:extLst>
          </p:cNvPr>
          <p:cNvGrpSpPr/>
          <p:nvPr/>
        </p:nvGrpSpPr>
        <p:grpSpPr>
          <a:xfrm>
            <a:off x="563828" y="1325563"/>
            <a:ext cx="5076255" cy="5170646"/>
            <a:chOff x="679174" y="1325563"/>
            <a:chExt cx="5076255" cy="5170646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EFB86A6B-83DF-D4E8-452F-B57B03C94E76}"/>
                </a:ext>
              </a:extLst>
            </p:cNvPr>
            <p:cNvGrpSpPr/>
            <p:nvPr/>
          </p:nvGrpSpPr>
          <p:grpSpPr>
            <a:xfrm>
              <a:off x="679174" y="1325563"/>
              <a:ext cx="4566920" cy="5170646"/>
              <a:chOff x="679174" y="1325563"/>
              <a:chExt cx="4566920" cy="5170646"/>
            </a:xfrm>
          </p:grpSpPr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4EA21941-7606-6A8D-1FCD-CD99D1D6CBCE}"/>
                  </a:ext>
                </a:extLst>
              </p:cNvPr>
              <p:cNvSpPr txBox="1"/>
              <p:nvPr/>
            </p:nvSpPr>
            <p:spPr>
              <a:xfrm>
                <a:off x="679174" y="2402781"/>
                <a:ext cx="4402540" cy="40934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spcAft>
                    <a:spcPts val="1200"/>
                  </a:spcAft>
                  <a:buClr>
                    <a:srgbClr val="4297B7"/>
                  </a:buClr>
                  <a:buFont typeface="Wingdings" panose="05000000000000000000" pitchFamily="2" charset="2"/>
                  <a:buChar char="Ø"/>
                </a:pPr>
                <a:r>
                  <a:rPr lang="en-GB" b="1" dirty="0">
                    <a:solidFill>
                      <a:srgbClr val="4297B7"/>
                    </a:solidFill>
                  </a:rPr>
                  <a:t>L</a:t>
                </a:r>
                <a:r>
                  <a:rPr lang="en-GB" dirty="0"/>
                  <a:t>ow </a:t>
                </a:r>
                <a:r>
                  <a:rPr lang="en-GB" b="1" dirty="0">
                    <a:solidFill>
                      <a:srgbClr val="4297B7"/>
                    </a:solidFill>
                  </a:rPr>
                  <a:t>T</a:t>
                </a:r>
                <a:r>
                  <a:rPr lang="en-GB" dirty="0"/>
                  <a:t>emperature </a:t>
                </a:r>
                <a:r>
                  <a:rPr lang="en-GB" b="1" dirty="0">
                    <a:solidFill>
                      <a:srgbClr val="4297B7"/>
                    </a:solidFill>
                  </a:rPr>
                  <a:t>S</a:t>
                </a:r>
                <a:r>
                  <a:rPr lang="en-GB" dirty="0"/>
                  <a:t>uperconductors (</a:t>
                </a:r>
                <a:r>
                  <a:rPr lang="en-GB" dirty="0">
                    <a:solidFill>
                      <a:srgbClr val="4297B7"/>
                    </a:solidFill>
                  </a:rPr>
                  <a:t>LTS</a:t>
                </a:r>
                <a:r>
                  <a:rPr lang="en-GB" dirty="0"/>
                  <a:t>)</a:t>
                </a:r>
              </a:p>
              <a:p>
                <a:pPr marL="742950" lvl="1" indent="-2857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dirty="0"/>
                  <a:t>Toshiba/NIRST: </a:t>
                </a:r>
                <a:r>
                  <a:rPr lang="it-IT" dirty="0"/>
                  <a:t>B = 2.88 T, </a:t>
                </a:r>
                <a:r>
                  <a:rPr lang="el-GR" dirty="0"/>
                  <a:t>ρ</a:t>
                </a:r>
                <a:r>
                  <a:rPr lang="it-IT" dirty="0"/>
                  <a:t> = 2.3 m,</a:t>
                </a:r>
              </a:p>
              <a:p>
                <a:pPr marL="1200150" lvl="2" indent="-28575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it-IT" dirty="0"/>
                  <a:t> 300 tons </a:t>
                </a:r>
              </a:p>
              <a:p>
                <a:pPr marL="742950" lvl="1" indent="-2857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it-IT" dirty="0"/>
                  <a:t>Yamagata: B = 3.5 T, </a:t>
                </a:r>
                <a:r>
                  <a:rPr lang="el-GR" dirty="0"/>
                  <a:t>ρ</a:t>
                </a:r>
                <a:r>
                  <a:rPr lang="it-IT" dirty="0"/>
                  <a:t> = 1.9 m</a:t>
                </a:r>
              </a:p>
              <a:p>
                <a:pPr marL="1200150" lvl="2" indent="-28575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it-IT" dirty="0"/>
                  <a:t>200 tons</a:t>
                </a:r>
                <a:endParaRPr lang="en-US" dirty="0"/>
              </a:p>
              <a:p>
                <a:pPr marL="742950" lvl="1" indent="-285750">
                  <a:spcAft>
                    <a:spcPts val="12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4297B7"/>
                    </a:solidFill>
                  </a:rPr>
                  <a:t>SIG</a:t>
                </a:r>
                <a:r>
                  <a:rPr lang="en-US" dirty="0"/>
                  <a:t>: </a:t>
                </a:r>
                <a:r>
                  <a:rPr lang="it-IT" dirty="0"/>
                  <a:t>B = 4 T, </a:t>
                </a:r>
                <a:r>
                  <a:rPr lang="el-GR" dirty="0"/>
                  <a:t>ρ</a:t>
                </a:r>
                <a:r>
                  <a:rPr lang="it-IT" dirty="0"/>
                  <a:t> = 1.65 m</a:t>
                </a:r>
                <a:endParaRPr lang="en-US" dirty="0"/>
              </a:p>
              <a:p>
                <a:pPr marL="742950" lvl="1" indent="-285750">
                  <a:spcAft>
                    <a:spcPts val="120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4297B7"/>
                    </a:solidFill>
                  </a:rPr>
                  <a:t>HITRI+: </a:t>
                </a:r>
                <a:r>
                  <a:rPr lang="it-IT" dirty="0"/>
                  <a:t>B = 4 T, </a:t>
                </a:r>
                <a:r>
                  <a:rPr lang="el-GR" dirty="0"/>
                  <a:t>ρ</a:t>
                </a:r>
                <a:r>
                  <a:rPr lang="it-IT" dirty="0"/>
                  <a:t> = 1.65 m </a:t>
                </a:r>
              </a:p>
              <a:p>
                <a:pPr marL="285750" indent="-285750">
                  <a:spcAft>
                    <a:spcPts val="1200"/>
                  </a:spcAft>
                  <a:buClr>
                    <a:srgbClr val="4297B7"/>
                  </a:buClr>
                  <a:buFont typeface="Wingdings" panose="05000000000000000000" pitchFamily="2" charset="2"/>
                  <a:buChar char="Ø"/>
                </a:pPr>
                <a:r>
                  <a:rPr lang="it-IT" dirty="0">
                    <a:solidFill>
                      <a:srgbClr val="4297B7"/>
                    </a:solidFill>
                  </a:rPr>
                  <a:t>H</a:t>
                </a:r>
                <a:r>
                  <a:rPr lang="it-IT" dirty="0"/>
                  <a:t>igh</a:t>
                </a:r>
                <a:r>
                  <a:rPr lang="it-IT" dirty="0">
                    <a:solidFill>
                      <a:srgbClr val="4297B7"/>
                    </a:solidFill>
                  </a:rPr>
                  <a:t> T</a:t>
                </a:r>
                <a:r>
                  <a:rPr lang="it-IT" dirty="0"/>
                  <a:t>emperature</a:t>
                </a:r>
                <a:r>
                  <a:rPr lang="it-IT" dirty="0">
                    <a:solidFill>
                      <a:srgbClr val="4297B7"/>
                    </a:solidFill>
                  </a:rPr>
                  <a:t> </a:t>
                </a:r>
                <a:r>
                  <a:rPr lang="it-IT" dirty="0" err="1">
                    <a:solidFill>
                      <a:srgbClr val="4297B7"/>
                    </a:solidFill>
                  </a:rPr>
                  <a:t>S</a:t>
                </a:r>
                <a:r>
                  <a:rPr lang="it-IT" dirty="0" err="1"/>
                  <a:t>uperconducting</a:t>
                </a:r>
                <a:r>
                  <a:rPr lang="it-IT" dirty="0">
                    <a:solidFill>
                      <a:srgbClr val="4297B7"/>
                    </a:solidFill>
                  </a:rPr>
                  <a:t> (HTS) </a:t>
                </a:r>
                <a:r>
                  <a:rPr lang="it-IT" dirty="0"/>
                  <a:t>tapes are </a:t>
                </a:r>
                <a:r>
                  <a:rPr lang="it-IT" dirty="0" err="1"/>
                  <a:t>promising</a:t>
                </a:r>
                <a:r>
                  <a:rPr lang="it-IT" dirty="0"/>
                  <a:t> </a:t>
                </a:r>
                <a:r>
                  <a:rPr lang="it-IT" dirty="0" err="1"/>
                  <a:t>candidates</a:t>
                </a:r>
                <a:endParaRPr lang="it-IT" dirty="0"/>
              </a:p>
              <a:p>
                <a:pPr>
                  <a:spcAft>
                    <a:spcPts val="1200"/>
                  </a:spcAft>
                </a:pPr>
                <a:endParaRPr lang="en-US" dirty="0"/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446277E6-942D-3BD8-00C4-332B6E893163}"/>
                  </a:ext>
                </a:extLst>
              </p:cNvPr>
              <p:cNvSpPr txBox="1"/>
              <p:nvPr/>
            </p:nvSpPr>
            <p:spPr>
              <a:xfrm>
                <a:off x="679174" y="1325563"/>
                <a:ext cx="4566920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Clr>
                    <a:srgbClr val="4297B7"/>
                  </a:buClr>
                  <a:buSzPct val="105000"/>
                  <a:buFont typeface="Wingdings" panose="05000000000000000000" pitchFamily="2" charset="2"/>
                  <a:buChar char="Ø"/>
                </a:pPr>
                <a:r>
                  <a:rPr lang="it-IT" dirty="0"/>
                  <a:t>Resistive </a:t>
                </a:r>
                <a:r>
                  <a:rPr lang="it-IT" dirty="0" err="1"/>
                  <a:t>magnets</a:t>
                </a:r>
                <a:r>
                  <a:rPr lang="it-IT" dirty="0"/>
                  <a:t> for </a:t>
                </a:r>
                <a:r>
                  <a:rPr lang="it-IT" dirty="0" err="1"/>
                  <a:t>ion</a:t>
                </a:r>
                <a:r>
                  <a:rPr lang="it-IT" dirty="0"/>
                  <a:t> </a:t>
                </a:r>
                <a:r>
                  <a:rPr lang="it-IT" dirty="0" err="1"/>
                  <a:t>gantry</a:t>
                </a:r>
                <a:r>
                  <a:rPr lang="it-IT" dirty="0"/>
                  <a:t>:</a:t>
                </a:r>
              </a:p>
              <a:p>
                <a:pPr marL="742950" lvl="1" indent="-28575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it-IT" dirty="0"/>
                  <a:t>HIT: B = 1.8 T, </a:t>
                </a:r>
                <a:r>
                  <a:rPr lang="el-GR" dirty="0"/>
                  <a:t>ρ</a:t>
                </a:r>
                <a:r>
                  <a:rPr lang="it-IT" dirty="0"/>
                  <a:t> = 3.65 m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it-IT" dirty="0"/>
                  <a:t>650 tons</a:t>
                </a:r>
                <a:endParaRPr lang="en-GB" dirty="0"/>
              </a:p>
            </p:txBody>
          </p:sp>
        </p:grpSp>
        <p:sp>
          <p:nvSpPr>
            <p:cNvPr id="49" name="Right Brace 48">
              <a:extLst>
                <a:ext uri="{FF2B5EF4-FFF2-40B4-BE49-F238E27FC236}">
                  <a16:creationId xmlns:a16="http://schemas.microsoft.com/office/drawing/2014/main" id="{2190E248-3280-17A3-6891-8DE9CDFE241F}"/>
                </a:ext>
              </a:extLst>
            </p:cNvPr>
            <p:cNvSpPr/>
            <p:nvPr/>
          </p:nvSpPr>
          <p:spPr>
            <a:xfrm>
              <a:off x="3908623" y="4449495"/>
              <a:ext cx="444500" cy="726876"/>
            </a:xfrm>
            <a:prstGeom prst="rightBrace">
              <a:avLst>
                <a:gd name="adj1" fmla="val 18589"/>
                <a:gd name="adj2" fmla="val 50000"/>
              </a:avLst>
            </a:prstGeom>
            <a:ln w="19050">
              <a:solidFill>
                <a:srgbClr val="4297B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rgbClr val="4297B7"/>
                </a:solidFill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BB0DB25A-B867-A161-8575-6E0559BE1CC8}"/>
                </a:ext>
              </a:extLst>
            </p:cNvPr>
            <p:cNvSpPr txBox="1"/>
            <p:nvPr/>
          </p:nvSpPr>
          <p:spPr>
            <a:xfrm>
              <a:off x="4353122" y="4628267"/>
              <a:ext cx="14023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dirty="0"/>
                <a:t>m ~ 100 tons</a:t>
              </a:r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42934730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723B0-F818-F1A0-9961-DBB46DD7B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81F77-308F-58C3-3D11-F08E3E7E4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571" y="215796"/>
            <a:ext cx="10515600" cy="1325563"/>
          </a:xfrm>
        </p:spPr>
        <p:txBody>
          <a:bodyPr/>
          <a:lstStyle/>
          <a:p>
            <a:r>
              <a:rPr lang="it-IT" dirty="0"/>
              <a:t>ECHO </a:t>
            </a:r>
            <a:r>
              <a:rPr lang="it-IT" dirty="0" err="1"/>
              <a:t>Magnet</a:t>
            </a:r>
            <a:r>
              <a:rPr lang="it-IT" dirty="0"/>
              <a:t>: </a:t>
            </a:r>
            <a:r>
              <a:rPr lang="it-IT" dirty="0" err="1"/>
              <a:t>Advantages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0DBC8E-0097-E313-5845-BC2FC2425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L. Balconi | Young researchers grant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9D36E-DC5F-AAF7-39F6-451D4C6B1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6D798-1883-974D-96D0-4E82B243DEDE}" type="slidenum">
              <a:rPr lang="it-IT" smtClean="0"/>
              <a:t>7</a:t>
            </a:fld>
            <a:endParaRPr lang="it-IT"/>
          </a:p>
        </p:txBody>
      </p:sp>
      <p:pic>
        <p:nvPicPr>
          <p:cNvPr id="10" name="Picture 9" descr="A yellow and red spiral&#10;&#10;AI-generated content may be incorrect.">
            <a:extLst>
              <a:ext uri="{FF2B5EF4-FFF2-40B4-BE49-F238E27FC236}">
                <a16:creationId xmlns:a16="http://schemas.microsoft.com/office/drawing/2014/main" id="{D4A14080-0BDF-BE89-B0CB-01921AACAC9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31" b="14646"/>
          <a:stretch>
            <a:fillRect/>
          </a:stretch>
        </p:blipFill>
        <p:spPr bwMode="auto">
          <a:xfrm flipH="1">
            <a:off x="7449144" y="528825"/>
            <a:ext cx="4467730" cy="197560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41A6C99-CEEA-2D32-B065-677BCC3FABFE}"/>
              </a:ext>
            </a:extLst>
          </p:cNvPr>
          <p:cNvSpPr txBox="1"/>
          <p:nvPr/>
        </p:nvSpPr>
        <p:spPr>
          <a:xfrm>
            <a:off x="619539" y="1561307"/>
            <a:ext cx="6530009" cy="46935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2400"/>
              </a:spcAft>
            </a:pPr>
            <a:r>
              <a:rPr lang="it-IT" sz="2000" dirty="0"/>
              <a:t>Given the state of the art on SC </a:t>
            </a:r>
            <a:r>
              <a:rPr lang="it-IT" sz="2000" dirty="0" err="1"/>
              <a:t>dipole</a:t>
            </a:r>
            <a:r>
              <a:rPr lang="it-IT" sz="2000" dirty="0"/>
              <a:t> </a:t>
            </a:r>
            <a:r>
              <a:rPr lang="it-IT" sz="2000" dirty="0" err="1"/>
              <a:t>magnets</a:t>
            </a:r>
            <a:r>
              <a:rPr lang="it-IT" sz="2000" dirty="0"/>
              <a:t> for </a:t>
            </a:r>
            <a:r>
              <a:rPr lang="it-IT" sz="2000" dirty="0" err="1"/>
              <a:t>hadrontherapy</a:t>
            </a:r>
            <a:r>
              <a:rPr lang="it-IT" sz="2000" dirty="0"/>
              <a:t> ECHO </a:t>
            </a:r>
            <a:r>
              <a:rPr lang="it-IT" sz="2000" dirty="0" err="1"/>
              <a:t>magnet</a:t>
            </a:r>
            <a:r>
              <a:rPr lang="it-IT" sz="2000" dirty="0"/>
              <a:t> </a:t>
            </a:r>
            <a:r>
              <a:rPr lang="it-IT" sz="2000" dirty="0" err="1"/>
              <a:t>introduces</a:t>
            </a:r>
            <a:r>
              <a:rPr lang="it-IT" sz="2000" dirty="0"/>
              <a:t>:</a:t>
            </a:r>
          </a:p>
          <a:p>
            <a:pPr marL="342900" indent="-342900">
              <a:spcAft>
                <a:spcPts val="1800"/>
              </a:spcAft>
              <a:buClr>
                <a:srgbClr val="4297B7"/>
              </a:buClr>
              <a:buFont typeface="Arial" panose="020B0604020202020204" pitchFamily="34" charset="0"/>
              <a:buChar char="•"/>
            </a:pPr>
            <a:r>
              <a:rPr lang="it-IT" sz="2000" dirty="0"/>
              <a:t>Operation </a:t>
            </a:r>
            <a:r>
              <a:rPr lang="it-IT" sz="2000" dirty="0" err="1"/>
              <a:t>at</a:t>
            </a:r>
            <a:r>
              <a:rPr lang="it-IT" sz="2000" dirty="0"/>
              <a:t> </a:t>
            </a:r>
            <a:r>
              <a:rPr lang="it-IT" sz="2000" dirty="0">
                <a:solidFill>
                  <a:srgbClr val="4297B7"/>
                </a:solidFill>
              </a:rPr>
              <a:t>20 K</a:t>
            </a:r>
            <a:r>
              <a:rPr lang="it-IT" sz="2000" dirty="0"/>
              <a:t> </a:t>
            </a:r>
            <a:r>
              <a:rPr lang="it-IT" sz="2000" dirty="0" err="1"/>
              <a:t>liquid</a:t>
            </a:r>
            <a:r>
              <a:rPr lang="it-IT" sz="2000" dirty="0"/>
              <a:t> He free</a:t>
            </a:r>
          </a:p>
          <a:p>
            <a:pPr marL="800100" lvl="1" indent="-342900">
              <a:spcAft>
                <a:spcPts val="1800"/>
              </a:spcAft>
              <a:buClr>
                <a:srgbClr val="4297B7"/>
              </a:buClr>
              <a:buFont typeface="Wingdings" panose="05000000000000000000" pitchFamily="2" charset="2"/>
              <a:buChar char="Ø"/>
            </a:pPr>
            <a:r>
              <a:rPr lang="it-IT" dirty="0">
                <a:solidFill>
                  <a:srgbClr val="4297B7"/>
                </a:solidFill>
              </a:rPr>
              <a:t>x5 </a:t>
            </a:r>
            <a:r>
              <a:rPr lang="it-IT" dirty="0"/>
              <a:t>energy </a:t>
            </a:r>
            <a:r>
              <a:rPr lang="it-IT" dirty="0" err="1"/>
              <a:t>saving</a:t>
            </a:r>
            <a:r>
              <a:rPr lang="it-IT" dirty="0"/>
              <a:t> </a:t>
            </a:r>
            <a:r>
              <a:rPr lang="it-IT" dirty="0" err="1"/>
              <a:t>factor</a:t>
            </a:r>
            <a:r>
              <a:rPr lang="it-IT" dirty="0"/>
              <a:t> with </a:t>
            </a:r>
            <a:r>
              <a:rPr lang="it-IT" dirty="0" err="1"/>
              <a:t>respect</a:t>
            </a:r>
            <a:r>
              <a:rPr lang="it-IT" dirty="0"/>
              <a:t> to </a:t>
            </a:r>
            <a:r>
              <a:rPr lang="it-IT" dirty="0">
                <a:solidFill>
                  <a:srgbClr val="4297B7"/>
                </a:solidFill>
              </a:rPr>
              <a:t>4.2 K (just for COP)</a:t>
            </a:r>
            <a:endParaRPr lang="it-IT" dirty="0"/>
          </a:p>
          <a:p>
            <a:pPr marL="342900" indent="-342900">
              <a:spcAft>
                <a:spcPts val="1800"/>
              </a:spcAft>
              <a:buClr>
                <a:srgbClr val="4297B7"/>
              </a:buClr>
              <a:buFont typeface="Arial" panose="020B0604020202020204" pitchFamily="34" charset="0"/>
              <a:buChar char="•"/>
            </a:pPr>
            <a:r>
              <a:rPr lang="it-IT" sz="2000" dirty="0">
                <a:solidFill>
                  <a:srgbClr val="4297B7"/>
                </a:solidFill>
              </a:rPr>
              <a:t>Modular design: </a:t>
            </a:r>
            <a:r>
              <a:rPr lang="it-IT" sz="2000" dirty="0" err="1"/>
              <a:t>industrialization</a:t>
            </a:r>
            <a:r>
              <a:rPr lang="it-IT" sz="2000" dirty="0"/>
              <a:t> and </a:t>
            </a:r>
            <a:r>
              <a:rPr lang="it-IT" sz="2000" dirty="0" err="1"/>
              <a:t>scalability</a:t>
            </a:r>
            <a:endParaRPr lang="it-IT" sz="2000" dirty="0"/>
          </a:p>
          <a:p>
            <a:pPr marL="342900" indent="-342900">
              <a:spcAft>
                <a:spcPts val="1800"/>
              </a:spcAft>
              <a:buClr>
                <a:srgbClr val="4297B7"/>
              </a:buClr>
              <a:buFont typeface="Arial" panose="020B0604020202020204" pitchFamily="34" charset="0"/>
              <a:buChar char="•"/>
            </a:pPr>
            <a:r>
              <a:rPr lang="it-IT" sz="2000" dirty="0"/>
              <a:t>Target </a:t>
            </a:r>
            <a:r>
              <a:rPr lang="it-IT" sz="2000" dirty="0" err="1"/>
              <a:t>central</a:t>
            </a:r>
            <a:r>
              <a:rPr lang="it-IT" sz="2000" dirty="0"/>
              <a:t> field of </a:t>
            </a:r>
            <a:r>
              <a:rPr lang="it-IT" sz="2000" dirty="0">
                <a:solidFill>
                  <a:srgbClr val="4297B7"/>
                </a:solidFill>
              </a:rPr>
              <a:t>5 T</a:t>
            </a:r>
          </a:p>
          <a:p>
            <a:pPr marL="800100" lvl="1" indent="-342900">
              <a:spcAft>
                <a:spcPts val="1800"/>
              </a:spcAft>
              <a:buClr>
                <a:srgbClr val="4297B7"/>
              </a:buClr>
              <a:buFont typeface="Wingdings" panose="05000000000000000000" pitchFamily="2" charset="2"/>
              <a:buChar char="Ø"/>
            </a:pPr>
            <a:r>
              <a:rPr lang="it-IT" dirty="0">
                <a:solidFill>
                  <a:srgbClr val="4297B7"/>
                </a:solidFill>
              </a:rPr>
              <a:t>20 % </a:t>
            </a:r>
            <a:r>
              <a:rPr lang="it-IT" dirty="0" err="1"/>
              <a:t>reduction</a:t>
            </a:r>
            <a:r>
              <a:rPr lang="it-IT" dirty="0"/>
              <a:t> of the curvature </a:t>
            </a:r>
            <a:r>
              <a:rPr lang="it-IT" dirty="0" err="1"/>
              <a:t>radius</a:t>
            </a:r>
            <a:r>
              <a:rPr lang="it-IT" dirty="0"/>
              <a:t> </a:t>
            </a:r>
            <a:r>
              <a:rPr lang="el-GR" b="1" dirty="0">
                <a:solidFill>
                  <a:srgbClr val="4297B7"/>
                </a:solidFill>
              </a:rPr>
              <a:t>ρ</a:t>
            </a:r>
            <a:endParaRPr lang="it-IT" b="1" dirty="0">
              <a:solidFill>
                <a:srgbClr val="4297B7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000" dirty="0">
                <a:solidFill>
                  <a:srgbClr val="4297B7"/>
                </a:solidFill>
              </a:rPr>
              <a:t>QA</a:t>
            </a:r>
            <a:r>
              <a:rPr lang="it-IT" sz="2000" dirty="0"/>
              <a:t> procedure at </a:t>
            </a:r>
            <a:r>
              <a:rPr lang="it-IT" sz="2000" dirty="0">
                <a:solidFill>
                  <a:srgbClr val="4297B7"/>
                </a:solidFill>
              </a:rPr>
              <a:t>77 K</a:t>
            </a:r>
            <a:r>
              <a:rPr lang="it-IT" sz="2000" dirty="0"/>
              <a:t> </a:t>
            </a:r>
            <a:r>
              <a:rPr lang="it-IT" sz="2000" dirty="0" err="1"/>
              <a:t>granted</a:t>
            </a:r>
            <a:r>
              <a:rPr lang="it-IT" sz="2000" dirty="0"/>
              <a:t> by HTS</a:t>
            </a:r>
          </a:p>
          <a:p>
            <a:endParaRPr lang="it-IT" sz="2400" dirty="0"/>
          </a:p>
          <a:p>
            <a:endParaRPr lang="en-GB" sz="2400" dirty="0"/>
          </a:p>
        </p:txBody>
      </p:sp>
      <p:sp>
        <p:nvSpPr>
          <p:cNvPr id="6" name="Date Placeholder 1">
            <a:extLst>
              <a:ext uri="{FF2B5EF4-FFF2-40B4-BE49-F238E27FC236}">
                <a16:creationId xmlns:a16="http://schemas.microsoft.com/office/drawing/2014/main" id="{4AF32E51-FCAB-78E6-CAF5-8E9B639241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it-IT" dirty="0"/>
              <a:t>01/12/2025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AE9C578-FD35-6533-BB79-441B6794527E}"/>
              </a:ext>
            </a:extLst>
          </p:cNvPr>
          <p:cNvGrpSpPr/>
          <p:nvPr/>
        </p:nvGrpSpPr>
        <p:grpSpPr>
          <a:xfrm>
            <a:off x="6237327" y="2157239"/>
            <a:ext cx="6567584" cy="4581009"/>
            <a:chOff x="6237327" y="2109856"/>
            <a:chExt cx="6567584" cy="4581009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22B1D88F-A201-1E12-E090-A05ECB61A261}"/>
                </a:ext>
              </a:extLst>
            </p:cNvPr>
            <p:cNvGrpSpPr/>
            <p:nvPr/>
          </p:nvGrpSpPr>
          <p:grpSpPr>
            <a:xfrm>
              <a:off x="6237327" y="2109856"/>
              <a:ext cx="6567584" cy="4581009"/>
              <a:chOff x="6237327" y="2109856"/>
              <a:chExt cx="6567584" cy="4581009"/>
            </a:xfrm>
          </p:grpSpPr>
          <p:pic>
            <p:nvPicPr>
              <p:cNvPr id="3" name="Picture 2" descr="A blue and red curved object with a blue line&#10;&#10;AI-generated content may be incorrect.">
                <a:extLst>
                  <a:ext uri="{FF2B5EF4-FFF2-40B4-BE49-F238E27FC236}">
                    <a16:creationId xmlns:a16="http://schemas.microsoft.com/office/drawing/2014/main" id="{4FD7EDA3-6EC5-6691-1FEA-3DF3EA1B0C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237327" y="2109856"/>
                <a:ext cx="5173496" cy="3593928"/>
              </a:xfrm>
              <a:prstGeom prst="rect">
                <a:avLst/>
              </a:prstGeom>
            </p:spPr>
          </p:pic>
          <p:pic>
            <p:nvPicPr>
              <p:cNvPr id="8" name="Picture 7" descr="A diagram of a pipe&#10;&#10;AI-generated content may be incorrect.">
                <a:extLst>
                  <a:ext uri="{FF2B5EF4-FFF2-40B4-BE49-F238E27FC236}">
                    <a16:creationId xmlns:a16="http://schemas.microsoft.com/office/drawing/2014/main" id="{1B848B95-016E-D437-38D2-9415A51BCFD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63103" y="3359150"/>
                <a:ext cx="2941392" cy="3029413"/>
              </a:xfrm>
              <a:prstGeom prst="rect">
                <a:avLst/>
              </a:prstGeom>
            </p:spPr>
          </p:pic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B223878-120F-CB23-E743-10CB9A5FFA0A}"/>
                  </a:ext>
                </a:extLst>
              </p:cNvPr>
              <p:cNvSpPr txBox="1"/>
              <p:nvPr/>
            </p:nvSpPr>
            <p:spPr>
              <a:xfrm>
                <a:off x="8644618" y="6352311"/>
                <a:ext cx="235131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1600" dirty="0">
                    <a:solidFill>
                      <a:srgbClr val="4297B7"/>
                    </a:solidFill>
                  </a:rPr>
                  <a:t>Treatment Room</a:t>
                </a:r>
                <a:endParaRPr lang="en-GB" sz="1600" dirty="0">
                  <a:solidFill>
                    <a:srgbClr val="4297B7"/>
                  </a:solidFill>
                </a:endParaRPr>
              </a:p>
            </p:txBody>
          </p: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7BF134D3-E578-4B91-533C-86B2F69490B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9820275" y="3938881"/>
                <a:ext cx="341139" cy="461669"/>
              </a:xfrm>
              <a:prstGeom prst="straightConnector1">
                <a:avLst/>
              </a:prstGeom>
              <a:ln w="12700">
                <a:solidFill>
                  <a:srgbClr val="4297B7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6BFA551-CC51-7C0B-499F-B2167A73B4C1}"/>
                  </a:ext>
                </a:extLst>
              </p:cNvPr>
              <p:cNvSpPr txBox="1"/>
              <p:nvPr/>
            </p:nvSpPr>
            <p:spPr>
              <a:xfrm>
                <a:off x="9995283" y="3886188"/>
                <a:ext cx="2984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l-GR" dirty="0"/>
                  <a:t>ρ</a:t>
                </a:r>
                <a:endParaRPr lang="en-GB" dirty="0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62DC389-CADD-642D-D7F2-8D7D622D5C9F}"/>
                  </a:ext>
                </a:extLst>
              </p:cNvPr>
              <p:cNvSpPr txBox="1"/>
              <p:nvPr/>
            </p:nvSpPr>
            <p:spPr>
              <a:xfrm>
                <a:off x="10453597" y="5678303"/>
                <a:ext cx="235131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1600" dirty="0" err="1">
                    <a:solidFill>
                      <a:srgbClr val="4297B7"/>
                    </a:solidFill>
                  </a:rPr>
                  <a:t>Particle</a:t>
                </a:r>
                <a:r>
                  <a:rPr lang="it-IT" sz="1600" dirty="0">
                    <a:solidFill>
                      <a:srgbClr val="4297B7"/>
                    </a:solidFill>
                  </a:rPr>
                  <a:t> Accelerator</a:t>
                </a:r>
                <a:endParaRPr lang="en-GB" sz="1600" dirty="0">
                  <a:solidFill>
                    <a:srgbClr val="4297B7"/>
                  </a:solidFill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4EEE315-CBC8-12BC-AA4D-598C8877896F}"/>
                  </a:ext>
                </a:extLst>
              </p:cNvPr>
              <p:cNvSpPr txBox="1"/>
              <p:nvPr/>
            </p:nvSpPr>
            <p:spPr>
              <a:xfrm>
                <a:off x="9467167" y="3380454"/>
                <a:ext cx="272483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1600" dirty="0">
                    <a:solidFill>
                      <a:srgbClr val="4297B7"/>
                    </a:solidFill>
                  </a:rPr>
                  <a:t>Bending </a:t>
                </a:r>
                <a:r>
                  <a:rPr lang="it-IT" sz="1600" dirty="0" err="1">
                    <a:solidFill>
                      <a:srgbClr val="4297B7"/>
                    </a:solidFill>
                  </a:rPr>
                  <a:t>Dipoles</a:t>
                </a:r>
                <a:r>
                  <a:rPr lang="it-IT" sz="1600" dirty="0">
                    <a:solidFill>
                      <a:srgbClr val="4297B7"/>
                    </a:solidFill>
                  </a:rPr>
                  <a:t> - ECHO</a:t>
                </a:r>
                <a:endParaRPr lang="en-GB" sz="1600" dirty="0">
                  <a:solidFill>
                    <a:srgbClr val="4297B7"/>
                  </a:solidFill>
                </a:endParaRP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4BB4800-DEEB-AF55-A4C6-1D49588ED86E}"/>
                  </a:ext>
                </a:extLst>
              </p:cNvPr>
              <p:cNvSpPr txBox="1"/>
              <p:nvPr/>
            </p:nvSpPr>
            <p:spPr>
              <a:xfrm>
                <a:off x="9488018" y="4532572"/>
                <a:ext cx="235131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1600" dirty="0">
                    <a:solidFill>
                      <a:srgbClr val="4297B7"/>
                    </a:solidFill>
                  </a:rPr>
                  <a:t>Scanning </a:t>
                </a:r>
                <a:r>
                  <a:rPr lang="it-IT" sz="1600" dirty="0" err="1">
                    <a:solidFill>
                      <a:srgbClr val="4297B7"/>
                    </a:solidFill>
                  </a:rPr>
                  <a:t>Magnet</a:t>
                </a:r>
                <a:endParaRPr lang="en-GB" sz="1600" dirty="0">
                  <a:solidFill>
                    <a:srgbClr val="4297B7"/>
                  </a:solidFill>
                </a:endParaRPr>
              </a:p>
            </p:txBody>
          </p:sp>
        </p:grp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FA9FBA99-800D-0000-8F93-7A018F8A40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29254" y="5645150"/>
              <a:ext cx="575241" cy="0"/>
            </a:xfrm>
            <a:prstGeom prst="straightConnector1">
              <a:avLst/>
            </a:prstGeom>
            <a:ln w="38100">
              <a:solidFill>
                <a:srgbClr val="4297B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188260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A3401-EF1C-5F99-9308-87CA5C116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roup 62">
            <a:extLst>
              <a:ext uri="{FF2B5EF4-FFF2-40B4-BE49-F238E27FC236}">
                <a16:creationId xmlns:a16="http://schemas.microsoft.com/office/drawing/2014/main" id="{35C9B94D-6234-5E5B-F3C6-E4936CB33765}"/>
              </a:ext>
            </a:extLst>
          </p:cNvPr>
          <p:cNvGrpSpPr/>
          <p:nvPr/>
        </p:nvGrpSpPr>
        <p:grpSpPr>
          <a:xfrm>
            <a:off x="4572904" y="1493516"/>
            <a:ext cx="1668380" cy="813636"/>
            <a:chOff x="9215358" y="745310"/>
            <a:chExt cx="2447096" cy="1193402"/>
          </a:xfrm>
        </p:grpSpPr>
        <p:pic>
          <p:nvPicPr>
            <p:cNvPr id="48" name="Graphic 23">
              <a:extLst>
                <a:ext uri="{FF2B5EF4-FFF2-40B4-BE49-F238E27FC236}">
                  <a16:creationId xmlns:a16="http://schemas.microsoft.com/office/drawing/2014/main" id="{62D3B093-5087-3537-32DC-F204FAF444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362401" y="809812"/>
              <a:ext cx="719179" cy="451010"/>
            </a:xfrm>
            <a:prstGeom prst="rect">
              <a:avLst/>
            </a:prstGeom>
          </p:spPr>
        </p:pic>
        <p:pic>
          <p:nvPicPr>
            <p:cNvPr id="49" name="Picture 2" descr="Imre Ferenc Barna Phd. in Physics">
              <a:extLst>
                <a:ext uri="{FF2B5EF4-FFF2-40B4-BE49-F238E27FC236}">
                  <a16:creationId xmlns:a16="http://schemas.microsoft.com/office/drawing/2014/main" id="{6A2C199B-DD24-DC34-66D3-22C9C01C123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39452" y="967111"/>
              <a:ext cx="1155190" cy="9361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1" name="Picture 4" descr="CERN-Logo - Electronic Engineering Service">
              <a:extLst>
                <a:ext uri="{FF2B5EF4-FFF2-40B4-BE49-F238E27FC236}">
                  <a16:creationId xmlns:a16="http://schemas.microsoft.com/office/drawing/2014/main" id="{ED6253B0-8EE4-B4FD-E17E-2F4611BD7E8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15358" y="1346869"/>
              <a:ext cx="1052164" cy="5918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2" name="Picture 6">
              <a:extLst>
                <a:ext uri="{FF2B5EF4-FFF2-40B4-BE49-F238E27FC236}">
                  <a16:creationId xmlns:a16="http://schemas.microsoft.com/office/drawing/2014/main" id="{B54BF44A-8931-0984-0970-A75913AD5EB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67523" y="745310"/>
              <a:ext cx="1394931" cy="3795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3" name="Gruppo 14">
            <a:extLst>
              <a:ext uri="{FF2B5EF4-FFF2-40B4-BE49-F238E27FC236}">
                <a16:creationId xmlns:a16="http://schemas.microsoft.com/office/drawing/2014/main" id="{89F0AF43-6B61-1146-0255-5BDB0F948E66}"/>
              </a:ext>
            </a:extLst>
          </p:cNvPr>
          <p:cNvGrpSpPr/>
          <p:nvPr/>
        </p:nvGrpSpPr>
        <p:grpSpPr>
          <a:xfrm>
            <a:off x="2613752" y="1573014"/>
            <a:ext cx="933688" cy="704070"/>
            <a:chOff x="8327658" y="5536544"/>
            <a:chExt cx="965108" cy="727764"/>
          </a:xfrm>
        </p:grpSpPr>
        <p:pic>
          <p:nvPicPr>
            <p:cNvPr id="54" name="Picture 2">
              <a:extLst>
                <a:ext uri="{FF2B5EF4-FFF2-40B4-BE49-F238E27FC236}">
                  <a16:creationId xmlns:a16="http://schemas.microsoft.com/office/drawing/2014/main" id="{53A7ECD2-B6C0-D0A0-1303-624C76A78FF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27658" y="5984732"/>
              <a:ext cx="942275" cy="2795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5" name="Graphic 23">
              <a:extLst>
                <a:ext uri="{FF2B5EF4-FFF2-40B4-BE49-F238E27FC236}">
                  <a16:creationId xmlns:a16="http://schemas.microsoft.com/office/drawing/2014/main" id="{37779F4E-0DA7-04EA-786E-547AE691771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350491" y="5539390"/>
              <a:ext cx="525581" cy="329601"/>
            </a:xfrm>
            <a:prstGeom prst="rect">
              <a:avLst/>
            </a:prstGeom>
          </p:spPr>
        </p:pic>
        <p:pic>
          <p:nvPicPr>
            <p:cNvPr id="57" name="Picture 4" descr="Università degli Studi di Milano - Wikipedia">
              <a:extLst>
                <a:ext uri="{FF2B5EF4-FFF2-40B4-BE49-F238E27FC236}">
                  <a16:creationId xmlns:a16="http://schemas.microsoft.com/office/drawing/2014/main" id="{758F105D-30D1-4157-0D3F-BCB46B2F9A7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57473" y="5536544"/>
              <a:ext cx="335293" cy="3352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C161F1-04D3-B78A-4CCF-96D248592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L. Balconi | Young </a:t>
            </a:r>
            <a:r>
              <a:rPr lang="fr-FR" dirty="0" err="1"/>
              <a:t>researchers</a:t>
            </a:r>
            <a:r>
              <a:rPr lang="fr-FR" dirty="0"/>
              <a:t> </a:t>
            </a:r>
            <a:r>
              <a:rPr lang="fr-FR" dirty="0" err="1"/>
              <a:t>grant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C1A13D-57C3-3272-4ADC-1F87C944C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6D798-1883-974D-96D0-4E82B243DEDE}" type="slidenum">
              <a:rPr lang="it-IT" smtClean="0"/>
              <a:t>8</a:t>
            </a:fld>
            <a:endParaRPr lang="it-IT"/>
          </a:p>
        </p:txBody>
      </p:sp>
      <p:sp>
        <p:nvSpPr>
          <p:cNvPr id="12" name="Title 5">
            <a:extLst>
              <a:ext uri="{FF2B5EF4-FFF2-40B4-BE49-F238E27FC236}">
                <a16:creationId xmlns:a16="http://schemas.microsoft.com/office/drawing/2014/main" id="{4CD350D1-C5C0-5CCB-112C-D9BE991BA2D4}"/>
              </a:ext>
            </a:extLst>
          </p:cNvPr>
          <p:cNvSpPr txBox="1">
            <a:spLocks/>
          </p:cNvSpPr>
          <p:nvPr/>
        </p:nvSpPr>
        <p:spPr>
          <a:xfrm>
            <a:off x="694663" y="-84732"/>
            <a:ext cx="8597900" cy="16906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4400" b="1" kern="1200" dirty="0">
                <a:solidFill>
                  <a:srgbClr val="4297B7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Dipolar HTS magnet towards ECHO</a:t>
            </a:r>
          </a:p>
        </p:txBody>
      </p:sp>
      <p:sp>
        <p:nvSpPr>
          <p:cNvPr id="13" name="Date Placeholder 1">
            <a:extLst>
              <a:ext uri="{FF2B5EF4-FFF2-40B4-BE49-F238E27FC236}">
                <a16:creationId xmlns:a16="http://schemas.microsoft.com/office/drawing/2014/main" id="{834ED5CB-8C16-1328-94D4-2D029CA6FA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it-IT" dirty="0"/>
              <a:t>01/12/2025</a:t>
            </a:r>
          </a:p>
        </p:txBody>
      </p:sp>
      <p:sp>
        <p:nvSpPr>
          <p:cNvPr id="28" name="Shape 27">
            <a:extLst>
              <a:ext uri="{FF2B5EF4-FFF2-40B4-BE49-F238E27FC236}">
                <a16:creationId xmlns:a16="http://schemas.microsoft.com/office/drawing/2014/main" id="{FEAD6FBE-8C04-43CD-C671-D08181B8DC79}"/>
              </a:ext>
            </a:extLst>
          </p:cNvPr>
          <p:cNvSpPr/>
          <p:nvPr/>
        </p:nvSpPr>
        <p:spPr>
          <a:xfrm rot="2459810">
            <a:off x="1906076" y="1544627"/>
            <a:ext cx="6175074" cy="5014169"/>
          </a:xfrm>
          <a:prstGeom prst="swooshArrow">
            <a:avLst>
              <a:gd name="adj1" fmla="val 15668"/>
              <a:gd name="adj2" fmla="val 25773"/>
            </a:avLst>
          </a:prstGeom>
          <a:gradFill>
            <a:gsLst>
              <a:gs pos="0">
                <a:srgbClr val="DDF2FB"/>
              </a:gs>
              <a:gs pos="50000">
                <a:srgbClr val="85BCD0"/>
              </a:gs>
              <a:gs pos="100000">
                <a:srgbClr val="4297B7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F53DB9D-469A-4980-4C12-35BBD47227DF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3592" y="1573014"/>
            <a:ext cx="2531692" cy="2188495"/>
          </a:xfrm>
          <a:prstGeom prst="rect">
            <a:avLst/>
          </a:prstGeom>
          <a:effectLst>
            <a:outerShdw blurRad="152400" dist="863600" dir="1440000" sx="92000" sy="92000" algn="l" rotWithShape="0">
              <a:prstClr val="black">
                <a:alpha val="15000"/>
              </a:prst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A48E701-032D-C9DE-0012-C5FC4EDC18F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5547" b="95246" l="7758" r="94155">
                        <a14:foregroundMark x1="30606" y1="95246" x2="30606" y2="95246"/>
                        <a14:foregroundMark x1="91817" y1="9509" x2="91817" y2="9509"/>
                        <a14:foregroundMark x1="83316" y1="5705" x2="83316" y2="5705"/>
                        <a14:foregroundMark x1="94261" y1="19968" x2="94261" y2="19968"/>
                        <a14:foregroundMark x1="87354" y1="33281" x2="87354" y2="33281"/>
                        <a14:foregroundMark x1="7758" y1="70840" x2="7758" y2="70840"/>
                        <a14:foregroundMark x1="27949" y1="91125" x2="27949" y2="91125"/>
                        <a14:backgroundMark x1="31456" y1="84945" x2="31456" y2="84945"/>
                        <a14:backgroundMark x1="30287" y1="87163" x2="30287" y2="87163"/>
                        <a14:backgroundMark x1="27843" y1="88114" x2="27843" y2="8811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139913" y="1456900"/>
            <a:ext cx="3176052" cy="2171150"/>
          </a:xfrm>
          <a:prstGeom prst="rect">
            <a:avLst/>
          </a:prstGeom>
        </p:spPr>
      </p:pic>
      <p:pic>
        <p:nvPicPr>
          <p:cNvPr id="32" name="Picture 31" descr="A red and orange object&#10;&#10;AI-generated content may be incorrect.">
            <a:extLst>
              <a:ext uri="{FF2B5EF4-FFF2-40B4-BE49-F238E27FC236}">
                <a16:creationId xmlns:a16="http://schemas.microsoft.com/office/drawing/2014/main" id="{BA97E1FC-FFD7-331A-0518-02A413D067B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16"/>
          <a:stretch>
            <a:fillRect/>
          </a:stretch>
        </p:blipFill>
        <p:spPr>
          <a:xfrm>
            <a:off x="6169311" y="714813"/>
            <a:ext cx="7749574" cy="4104339"/>
          </a:xfrm>
          <a:prstGeom prst="rect">
            <a:avLst/>
          </a:prstGeom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83518D52-98F4-F0E1-963A-3043A093EE21}"/>
              </a:ext>
            </a:extLst>
          </p:cNvPr>
          <p:cNvGrpSpPr/>
          <p:nvPr/>
        </p:nvGrpSpPr>
        <p:grpSpPr>
          <a:xfrm>
            <a:off x="1177106" y="3830891"/>
            <a:ext cx="2061680" cy="369332"/>
            <a:chOff x="1177106" y="3830891"/>
            <a:chExt cx="2061680" cy="369332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3D84D079-3665-BC04-BCE8-23F74D32B739}"/>
                </a:ext>
              </a:extLst>
            </p:cNvPr>
            <p:cNvSpPr/>
            <p:nvPr/>
          </p:nvSpPr>
          <p:spPr>
            <a:xfrm>
              <a:off x="1177106" y="3954414"/>
              <a:ext cx="122286" cy="122286"/>
            </a:xfrm>
            <a:prstGeom prst="ellipse">
              <a:avLst/>
            </a:prstGeom>
            <a:solidFill>
              <a:srgbClr val="4297B7"/>
            </a:solidFill>
            <a:ln>
              <a:solidFill>
                <a:srgbClr val="00567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1E0F461B-D437-EE9A-5FE9-B4BA99AE0A29}"/>
                </a:ext>
              </a:extLst>
            </p:cNvPr>
            <p:cNvSpPr txBox="1"/>
            <p:nvPr/>
          </p:nvSpPr>
          <p:spPr>
            <a:xfrm>
              <a:off x="1352836" y="3830891"/>
              <a:ext cx="18859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/>
                <a:t>IRIS </a:t>
              </a:r>
              <a:r>
                <a:rPr lang="it-IT" dirty="0" err="1"/>
                <a:t>dipole</a:t>
              </a:r>
              <a:r>
                <a:rPr lang="it-IT" dirty="0"/>
                <a:t> - ESMA</a:t>
              </a:r>
              <a:endParaRPr lang="en-GB" dirty="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F5018B74-CEAB-54DE-8A80-404B9BB5B5AA}"/>
              </a:ext>
            </a:extLst>
          </p:cNvPr>
          <p:cNvGrpSpPr/>
          <p:nvPr/>
        </p:nvGrpSpPr>
        <p:grpSpPr>
          <a:xfrm>
            <a:off x="4139913" y="3794922"/>
            <a:ext cx="2061680" cy="369332"/>
            <a:chOff x="1177106" y="3830891"/>
            <a:chExt cx="2061680" cy="369332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4AB14E9C-762B-618C-44BC-4EFC89C1A014}"/>
                </a:ext>
              </a:extLst>
            </p:cNvPr>
            <p:cNvSpPr/>
            <p:nvPr/>
          </p:nvSpPr>
          <p:spPr>
            <a:xfrm>
              <a:off x="1177106" y="3954414"/>
              <a:ext cx="122286" cy="122286"/>
            </a:xfrm>
            <a:prstGeom prst="ellipse">
              <a:avLst/>
            </a:prstGeom>
            <a:solidFill>
              <a:srgbClr val="87BDD1"/>
            </a:solidFill>
            <a:ln>
              <a:solidFill>
                <a:srgbClr val="00567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53617161-1E7F-E7A8-BEDF-B3A27F650AAF}"/>
                </a:ext>
              </a:extLst>
            </p:cNvPr>
            <p:cNvSpPr txBox="1"/>
            <p:nvPr/>
          </p:nvSpPr>
          <p:spPr>
            <a:xfrm>
              <a:off x="1352836" y="3830891"/>
              <a:ext cx="18859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/>
                <a:t>I.FAST CCT </a:t>
              </a:r>
              <a:r>
                <a:rPr lang="it-IT" dirty="0" err="1"/>
                <a:t>dipole</a:t>
              </a:r>
              <a:r>
                <a:rPr lang="it-IT" dirty="0"/>
                <a:t> </a:t>
              </a:r>
              <a:endParaRPr lang="en-GB" dirty="0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0B2F9164-53DB-8590-F344-E21E95D4F741}"/>
              </a:ext>
            </a:extLst>
          </p:cNvPr>
          <p:cNvGrpSpPr/>
          <p:nvPr/>
        </p:nvGrpSpPr>
        <p:grpSpPr>
          <a:xfrm>
            <a:off x="8610600" y="3837018"/>
            <a:ext cx="2061680" cy="369332"/>
            <a:chOff x="1177106" y="3830891"/>
            <a:chExt cx="2061680" cy="369332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13717279-1C18-632E-1BA8-E29C1F3B0436}"/>
                </a:ext>
              </a:extLst>
            </p:cNvPr>
            <p:cNvSpPr/>
            <p:nvPr/>
          </p:nvSpPr>
          <p:spPr>
            <a:xfrm>
              <a:off x="1177106" y="3954414"/>
              <a:ext cx="122286" cy="122286"/>
            </a:xfrm>
            <a:prstGeom prst="ellipse">
              <a:avLst/>
            </a:prstGeom>
            <a:solidFill>
              <a:srgbClr val="C2E1ED"/>
            </a:solidFill>
            <a:ln>
              <a:solidFill>
                <a:srgbClr val="00567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8377E625-6596-BBB9-A954-E0668BD06312}"/>
                </a:ext>
              </a:extLst>
            </p:cNvPr>
            <p:cNvSpPr txBox="1"/>
            <p:nvPr/>
          </p:nvSpPr>
          <p:spPr>
            <a:xfrm>
              <a:off x="1352836" y="3830891"/>
              <a:ext cx="18859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b="1" u="sng" dirty="0"/>
                <a:t>ECHO </a:t>
              </a:r>
              <a:r>
                <a:rPr lang="it-IT" b="1" u="sng" dirty="0" err="1"/>
                <a:t>Magnet</a:t>
              </a:r>
              <a:endParaRPr lang="en-GB" b="1" u="sng" dirty="0"/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7BA4A9ED-9D4E-E362-E082-5988389F2813}"/>
              </a:ext>
            </a:extLst>
          </p:cNvPr>
          <p:cNvSpPr txBox="1"/>
          <p:nvPr/>
        </p:nvSpPr>
        <p:spPr>
          <a:xfrm>
            <a:off x="1352836" y="4200223"/>
            <a:ext cx="266060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 dirty="0" err="1">
                <a:solidFill>
                  <a:srgbClr val="00B050"/>
                </a:solidFill>
              </a:rPr>
              <a:t>Pros</a:t>
            </a:r>
            <a:endParaRPr lang="it-IT" sz="1600" b="1" dirty="0">
              <a:solidFill>
                <a:srgbClr val="00B05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 err="1"/>
              <a:t>Flat</a:t>
            </a:r>
            <a:r>
              <a:rPr lang="it-IT" sz="1600" dirty="0"/>
              <a:t> coils </a:t>
            </a:r>
            <a:r>
              <a:rPr lang="it-IT" sz="1600" dirty="0">
                <a:sym typeface="Wingdings" panose="05000000000000000000" pitchFamily="2" charset="2"/>
              </a:rPr>
              <a:t> </a:t>
            </a:r>
            <a:r>
              <a:rPr lang="it-IT" sz="1600" dirty="0" err="1">
                <a:sym typeface="Wingdings" panose="05000000000000000000" pitchFamily="2" charset="2"/>
              </a:rPr>
              <a:t>windability</a:t>
            </a:r>
            <a:endParaRPr lang="it-IT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High field (10 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Solid design</a:t>
            </a:r>
          </a:p>
          <a:p>
            <a:r>
              <a:rPr lang="it-IT" sz="1600" b="1" dirty="0">
                <a:solidFill>
                  <a:srgbClr val="FF0000"/>
                </a:solidFill>
              </a:rPr>
              <a:t>Cons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 err="1"/>
              <a:t>Straight</a:t>
            </a:r>
            <a:r>
              <a:rPr lang="it-IT" sz="1600" dirty="0"/>
              <a:t> </a:t>
            </a:r>
            <a:r>
              <a:rPr lang="it-IT" sz="1600" dirty="0" err="1"/>
              <a:t>geometry</a:t>
            </a:r>
            <a:endParaRPr lang="it-IT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± 1.5 % field </a:t>
            </a:r>
            <a:r>
              <a:rPr lang="it-IT" sz="1600" dirty="0" err="1"/>
              <a:t>quality</a:t>
            </a:r>
            <a:endParaRPr lang="en-GB" sz="16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B002F2E-20B1-ED3F-6B51-C4C8382B92A6}"/>
              </a:ext>
            </a:extLst>
          </p:cNvPr>
          <p:cNvSpPr txBox="1"/>
          <p:nvPr/>
        </p:nvSpPr>
        <p:spPr>
          <a:xfrm>
            <a:off x="4201056" y="4206909"/>
            <a:ext cx="266060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 dirty="0" err="1">
                <a:solidFill>
                  <a:srgbClr val="00B050"/>
                </a:solidFill>
              </a:rPr>
              <a:t>Pros</a:t>
            </a:r>
            <a:endParaRPr lang="it-IT" sz="1600" b="1" dirty="0">
              <a:solidFill>
                <a:srgbClr val="00B05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Field </a:t>
            </a:r>
            <a:r>
              <a:rPr lang="it-IT" sz="1600" dirty="0" err="1"/>
              <a:t>quality</a:t>
            </a:r>
            <a:endParaRPr lang="it-IT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No </a:t>
            </a:r>
            <a:r>
              <a:rPr lang="it-IT" sz="1600" dirty="0" err="1"/>
              <a:t>inner</a:t>
            </a:r>
            <a:r>
              <a:rPr lang="it-IT" sz="1600" dirty="0"/>
              <a:t> </a:t>
            </a:r>
            <a:r>
              <a:rPr lang="it-IT" sz="1600" dirty="0" err="1"/>
              <a:t>junctions</a:t>
            </a:r>
            <a:endParaRPr lang="it-IT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600" dirty="0"/>
          </a:p>
          <a:p>
            <a:r>
              <a:rPr lang="it-IT" sz="1600" b="1" dirty="0">
                <a:solidFill>
                  <a:srgbClr val="FF0000"/>
                </a:solidFill>
              </a:rPr>
              <a:t>Cons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 err="1"/>
              <a:t>Straight</a:t>
            </a:r>
            <a:r>
              <a:rPr lang="it-IT" sz="1600" dirty="0"/>
              <a:t> </a:t>
            </a:r>
            <a:r>
              <a:rPr lang="it-IT" sz="1600" dirty="0" err="1"/>
              <a:t>geometry</a:t>
            </a:r>
            <a:endParaRPr lang="it-IT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 err="1"/>
              <a:t>Complex</a:t>
            </a:r>
            <a:r>
              <a:rPr lang="it-IT" sz="1600" dirty="0"/>
              <a:t> </a:t>
            </a:r>
            <a:r>
              <a:rPr lang="it-IT" sz="1600" dirty="0" err="1"/>
              <a:t>helix-winding</a:t>
            </a:r>
            <a:endParaRPr lang="it-IT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Critical </a:t>
            </a:r>
            <a:r>
              <a:rPr lang="it-IT" sz="1600" dirty="0" err="1"/>
              <a:t>external</a:t>
            </a:r>
            <a:r>
              <a:rPr lang="it-IT" sz="1600" dirty="0"/>
              <a:t> </a:t>
            </a:r>
            <a:r>
              <a:rPr lang="it-IT" sz="1600" dirty="0" err="1"/>
              <a:t>junctions</a:t>
            </a:r>
            <a:endParaRPr lang="it-IT" sz="16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14B0C63-9B57-5A73-985F-C47299585937}"/>
              </a:ext>
            </a:extLst>
          </p:cNvPr>
          <p:cNvSpPr txBox="1"/>
          <p:nvPr/>
        </p:nvSpPr>
        <p:spPr>
          <a:xfrm>
            <a:off x="8512782" y="4136152"/>
            <a:ext cx="266060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>
                <a:solidFill>
                  <a:srgbClr val="00B050"/>
                </a:solidFill>
              </a:rPr>
              <a:t>Pros</a:t>
            </a:r>
            <a:endParaRPr lang="it-IT" b="1" dirty="0">
              <a:solidFill>
                <a:srgbClr val="00B05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/>
              <a:t>Flat</a:t>
            </a:r>
            <a:r>
              <a:rPr lang="it-IT" dirty="0"/>
              <a:t> coils </a:t>
            </a:r>
            <a:r>
              <a:rPr lang="it-IT" dirty="0">
                <a:sym typeface="Wingdings" panose="05000000000000000000" pitchFamily="2" charset="2"/>
              </a:rPr>
              <a:t> </a:t>
            </a:r>
            <a:r>
              <a:rPr lang="it-IT" dirty="0" err="1">
                <a:sym typeface="Wingdings" panose="05000000000000000000" pitchFamily="2" charset="2"/>
              </a:rPr>
              <a:t>windability</a:t>
            </a:r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/>
              <a:t>Curved</a:t>
            </a:r>
            <a:r>
              <a:rPr lang="it-IT" dirty="0"/>
              <a:t> </a:t>
            </a:r>
            <a:r>
              <a:rPr lang="it-IT" dirty="0" err="1"/>
              <a:t>geometry</a:t>
            </a:r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Field </a:t>
            </a:r>
            <a:r>
              <a:rPr lang="it-IT" dirty="0" err="1"/>
              <a:t>quality</a:t>
            </a:r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/>
              <a:t>Scalability</a:t>
            </a:r>
            <a:endParaRPr lang="it-IT" dirty="0"/>
          </a:p>
          <a:p>
            <a:r>
              <a:rPr lang="it-IT" b="1" dirty="0">
                <a:solidFill>
                  <a:srgbClr val="FF0000"/>
                </a:solidFill>
              </a:rPr>
              <a:t>Cons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/>
              <a:t>Modules</a:t>
            </a:r>
            <a:r>
              <a:rPr lang="it-IT" dirty="0"/>
              <a:t> assembly on </a:t>
            </a:r>
            <a:r>
              <a:rPr lang="it-IT" dirty="0" err="1"/>
              <a:t>curved</a:t>
            </a:r>
            <a:r>
              <a:rPr lang="it-IT" dirty="0"/>
              <a:t> support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Resistive joints</a:t>
            </a:r>
            <a:endParaRPr lang="en-GB" dirty="0"/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8DD13C09-6F03-B3C3-9F17-CC46860BE7B7}"/>
              </a:ext>
            </a:extLst>
          </p:cNvPr>
          <p:cNvCxnSpPr>
            <a:cxnSpLocks/>
          </p:cNvCxnSpPr>
          <p:nvPr/>
        </p:nvCxnSpPr>
        <p:spPr>
          <a:xfrm>
            <a:off x="3860800" y="3918445"/>
            <a:ext cx="0" cy="2299475"/>
          </a:xfrm>
          <a:prstGeom prst="line">
            <a:avLst/>
          </a:prstGeom>
          <a:ln>
            <a:solidFill>
              <a:srgbClr val="4297B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CasellaDiTesto 1">
            <a:extLst>
              <a:ext uri="{FF2B5EF4-FFF2-40B4-BE49-F238E27FC236}">
                <a16:creationId xmlns:a16="http://schemas.microsoft.com/office/drawing/2014/main" id="{13027DFB-B6A0-813A-85B5-2EAD9157984D}"/>
              </a:ext>
            </a:extLst>
          </p:cNvPr>
          <p:cNvSpPr txBox="1"/>
          <p:nvPr/>
        </p:nvSpPr>
        <p:spPr>
          <a:xfrm>
            <a:off x="5406546" y="2619220"/>
            <a:ext cx="18597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600" i="1" noProof="0" dirty="0">
                <a:solidFill>
                  <a:schemeClr val="accent3">
                    <a:lumMod val="60000"/>
                    <a:lumOff val="40000"/>
                  </a:schemeClr>
                </a:solidFill>
                <a:latin typeface="Titillium" panose="00000500000000000000"/>
              </a:rPr>
              <a:t>Courtesy of </a:t>
            </a:r>
            <a:br>
              <a:rPr lang="en-GB" sz="1600" i="1" noProof="0" dirty="0">
                <a:solidFill>
                  <a:schemeClr val="accent3">
                    <a:lumMod val="60000"/>
                    <a:lumOff val="40000"/>
                  </a:schemeClr>
                </a:solidFill>
                <a:latin typeface="Titillium" panose="00000500000000000000"/>
              </a:rPr>
            </a:br>
            <a:r>
              <a:rPr lang="en-GB" sz="1600" i="1" noProof="0" dirty="0">
                <a:solidFill>
                  <a:schemeClr val="accent3">
                    <a:lumMod val="60000"/>
                    <a:lumOff val="40000"/>
                  </a:schemeClr>
                </a:solidFill>
                <a:latin typeface="Titillium" panose="00000500000000000000"/>
              </a:rPr>
              <a:t>E. De Matteis</a:t>
            </a:r>
          </a:p>
        </p:txBody>
      </p:sp>
    </p:spTree>
    <p:extLst>
      <p:ext uri="{BB962C8B-B14F-4D97-AF65-F5344CB8AC3E}">
        <p14:creationId xmlns:p14="http://schemas.microsoft.com/office/powerpoint/2010/main" val="15930040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22A0D-D0BD-0BAF-B8A3-1EA7B26C7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Roadmap of activities for ECHO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2A2FB4-D5C7-EB5A-1DC2-CA8EAB573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L. Balconi | Young researchers grant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DE9E40-8E5E-1D9C-006A-69E9C851D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6D798-1883-974D-96D0-4E82B243DEDE}" type="slidenum">
              <a:rPr lang="it-IT" smtClean="0"/>
              <a:t>9</a:t>
            </a:fld>
            <a:endParaRPr lang="it-IT"/>
          </a:p>
        </p:txBody>
      </p:sp>
      <p:sp>
        <p:nvSpPr>
          <p:cNvPr id="7" name="Date Placeholder 1">
            <a:extLst>
              <a:ext uri="{FF2B5EF4-FFF2-40B4-BE49-F238E27FC236}">
                <a16:creationId xmlns:a16="http://schemas.microsoft.com/office/drawing/2014/main" id="{7E2BDC83-3F4D-22FC-A48A-9D13894CA4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it-IT" dirty="0"/>
              <a:t>01/12/2025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A6A776F-01AD-C6AC-423A-24557C6FF5A4}"/>
              </a:ext>
            </a:extLst>
          </p:cNvPr>
          <p:cNvGrpSpPr/>
          <p:nvPr/>
        </p:nvGrpSpPr>
        <p:grpSpPr>
          <a:xfrm>
            <a:off x="972360" y="1345162"/>
            <a:ext cx="10247280" cy="4167676"/>
            <a:chOff x="1028700" y="1296814"/>
            <a:chExt cx="10247280" cy="4167676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5AB48071-569D-F1A0-4524-08C098A2AD9A}"/>
                </a:ext>
              </a:extLst>
            </p:cNvPr>
            <p:cNvGrpSpPr/>
            <p:nvPr/>
          </p:nvGrpSpPr>
          <p:grpSpPr>
            <a:xfrm>
              <a:off x="1028700" y="1690688"/>
              <a:ext cx="9332816" cy="3727450"/>
              <a:chOff x="958850" y="1574800"/>
              <a:chExt cx="9332816" cy="3727450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929960D-F779-3D88-473F-F41A280F874B}"/>
                  </a:ext>
                </a:extLst>
              </p:cNvPr>
              <p:cNvSpPr txBox="1"/>
              <p:nvPr/>
            </p:nvSpPr>
            <p:spPr>
              <a:xfrm>
                <a:off x="958850" y="1779345"/>
                <a:ext cx="2057400" cy="535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14224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it-IT" sz="3200" b="1" dirty="0" err="1">
                    <a:solidFill>
                      <a:srgbClr val="4297B7"/>
                    </a:solidFill>
                    <a:latin typeface="Calibri Light" panose="020F0302020204030204"/>
                  </a:rPr>
                  <a:t>Phase</a:t>
                </a:r>
                <a:r>
                  <a:rPr lang="it-IT" sz="3200" b="1" dirty="0">
                    <a:solidFill>
                      <a:srgbClr val="4297B7"/>
                    </a:solidFill>
                    <a:latin typeface="Calibri Light" panose="020F0302020204030204"/>
                  </a:rPr>
                  <a:t> 1</a:t>
                </a:r>
                <a:endParaRPr lang="en-GB" sz="3200" b="1" dirty="0">
                  <a:solidFill>
                    <a:srgbClr val="4297B7"/>
                  </a:solidFill>
                  <a:latin typeface="Calibri Light" panose="020F0302020204030204"/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CC6525D7-7755-82F8-AEF7-036071860315}"/>
                  </a:ext>
                </a:extLst>
              </p:cNvPr>
              <p:cNvSpPr/>
              <p:nvPr/>
            </p:nvSpPr>
            <p:spPr>
              <a:xfrm>
                <a:off x="2714689" y="1818023"/>
                <a:ext cx="3854322" cy="899917"/>
              </a:xfrm>
              <a:prstGeom prst="rect">
                <a:avLst/>
              </a:pr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GB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6F89536-1171-4782-904F-6AA91B314F8A}"/>
                  </a:ext>
                </a:extLst>
              </p:cNvPr>
              <p:cNvSpPr txBox="1"/>
              <p:nvPr/>
            </p:nvSpPr>
            <p:spPr>
              <a:xfrm>
                <a:off x="2713037" y="1817573"/>
                <a:ext cx="3854322" cy="476577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91440" tIns="91440" rIns="91440" bIns="91440" numCol="1" spcCol="1270" anchor="t" anchorCtr="0">
                <a:noAutofit/>
              </a:bodyPr>
              <a:lstStyle/>
              <a:p>
                <a:pPr marL="0" lvl="0" indent="0" algn="l" defTabSz="10668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it-IT" sz="2400" kern="1200" dirty="0" err="1"/>
                  <a:t>Characterization</a:t>
                </a:r>
                <a:r>
                  <a:rPr lang="it-IT" sz="2400" kern="1200" dirty="0"/>
                  <a:t> of HTS tape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EC0D286-48BA-A38E-174E-1B7341DC78B2}"/>
                  </a:ext>
                </a:extLst>
              </p:cNvPr>
              <p:cNvSpPr txBox="1"/>
              <p:nvPr/>
            </p:nvSpPr>
            <p:spPr>
              <a:xfrm>
                <a:off x="2763804" y="2694799"/>
                <a:ext cx="5490385" cy="506447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91440" tIns="91440" rIns="91440" bIns="91440" numCol="1" spcCol="1270" anchor="t" anchorCtr="0">
                <a:noAutofit/>
              </a:bodyPr>
              <a:lstStyle/>
              <a:p>
                <a:pPr marL="0" lvl="0" indent="0" algn="l" defTabSz="10668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it-IT" sz="2400" kern="1200" dirty="0"/>
                  <a:t>Single </a:t>
                </a:r>
                <a:r>
                  <a:rPr lang="it-IT" sz="2400" kern="1200" dirty="0" err="1"/>
                  <a:t>module</a:t>
                </a:r>
                <a:r>
                  <a:rPr lang="it-IT" sz="2400" kern="1200" dirty="0"/>
                  <a:t> design and challenges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A8118A1-C4DD-EDC9-8DD3-01D8D7F0A305}"/>
                  </a:ext>
                </a:extLst>
              </p:cNvPr>
              <p:cNvSpPr txBox="1"/>
              <p:nvPr/>
            </p:nvSpPr>
            <p:spPr>
              <a:xfrm>
                <a:off x="958850" y="3380652"/>
                <a:ext cx="20574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3200" b="1" dirty="0" err="1">
                    <a:solidFill>
                      <a:srgbClr val="4297B7"/>
                    </a:solidFill>
                    <a:latin typeface="Calibri Light" panose="020F0302020204030204"/>
                  </a:rPr>
                  <a:t>Phase</a:t>
                </a:r>
                <a:r>
                  <a:rPr lang="it-IT" sz="3200" b="1" dirty="0">
                    <a:solidFill>
                      <a:srgbClr val="4297B7"/>
                    </a:solidFill>
                    <a:latin typeface="Calibri Light" panose="020F0302020204030204"/>
                  </a:rPr>
                  <a:t> 2</a:t>
                </a:r>
                <a:endParaRPr lang="en-GB" sz="3200" b="1" dirty="0">
                  <a:solidFill>
                    <a:srgbClr val="4297B7"/>
                  </a:solidFill>
                  <a:latin typeface="Calibri Light" panose="020F0302020204030204"/>
                </a:endParaRPr>
              </a:p>
            </p:txBody>
          </p:sp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377B554D-EBC3-04E9-D25C-E1699FD033C8}"/>
                  </a:ext>
                </a:extLst>
              </p:cNvPr>
              <p:cNvGrpSpPr/>
              <p:nvPr/>
            </p:nvGrpSpPr>
            <p:grpSpPr>
              <a:xfrm>
                <a:off x="6476840" y="1746586"/>
                <a:ext cx="3203639" cy="646332"/>
                <a:chOff x="6476840" y="1756437"/>
                <a:chExt cx="3203639" cy="646332"/>
              </a:xfrm>
            </p:grpSpPr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B3C77044-C3A6-A6DB-386C-59E218329681}"/>
                    </a:ext>
                  </a:extLst>
                </p:cNvPr>
                <p:cNvSpPr txBox="1"/>
                <p:nvPr/>
              </p:nvSpPr>
              <p:spPr>
                <a:xfrm>
                  <a:off x="6657879" y="1756437"/>
                  <a:ext cx="3022600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285750" indent="-285750">
                    <a:buClr>
                      <a:srgbClr val="4297B7"/>
                    </a:buClr>
                    <a:buFont typeface="Arial" panose="020B0604020202020204" pitchFamily="34" charset="0"/>
                    <a:buChar char="•"/>
                  </a:pPr>
                  <a:r>
                    <a:rPr lang="it-IT" dirty="0" err="1"/>
                    <a:t>Electrical</a:t>
                  </a:r>
                  <a:endParaRPr lang="it-IT" dirty="0"/>
                </a:p>
                <a:p>
                  <a:pPr marL="285750" indent="-285750">
                    <a:buClr>
                      <a:srgbClr val="4297B7"/>
                    </a:buClr>
                    <a:buFont typeface="Arial" panose="020B0604020202020204" pitchFamily="34" charset="0"/>
                    <a:buChar char="•"/>
                  </a:pPr>
                  <a:r>
                    <a:rPr lang="it-IT" dirty="0"/>
                    <a:t>Thermal and </a:t>
                  </a:r>
                  <a:r>
                    <a:rPr lang="it-IT" dirty="0" err="1"/>
                    <a:t>Mechanical</a:t>
                  </a:r>
                  <a:endParaRPr lang="en-GB" dirty="0"/>
                </a:p>
              </p:txBody>
            </p:sp>
            <p:sp>
              <p:nvSpPr>
                <p:cNvPr id="17" name="Left Brace 16">
                  <a:extLst>
                    <a:ext uri="{FF2B5EF4-FFF2-40B4-BE49-F238E27FC236}">
                      <a16:creationId xmlns:a16="http://schemas.microsoft.com/office/drawing/2014/main" id="{F626277B-A816-D3C1-3015-75F9630B93BF}"/>
                    </a:ext>
                  </a:extLst>
                </p:cNvPr>
                <p:cNvSpPr/>
                <p:nvPr/>
              </p:nvSpPr>
              <p:spPr>
                <a:xfrm>
                  <a:off x="6476840" y="1756438"/>
                  <a:ext cx="181039" cy="646331"/>
                </a:xfrm>
                <a:prstGeom prst="leftBrace">
                  <a:avLst>
                    <a:gd name="adj1" fmla="val 41990"/>
                    <a:gd name="adj2" fmla="val 49375"/>
                  </a:avLst>
                </a:prstGeom>
                <a:ln w="28575">
                  <a:solidFill>
                    <a:srgbClr val="4297B7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10D9268D-27B5-6996-7F1F-6008F126679D}"/>
                  </a:ext>
                </a:extLst>
              </p:cNvPr>
              <p:cNvCxnSpPr/>
              <p:nvPr/>
            </p:nvCxnSpPr>
            <p:spPr>
              <a:xfrm>
                <a:off x="971614" y="3276600"/>
                <a:ext cx="9283700" cy="0"/>
              </a:xfrm>
              <a:prstGeom prst="line">
                <a:avLst/>
              </a:prstGeom>
              <a:ln w="19050">
                <a:solidFill>
                  <a:srgbClr val="4297B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EC0192EE-0951-1B3B-5122-E58E2FDA05D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14689" y="2559050"/>
                <a:ext cx="7527861" cy="0"/>
              </a:xfrm>
              <a:prstGeom prst="line">
                <a:avLst/>
              </a:prstGeom>
              <a:ln w="12700">
                <a:solidFill>
                  <a:srgbClr val="4297B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51FFB81B-BE81-1822-4FD6-B36CC9F6D8F3}"/>
                  </a:ext>
                </a:extLst>
              </p:cNvPr>
              <p:cNvCxnSpPr/>
              <p:nvPr/>
            </p:nvCxnSpPr>
            <p:spPr>
              <a:xfrm>
                <a:off x="971614" y="1574800"/>
                <a:ext cx="9283700" cy="0"/>
              </a:xfrm>
              <a:prstGeom prst="line">
                <a:avLst/>
              </a:prstGeom>
              <a:ln w="19050">
                <a:solidFill>
                  <a:srgbClr val="4297B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92BFD12-F489-7025-9A55-6C860E909449}"/>
                  </a:ext>
                </a:extLst>
              </p:cNvPr>
              <p:cNvSpPr txBox="1"/>
              <p:nvPr/>
            </p:nvSpPr>
            <p:spPr>
              <a:xfrm>
                <a:off x="2803557" y="4053482"/>
                <a:ext cx="3854322" cy="506447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91440" tIns="91440" rIns="91440" bIns="91440" numCol="1" spcCol="1270" anchor="t" anchorCtr="0">
                <a:noAutofit/>
              </a:bodyPr>
              <a:lstStyle/>
              <a:p>
                <a:pPr lvl="0"/>
                <a:r>
                  <a:rPr lang="it-IT" sz="2400" dirty="0" err="1"/>
                  <a:t>Mechanical</a:t>
                </a:r>
                <a:r>
                  <a:rPr lang="it-IT" sz="2400" dirty="0"/>
                  <a:t> Assembly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D0323A3-DC21-0FD1-A993-E523760920AF}"/>
                  </a:ext>
                </a:extLst>
              </p:cNvPr>
              <p:cNvSpPr txBox="1"/>
              <p:nvPr/>
            </p:nvSpPr>
            <p:spPr>
              <a:xfrm>
                <a:off x="2803557" y="3435489"/>
                <a:ext cx="3854322" cy="506447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91440" tIns="91440" rIns="91440" bIns="91440" numCol="1" spcCol="1270" anchor="t" anchorCtr="0">
                <a:noAutofit/>
              </a:bodyPr>
              <a:lstStyle/>
              <a:p>
                <a:pPr lvl="0"/>
                <a:r>
                  <a:rPr lang="it-IT" sz="2400" dirty="0" err="1"/>
                  <a:t>Modules</a:t>
                </a:r>
                <a:r>
                  <a:rPr lang="it-IT" sz="2400" dirty="0"/>
                  <a:t> manufacturing</a:t>
                </a: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A81BCCB-66F8-4D57-A9C2-85053B1CD6F7}"/>
                  </a:ext>
                </a:extLst>
              </p:cNvPr>
              <p:cNvSpPr txBox="1"/>
              <p:nvPr/>
            </p:nvSpPr>
            <p:spPr>
              <a:xfrm>
                <a:off x="2803557" y="4698469"/>
                <a:ext cx="3854322" cy="506447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91440" tIns="91440" rIns="91440" bIns="91440" numCol="1" spcCol="1270" anchor="t" anchorCtr="0">
                <a:noAutofit/>
              </a:bodyPr>
              <a:lstStyle/>
              <a:p>
                <a:pPr lvl="0"/>
                <a:r>
                  <a:rPr lang="it-IT" sz="2400" dirty="0" err="1"/>
                  <a:t>Final</a:t>
                </a:r>
                <a:r>
                  <a:rPr lang="it-IT" sz="2400" dirty="0"/>
                  <a:t> Testing</a:t>
                </a:r>
              </a:p>
            </p:txBody>
          </p: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63204F8B-0702-8C27-2A1F-F734A47D252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27453" y="3978127"/>
                <a:ext cx="7527861" cy="0"/>
              </a:xfrm>
              <a:prstGeom prst="line">
                <a:avLst/>
              </a:prstGeom>
              <a:ln w="12700">
                <a:solidFill>
                  <a:srgbClr val="4297B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B3D50CFB-AC9F-AC05-2D88-A79F3CE9D7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63805" y="4698469"/>
                <a:ext cx="7527861" cy="0"/>
              </a:xfrm>
              <a:prstGeom prst="line">
                <a:avLst/>
              </a:prstGeom>
              <a:ln w="12700">
                <a:solidFill>
                  <a:srgbClr val="4297B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88EF7160-1D8C-E8BA-E3B4-12AFBDB5FBE6}"/>
                  </a:ext>
                </a:extLst>
              </p:cNvPr>
              <p:cNvCxnSpPr/>
              <p:nvPr/>
            </p:nvCxnSpPr>
            <p:spPr>
              <a:xfrm>
                <a:off x="1007966" y="5302250"/>
                <a:ext cx="9283700" cy="0"/>
              </a:xfrm>
              <a:prstGeom prst="line">
                <a:avLst/>
              </a:prstGeom>
              <a:ln w="19050">
                <a:solidFill>
                  <a:srgbClr val="4297B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C14B3935-2098-EF5E-2550-D0D4E4674D35}"/>
                </a:ext>
              </a:extLst>
            </p:cNvPr>
            <p:cNvSpPr/>
            <p:nvPr/>
          </p:nvSpPr>
          <p:spPr>
            <a:xfrm>
              <a:off x="10164794" y="1296814"/>
              <a:ext cx="1111186" cy="416767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3715754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F7298-D6B0-82DB-6570-57056FE85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82614-E4DA-002F-4512-4AB01BD3F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Roadmap of activities for ECHO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6F8B40-70F3-43B6-364D-D33D4187D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L. Balconi | Young researchers grant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E9CA9B-8F95-0C33-0373-84C0249D0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6D798-1883-974D-96D0-4E82B243DEDE}" type="slidenum">
              <a:rPr lang="it-IT" smtClean="0"/>
              <a:t>10</a:t>
            </a:fld>
            <a:endParaRPr lang="it-IT"/>
          </a:p>
        </p:txBody>
      </p:sp>
      <p:sp>
        <p:nvSpPr>
          <p:cNvPr id="7" name="Date Placeholder 1">
            <a:extLst>
              <a:ext uri="{FF2B5EF4-FFF2-40B4-BE49-F238E27FC236}">
                <a16:creationId xmlns:a16="http://schemas.microsoft.com/office/drawing/2014/main" id="{3721C3C8-436D-D9CC-D1A9-CF7C52026A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it-IT" dirty="0"/>
              <a:t>01/12/2025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BB1B3922-7F42-8ABB-8FAB-93F00FD113EB}"/>
              </a:ext>
            </a:extLst>
          </p:cNvPr>
          <p:cNvGrpSpPr/>
          <p:nvPr/>
        </p:nvGrpSpPr>
        <p:grpSpPr>
          <a:xfrm>
            <a:off x="972360" y="1345162"/>
            <a:ext cx="10247280" cy="4167676"/>
            <a:chOff x="1028700" y="1296814"/>
            <a:chExt cx="10247280" cy="4167676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42054E52-7CE4-D23D-48DA-FBAA690964FE}"/>
                </a:ext>
              </a:extLst>
            </p:cNvPr>
            <p:cNvGrpSpPr/>
            <p:nvPr/>
          </p:nvGrpSpPr>
          <p:grpSpPr>
            <a:xfrm>
              <a:off x="1028700" y="1690688"/>
              <a:ext cx="9332816" cy="3727450"/>
              <a:chOff x="958850" y="1574800"/>
              <a:chExt cx="9332816" cy="3727450"/>
            </a:xfrm>
          </p:grpSpPr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58D66773-0B3F-7034-3D13-1635382A68F2}"/>
                  </a:ext>
                </a:extLst>
              </p:cNvPr>
              <p:cNvSpPr txBox="1"/>
              <p:nvPr/>
            </p:nvSpPr>
            <p:spPr>
              <a:xfrm>
                <a:off x="958850" y="1779345"/>
                <a:ext cx="2057400" cy="535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14224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it-IT" sz="3200" b="1" dirty="0" err="1">
                    <a:solidFill>
                      <a:srgbClr val="4297B7"/>
                    </a:solidFill>
                    <a:latin typeface="Calibri Light" panose="020F0302020204030204"/>
                  </a:rPr>
                  <a:t>Phase</a:t>
                </a:r>
                <a:r>
                  <a:rPr lang="it-IT" sz="3200" b="1" dirty="0">
                    <a:solidFill>
                      <a:srgbClr val="4297B7"/>
                    </a:solidFill>
                    <a:latin typeface="Calibri Light" panose="020F0302020204030204"/>
                  </a:rPr>
                  <a:t> 1</a:t>
                </a:r>
                <a:endParaRPr lang="en-GB" sz="3200" b="1" dirty="0">
                  <a:solidFill>
                    <a:srgbClr val="4297B7"/>
                  </a:solidFill>
                  <a:latin typeface="Calibri Light" panose="020F0302020204030204"/>
                </a:endParaRPr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161D5C55-56C7-0AF7-034A-D86C27055F41}"/>
                  </a:ext>
                </a:extLst>
              </p:cNvPr>
              <p:cNvSpPr/>
              <p:nvPr/>
            </p:nvSpPr>
            <p:spPr>
              <a:xfrm>
                <a:off x="2714689" y="1818023"/>
                <a:ext cx="3854322" cy="899917"/>
              </a:xfrm>
              <a:prstGeom prst="rect">
                <a:avLst/>
              </a:pr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GB"/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E9B8A007-3D50-EEB7-98F4-31CCFD18911A}"/>
                  </a:ext>
                </a:extLst>
              </p:cNvPr>
              <p:cNvSpPr txBox="1"/>
              <p:nvPr/>
            </p:nvSpPr>
            <p:spPr>
              <a:xfrm>
                <a:off x="2713037" y="1817573"/>
                <a:ext cx="3854322" cy="476577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91440" tIns="91440" rIns="91440" bIns="91440" numCol="1" spcCol="1270" anchor="t" anchorCtr="0">
                <a:noAutofit/>
              </a:bodyPr>
              <a:lstStyle/>
              <a:p>
                <a:pPr marL="0" lvl="0" indent="0" algn="l" defTabSz="10668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it-IT" sz="2400" kern="1200" dirty="0" err="1"/>
                  <a:t>Characterization</a:t>
                </a:r>
                <a:r>
                  <a:rPr lang="it-IT" sz="2400" kern="1200" dirty="0"/>
                  <a:t> of HTS tape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68177D90-3589-D92F-C77A-AD0AD1EA41A8}"/>
                  </a:ext>
                </a:extLst>
              </p:cNvPr>
              <p:cNvSpPr txBox="1"/>
              <p:nvPr/>
            </p:nvSpPr>
            <p:spPr>
              <a:xfrm>
                <a:off x="2763804" y="2694799"/>
                <a:ext cx="5561045" cy="506447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91440" tIns="91440" rIns="91440" bIns="91440" numCol="1" spcCol="1270" anchor="t" anchorCtr="0">
                <a:noAutofit/>
              </a:bodyPr>
              <a:lstStyle/>
              <a:p>
                <a:pPr lvl="0" defTabSz="10668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it-IT" sz="2400" dirty="0">
                    <a:solidFill>
                      <a:schemeClr val="bg1">
                        <a:lumMod val="75000"/>
                      </a:schemeClr>
                    </a:solidFill>
                  </a:rPr>
                  <a:t>Single </a:t>
                </a:r>
                <a:r>
                  <a:rPr lang="it-IT" sz="2400" dirty="0" err="1">
                    <a:solidFill>
                      <a:schemeClr val="bg1">
                        <a:lumMod val="75000"/>
                      </a:schemeClr>
                    </a:solidFill>
                  </a:rPr>
                  <a:t>module</a:t>
                </a:r>
                <a:r>
                  <a:rPr lang="it-IT" sz="2400" dirty="0">
                    <a:solidFill>
                      <a:schemeClr val="bg1">
                        <a:lumMod val="75000"/>
                      </a:schemeClr>
                    </a:solidFill>
                  </a:rPr>
                  <a:t> design and challenges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A99BAE12-93F0-E902-A29B-4C4EB927D93F}"/>
                  </a:ext>
                </a:extLst>
              </p:cNvPr>
              <p:cNvSpPr txBox="1"/>
              <p:nvPr/>
            </p:nvSpPr>
            <p:spPr>
              <a:xfrm>
                <a:off x="958850" y="3380652"/>
                <a:ext cx="20574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3200" b="1" dirty="0" err="1">
                    <a:solidFill>
                      <a:srgbClr val="C2E1ED"/>
                    </a:solidFill>
                    <a:latin typeface="Calibri Light" panose="020F0302020204030204"/>
                  </a:rPr>
                  <a:t>Phase</a:t>
                </a:r>
                <a:r>
                  <a:rPr lang="it-IT" sz="3200" b="1" dirty="0">
                    <a:solidFill>
                      <a:srgbClr val="C2E1ED"/>
                    </a:solidFill>
                    <a:latin typeface="Calibri Light" panose="020F0302020204030204"/>
                  </a:rPr>
                  <a:t> 2</a:t>
                </a:r>
                <a:endParaRPr lang="en-GB" sz="3200" b="1" dirty="0">
                  <a:solidFill>
                    <a:srgbClr val="C2E1ED"/>
                  </a:solidFill>
                  <a:latin typeface="Calibri Light" panose="020F0302020204030204"/>
                </a:endParaRPr>
              </a:p>
            </p:txBody>
          </p:sp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4E0539D9-71E9-D7C4-2703-C95D6A781B99}"/>
                  </a:ext>
                </a:extLst>
              </p:cNvPr>
              <p:cNvGrpSpPr/>
              <p:nvPr/>
            </p:nvGrpSpPr>
            <p:grpSpPr>
              <a:xfrm>
                <a:off x="6476840" y="1746586"/>
                <a:ext cx="3203639" cy="646332"/>
                <a:chOff x="6476840" y="1756437"/>
                <a:chExt cx="3203639" cy="646332"/>
              </a:xfrm>
            </p:grpSpPr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109CEA25-12D8-5D47-FF37-FFAC100AF8BD}"/>
                    </a:ext>
                  </a:extLst>
                </p:cNvPr>
                <p:cNvSpPr txBox="1"/>
                <p:nvPr/>
              </p:nvSpPr>
              <p:spPr>
                <a:xfrm>
                  <a:off x="6657879" y="1756437"/>
                  <a:ext cx="3022600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285750" indent="-285750">
                    <a:buClr>
                      <a:srgbClr val="4297B7"/>
                    </a:buClr>
                    <a:buFont typeface="Arial" panose="020B0604020202020204" pitchFamily="34" charset="0"/>
                    <a:buChar char="•"/>
                  </a:pPr>
                  <a:r>
                    <a:rPr lang="it-IT" dirty="0" err="1"/>
                    <a:t>Electrical</a:t>
                  </a:r>
                  <a:endParaRPr lang="it-IT" dirty="0"/>
                </a:p>
                <a:p>
                  <a:pPr marL="285750" indent="-285750">
                    <a:buClr>
                      <a:srgbClr val="4297B7"/>
                    </a:buClr>
                    <a:buFont typeface="Arial" panose="020B0604020202020204" pitchFamily="34" charset="0"/>
                    <a:buChar char="•"/>
                  </a:pPr>
                  <a:r>
                    <a:rPr lang="it-IT" dirty="0">
                      <a:solidFill>
                        <a:schemeClr val="bg1">
                          <a:lumMod val="75000"/>
                        </a:schemeClr>
                      </a:solidFill>
                    </a:rPr>
                    <a:t>Thermal and </a:t>
                  </a:r>
                  <a:r>
                    <a:rPr lang="it-IT" dirty="0" err="1">
                      <a:solidFill>
                        <a:schemeClr val="bg1">
                          <a:lumMod val="75000"/>
                        </a:schemeClr>
                      </a:solidFill>
                    </a:rPr>
                    <a:t>Mechanical</a:t>
                  </a:r>
                  <a:endParaRPr lang="en-GB" dirty="0">
                    <a:solidFill>
                      <a:schemeClr val="bg1">
                        <a:lumMod val="75000"/>
                      </a:schemeClr>
                    </a:solidFill>
                  </a:endParaRPr>
                </a:p>
              </p:txBody>
            </p:sp>
            <p:sp>
              <p:nvSpPr>
                <p:cNvPr id="65" name="Left Brace 64">
                  <a:extLst>
                    <a:ext uri="{FF2B5EF4-FFF2-40B4-BE49-F238E27FC236}">
                      <a16:creationId xmlns:a16="http://schemas.microsoft.com/office/drawing/2014/main" id="{EF72AD94-9244-5D8B-0F27-619706D25357}"/>
                    </a:ext>
                  </a:extLst>
                </p:cNvPr>
                <p:cNvSpPr/>
                <p:nvPr/>
              </p:nvSpPr>
              <p:spPr>
                <a:xfrm>
                  <a:off x="6476840" y="1756438"/>
                  <a:ext cx="181039" cy="646331"/>
                </a:xfrm>
                <a:prstGeom prst="leftBrace">
                  <a:avLst>
                    <a:gd name="adj1" fmla="val 41990"/>
                    <a:gd name="adj2" fmla="val 49375"/>
                  </a:avLst>
                </a:prstGeom>
                <a:ln w="28575">
                  <a:solidFill>
                    <a:srgbClr val="4297B7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CC567AD1-0CBD-87CC-F7AD-AEDF42C542A0}"/>
                  </a:ext>
                </a:extLst>
              </p:cNvPr>
              <p:cNvCxnSpPr/>
              <p:nvPr/>
            </p:nvCxnSpPr>
            <p:spPr>
              <a:xfrm>
                <a:off x="971614" y="3276600"/>
                <a:ext cx="9283700" cy="0"/>
              </a:xfrm>
              <a:prstGeom prst="line">
                <a:avLst/>
              </a:prstGeom>
              <a:ln w="19050">
                <a:solidFill>
                  <a:srgbClr val="4297B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E2D0E5E6-04CB-F20B-01C2-40BB0DE633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14689" y="2559050"/>
                <a:ext cx="7527861" cy="0"/>
              </a:xfrm>
              <a:prstGeom prst="line">
                <a:avLst/>
              </a:prstGeom>
              <a:ln w="12700">
                <a:solidFill>
                  <a:srgbClr val="4297B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259483DB-BE31-372F-24B4-E321AFDD4938}"/>
                  </a:ext>
                </a:extLst>
              </p:cNvPr>
              <p:cNvCxnSpPr/>
              <p:nvPr/>
            </p:nvCxnSpPr>
            <p:spPr>
              <a:xfrm>
                <a:off x="971614" y="1574800"/>
                <a:ext cx="9283700" cy="0"/>
              </a:xfrm>
              <a:prstGeom prst="line">
                <a:avLst/>
              </a:prstGeom>
              <a:ln w="19050">
                <a:solidFill>
                  <a:srgbClr val="4297B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946C7DE7-55B4-861C-B88E-FEA0CF8FC26E}"/>
                  </a:ext>
                </a:extLst>
              </p:cNvPr>
              <p:cNvSpPr txBox="1"/>
              <p:nvPr/>
            </p:nvSpPr>
            <p:spPr>
              <a:xfrm>
                <a:off x="2803557" y="4053482"/>
                <a:ext cx="3854322" cy="506447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91440" tIns="91440" rIns="91440" bIns="91440" numCol="1" spcCol="1270" anchor="t" anchorCtr="0">
                <a:noAutofit/>
              </a:bodyPr>
              <a:lstStyle/>
              <a:p>
                <a:pPr lvl="0"/>
                <a:r>
                  <a:rPr lang="it-IT" sz="2400" dirty="0" err="1">
                    <a:solidFill>
                      <a:schemeClr val="bg1">
                        <a:lumMod val="75000"/>
                      </a:schemeClr>
                    </a:solidFill>
                  </a:rPr>
                  <a:t>Mechanical</a:t>
                </a:r>
                <a:r>
                  <a:rPr lang="it-IT" sz="2400" dirty="0">
                    <a:solidFill>
                      <a:schemeClr val="bg1">
                        <a:lumMod val="75000"/>
                      </a:schemeClr>
                    </a:solidFill>
                  </a:rPr>
                  <a:t> Assembly</a:t>
                </a: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CBB67597-44F5-5D2C-E632-8664EBEA0EBF}"/>
                  </a:ext>
                </a:extLst>
              </p:cNvPr>
              <p:cNvSpPr txBox="1"/>
              <p:nvPr/>
            </p:nvSpPr>
            <p:spPr>
              <a:xfrm>
                <a:off x="2803557" y="3435489"/>
                <a:ext cx="3854322" cy="506447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91440" tIns="91440" rIns="91440" bIns="91440" numCol="1" spcCol="1270" anchor="t" anchorCtr="0">
                <a:noAutofit/>
              </a:bodyPr>
              <a:lstStyle/>
              <a:p>
                <a:pPr lvl="0"/>
                <a:r>
                  <a:rPr lang="it-IT" sz="2400" dirty="0" err="1">
                    <a:solidFill>
                      <a:schemeClr val="bg1">
                        <a:lumMod val="75000"/>
                      </a:schemeClr>
                    </a:solidFill>
                  </a:rPr>
                  <a:t>Modules</a:t>
                </a:r>
                <a:r>
                  <a:rPr lang="it-IT" sz="2400" dirty="0">
                    <a:solidFill>
                      <a:schemeClr val="bg1">
                        <a:lumMod val="75000"/>
                      </a:schemeClr>
                    </a:solidFill>
                  </a:rPr>
                  <a:t> manufacturing</a:t>
                </a:r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90F48EA-C5BE-8A47-34A8-9C145663A248}"/>
                  </a:ext>
                </a:extLst>
              </p:cNvPr>
              <p:cNvSpPr txBox="1"/>
              <p:nvPr/>
            </p:nvSpPr>
            <p:spPr>
              <a:xfrm>
                <a:off x="2803557" y="4698469"/>
                <a:ext cx="3854322" cy="506447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91440" tIns="91440" rIns="91440" bIns="91440" numCol="1" spcCol="1270" anchor="t" anchorCtr="0">
                <a:noAutofit/>
              </a:bodyPr>
              <a:lstStyle/>
              <a:p>
                <a:pPr lvl="0"/>
                <a:r>
                  <a:rPr lang="it-IT" sz="2400" dirty="0" err="1">
                    <a:solidFill>
                      <a:schemeClr val="bg1">
                        <a:lumMod val="75000"/>
                      </a:schemeClr>
                    </a:solidFill>
                  </a:rPr>
                  <a:t>Final</a:t>
                </a:r>
                <a:r>
                  <a:rPr lang="it-IT" sz="2400" dirty="0">
                    <a:solidFill>
                      <a:schemeClr val="bg1">
                        <a:lumMod val="75000"/>
                      </a:schemeClr>
                    </a:solidFill>
                  </a:rPr>
                  <a:t> Testing</a:t>
                </a:r>
              </a:p>
            </p:txBody>
          </p: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84D61F60-2413-6797-DBB0-FD22B242DE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27453" y="3978127"/>
                <a:ext cx="7527861" cy="0"/>
              </a:xfrm>
              <a:prstGeom prst="line">
                <a:avLst/>
              </a:prstGeom>
              <a:ln w="12700">
                <a:solidFill>
                  <a:srgbClr val="4297B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F3866CD4-F747-AD0E-CBBA-A24B91973FF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63805" y="4698469"/>
                <a:ext cx="7527861" cy="0"/>
              </a:xfrm>
              <a:prstGeom prst="line">
                <a:avLst/>
              </a:prstGeom>
              <a:ln w="12700">
                <a:solidFill>
                  <a:srgbClr val="4297B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9A44BB5B-B53B-B281-93C3-0EACC46B22E8}"/>
                  </a:ext>
                </a:extLst>
              </p:cNvPr>
              <p:cNvCxnSpPr/>
              <p:nvPr/>
            </p:nvCxnSpPr>
            <p:spPr>
              <a:xfrm>
                <a:off x="1007966" y="5302250"/>
                <a:ext cx="9283700" cy="0"/>
              </a:xfrm>
              <a:prstGeom prst="line">
                <a:avLst/>
              </a:prstGeom>
              <a:ln w="19050">
                <a:solidFill>
                  <a:srgbClr val="4297B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0F2D68F2-2D06-F119-B572-09D25A41F712}"/>
                </a:ext>
              </a:extLst>
            </p:cNvPr>
            <p:cNvSpPr/>
            <p:nvPr/>
          </p:nvSpPr>
          <p:spPr>
            <a:xfrm>
              <a:off x="10164794" y="1296814"/>
              <a:ext cx="1111186" cy="416767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0071481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B6964-4C9A-7BFC-3712-5AEA9336F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69C663-BC73-7CC6-6F30-08189C8AC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L. Balconi | Young researchers grant</a:t>
            </a:r>
            <a:endParaRPr kumimoji="0" lang="it-IT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87C5D1-8941-7E36-4130-DB86C608F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D6D798-1883-974D-96D0-4E82B243DEDE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1">
            <a:extLst>
              <a:ext uri="{FF2B5EF4-FFF2-40B4-BE49-F238E27FC236}">
                <a16:creationId xmlns:a16="http://schemas.microsoft.com/office/drawing/2014/main" id="{6AEB3521-B4E2-6EED-3F8F-6258B3234A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435" r="51573"/>
          <a:stretch/>
        </p:blipFill>
        <p:spPr bwMode="auto">
          <a:xfrm>
            <a:off x="8068930" y="1870853"/>
            <a:ext cx="3229913" cy="25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7103581-9D21-DD9B-EFEA-1A7FF829F588}"/>
              </a:ext>
            </a:extLst>
          </p:cNvPr>
          <p:cNvSpPr txBox="1"/>
          <p:nvPr/>
        </p:nvSpPr>
        <p:spPr>
          <a:xfrm>
            <a:off x="8623170" y="1467901"/>
            <a:ext cx="34933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i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Courtesy</a:t>
            </a:r>
            <a:r>
              <a:rPr lang="it-IT" sz="1400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of C. Senatore, University of Geneva</a:t>
            </a:r>
            <a:endParaRPr lang="en-GB" sz="1400" i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E8746B-FB74-D65F-9F70-80FBF4EEC00D}"/>
              </a:ext>
            </a:extLst>
          </p:cNvPr>
          <p:cNvSpPr txBox="1"/>
          <p:nvPr/>
        </p:nvSpPr>
        <p:spPr>
          <a:xfrm>
            <a:off x="830580" y="1642878"/>
            <a:ext cx="5417820" cy="4170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Electrical</a:t>
            </a:r>
            <a:r>
              <a:rPr kumimoji="0" lang="it-IT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it-IT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properties</a:t>
            </a:r>
            <a:r>
              <a:rPr kumimoji="0" lang="it-IT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are </a:t>
            </a:r>
            <a:r>
              <a:rPr kumimoji="0" lang="it-IT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fundamental</a:t>
            </a:r>
            <a:r>
              <a:rPr kumimoji="0" lang="it-IT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to drive the </a:t>
            </a:r>
            <a:r>
              <a:rPr kumimoji="0" lang="it-IT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electromagnetic</a:t>
            </a:r>
            <a:r>
              <a:rPr kumimoji="0" lang="it-IT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design of </a:t>
            </a:r>
            <a:r>
              <a:rPr kumimoji="0" lang="it-IT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each</a:t>
            </a:r>
            <a:r>
              <a:rPr kumimoji="0" lang="it-IT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it-IT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module</a:t>
            </a:r>
            <a:r>
              <a:rPr kumimoji="0" lang="it-IT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  <a:p>
            <a:pPr marL="342900" indent="-342900"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it-IT" sz="2000" dirty="0">
                <a:solidFill>
                  <a:srgbClr val="4297B7"/>
                </a:solidFill>
              </a:rPr>
              <a:t>HTS tape </a:t>
            </a:r>
            <a:r>
              <a:rPr lang="it-IT" sz="2000" dirty="0" err="1">
                <a:solidFill>
                  <a:srgbClr val="4297B7"/>
                </a:solidFill>
              </a:rPr>
              <a:t>critical</a:t>
            </a:r>
            <a:r>
              <a:rPr lang="it-IT" sz="2000" dirty="0">
                <a:solidFill>
                  <a:srgbClr val="4297B7"/>
                </a:solidFill>
              </a:rPr>
              <a:t> </a:t>
            </a:r>
            <a:r>
              <a:rPr lang="it-IT" sz="2000" dirty="0" err="1">
                <a:solidFill>
                  <a:srgbClr val="4297B7"/>
                </a:solidFill>
              </a:rPr>
              <a:t>current</a:t>
            </a:r>
            <a:r>
              <a:rPr lang="it-IT" sz="2000" dirty="0">
                <a:solidFill>
                  <a:srgbClr val="4297B7"/>
                </a:solidFill>
              </a:rPr>
              <a:t> </a:t>
            </a:r>
            <a:r>
              <a:rPr lang="it-IT" sz="2000" dirty="0" err="1">
                <a:solidFill>
                  <a:srgbClr val="4297B7"/>
                </a:solidFill>
              </a:rPr>
              <a:t>dependencies</a:t>
            </a:r>
            <a:r>
              <a:rPr lang="it-IT" sz="2000" dirty="0">
                <a:solidFill>
                  <a:srgbClr val="4297B7"/>
                </a:solidFill>
              </a:rPr>
              <a:t>: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it-IT" sz="2000" dirty="0"/>
              <a:t>Temperature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sz="2000" dirty="0" err="1"/>
              <a:t>Magnetic</a:t>
            </a:r>
            <a:r>
              <a:rPr lang="it-IT" sz="2000" dirty="0"/>
              <a:t> field</a:t>
            </a:r>
          </a:p>
          <a:p>
            <a:pPr marL="800100" lvl="1" indent="-3429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it-IT" sz="2000" dirty="0" err="1"/>
              <a:t>Angular</a:t>
            </a:r>
            <a:r>
              <a:rPr lang="it-IT" sz="2000" dirty="0"/>
              <a:t> </a:t>
            </a:r>
          </a:p>
          <a:p>
            <a:pPr marL="457200" indent="-457200"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en-GB" sz="2000" dirty="0">
                <a:solidFill>
                  <a:srgbClr val="4297B7"/>
                </a:solidFill>
              </a:rPr>
              <a:t>Optimization of resistive splices</a:t>
            </a:r>
          </a:p>
          <a:p>
            <a:pPr marL="914400" lvl="1" indent="-457200">
              <a:spcAft>
                <a:spcPts val="1200"/>
              </a:spcAft>
              <a:buFont typeface="+mj-lt"/>
              <a:buAutoNum type="arabicPeriod"/>
            </a:pPr>
            <a:r>
              <a:rPr lang="it-IT" sz="2000" dirty="0" err="1"/>
              <a:t>Within</a:t>
            </a:r>
            <a:r>
              <a:rPr lang="it-IT" sz="2000" dirty="0"/>
              <a:t> </a:t>
            </a:r>
            <a:r>
              <a:rPr lang="it-IT" sz="2000" dirty="0" err="1"/>
              <a:t>each</a:t>
            </a:r>
            <a:r>
              <a:rPr lang="it-IT" sz="2000" dirty="0"/>
              <a:t> </a:t>
            </a:r>
            <a:r>
              <a:rPr lang="it-IT" sz="2000" dirty="0" err="1"/>
              <a:t>module</a:t>
            </a:r>
            <a:endParaRPr lang="it-IT" sz="2000" dirty="0"/>
          </a:p>
          <a:p>
            <a:pPr marL="914400" lvl="1" indent="-457200">
              <a:spcAft>
                <a:spcPts val="1200"/>
              </a:spcAft>
              <a:buFont typeface="+mj-lt"/>
              <a:buAutoNum type="arabicPeriod"/>
            </a:pPr>
            <a:r>
              <a:rPr lang="it-IT" sz="2000" dirty="0"/>
              <a:t>Inter-</a:t>
            </a:r>
            <a:r>
              <a:rPr lang="it-IT" sz="2000" dirty="0" err="1"/>
              <a:t>module</a:t>
            </a:r>
            <a:endParaRPr lang="it-IT" sz="2000" dirty="0"/>
          </a:p>
        </p:txBody>
      </p:sp>
      <p:sp>
        <p:nvSpPr>
          <p:cNvPr id="6" name="Date Placeholder 1">
            <a:extLst>
              <a:ext uri="{FF2B5EF4-FFF2-40B4-BE49-F238E27FC236}">
                <a16:creationId xmlns:a16="http://schemas.microsoft.com/office/drawing/2014/main" id="{D5B07CC4-2198-91FF-87A3-F848B419A3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it-IT" dirty="0"/>
              <a:t>01/12/2025</a:t>
            </a:r>
          </a:p>
        </p:txBody>
      </p:sp>
      <p:pic>
        <p:nvPicPr>
          <p:cNvPr id="9" name="Picture 12" descr="A white and red object with a red edge&#10;&#10;AI-generated content may be incorrect.">
            <a:extLst>
              <a:ext uri="{FF2B5EF4-FFF2-40B4-BE49-F238E27FC236}">
                <a16:creationId xmlns:a16="http://schemas.microsoft.com/office/drawing/2014/main" id="{5EB8B770-C434-EAF6-4987-39BA2D27C73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844"/>
          <a:stretch/>
        </p:blipFill>
        <p:spPr>
          <a:xfrm>
            <a:off x="6293224" y="1450844"/>
            <a:ext cx="1153586" cy="2647641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4DDEDE6F-EA3A-FE17-66ED-95E6B203A8AF}"/>
              </a:ext>
            </a:extLst>
          </p:cNvPr>
          <p:cNvGrpSpPr/>
          <p:nvPr/>
        </p:nvGrpSpPr>
        <p:grpSpPr>
          <a:xfrm>
            <a:off x="6039163" y="4487163"/>
            <a:ext cx="5574988" cy="1869186"/>
            <a:chOff x="5375790" y="2160196"/>
            <a:chExt cx="10352470" cy="312175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7379A4CE-483B-5875-4F1A-6334BF80F83D}"/>
                </a:ext>
              </a:extLst>
            </p:cNvPr>
            <p:cNvGrpSpPr/>
            <p:nvPr/>
          </p:nvGrpSpPr>
          <p:grpSpPr>
            <a:xfrm>
              <a:off x="5375790" y="2160196"/>
              <a:ext cx="10352470" cy="2557023"/>
              <a:chOff x="5515287" y="1937768"/>
              <a:chExt cx="10352470" cy="2557023"/>
            </a:xfrm>
          </p:grpSpPr>
          <p:pic>
            <p:nvPicPr>
              <p:cNvPr id="20" name="Picture 19" descr="A metal triangle with a metal strip&#10;&#10;AI-generated content may be incorrect.">
                <a:extLst>
                  <a:ext uri="{FF2B5EF4-FFF2-40B4-BE49-F238E27FC236}">
                    <a16:creationId xmlns:a16="http://schemas.microsoft.com/office/drawing/2014/main" id="{E9FA5C14-9FF1-B55B-E433-20219718E6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3" t="36455" r="873" b="28639"/>
              <a:stretch>
                <a:fillRect/>
              </a:stretch>
            </p:blipFill>
            <p:spPr>
              <a:xfrm>
                <a:off x="11079279" y="3619904"/>
                <a:ext cx="4788478" cy="771502"/>
              </a:xfrm>
              <a:prstGeom prst="rect">
                <a:avLst/>
              </a:prstGeom>
            </p:spPr>
          </p:pic>
          <p:pic>
            <p:nvPicPr>
              <p:cNvPr id="21" name="Picture 20" descr="A group of orange rectangular objects&#10;&#10;AI-generated content may be incorrect.">
                <a:extLst>
                  <a:ext uri="{FF2B5EF4-FFF2-40B4-BE49-F238E27FC236}">
                    <a16:creationId xmlns:a16="http://schemas.microsoft.com/office/drawing/2014/main" id="{1C1E9A55-1115-9355-9A58-6591F0B9A7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61992"/>
              <a:stretch>
                <a:fillRect/>
              </a:stretch>
            </p:blipFill>
            <p:spPr>
              <a:xfrm>
                <a:off x="5620831" y="3332078"/>
                <a:ext cx="4751580" cy="1162713"/>
              </a:xfrm>
              <a:prstGeom prst="rect">
                <a:avLst/>
              </a:prstGeom>
            </p:spPr>
          </p:pic>
          <p:pic>
            <p:nvPicPr>
              <p:cNvPr id="22" name="Picture 21" descr="A group of orange rectangular objects&#10;&#10;AI-generated content may be incorrect.">
                <a:extLst>
                  <a:ext uri="{FF2B5EF4-FFF2-40B4-BE49-F238E27FC236}">
                    <a16:creationId xmlns:a16="http://schemas.microsoft.com/office/drawing/2014/main" id="{05F6E599-25BB-6B58-EDF8-B8E6F23C84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8692" b="38630"/>
              <a:stretch>
                <a:fillRect/>
              </a:stretch>
            </p:blipFill>
            <p:spPr>
              <a:xfrm>
                <a:off x="11079279" y="1937768"/>
                <a:ext cx="4688704" cy="986453"/>
              </a:xfrm>
              <a:prstGeom prst="rect">
                <a:avLst/>
              </a:prstGeom>
            </p:spPr>
          </p:pic>
          <p:pic>
            <p:nvPicPr>
              <p:cNvPr id="23" name="Picture 22" descr="A group of orange rectangular objects&#10;&#10;AI-generated content may be incorrect.">
                <a:extLst>
                  <a:ext uri="{FF2B5EF4-FFF2-40B4-BE49-F238E27FC236}">
                    <a16:creationId xmlns:a16="http://schemas.microsoft.com/office/drawing/2014/main" id="{666824C0-0528-AF60-DEF0-3A6E0948057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74987"/>
              <a:stretch>
                <a:fillRect/>
              </a:stretch>
            </p:blipFill>
            <p:spPr>
              <a:xfrm>
                <a:off x="5515287" y="2018552"/>
                <a:ext cx="5081256" cy="818286"/>
              </a:xfrm>
              <a:prstGeom prst="rect">
                <a:avLst/>
              </a:prstGeom>
            </p:spPr>
          </p:pic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C106F91-FD15-50CB-F0FA-5CC4694E2BFF}"/>
                </a:ext>
              </a:extLst>
            </p:cNvPr>
            <p:cNvSpPr txBox="1"/>
            <p:nvPr/>
          </p:nvSpPr>
          <p:spPr>
            <a:xfrm>
              <a:off x="6741530" y="2989431"/>
              <a:ext cx="2560291" cy="565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600" b="1" dirty="0">
                  <a:solidFill>
                    <a:srgbClr val="4297B7"/>
                  </a:solidFill>
                </a:rPr>
                <a:t>Simple </a:t>
              </a:r>
              <a:r>
                <a:rPr lang="it-IT" sz="1600" b="1" dirty="0" err="1">
                  <a:solidFill>
                    <a:srgbClr val="4297B7"/>
                  </a:solidFill>
                </a:rPr>
                <a:t>Flat</a:t>
              </a:r>
              <a:endParaRPr lang="en-GB" sz="1600" b="1" dirty="0">
                <a:solidFill>
                  <a:srgbClr val="4297B7"/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D67B0D5-904C-52A0-0DE3-2DA3D659BE69}"/>
                </a:ext>
              </a:extLst>
            </p:cNvPr>
            <p:cNvSpPr txBox="1"/>
            <p:nvPr/>
          </p:nvSpPr>
          <p:spPr>
            <a:xfrm>
              <a:off x="12945564" y="2963730"/>
              <a:ext cx="1654627" cy="6168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600" b="1" dirty="0" err="1">
                  <a:solidFill>
                    <a:srgbClr val="4297B7"/>
                  </a:solidFill>
                </a:rPr>
                <a:t>Lap</a:t>
              </a:r>
              <a:r>
                <a:rPr lang="it-IT" dirty="0"/>
                <a:t> </a:t>
              </a:r>
              <a:endParaRPr lang="en-GB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BB97E9A-354E-0BD2-D9C0-A8BC387A433A}"/>
                </a:ext>
              </a:extLst>
            </p:cNvPr>
            <p:cNvSpPr txBox="1"/>
            <p:nvPr/>
          </p:nvSpPr>
          <p:spPr>
            <a:xfrm>
              <a:off x="7162406" y="4629904"/>
              <a:ext cx="1654627" cy="6168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600" b="1" dirty="0">
                  <a:solidFill>
                    <a:srgbClr val="4297B7"/>
                  </a:solidFill>
                </a:rPr>
                <a:t>Bridge</a:t>
              </a:r>
              <a:r>
                <a:rPr lang="it-IT" dirty="0">
                  <a:solidFill>
                    <a:srgbClr val="4297B7"/>
                  </a:solidFill>
                </a:rPr>
                <a:t> </a:t>
              </a:r>
              <a:endParaRPr lang="en-GB" dirty="0">
                <a:solidFill>
                  <a:srgbClr val="4297B7"/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0951ED3-D083-3CB6-EE13-A6B7E43F0501}"/>
                </a:ext>
              </a:extLst>
            </p:cNvPr>
            <p:cNvSpPr txBox="1"/>
            <p:nvPr/>
          </p:nvSpPr>
          <p:spPr>
            <a:xfrm>
              <a:off x="12345099" y="4716525"/>
              <a:ext cx="3033639" cy="565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600" b="1" dirty="0">
                  <a:solidFill>
                    <a:srgbClr val="4297B7"/>
                  </a:solidFill>
                </a:rPr>
                <a:t>Joint </a:t>
              </a:r>
              <a:r>
                <a:rPr lang="it-IT" sz="1600" b="1" dirty="0" err="1">
                  <a:solidFill>
                    <a:srgbClr val="4297B7"/>
                  </a:solidFill>
                </a:rPr>
                <a:t>Failure</a:t>
              </a:r>
              <a:r>
                <a:rPr lang="it-IT" sz="1600" dirty="0">
                  <a:solidFill>
                    <a:srgbClr val="4297B7"/>
                  </a:solidFill>
                </a:rPr>
                <a:t> </a:t>
              </a:r>
              <a:endParaRPr lang="en-GB" sz="1600" dirty="0">
                <a:solidFill>
                  <a:srgbClr val="4297B7"/>
                </a:solidFill>
              </a:endParaRPr>
            </a:p>
          </p:txBody>
        </p:sp>
      </p:grpSp>
      <p:cxnSp>
        <p:nvCxnSpPr>
          <p:cNvPr id="27" name="Connettore 2 6">
            <a:extLst>
              <a:ext uri="{FF2B5EF4-FFF2-40B4-BE49-F238E27FC236}">
                <a16:creationId xmlns:a16="http://schemas.microsoft.com/office/drawing/2014/main" id="{FB5C2933-5DB5-E578-CDE1-D8F375F09ED6}"/>
              </a:ext>
            </a:extLst>
          </p:cNvPr>
          <p:cNvCxnSpPr>
            <a:cxnSpLocks/>
          </p:cNvCxnSpPr>
          <p:nvPr/>
        </p:nvCxnSpPr>
        <p:spPr>
          <a:xfrm flipH="1" flipV="1">
            <a:off x="6963392" y="2774664"/>
            <a:ext cx="366574" cy="225846"/>
          </a:xfrm>
          <a:prstGeom prst="straightConnector1">
            <a:avLst/>
          </a:prstGeom>
          <a:ln w="19050">
            <a:solidFill>
              <a:srgbClr val="4297B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02D46809-856B-079B-7457-E28A119CC4DF}"/>
              </a:ext>
            </a:extLst>
          </p:cNvPr>
          <p:cNvSpPr txBox="1"/>
          <p:nvPr/>
        </p:nvSpPr>
        <p:spPr>
          <a:xfrm>
            <a:off x="7250306" y="2161427"/>
            <a:ext cx="5155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/>
              <a:t>HTS tape</a:t>
            </a:r>
            <a:endParaRPr lang="en-GB" sz="14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0BBC0AD-9131-DAA1-271A-2A611E36B442}"/>
              </a:ext>
            </a:extLst>
          </p:cNvPr>
          <p:cNvSpPr txBox="1"/>
          <p:nvPr/>
        </p:nvSpPr>
        <p:spPr>
          <a:xfrm>
            <a:off x="7310997" y="2952993"/>
            <a:ext cx="10561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 err="1"/>
              <a:t>Insulating</a:t>
            </a:r>
            <a:r>
              <a:rPr lang="it-IT" sz="1400" dirty="0"/>
              <a:t> guide</a:t>
            </a:r>
            <a:endParaRPr lang="en-GB" sz="1400" dirty="0"/>
          </a:p>
        </p:txBody>
      </p:sp>
      <p:cxnSp>
        <p:nvCxnSpPr>
          <p:cNvPr id="32" name="Connettore 2 6">
            <a:extLst>
              <a:ext uri="{FF2B5EF4-FFF2-40B4-BE49-F238E27FC236}">
                <a16:creationId xmlns:a16="http://schemas.microsoft.com/office/drawing/2014/main" id="{CD0CD96F-16D8-32EC-A7BD-7A3401673DE9}"/>
              </a:ext>
            </a:extLst>
          </p:cNvPr>
          <p:cNvCxnSpPr>
            <a:cxnSpLocks/>
          </p:cNvCxnSpPr>
          <p:nvPr/>
        </p:nvCxnSpPr>
        <p:spPr>
          <a:xfrm flipH="1" flipV="1">
            <a:off x="6957941" y="1996140"/>
            <a:ext cx="366574" cy="225846"/>
          </a:xfrm>
          <a:prstGeom prst="straightConnector1">
            <a:avLst/>
          </a:prstGeom>
          <a:ln w="19050">
            <a:solidFill>
              <a:srgbClr val="4297B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itle 1">
            <a:extLst>
              <a:ext uri="{FF2B5EF4-FFF2-40B4-BE49-F238E27FC236}">
                <a16:creationId xmlns:a16="http://schemas.microsoft.com/office/drawing/2014/main" id="{FC3D171D-11D5-F5BD-339C-4A997ED8C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580" y="317315"/>
            <a:ext cx="11171767" cy="1325563"/>
          </a:xfrm>
        </p:spPr>
        <p:txBody>
          <a:bodyPr/>
          <a:lstStyle/>
          <a:p>
            <a:r>
              <a:rPr lang="it-IT" dirty="0" err="1"/>
              <a:t>Phase</a:t>
            </a:r>
            <a:r>
              <a:rPr lang="it-IT" dirty="0"/>
              <a:t> 1: </a:t>
            </a:r>
            <a:r>
              <a:rPr lang="it-IT" dirty="0" err="1"/>
              <a:t>Characterization</a:t>
            </a:r>
            <a:r>
              <a:rPr lang="it-IT" dirty="0"/>
              <a:t> of HTS tape </a:t>
            </a:r>
            <a:br>
              <a:rPr lang="it-IT" dirty="0"/>
            </a:br>
            <a:r>
              <a:rPr lang="it-IT" sz="3200" dirty="0" err="1"/>
              <a:t>Electrical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547340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05752-246C-6B98-5AEC-E56760547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FC416-28F9-FB0C-F169-6483BCF19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Roadmap of activities for ECHO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F0A508-2BE8-77FD-D47D-66A95FBB3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L. Balconi | Young researchers grant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8C40F4-BCD8-CF6C-1F38-861C19DFA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6D798-1883-974D-96D0-4E82B243DEDE}" type="slidenum">
              <a:rPr lang="it-IT" smtClean="0"/>
              <a:t>12</a:t>
            </a:fld>
            <a:endParaRPr lang="it-IT"/>
          </a:p>
        </p:txBody>
      </p:sp>
      <p:sp>
        <p:nvSpPr>
          <p:cNvPr id="7" name="Date Placeholder 1">
            <a:extLst>
              <a:ext uri="{FF2B5EF4-FFF2-40B4-BE49-F238E27FC236}">
                <a16:creationId xmlns:a16="http://schemas.microsoft.com/office/drawing/2014/main" id="{6418B1EF-FC68-49F5-5589-2B50582A3B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it-IT" dirty="0"/>
              <a:t>01/12/2025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0642807-4AF5-F557-CD25-985186EE1132}"/>
              </a:ext>
            </a:extLst>
          </p:cNvPr>
          <p:cNvGrpSpPr/>
          <p:nvPr/>
        </p:nvGrpSpPr>
        <p:grpSpPr>
          <a:xfrm>
            <a:off x="972360" y="1345162"/>
            <a:ext cx="10247280" cy="4167676"/>
            <a:chOff x="1028700" y="1296814"/>
            <a:chExt cx="10247280" cy="4167676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DE4DBEA-485F-B545-B162-3C54CA540502}"/>
                </a:ext>
              </a:extLst>
            </p:cNvPr>
            <p:cNvGrpSpPr/>
            <p:nvPr/>
          </p:nvGrpSpPr>
          <p:grpSpPr>
            <a:xfrm>
              <a:off x="1028700" y="1690688"/>
              <a:ext cx="9332816" cy="3727450"/>
              <a:chOff x="958850" y="1574800"/>
              <a:chExt cx="9332816" cy="3727450"/>
            </a:xfrm>
          </p:grpSpPr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7A416A6-B5DE-F130-C174-710C8685F2C4}"/>
                  </a:ext>
                </a:extLst>
              </p:cNvPr>
              <p:cNvSpPr txBox="1"/>
              <p:nvPr/>
            </p:nvSpPr>
            <p:spPr>
              <a:xfrm>
                <a:off x="958850" y="1779345"/>
                <a:ext cx="2057400" cy="535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14224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it-IT" sz="3200" b="1" dirty="0" err="1">
                    <a:solidFill>
                      <a:srgbClr val="4297B7"/>
                    </a:solidFill>
                    <a:latin typeface="Calibri Light" panose="020F0302020204030204"/>
                  </a:rPr>
                  <a:t>Phase</a:t>
                </a:r>
                <a:r>
                  <a:rPr lang="it-IT" sz="3200" b="1" dirty="0">
                    <a:solidFill>
                      <a:srgbClr val="4297B7"/>
                    </a:solidFill>
                    <a:latin typeface="Calibri Light" panose="020F0302020204030204"/>
                  </a:rPr>
                  <a:t> 1</a:t>
                </a:r>
                <a:endParaRPr lang="en-GB" sz="3200" b="1" dirty="0">
                  <a:solidFill>
                    <a:srgbClr val="4297B7"/>
                  </a:solidFill>
                  <a:latin typeface="Calibri Light" panose="020F0302020204030204"/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2CD7E657-56A7-A5C5-05C5-25B8FD988755}"/>
                  </a:ext>
                </a:extLst>
              </p:cNvPr>
              <p:cNvSpPr/>
              <p:nvPr/>
            </p:nvSpPr>
            <p:spPr>
              <a:xfrm>
                <a:off x="2714689" y="1818023"/>
                <a:ext cx="3854322" cy="899917"/>
              </a:xfrm>
              <a:prstGeom prst="rect">
                <a:avLst/>
              </a:pr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GB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EC0490F-EC45-62F9-1263-D16245A1DE23}"/>
                  </a:ext>
                </a:extLst>
              </p:cNvPr>
              <p:cNvSpPr txBox="1"/>
              <p:nvPr/>
            </p:nvSpPr>
            <p:spPr>
              <a:xfrm>
                <a:off x="2713037" y="1817573"/>
                <a:ext cx="3854322" cy="476577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91440" tIns="91440" rIns="91440" bIns="91440" numCol="1" spcCol="1270" anchor="t" anchorCtr="0">
                <a:noAutofit/>
              </a:bodyPr>
              <a:lstStyle/>
              <a:p>
                <a:pPr marL="0" lvl="0" indent="0" algn="l" defTabSz="10668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it-IT" sz="2400" kern="1200" dirty="0" err="1"/>
                  <a:t>Characterization</a:t>
                </a:r>
                <a:r>
                  <a:rPr lang="it-IT" sz="2400" kern="1200" dirty="0"/>
                  <a:t> of HTS tape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B82E143-E848-CE3C-5C9B-51E506E2F163}"/>
                  </a:ext>
                </a:extLst>
              </p:cNvPr>
              <p:cNvSpPr txBox="1"/>
              <p:nvPr/>
            </p:nvSpPr>
            <p:spPr>
              <a:xfrm>
                <a:off x="958850" y="3380652"/>
                <a:ext cx="20574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3200" b="1" dirty="0" err="1">
                    <a:solidFill>
                      <a:srgbClr val="C2E1ED"/>
                    </a:solidFill>
                    <a:latin typeface="Calibri Light" panose="020F0302020204030204"/>
                  </a:rPr>
                  <a:t>Phase</a:t>
                </a:r>
                <a:r>
                  <a:rPr lang="it-IT" sz="3200" b="1" dirty="0">
                    <a:solidFill>
                      <a:srgbClr val="C2E1ED"/>
                    </a:solidFill>
                    <a:latin typeface="Calibri Light" panose="020F0302020204030204"/>
                  </a:rPr>
                  <a:t> 2</a:t>
                </a:r>
                <a:endParaRPr lang="en-GB" sz="3200" b="1" dirty="0">
                  <a:solidFill>
                    <a:srgbClr val="C2E1ED"/>
                  </a:solidFill>
                  <a:latin typeface="Calibri Light" panose="020F0302020204030204"/>
                </a:endParaRPr>
              </a:p>
            </p:txBody>
          </p: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0585A39E-34A7-0200-B49E-C3BFD8C29708}"/>
                  </a:ext>
                </a:extLst>
              </p:cNvPr>
              <p:cNvGrpSpPr/>
              <p:nvPr/>
            </p:nvGrpSpPr>
            <p:grpSpPr>
              <a:xfrm>
                <a:off x="6476840" y="1746586"/>
                <a:ext cx="3203639" cy="646332"/>
                <a:chOff x="6476840" y="1756437"/>
                <a:chExt cx="3203639" cy="646332"/>
              </a:xfrm>
            </p:grpSpPr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746AE0AB-7B6E-8BD8-9B10-54E4EB87F52E}"/>
                    </a:ext>
                  </a:extLst>
                </p:cNvPr>
                <p:cNvSpPr txBox="1"/>
                <p:nvPr/>
              </p:nvSpPr>
              <p:spPr>
                <a:xfrm>
                  <a:off x="6657879" y="1756437"/>
                  <a:ext cx="3022600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285750" indent="-285750">
                    <a:buClr>
                      <a:srgbClr val="4297B7"/>
                    </a:buClr>
                    <a:buFont typeface="Arial" panose="020B0604020202020204" pitchFamily="34" charset="0"/>
                    <a:buChar char="•"/>
                  </a:pPr>
                  <a:r>
                    <a:rPr lang="it-IT" dirty="0" err="1">
                      <a:solidFill>
                        <a:schemeClr val="bg1">
                          <a:lumMod val="75000"/>
                        </a:schemeClr>
                      </a:solidFill>
                    </a:rPr>
                    <a:t>Electrical</a:t>
                  </a:r>
                  <a:endParaRPr lang="it-IT" dirty="0">
                    <a:solidFill>
                      <a:schemeClr val="bg1">
                        <a:lumMod val="75000"/>
                      </a:schemeClr>
                    </a:solidFill>
                  </a:endParaRPr>
                </a:p>
                <a:p>
                  <a:pPr marL="285750" indent="-285750">
                    <a:buClr>
                      <a:srgbClr val="4297B7"/>
                    </a:buClr>
                    <a:buFont typeface="Arial" panose="020B0604020202020204" pitchFamily="34" charset="0"/>
                    <a:buChar char="•"/>
                  </a:pPr>
                  <a:r>
                    <a:rPr lang="it-IT" dirty="0"/>
                    <a:t>Thermal and </a:t>
                  </a:r>
                  <a:r>
                    <a:rPr lang="it-IT" dirty="0" err="1"/>
                    <a:t>Mechanical</a:t>
                  </a:r>
                  <a:endParaRPr lang="en-GB" dirty="0"/>
                </a:p>
              </p:txBody>
            </p:sp>
            <p:sp>
              <p:nvSpPr>
                <p:cNvPr id="45" name="Left Brace 44">
                  <a:extLst>
                    <a:ext uri="{FF2B5EF4-FFF2-40B4-BE49-F238E27FC236}">
                      <a16:creationId xmlns:a16="http://schemas.microsoft.com/office/drawing/2014/main" id="{2CC1F13E-534E-5904-12D3-265C31C7D0F1}"/>
                    </a:ext>
                  </a:extLst>
                </p:cNvPr>
                <p:cNvSpPr/>
                <p:nvPr/>
              </p:nvSpPr>
              <p:spPr>
                <a:xfrm>
                  <a:off x="6476840" y="1756438"/>
                  <a:ext cx="181039" cy="646331"/>
                </a:xfrm>
                <a:prstGeom prst="leftBrace">
                  <a:avLst>
                    <a:gd name="adj1" fmla="val 41990"/>
                    <a:gd name="adj2" fmla="val 49375"/>
                  </a:avLst>
                </a:prstGeom>
                <a:ln w="28575">
                  <a:solidFill>
                    <a:srgbClr val="4297B7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2B225F83-5A7D-5E12-715D-0A986D69E52C}"/>
                  </a:ext>
                </a:extLst>
              </p:cNvPr>
              <p:cNvCxnSpPr/>
              <p:nvPr/>
            </p:nvCxnSpPr>
            <p:spPr>
              <a:xfrm>
                <a:off x="971614" y="3276600"/>
                <a:ext cx="9283700" cy="0"/>
              </a:xfrm>
              <a:prstGeom prst="line">
                <a:avLst/>
              </a:prstGeom>
              <a:ln w="19050">
                <a:solidFill>
                  <a:srgbClr val="4297B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A0758401-3EF2-2575-5F6F-EC85746DE3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14689" y="2559050"/>
                <a:ext cx="7527861" cy="0"/>
              </a:xfrm>
              <a:prstGeom prst="line">
                <a:avLst/>
              </a:prstGeom>
              <a:ln w="12700">
                <a:solidFill>
                  <a:srgbClr val="4297B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02C27483-0847-D4CB-AAFD-BFC4136AF6A0}"/>
                  </a:ext>
                </a:extLst>
              </p:cNvPr>
              <p:cNvCxnSpPr/>
              <p:nvPr/>
            </p:nvCxnSpPr>
            <p:spPr>
              <a:xfrm>
                <a:off x="971614" y="1574800"/>
                <a:ext cx="9283700" cy="0"/>
              </a:xfrm>
              <a:prstGeom prst="line">
                <a:avLst/>
              </a:prstGeom>
              <a:ln w="19050">
                <a:solidFill>
                  <a:srgbClr val="4297B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9A208F6-680A-B592-950C-06F5B607F0E0}"/>
                  </a:ext>
                </a:extLst>
              </p:cNvPr>
              <p:cNvSpPr txBox="1"/>
              <p:nvPr/>
            </p:nvSpPr>
            <p:spPr>
              <a:xfrm>
                <a:off x="2803557" y="4053482"/>
                <a:ext cx="3854322" cy="506447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91440" tIns="91440" rIns="91440" bIns="91440" numCol="1" spcCol="1270" anchor="t" anchorCtr="0">
                <a:noAutofit/>
              </a:bodyPr>
              <a:lstStyle/>
              <a:p>
                <a:pPr lvl="0"/>
                <a:r>
                  <a:rPr lang="it-IT" sz="2400" dirty="0" err="1">
                    <a:solidFill>
                      <a:schemeClr val="bg1">
                        <a:lumMod val="75000"/>
                      </a:schemeClr>
                    </a:solidFill>
                  </a:rPr>
                  <a:t>Mechanical</a:t>
                </a:r>
                <a:r>
                  <a:rPr lang="it-IT" sz="2400" dirty="0">
                    <a:solidFill>
                      <a:schemeClr val="bg1">
                        <a:lumMod val="75000"/>
                      </a:schemeClr>
                    </a:solidFill>
                  </a:rPr>
                  <a:t> Assembly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9CD2B38-D7D5-CE26-C160-9EC9F6E14E7A}"/>
                  </a:ext>
                </a:extLst>
              </p:cNvPr>
              <p:cNvSpPr txBox="1"/>
              <p:nvPr/>
            </p:nvSpPr>
            <p:spPr>
              <a:xfrm>
                <a:off x="2803557" y="3435489"/>
                <a:ext cx="3854322" cy="506447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91440" tIns="91440" rIns="91440" bIns="91440" numCol="1" spcCol="1270" anchor="t" anchorCtr="0">
                <a:noAutofit/>
              </a:bodyPr>
              <a:lstStyle/>
              <a:p>
                <a:pPr lvl="0"/>
                <a:r>
                  <a:rPr lang="it-IT" sz="2400" dirty="0" err="1">
                    <a:solidFill>
                      <a:schemeClr val="bg1">
                        <a:lumMod val="75000"/>
                      </a:schemeClr>
                    </a:solidFill>
                  </a:rPr>
                  <a:t>Modules</a:t>
                </a:r>
                <a:r>
                  <a:rPr lang="it-IT" sz="2400" dirty="0">
                    <a:solidFill>
                      <a:schemeClr val="bg1">
                        <a:lumMod val="75000"/>
                      </a:schemeClr>
                    </a:solidFill>
                  </a:rPr>
                  <a:t> manufacturing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3E332E7D-9E7A-387C-4AB2-FC673C99899E}"/>
                  </a:ext>
                </a:extLst>
              </p:cNvPr>
              <p:cNvSpPr txBox="1"/>
              <p:nvPr/>
            </p:nvSpPr>
            <p:spPr>
              <a:xfrm>
                <a:off x="2803557" y="4698469"/>
                <a:ext cx="3854322" cy="506447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91440" tIns="91440" rIns="91440" bIns="91440" numCol="1" spcCol="1270" anchor="t" anchorCtr="0">
                <a:noAutofit/>
              </a:bodyPr>
              <a:lstStyle/>
              <a:p>
                <a:pPr lvl="0"/>
                <a:r>
                  <a:rPr lang="it-IT" sz="2400" dirty="0" err="1">
                    <a:solidFill>
                      <a:schemeClr val="bg1">
                        <a:lumMod val="75000"/>
                      </a:schemeClr>
                    </a:solidFill>
                  </a:rPr>
                  <a:t>Final</a:t>
                </a:r>
                <a:r>
                  <a:rPr lang="it-IT" sz="2400" dirty="0">
                    <a:solidFill>
                      <a:schemeClr val="bg1">
                        <a:lumMod val="75000"/>
                      </a:schemeClr>
                    </a:solidFill>
                  </a:rPr>
                  <a:t> Testing</a:t>
                </a:r>
              </a:p>
            </p:txBody>
          </p: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38590219-E882-F215-27B2-D20C9FAFADF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27453" y="3978127"/>
                <a:ext cx="7527861" cy="0"/>
              </a:xfrm>
              <a:prstGeom prst="line">
                <a:avLst/>
              </a:prstGeom>
              <a:ln w="12700">
                <a:solidFill>
                  <a:srgbClr val="4297B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58556101-F39C-206E-2A50-63E897B9EE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63805" y="4698469"/>
                <a:ext cx="7527861" cy="0"/>
              </a:xfrm>
              <a:prstGeom prst="line">
                <a:avLst/>
              </a:prstGeom>
              <a:ln w="12700">
                <a:solidFill>
                  <a:srgbClr val="4297B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AA34060A-7932-ECBD-F3F2-05C9352AD509}"/>
                  </a:ext>
                </a:extLst>
              </p:cNvPr>
              <p:cNvCxnSpPr/>
              <p:nvPr/>
            </p:nvCxnSpPr>
            <p:spPr>
              <a:xfrm>
                <a:off x="1007966" y="5302250"/>
                <a:ext cx="9283700" cy="0"/>
              </a:xfrm>
              <a:prstGeom prst="line">
                <a:avLst/>
              </a:prstGeom>
              <a:ln w="19050">
                <a:solidFill>
                  <a:srgbClr val="4297B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F385373-835C-2B22-FC94-F20D33E27554}"/>
                </a:ext>
              </a:extLst>
            </p:cNvPr>
            <p:cNvSpPr/>
            <p:nvPr/>
          </p:nvSpPr>
          <p:spPr>
            <a:xfrm>
              <a:off x="10164794" y="1296814"/>
              <a:ext cx="1111186" cy="416767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5B1832C3-E2A5-B748-1785-A6CB93EB81C7}"/>
              </a:ext>
            </a:extLst>
          </p:cNvPr>
          <p:cNvSpPr txBox="1"/>
          <p:nvPr/>
        </p:nvSpPr>
        <p:spPr>
          <a:xfrm>
            <a:off x="2777314" y="2859035"/>
            <a:ext cx="5561045" cy="506447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91440" tIns="91440" rIns="91440" bIns="91440" numCol="1" spcCol="1270" anchor="t" anchorCtr="0">
            <a:noAutofit/>
          </a:bodyPr>
          <a:lstStyle/>
          <a:p>
            <a:pPr lvl="0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2400" dirty="0">
                <a:solidFill>
                  <a:schemeClr val="bg1">
                    <a:lumMod val="75000"/>
                  </a:schemeClr>
                </a:solidFill>
              </a:rPr>
              <a:t>Single </a:t>
            </a:r>
            <a:r>
              <a:rPr lang="it-IT" sz="2400" dirty="0" err="1">
                <a:solidFill>
                  <a:schemeClr val="bg1">
                    <a:lumMod val="75000"/>
                  </a:schemeClr>
                </a:solidFill>
              </a:rPr>
              <a:t>module</a:t>
            </a:r>
            <a:r>
              <a:rPr lang="it-IT" sz="2400" dirty="0">
                <a:solidFill>
                  <a:schemeClr val="bg1">
                    <a:lumMod val="75000"/>
                  </a:schemeClr>
                </a:solidFill>
              </a:rPr>
              <a:t> design and challenges</a:t>
            </a:r>
          </a:p>
        </p:txBody>
      </p:sp>
    </p:spTree>
    <p:extLst>
      <p:ext uri="{BB962C8B-B14F-4D97-AF65-F5344CB8AC3E}">
        <p14:creationId xmlns:p14="http://schemas.microsoft.com/office/powerpoint/2010/main" val="6047149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6C2ED-C68D-E4CB-9775-5CA224CEC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C9EFD2-BEEC-55CE-4D81-54A309277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L. Balconi | Young researchers grant</a:t>
            </a:r>
            <a:endParaRPr kumimoji="0" lang="it-IT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C485E4-3730-598C-BE0D-2A70C4F01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D6D798-1883-974D-96D0-4E82B243DEDE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Picture 8" descr="Close-up of a machine&#10;&#10;AI-generated content may be incorrect.">
            <a:extLst>
              <a:ext uri="{FF2B5EF4-FFF2-40B4-BE49-F238E27FC236}">
                <a16:creationId xmlns:a16="http://schemas.microsoft.com/office/drawing/2014/main" id="{25723AD2-0B9B-CD9F-2615-1409566CFB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875"/>
          <a:stretch>
            <a:fillRect/>
          </a:stretch>
        </p:blipFill>
        <p:spPr>
          <a:xfrm>
            <a:off x="9112646" y="3884852"/>
            <a:ext cx="2607770" cy="1994386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12" name="Picture 11" descr="Close-up of a machine&#10;&#10;AI-generated content may be incorrect.">
            <a:extLst>
              <a:ext uri="{FF2B5EF4-FFF2-40B4-BE49-F238E27FC236}">
                <a16:creationId xmlns:a16="http://schemas.microsoft.com/office/drawing/2014/main" id="{CED0386D-E79D-DE11-475D-F167839AEF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9" r="64139"/>
          <a:stretch>
            <a:fillRect/>
          </a:stretch>
        </p:blipFill>
        <p:spPr>
          <a:xfrm>
            <a:off x="9359837" y="1638858"/>
            <a:ext cx="2113389" cy="21222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68E52C32-A08B-E002-5AD0-D942B76F4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580" y="317315"/>
            <a:ext cx="11171767" cy="1325563"/>
          </a:xfrm>
        </p:spPr>
        <p:txBody>
          <a:bodyPr/>
          <a:lstStyle/>
          <a:p>
            <a:r>
              <a:rPr lang="it-IT" dirty="0" err="1"/>
              <a:t>Phase</a:t>
            </a:r>
            <a:r>
              <a:rPr lang="it-IT" dirty="0"/>
              <a:t> 1: </a:t>
            </a:r>
            <a:r>
              <a:rPr lang="it-IT" dirty="0" err="1"/>
              <a:t>Characterization</a:t>
            </a:r>
            <a:r>
              <a:rPr lang="it-IT" dirty="0"/>
              <a:t> of HTS tape </a:t>
            </a:r>
            <a:br>
              <a:rPr lang="it-IT" dirty="0"/>
            </a:br>
            <a:r>
              <a:rPr lang="it-IT" sz="3200" dirty="0"/>
              <a:t>Thermal and </a:t>
            </a:r>
            <a:r>
              <a:rPr lang="it-IT" sz="3200" dirty="0" err="1"/>
              <a:t>Mechanical</a:t>
            </a:r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736FD3-0FBE-F694-8773-647C04B2DB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it-IT" dirty="0"/>
              <a:t>01/12/2025</a:t>
            </a:r>
          </a:p>
        </p:txBody>
      </p:sp>
      <p:pic>
        <p:nvPicPr>
          <p:cNvPr id="14" name="Picture 13" descr="A close-up of a machine&#10;&#10;AI-generated content may be incorrect.">
            <a:extLst>
              <a:ext uri="{FF2B5EF4-FFF2-40B4-BE49-F238E27FC236}">
                <a16:creationId xmlns:a16="http://schemas.microsoft.com/office/drawing/2014/main" id="{4E96940B-B776-B1AB-E36C-507208DFBE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866" t="12382" r="3365" b="1370"/>
          <a:stretch>
            <a:fillRect/>
          </a:stretch>
        </p:blipFill>
        <p:spPr>
          <a:xfrm>
            <a:off x="6602863" y="1642878"/>
            <a:ext cx="2410194" cy="4236360"/>
          </a:xfrm>
          <a:prstGeom prst="rect">
            <a:avLst/>
          </a:prstGeom>
          <a:effectLst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3BF1907-C4AB-8867-FC09-CBA7A61FED73}"/>
              </a:ext>
            </a:extLst>
          </p:cNvPr>
          <p:cNvSpPr txBox="1"/>
          <p:nvPr/>
        </p:nvSpPr>
        <p:spPr>
          <a:xfrm>
            <a:off x="838263" y="1906704"/>
            <a:ext cx="5417820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lang="it-IT" sz="2000" dirty="0">
                <a:solidFill>
                  <a:prstClr val="black"/>
                </a:solidFill>
                <a:latin typeface="Calibri" panose="020F0502020204030204"/>
              </a:rPr>
              <a:t>Thermal and </a:t>
            </a:r>
            <a:r>
              <a:rPr lang="it-IT" sz="2000" dirty="0" err="1">
                <a:solidFill>
                  <a:prstClr val="black"/>
                </a:solidFill>
                <a:latin typeface="Calibri" panose="020F0502020204030204"/>
              </a:rPr>
              <a:t>mechanical</a:t>
            </a:r>
            <a:r>
              <a:rPr kumimoji="0" lang="it-IT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it-IT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properties</a:t>
            </a:r>
            <a:r>
              <a:rPr kumimoji="0" lang="it-IT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it-IT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will</a:t>
            </a:r>
            <a:r>
              <a:rPr kumimoji="0" lang="it-IT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be </a:t>
            </a:r>
            <a:r>
              <a:rPr kumimoji="0" lang="it-IT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studied</a:t>
            </a:r>
            <a:r>
              <a:rPr kumimoji="0" lang="it-IT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for </a:t>
            </a:r>
            <a:r>
              <a:rPr kumimoji="0" lang="it-IT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different</a:t>
            </a:r>
            <a:r>
              <a:rPr kumimoji="0" lang="it-IT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cables </a:t>
            </a:r>
            <a:r>
              <a:rPr kumimoji="0" lang="it-IT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configurations</a:t>
            </a:r>
            <a:r>
              <a:rPr kumimoji="0" lang="it-IT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  <a:endParaRPr lang="it-IT" sz="2000" dirty="0">
              <a:solidFill>
                <a:prstClr val="black"/>
              </a:solidFill>
              <a:latin typeface="Calibri" panose="020F0502020204030204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it-IT" sz="2000" dirty="0">
                <a:solidFill>
                  <a:srgbClr val="4297B7"/>
                </a:solidFill>
              </a:rPr>
              <a:t>Thermal </a:t>
            </a:r>
            <a:r>
              <a:rPr lang="it-IT" sz="2000" dirty="0" err="1">
                <a:solidFill>
                  <a:srgbClr val="4297B7"/>
                </a:solidFill>
              </a:rPr>
              <a:t>conductivity</a:t>
            </a:r>
            <a:endParaRPr lang="it-IT" sz="2000" dirty="0">
              <a:solidFill>
                <a:srgbClr val="4297B7"/>
              </a:solidFill>
            </a:endParaRP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it-IT" sz="2000" dirty="0"/>
              <a:t>Dry-</a:t>
            </a:r>
            <a:r>
              <a:rPr lang="it-IT" sz="2000" dirty="0" err="1"/>
              <a:t>wound</a:t>
            </a:r>
            <a:endParaRPr lang="it-IT" sz="2000" dirty="0"/>
          </a:p>
          <a:p>
            <a:pPr marL="800100" lvl="1" indent="-3429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it-IT" sz="2000" dirty="0" err="1"/>
              <a:t>Impregnated</a:t>
            </a:r>
            <a:endParaRPr lang="it-IT" sz="2000" dirty="0"/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it-IT" sz="2000" dirty="0">
                <a:solidFill>
                  <a:srgbClr val="4297B7"/>
                </a:solidFill>
              </a:rPr>
              <a:t>Lower </a:t>
            </a:r>
            <a:r>
              <a:rPr lang="it-IT" sz="2000" dirty="0" err="1">
                <a:solidFill>
                  <a:srgbClr val="4297B7"/>
                </a:solidFill>
              </a:rPr>
              <a:t>than</a:t>
            </a:r>
            <a:r>
              <a:rPr lang="it-IT" sz="2000" dirty="0">
                <a:solidFill>
                  <a:srgbClr val="4297B7"/>
                </a:solidFill>
              </a:rPr>
              <a:t> </a:t>
            </a:r>
            <a:r>
              <a:rPr lang="it-IT" sz="2000" dirty="0" err="1">
                <a:solidFill>
                  <a:srgbClr val="4297B7"/>
                </a:solidFill>
              </a:rPr>
              <a:t>expected</a:t>
            </a:r>
            <a:r>
              <a:rPr lang="it-IT" sz="2000" dirty="0">
                <a:solidFill>
                  <a:srgbClr val="4297B7"/>
                </a:solidFill>
              </a:rPr>
              <a:t> </a:t>
            </a:r>
            <a:r>
              <a:rPr lang="it-IT" sz="2000" dirty="0" err="1">
                <a:solidFill>
                  <a:srgbClr val="4297B7"/>
                </a:solidFill>
              </a:rPr>
              <a:t>Young’s</a:t>
            </a:r>
            <a:r>
              <a:rPr lang="it-IT" sz="2000" dirty="0">
                <a:solidFill>
                  <a:srgbClr val="4297B7"/>
                </a:solidFill>
              </a:rPr>
              <a:t> </a:t>
            </a:r>
            <a:r>
              <a:rPr lang="it-IT" sz="2000" dirty="0" err="1">
                <a:solidFill>
                  <a:srgbClr val="4297B7"/>
                </a:solidFill>
              </a:rPr>
              <a:t>modulus</a:t>
            </a:r>
            <a:endParaRPr lang="it-IT" sz="2000" dirty="0">
              <a:solidFill>
                <a:srgbClr val="4297B7"/>
              </a:solidFill>
            </a:endParaRPr>
          </a:p>
          <a:p>
            <a:pPr marL="914400" lvl="1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it-IT" sz="2000" dirty="0"/>
              <a:t>Dry-</a:t>
            </a:r>
            <a:r>
              <a:rPr lang="it-IT" sz="2000" dirty="0" err="1"/>
              <a:t>stack</a:t>
            </a:r>
            <a:endParaRPr lang="it-IT" sz="2000" dirty="0"/>
          </a:p>
          <a:p>
            <a:pPr marL="914400" lvl="1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it-IT" sz="2000" dirty="0" err="1"/>
              <a:t>Impregnated</a:t>
            </a:r>
            <a:r>
              <a:rPr lang="it-IT" sz="2000" dirty="0"/>
              <a:t> </a:t>
            </a:r>
            <a:r>
              <a:rPr lang="it-IT" sz="2000" dirty="0" err="1"/>
              <a:t>stack</a:t>
            </a:r>
            <a:endParaRPr lang="it-IT" sz="2000" dirty="0"/>
          </a:p>
        </p:txBody>
      </p:sp>
    </p:spTree>
    <p:extLst>
      <p:ext uri="{BB962C8B-B14F-4D97-AF65-F5344CB8AC3E}">
        <p14:creationId xmlns:p14="http://schemas.microsoft.com/office/powerpoint/2010/main" val="6581164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7FB42-E588-D05C-D476-5B09FDE91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BE1DF-6AE4-5C62-2AC5-EBBB1135A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Roadmap of activities for ECHO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7D4AE7-D659-0F7C-346D-1AAC77A7E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L. Balconi | Young researchers grant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B7653-D979-94E5-BAD6-6FEB05A04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6D798-1883-974D-96D0-4E82B243DEDE}" type="slidenum">
              <a:rPr lang="it-IT" smtClean="0"/>
              <a:t>14</a:t>
            </a:fld>
            <a:endParaRPr lang="it-IT"/>
          </a:p>
        </p:txBody>
      </p:sp>
      <p:sp>
        <p:nvSpPr>
          <p:cNvPr id="7" name="Date Placeholder 1">
            <a:extLst>
              <a:ext uri="{FF2B5EF4-FFF2-40B4-BE49-F238E27FC236}">
                <a16:creationId xmlns:a16="http://schemas.microsoft.com/office/drawing/2014/main" id="{60AAC5F3-CA26-8E1C-05E0-1F19DD8925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it-IT" dirty="0"/>
              <a:t>01/12/2025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B35EDF8-6B9F-33B6-5E2E-F16ADA1FFE1E}"/>
              </a:ext>
            </a:extLst>
          </p:cNvPr>
          <p:cNvGrpSpPr/>
          <p:nvPr/>
        </p:nvGrpSpPr>
        <p:grpSpPr>
          <a:xfrm>
            <a:off x="972360" y="1345162"/>
            <a:ext cx="10247280" cy="4167676"/>
            <a:chOff x="1028700" y="1296814"/>
            <a:chExt cx="10247280" cy="416767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C7DC01F-AFFB-F1E7-7AE8-FA43B776EFB0}"/>
                </a:ext>
              </a:extLst>
            </p:cNvPr>
            <p:cNvGrpSpPr/>
            <p:nvPr/>
          </p:nvGrpSpPr>
          <p:grpSpPr>
            <a:xfrm>
              <a:off x="1028700" y="1690688"/>
              <a:ext cx="9332816" cy="3727450"/>
              <a:chOff x="958850" y="1574800"/>
              <a:chExt cx="9332816" cy="3727450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5B4860D-FA37-2CFB-6194-D4792ADC0724}"/>
                  </a:ext>
                </a:extLst>
              </p:cNvPr>
              <p:cNvSpPr txBox="1"/>
              <p:nvPr/>
            </p:nvSpPr>
            <p:spPr>
              <a:xfrm>
                <a:off x="958850" y="1779345"/>
                <a:ext cx="2057400" cy="535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14224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it-IT" sz="3200" b="1" dirty="0" err="1">
                    <a:solidFill>
                      <a:srgbClr val="4297B7"/>
                    </a:solidFill>
                    <a:latin typeface="Calibri Light" panose="020F0302020204030204"/>
                  </a:rPr>
                  <a:t>Phase</a:t>
                </a:r>
                <a:r>
                  <a:rPr lang="it-IT" sz="3200" b="1" dirty="0">
                    <a:solidFill>
                      <a:srgbClr val="4297B7"/>
                    </a:solidFill>
                    <a:latin typeface="Calibri Light" panose="020F0302020204030204"/>
                  </a:rPr>
                  <a:t> 1</a:t>
                </a:r>
                <a:endParaRPr lang="en-GB" sz="3200" b="1" dirty="0">
                  <a:solidFill>
                    <a:srgbClr val="4297B7"/>
                  </a:solidFill>
                  <a:latin typeface="Calibri Light" panose="020F0302020204030204"/>
                </a:endParaRP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8377A93C-EE54-0804-66CA-780CB2D4A5BA}"/>
                  </a:ext>
                </a:extLst>
              </p:cNvPr>
              <p:cNvSpPr/>
              <p:nvPr/>
            </p:nvSpPr>
            <p:spPr>
              <a:xfrm>
                <a:off x="2714689" y="1818023"/>
                <a:ext cx="3854322" cy="899917"/>
              </a:xfrm>
              <a:prstGeom prst="rect">
                <a:avLst/>
              </a:pr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GB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10499E2-85AA-A41D-C0D9-25A36F0964AB}"/>
                  </a:ext>
                </a:extLst>
              </p:cNvPr>
              <p:cNvSpPr txBox="1"/>
              <p:nvPr/>
            </p:nvSpPr>
            <p:spPr>
              <a:xfrm>
                <a:off x="2713037" y="1817573"/>
                <a:ext cx="3854322" cy="476577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91440" tIns="91440" rIns="91440" bIns="91440" numCol="1" spcCol="1270" anchor="t" anchorCtr="0">
                <a:noAutofit/>
              </a:bodyPr>
              <a:lstStyle/>
              <a:p>
                <a:pPr marL="0" lvl="0" indent="0" algn="l" defTabSz="10668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it-IT" sz="2400" kern="1200" dirty="0" err="1">
                    <a:solidFill>
                      <a:schemeClr val="bg1">
                        <a:lumMod val="75000"/>
                      </a:schemeClr>
                    </a:solidFill>
                  </a:rPr>
                  <a:t>Characterization</a:t>
                </a:r>
                <a:r>
                  <a:rPr lang="it-IT" sz="2400" kern="1200" dirty="0">
                    <a:solidFill>
                      <a:schemeClr val="bg1">
                        <a:lumMod val="75000"/>
                      </a:schemeClr>
                    </a:solidFill>
                  </a:rPr>
                  <a:t> of HTS tape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76C93ED-E770-224E-E37D-255E0F4F0DBE}"/>
                  </a:ext>
                </a:extLst>
              </p:cNvPr>
              <p:cNvSpPr txBox="1"/>
              <p:nvPr/>
            </p:nvSpPr>
            <p:spPr>
              <a:xfrm>
                <a:off x="958850" y="3380652"/>
                <a:ext cx="20574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3200" b="1" dirty="0" err="1">
                    <a:solidFill>
                      <a:srgbClr val="C2E1ED"/>
                    </a:solidFill>
                    <a:latin typeface="Calibri Light" panose="020F0302020204030204"/>
                  </a:rPr>
                  <a:t>Phase</a:t>
                </a:r>
                <a:r>
                  <a:rPr lang="it-IT" sz="3200" b="1" dirty="0">
                    <a:solidFill>
                      <a:srgbClr val="C2E1ED"/>
                    </a:solidFill>
                    <a:latin typeface="Calibri Light" panose="020F0302020204030204"/>
                  </a:rPr>
                  <a:t> 2</a:t>
                </a:r>
                <a:endParaRPr lang="en-GB" sz="3200" b="1" dirty="0">
                  <a:solidFill>
                    <a:srgbClr val="C2E1ED"/>
                  </a:solidFill>
                  <a:latin typeface="Calibri Light" panose="020F0302020204030204"/>
                </a:endParaRPr>
              </a:p>
            </p:txBody>
          </p: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9CDC1773-B7B0-0CC4-4A35-CBBF1559D844}"/>
                  </a:ext>
                </a:extLst>
              </p:cNvPr>
              <p:cNvGrpSpPr/>
              <p:nvPr/>
            </p:nvGrpSpPr>
            <p:grpSpPr>
              <a:xfrm>
                <a:off x="6476840" y="1746586"/>
                <a:ext cx="3203639" cy="646332"/>
                <a:chOff x="6476840" y="1756437"/>
                <a:chExt cx="3203639" cy="646332"/>
              </a:xfrm>
            </p:grpSpPr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C02CEAF-AEBB-4FA9-B397-4A63F5EDDAE4}"/>
                    </a:ext>
                  </a:extLst>
                </p:cNvPr>
                <p:cNvSpPr txBox="1"/>
                <p:nvPr/>
              </p:nvSpPr>
              <p:spPr>
                <a:xfrm>
                  <a:off x="6657879" y="1756437"/>
                  <a:ext cx="3022600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285750" indent="-285750">
                    <a:buClr>
                      <a:srgbClr val="4297B7"/>
                    </a:buClr>
                    <a:buFont typeface="Arial" panose="020B0604020202020204" pitchFamily="34" charset="0"/>
                    <a:buChar char="•"/>
                  </a:pPr>
                  <a:r>
                    <a:rPr lang="it-IT" dirty="0" err="1">
                      <a:solidFill>
                        <a:schemeClr val="bg1">
                          <a:lumMod val="75000"/>
                        </a:schemeClr>
                      </a:solidFill>
                    </a:rPr>
                    <a:t>Electrical</a:t>
                  </a:r>
                  <a:endParaRPr lang="it-IT" dirty="0">
                    <a:solidFill>
                      <a:schemeClr val="bg1">
                        <a:lumMod val="75000"/>
                      </a:schemeClr>
                    </a:solidFill>
                  </a:endParaRPr>
                </a:p>
                <a:p>
                  <a:pPr marL="285750" indent="-285750">
                    <a:buClr>
                      <a:srgbClr val="4297B7"/>
                    </a:buClr>
                    <a:buFont typeface="Arial" panose="020B0604020202020204" pitchFamily="34" charset="0"/>
                    <a:buChar char="•"/>
                  </a:pPr>
                  <a:r>
                    <a:rPr lang="it-IT" dirty="0">
                      <a:solidFill>
                        <a:schemeClr val="bg1">
                          <a:lumMod val="75000"/>
                        </a:schemeClr>
                      </a:solidFill>
                    </a:rPr>
                    <a:t>Thermal and </a:t>
                  </a:r>
                  <a:r>
                    <a:rPr lang="it-IT" dirty="0" err="1">
                      <a:solidFill>
                        <a:schemeClr val="bg1">
                          <a:lumMod val="75000"/>
                        </a:schemeClr>
                      </a:solidFill>
                    </a:rPr>
                    <a:t>Mechanical</a:t>
                  </a:r>
                  <a:endParaRPr lang="en-GB" dirty="0">
                    <a:solidFill>
                      <a:schemeClr val="bg1">
                        <a:lumMod val="75000"/>
                      </a:schemeClr>
                    </a:solidFill>
                  </a:endParaRPr>
                </a:p>
              </p:txBody>
            </p:sp>
            <p:sp>
              <p:nvSpPr>
                <p:cNvPr id="25" name="Left Brace 24">
                  <a:extLst>
                    <a:ext uri="{FF2B5EF4-FFF2-40B4-BE49-F238E27FC236}">
                      <a16:creationId xmlns:a16="http://schemas.microsoft.com/office/drawing/2014/main" id="{4C62A373-1D0B-39E4-D783-5FEA359644BD}"/>
                    </a:ext>
                  </a:extLst>
                </p:cNvPr>
                <p:cNvSpPr/>
                <p:nvPr/>
              </p:nvSpPr>
              <p:spPr>
                <a:xfrm>
                  <a:off x="6476840" y="1756438"/>
                  <a:ext cx="181039" cy="646331"/>
                </a:xfrm>
                <a:prstGeom prst="leftBrace">
                  <a:avLst>
                    <a:gd name="adj1" fmla="val 41990"/>
                    <a:gd name="adj2" fmla="val 49375"/>
                  </a:avLst>
                </a:prstGeom>
                <a:ln w="28575">
                  <a:solidFill>
                    <a:srgbClr val="4297B7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75345487-63BF-BA9D-E531-88A9FD7434F6}"/>
                  </a:ext>
                </a:extLst>
              </p:cNvPr>
              <p:cNvCxnSpPr/>
              <p:nvPr/>
            </p:nvCxnSpPr>
            <p:spPr>
              <a:xfrm>
                <a:off x="971614" y="3276600"/>
                <a:ext cx="9283700" cy="0"/>
              </a:xfrm>
              <a:prstGeom prst="line">
                <a:avLst/>
              </a:prstGeom>
              <a:ln w="19050">
                <a:solidFill>
                  <a:srgbClr val="4297B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8E97B93F-381E-A947-5ADD-7D008B3177E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14689" y="2559050"/>
                <a:ext cx="7527861" cy="0"/>
              </a:xfrm>
              <a:prstGeom prst="line">
                <a:avLst/>
              </a:prstGeom>
              <a:ln w="12700">
                <a:solidFill>
                  <a:srgbClr val="4297B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1F9BB974-2BD9-E491-3ADB-DFCD11E10501}"/>
                  </a:ext>
                </a:extLst>
              </p:cNvPr>
              <p:cNvCxnSpPr/>
              <p:nvPr/>
            </p:nvCxnSpPr>
            <p:spPr>
              <a:xfrm>
                <a:off x="971614" y="1574800"/>
                <a:ext cx="9283700" cy="0"/>
              </a:xfrm>
              <a:prstGeom prst="line">
                <a:avLst/>
              </a:prstGeom>
              <a:ln w="19050">
                <a:solidFill>
                  <a:srgbClr val="4297B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23FC869-6227-680D-B001-7B78DD082E20}"/>
                  </a:ext>
                </a:extLst>
              </p:cNvPr>
              <p:cNvSpPr txBox="1"/>
              <p:nvPr/>
            </p:nvSpPr>
            <p:spPr>
              <a:xfrm>
                <a:off x="2803557" y="4053482"/>
                <a:ext cx="3854322" cy="506447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91440" tIns="91440" rIns="91440" bIns="91440" numCol="1" spcCol="1270" anchor="t" anchorCtr="0">
                <a:noAutofit/>
              </a:bodyPr>
              <a:lstStyle/>
              <a:p>
                <a:pPr lvl="0"/>
                <a:r>
                  <a:rPr lang="it-IT" sz="2400" dirty="0" err="1">
                    <a:solidFill>
                      <a:schemeClr val="bg1">
                        <a:lumMod val="75000"/>
                      </a:schemeClr>
                    </a:solidFill>
                  </a:rPr>
                  <a:t>Mechanical</a:t>
                </a:r>
                <a:r>
                  <a:rPr lang="it-IT" sz="2400" dirty="0">
                    <a:solidFill>
                      <a:schemeClr val="bg1">
                        <a:lumMod val="75000"/>
                      </a:schemeClr>
                    </a:solidFill>
                  </a:rPr>
                  <a:t> Assembly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13B6AF7-76C0-DF1D-05B2-D46703938871}"/>
                  </a:ext>
                </a:extLst>
              </p:cNvPr>
              <p:cNvSpPr txBox="1"/>
              <p:nvPr/>
            </p:nvSpPr>
            <p:spPr>
              <a:xfrm>
                <a:off x="2803557" y="3435489"/>
                <a:ext cx="3854322" cy="506447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91440" tIns="91440" rIns="91440" bIns="91440" numCol="1" spcCol="1270" anchor="t" anchorCtr="0">
                <a:noAutofit/>
              </a:bodyPr>
              <a:lstStyle/>
              <a:p>
                <a:pPr lvl="0"/>
                <a:r>
                  <a:rPr lang="it-IT" sz="2400" dirty="0" err="1">
                    <a:solidFill>
                      <a:schemeClr val="bg1">
                        <a:lumMod val="75000"/>
                      </a:schemeClr>
                    </a:solidFill>
                  </a:rPr>
                  <a:t>Modules</a:t>
                </a:r>
                <a:r>
                  <a:rPr lang="it-IT" sz="2400" dirty="0">
                    <a:solidFill>
                      <a:schemeClr val="bg1">
                        <a:lumMod val="75000"/>
                      </a:schemeClr>
                    </a:solidFill>
                  </a:rPr>
                  <a:t> manufacturing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2A1C29C-006C-14FA-F0B7-FCCF62435A8E}"/>
                  </a:ext>
                </a:extLst>
              </p:cNvPr>
              <p:cNvSpPr txBox="1"/>
              <p:nvPr/>
            </p:nvSpPr>
            <p:spPr>
              <a:xfrm>
                <a:off x="2803557" y="4698469"/>
                <a:ext cx="3854322" cy="506447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91440" tIns="91440" rIns="91440" bIns="91440" numCol="1" spcCol="1270" anchor="t" anchorCtr="0">
                <a:noAutofit/>
              </a:bodyPr>
              <a:lstStyle/>
              <a:p>
                <a:pPr lvl="0"/>
                <a:r>
                  <a:rPr lang="it-IT" sz="2400" dirty="0" err="1">
                    <a:solidFill>
                      <a:schemeClr val="bg1">
                        <a:lumMod val="75000"/>
                      </a:schemeClr>
                    </a:solidFill>
                  </a:rPr>
                  <a:t>Final</a:t>
                </a:r>
                <a:r>
                  <a:rPr lang="it-IT" sz="2400" dirty="0">
                    <a:solidFill>
                      <a:schemeClr val="bg1">
                        <a:lumMod val="75000"/>
                      </a:schemeClr>
                    </a:solidFill>
                  </a:rPr>
                  <a:t> Testing</a:t>
                </a:r>
              </a:p>
            </p:txBody>
          </p: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FCA9AB00-1330-0D3C-830F-8A7F7382084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27453" y="3978127"/>
                <a:ext cx="7527861" cy="0"/>
              </a:xfrm>
              <a:prstGeom prst="line">
                <a:avLst/>
              </a:prstGeom>
              <a:ln w="12700">
                <a:solidFill>
                  <a:srgbClr val="4297B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528BAB2B-EA7A-67DA-1251-5A6B1B16945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63805" y="4698469"/>
                <a:ext cx="7527861" cy="0"/>
              </a:xfrm>
              <a:prstGeom prst="line">
                <a:avLst/>
              </a:prstGeom>
              <a:ln w="12700">
                <a:solidFill>
                  <a:srgbClr val="4297B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C94008A0-3A4E-E13F-7294-18580D300D4A}"/>
                  </a:ext>
                </a:extLst>
              </p:cNvPr>
              <p:cNvCxnSpPr/>
              <p:nvPr/>
            </p:nvCxnSpPr>
            <p:spPr>
              <a:xfrm>
                <a:off x="1007966" y="5302250"/>
                <a:ext cx="9283700" cy="0"/>
              </a:xfrm>
              <a:prstGeom prst="line">
                <a:avLst/>
              </a:prstGeom>
              <a:ln w="19050">
                <a:solidFill>
                  <a:srgbClr val="4297B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2307174-9791-58AB-FAA9-9EAEC7CC29CF}"/>
                </a:ext>
              </a:extLst>
            </p:cNvPr>
            <p:cNvSpPr/>
            <p:nvPr/>
          </p:nvSpPr>
          <p:spPr>
            <a:xfrm>
              <a:off x="10164794" y="1296814"/>
              <a:ext cx="1111186" cy="416767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3ACC4BF8-C1A5-98DB-04D2-41E03DD71936}"/>
              </a:ext>
            </a:extLst>
          </p:cNvPr>
          <p:cNvSpPr txBox="1"/>
          <p:nvPr/>
        </p:nvSpPr>
        <p:spPr>
          <a:xfrm>
            <a:off x="2777314" y="2859035"/>
            <a:ext cx="5561045" cy="506447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91440" tIns="91440" rIns="91440" bIns="91440" numCol="1" spcCol="1270" anchor="t" anchorCtr="0">
            <a:noAutofit/>
          </a:bodyPr>
          <a:lstStyle/>
          <a:p>
            <a:pPr lvl="0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2400" dirty="0">
                <a:solidFill>
                  <a:schemeClr val="tx1"/>
                </a:solidFill>
              </a:rPr>
              <a:t>Single </a:t>
            </a:r>
            <a:r>
              <a:rPr lang="it-IT" sz="2400" dirty="0" err="1">
                <a:solidFill>
                  <a:schemeClr val="tx1"/>
                </a:solidFill>
              </a:rPr>
              <a:t>module</a:t>
            </a:r>
            <a:r>
              <a:rPr lang="it-IT" sz="2400" dirty="0">
                <a:solidFill>
                  <a:schemeClr val="tx1"/>
                </a:solidFill>
              </a:rPr>
              <a:t> design and challenges</a:t>
            </a:r>
          </a:p>
        </p:txBody>
      </p:sp>
    </p:spTree>
    <p:extLst>
      <p:ext uri="{BB962C8B-B14F-4D97-AF65-F5344CB8AC3E}">
        <p14:creationId xmlns:p14="http://schemas.microsoft.com/office/powerpoint/2010/main" val="15336491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5C212-03B7-E9E0-4DD0-99E4EED83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6A1BA-A976-DF87-4127-8847EA181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775" y="226401"/>
            <a:ext cx="10515600" cy="1325563"/>
          </a:xfrm>
        </p:spPr>
        <p:txBody>
          <a:bodyPr/>
          <a:lstStyle/>
          <a:p>
            <a:r>
              <a:rPr lang="it-IT" dirty="0" err="1"/>
              <a:t>Phase</a:t>
            </a:r>
            <a:r>
              <a:rPr lang="it-IT" dirty="0"/>
              <a:t> 1: Single </a:t>
            </a:r>
            <a:r>
              <a:rPr lang="it-IT" dirty="0" err="1"/>
              <a:t>module</a:t>
            </a:r>
            <a:r>
              <a:rPr lang="it-IT" dirty="0"/>
              <a:t> design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2CA226-A4ED-3410-9C45-0637403C3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L. Balconi | Young researchers grant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110A72-E927-5ED0-1736-63D2ECC26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6D798-1883-974D-96D0-4E82B243DEDE}" type="slidenum">
              <a:rPr lang="it-IT" smtClean="0"/>
              <a:t>15</a:t>
            </a:fld>
            <a:endParaRPr lang="it-IT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EF078F-0A66-ABCE-4A8B-94B611B1DC5E}"/>
              </a:ext>
            </a:extLst>
          </p:cNvPr>
          <p:cNvSpPr txBox="1"/>
          <p:nvPr/>
        </p:nvSpPr>
        <p:spPr>
          <a:xfrm>
            <a:off x="838200" y="1473791"/>
            <a:ext cx="5441950" cy="47859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r>
              <a:rPr lang="it-IT" sz="2000" dirty="0"/>
              <a:t>A small HTS racetrack coil design </a:t>
            </a:r>
            <a:r>
              <a:rPr lang="it-IT" sz="2000" dirty="0" err="1"/>
              <a:t>aiming</a:t>
            </a:r>
            <a:r>
              <a:rPr lang="it-IT" sz="2000" dirty="0"/>
              <a:t> </a:t>
            </a:r>
            <a:r>
              <a:rPr lang="it-IT" sz="2000" dirty="0" err="1"/>
              <a:t>at</a:t>
            </a:r>
            <a:r>
              <a:rPr lang="it-IT" sz="2000" dirty="0"/>
              <a:t> one ECHO </a:t>
            </a:r>
            <a:r>
              <a:rPr lang="it-IT" sz="2000" dirty="0" err="1"/>
              <a:t>module</a:t>
            </a:r>
            <a:r>
              <a:rPr lang="it-IT" sz="2000" dirty="0"/>
              <a:t> </a:t>
            </a:r>
            <a:r>
              <a:rPr lang="it-IT" sz="2000" dirty="0" err="1"/>
              <a:t>will</a:t>
            </a:r>
            <a:r>
              <a:rPr lang="it-IT" sz="2000" dirty="0"/>
              <a:t> be </a:t>
            </a:r>
            <a:r>
              <a:rPr lang="it-IT" sz="2000" dirty="0" err="1"/>
              <a:t>performed</a:t>
            </a:r>
            <a:r>
              <a:rPr lang="it-IT" sz="2000" dirty="0"/>
              <a:t>. </a:t>
            </a:r>
            <a:br>
              <a:rPr lang="it-IT" sz="2000" dirty="0"/>
            </a:br>
            <a:r>
              <a:rPr lang="it-IT" sz="2000" dirty="0"/>
              <a:t>The design must </a:t>
            </a:r>
            <a:r>
              <a:rPr lang="it-IT" sz="2000" dirty="0" err="1"/>
              <a:t>assess</a:t>
            </a:r>
            <a:r>
              <a:rPr lang="it-IT" sz="2000" dirty="0"/>
              <a:t> the following </a:t>
            </a:r>
            <a:r>
              <a:rPr lang="it-IT" sz="2000" dirty="0" err="1"/>
              <a:t>question</a:t>
            </a:r>
            <a:r>
              <a:rPr lang="it-IT" sz="2000" dirty="0"/>
              <a:t>: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it-IT" sz="2000" dirty="0" err="1"/>
              <a:t>Realize</a:t>
            </a:r>
            <a:r>
              <a:rPr lang="it-IT" sz="2000" dirty="0"/>
              <a:t> a </a:t>
            </a:r>
            <a:r>
              <a:rPr lang="it-IT" sz="2000" dirty="0" err="1"/>
              <a:t>solid</a:t>
            </a:r>
            <a:r>
              <a:rPr lang="it-IT" sz="2000" dirty="0"/>
              <a:t> </a:t>
            </a:r>
            <a:r>
              <a:rPr lang="it-IT" sz="2000" dirty="0">
                <a:solidFill>
                  <a:srgbClr val="4297B7"/>
                </a:solidFill>
              </a:rPr>
              <a:t>design</a:t>
            </a:r>
            <a:r>
              <a:rPr lang="it-IT" sz="2000" dirty="0"/>
              <a:t> with </a:t>
            </a:r>
            <a:r>
              <a:rPr lang="it-IT" sz="2000" dirty="0" err="1">
                <a:solidFill>
                  <a:srgbClr val="4297B7"/>
                </a:solidFill>
              </a:rPr>
              <a:t>operational</a:t>
            </a:r>
            <a:r>
              <a:rPr lang="it-IT" sz="2000" dirty="0">
                <a:solidFill>
                  <a:srgbClr val="4297B7"/>
                </a:solidFill>
              </a:rPr>
              <a:t> </a:t>
            </a:r>
            <a:r>
              <a:rPr lang="it-IT" sz="2000" dirty="0" err="1">
                <a:solidFill>
                  <a:srgbClr val="4297B7"/>
                </a:solidFill>
              </a:rPr>
              <a:t>margins</a:t>
            </a:r>
            <a:endParaRPr lang="it-IT" sz="2000" dirty="0">
              <a:solidFill>
                <a:srgbClr val="4297B7"/>
              </a:solidFill>
            </a:endParaRP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it-IT" sz="2000" dirty="0" err="1"/>
              <a:t>Achieve</a:t>
            </a:r>
            <a:r>
              <a:rPr lang="it-IT" sz="2000" dirty="0"/>
              <a:t> a </a:t>
            </a:r>
            <a:r>
              <a:rPr lang="it-IT" sz="2000" dirty="0" err="1">
                <a:solidFill>
                  <a:srgbClr val="4297B7"/>
                </a:solidFill>
              </a:rPr>
              <a:t>repeatible</a:t>
            </a:r>
            <a:r>
              <a:rPr lang="it-IT" sz="2000" dirty="0">
                <a:solidFill>
                  <a:srgbClr val="4297B7"/>
                </a:solidFill>
              </a:rPr>
              <a:t> field </a:t>
            </a:r>
            <a:r>
              <a:rPr lang="it-IT" sz="2000" dirty="0" err="1">
                <a:solidFill>
                  <a:srgbClr val="4297B7"/>
                </a:solidFill>
              </a:rPr>
              <a:t>quality</a:t>
            </a:r>
            <a:endParaRPr lang="it-IT" sz="2000" dirty="0">
              <a:solidFill>
                <a:srgbClr val="4297B7"/>
              </a:solidFill>
            </a:endParaRP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it-IT" sz="2000" dirty="0" err="1"/>
              <a:t>Optimize</a:t>
            </a:r>
            <a:r>
              <a:rPr lang="it-IT" sz="2000" dirty="0"/>
              <a:t> </a:t>
            </a:r>
            <a:r>
              <a:rPr lang="it-IT" sz="2000" dirty="0">
                <a:solidFill>
                  <a:srgbClr val="4297B7"/>
                </a:solidFill>
              </a:rPr>
              <a:t>resistive joints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it-IT" sz="2000" dirty="0"/>
              <a:t>Handle the </a:t>
            </a:r>
            <a:r>
              <a:rPr lang="it-IT" sz="2000" dirty="0">
                <a:solidFill>
                  <a:srgbClr val="4297B7"/>
                </a:solidFill>
              </a:rPr>
              <a:t>assembly</a:t>
            </a:r>
            <a:r>
              <a:rPr lang="it-IT" sz="2000" dirty="0"/>
              <a:t> on a </a:t>
            </a:r>
            <a:r>
              <a:rPr lang="it-IT" sz="2000" dirty="0" err="1">
                <a:solidFill>
                  <a:srgbClr val="4297B7"/>
                </a:solidFill>
              </a:rPr>
              <a:t>curved</a:t>
            </a:r>
            <a:r>
              <a:rPr lang="it-IT" sz="2000" dirty="0">
                <a:solidFill>
                  <a:srgbClr val="4297B7"/>
                </a:solidFill>
              </a:rPr>
              <a:t> support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it-IT" sz="2000" dirty="0"/>
              <a:t>Set up a </a:t>
            </a:r>
            <a:r>
              <a:rPr lang="it-IT" sz="2000" dirty="0">
                <a:solidFill>
                  <a:srgbClr val="4297B7"/>
                </a:solidFill>
              </a:rPr>
              <a:t>QA</a:t>
            </a:r>
            <a:r>
              <a:rPr lang="it-IT" sz="2000" dirty="0"/>
              <a:t> procedure in LN</a:t>
            </a:r>
            <a:r>
              <a:rPr lang="it-IT" sz="2000" baseline="-25000" dirty="0"/>
              <a:t>2</a:t>
            </a:r>
          </a:p>
          <a:p>
            <a:pPr marL="800100" lvl="1" indent="-342900"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it-IT" dirty="0" err="1">
                <a:solidFill>
                  <a:srgbClr val="4297B7"/>
                </a:solidFill>
              </a:rPr>
              <a:t>Modularity</a:t>
            </a:r>
            <a:r>
              <a:rPr lang="it-IT" dirty="0"/>
              <a:t> and </a:t>
            </a:r>
            <a:r>
              <a:rPr lang="it-IT" dirty="0" err="1">
                <a:solidFill>
                  <a:srgbClr val="4297B7"/>
                </a:solidFill>
              </a:rPr>
              <a:t>repeatibility</a:t>
            </a:r>
            <a:r>
              <a:rPr lang="it-IT" dirty="0"/>
              <a:t> of the </a:t>
            </a:r>
            <a:r>
              <a:rPr lang="it-IT" dirty="0" err="1"/>
              <a:t>process</a:t>
            </a:r>
            <a:endParaRPr lang="it-IT" dirty="0"/>
          </a:p>
          <a:p>
            <a:endParaRPr lang="it-IT" sz="200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BEAA806-9A8E-6660-AFA8-D320A168F697}"/>
              </a:ext>
            </a:extLst>
          </p:cNvPr>
          <p:cNvGrpSpPr/>
          <p:nvPr/>
        </p:nvGrpSpPr>
        <p:grpSpPr>
          <a:xfrm>
            <a:off x="7036034" y="999333"/>
            <a:ext cx="5155966" cy="5792153"/>
            <a:chOff x="6779487" y="746759"/>
            <a:chExt cx="5155966" cy="5792153"/>
          </a:xfrm>
        </p:grpSpPr>
        <p:pic>
          <p:nvPicPr>
            <p:cNvPr id="22" name="Picture 21" descr="A white and orange object with a black background&#10;&#10;AI-generated content may be incorrect.">
              <a:extLst>
                <a:ext uri="{FF2B5EF4-FFF2-40B4-BE49-F238E27FC236}">
                  <a16:creationId xmlns:a16="http://schemas.microsoft.com/office/drawing/2014/main" id="{F768F71D-C761-5CD7-0C48-958D59A45AB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183" r="32503"/>
            <a:stretch>
              <a:fillRect/>
            </a:stretch>
          </p:blipFill>
          <p:spPr bwMode="auto">
            <a:xfrm flipH="1">
              <a:off x="6969093" y="3024996"/>
              <a:ext cx="3693300" cy="3513916"/>
            </a:xfrm>
            <a:prstGeom prst="rect">
              <a:avLst/>
            </a:prstGeom>
            <a:noFill/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13" name="Picture 12" descr="A yellow and orange object&#10;&#10;AI-generated content may be incorrect.">
              <a:extLst>
                <a:ext uri="{FF2B5EF4-FFF2-40B4-BE49-F238E27FC236}">
                  <a16:creationId xmlns:a16="http://schemas.microsoft.com/office/drawing/2014/main" id="{11F184F7-C311-B828-A6B6-65B657D3607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3811" b="17851"/>
            <a:stretch>
              <a:fillRect/>
            </a:stretch>
          </p:blipFill>
          <p:spPr>
            <a:xfrm>
              <a:off x="6779487" y="746759"/>
              <a:ext cx="5155966" cy="2350159"/>
            </a:xfrm>
            <a:prstGeom prst="rect">
              <a:avLst/>
            </a:prstGeom>
          </p:spPr>
        </p:pic>
        <p:sp>
          <p:nvSpPr>
            <p:cNvPr id="23" name="Arrow: Down 22">
              <a:extLst>
                <a:ext uri="{FF2B5EF4-FFF2-40B4-BE49-F238E27FC236}">
                  <a16:creationId xmlns:a16="http://schemas.microsoft.com/office/drawing/2014/main" id="{4624EC0A-272A-4E0F-8C50-9EB6A59E507B}"/>
                </a:ext>
              </a:extLst>
            </p:cNvPr>
            <p:cNvSpPr/>
            <p:nvPr/>
          </p:nvSpPr>
          <p:spPr>
            <a:xfrm>
              <a:off x="8434860" y="3166125"/>
              <a:ext cx="213322" cy="535458"/>
            </a:xfrm>
            <a:prstGeom prst="downArrow">
              <a:avLst/>
            </a:prstGeom>
            <a:solidFill>
              <a:srgbClr val="2895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8" name="Date Placeholder 1">
            <a:extLst>
              <a:ext uri="{FF2B5EF4-FFF2-40B4-BE49-F238E27FC236}">
                <a16:creationId xmlns:a16="http://schemas.microsoft.com/office/drawing/2014/main" id="{A4ADE576-A55D-D264-FC62-F860F736E1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it-IT" dirty="0"/>
              <a:t>01/12/2025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E26AE9-B449-E45B-269F-98FB3F35A027}"/>
              </a:ext>
            </a:extLst>
          </p:cNvPr>
          <p:cNvSpPr txBox="1"/>
          <p:nvPr/>
        </p:nvSpPr>
        <p:spPr>
          <a:xfrm>
            <a:off x="9982200" y="5771575"/>
            <a:ext cx="14411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 err="1"/>
              <a:t>Conceptual</a:t>
            </a:r>
            <a:r>
              <a:rPr lang="it-IT" sz="1600" dirty="0"/>
              <a:t> Single Module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30890227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ACE2B-587D-45B8-AB71-95F33C946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91826-F8BD-90D9-9D0E-6B59AE6F9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Roadmap of activities for ECHO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E45943-ED3E-D56D-F1F0-8FAD3FF69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L. Balconi | Young researchers grant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35592F-85DB-687F-BF49-DF056D288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6D798-1883-974D-96D0-4E82B243DEDE}" type="slidenum">
              <a:rPr lang="it-IT" smtClean="0"/>
              <a:t>16</a:t>
            </a:fld>
            <a:endParaRPr lang="it-IT"/>
          </a:p>
        </p:txBody>
      </p:sp>
      <p:sp>
        <p:nvSpPr>
          <p:cNvPr id="7" name="Date Placeholder 1">
            <a:extLst>
              <a:ext uri="{FF2B5EF4-FFF2-40B4-BE49-F238E27FC236}">
                <a16:creationId xmlns:a16="http://schemas.microsoft.com/office/drawing/2014/main" id="{C0553651-4A2C-1015-57EB-BBBFDA9B35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it-IT" dirty="0"/>
              <a:t>01/12/2025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895A258-8F0E-4AE5-9172-55905CBC9051}"/>
              </a:ext>
            </a:extLst>
          </p:cNvPr>
          <p:cNvGrpSpPr/>
          <p:nvPr/>
        </p:nvGrpSpPr>
        <p:grpSpPr>
          <a:xfrm>
            <a:off x="972360" y="1345162"/>
            <a:ext cx="10247280" cy="4167676"/>
            <a:chOff x="1028700" y="1296814"/>
            <a:chExt cx="10247280" cy="416767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C9852152-432C-A938-938B-2738EBAF596B}"/>
                </a:ext>
              </a:extLst>
            </p:cNvPr>
            <p:cNvGrpSpPr/>
            <p:nvPr/>
          </p:nvGrpSpPr>
          <p:grpSpPr>
            <a:xfrm>
              <a:off x="1028700" y="1690688"/>
              <a:ext cx="9332816" cy="3727450"/>
              <a:chOff x="958850" y="1574800"/>
              <a:chExt cx="9332816" cy="3727450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3B57932-2DCF-65EC-F679-BC83ADA7CA39}"/>
                  </a:ext>
                </a:extLst>
              </p:cNvPr>
              <p:cNvSpPr txBox="1"/>
              <p:nvPr/>
            </p:nvSpPr>
            <p:spPr>
              <a:xfrm>
                <a:off x="958850" y="1779345"/>
                <a:ext cx="2057400" cy="535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14224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it-IT" sz="3200" b="1" dirty="0" err="1">
                    <a:solidFill>
                      <a:srgbClr val="C2E1ED"/>
                    </a:solidFill>
                    <a:latin typeface="Calibri Light" panose="020F0302020204030204"/>
                  </a:rPr>
                  <a:t>Phase</a:t>
                </a:r>
                <a:r>
                  <a:rPr lang="it-IT" sz="3200" b="1" dirty="0">
                    <a:solidFill>
                      <a:srgbClr val="C2E1ED"/>
                    </a:solidFill>
                    <a:latin typeface="Calibri Light" panose="020F0302020204030204"/>
                  </a:rPr>
                  <a:t> 1</a:t>
                </a:r>
                <a:endParaRPr lang="en-GB" sz="3200" b="1" dirty="0">
                  <a:solidFill>
                    <a:srgbClr val="C2E1ED"/>
                  </a:solidFill>
                  <a:latin typeface="Calibri Light" panose="020F0302020204030204"/>
                </a:endParaRP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DE0AF93A-EF45-2B36-D03B-B29A885AE2EC}"/>
                  </a:ext>
                </a:extLst>
              </p:cNvPr>
              <p:cNvSpPr/>
              <p:nvPr/>
            </p:nvSpPr>
            <p:spPr>
              <a:xfrm>
                <a:off x="2714689" y="1818023"/>
                <a:ext cx="3854322" cy="899917"/>
              </a:xfrm>
              <a:prstGeom prst="rect">
                <a:avLst/>
              </a:pr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GB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C895659-2A88-0D26-ECFC-200C4A108BA6}"/>
                  </a:ext>
                </a:extLst>
              </p:cNvPr>
              <p:cNvSpPr txBox="1"/>
              <p:nvPr/>
            </p:nvSpPr>
            <p:spPr>
              <a:xfrm>
                <a:off x="2713037" y="1817573"/>
                <a:ext cx="3854322" cy="476577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91440" tIns="91440" rIns="91440" bIns="91440" numCol="1" spcCol="1270" anchor="t" anchorCtr="0">
                <a:noAutofit/>
              </a:bodyPr>
              <a:lstStyle/>
              <a:p>
                <a:pPr marL="0" lvl="0" indent="0" algn="l" defTabSz="10668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it-IT" sz="2400" kern="1200" dirty="0" err="1">
                    <a:solidFill>
                      <a:schemeClr val="bg1">
                        <a:lumMod val="75000"/>
                      </a:schemeClr>
                    </a:solidFill>
                  </a:rPr>
                  <a:t>Characterization</a:t>
                </a:r>
                <a:r>
                  <a:rPr lang="it-IT" sz="2400" kern="1200" dirty="0">
                    <a:solidFill>
                      <a:schemeClr val="bg1">
                        <a:lumMod val="75000"/>
                      </a:schemeClr>
                    </a:solidFill>
                  </a:rPr>
                  <a:t> of HTS tape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348947E-E35E-A760-8293-43FDCDB57327}"/>
                  </a:ext>
                </a:extLst>
              </p:cNvPr>
              <p:cNvSpPr txBox="1"/>
              <p:nvPr/>
            </p:nvSpPr>
            <p:spPr>
              <a:xfrm>
                <a:off x="958850" y="3380652"/>
                <a:ext cx="20574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3200" b="1" dirty="0" err="1">
                    <a:solidFill>
                      <a:srgbClr val="4297B7"/>
                    </a:solidFill>
                    <a:latin typeface="Calibri Light" panose="020F0302020204030204"/>
                  </a:rPr>
                  <a:t>Phase</a:t>
                </a:r>
                <a:r>
                  <a:rPr lang="it-IT" sz="3200" b="1" dirty="0">
                    <a:solidFill>
                      <a:srgbClr val="4297B7"/>
                    </a:solidFill>
                    <a:latin typeface="Calibri Light" panose="020F0302020204030204"/>
                  </a:rPr>
                  <a:t> 2</a:t>
                </a:r>
                <a:endParaRPr lang="en-GB" sz="3200" b="1" dirty="0">
                  <a:solidFill>
                    <a:srgbClr val="4297B7"/>
                  </a:solidFill>
                  <a:latin typeface="Calibri Light" panose="020F0302020204030204"/>
                </a:endParaRPr>
              </a:p>
            </p:txBody>
          </p: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BDA18A73-C72B-339F-7A46-F49451224DEF}"/>
                  </a:ext>
                </a:extLst>
              </p:cNvPr>
              <p:cNvGrpSpPr/>
              <p:nvPr/>
            </p:nvGrpSpPr>
            <p:grpSpPr>
              <a:xfrm>
                <a:off x="6476840" y="1746586"/>
                <a:ext cx="3203639" cy="646332"/>
                <a:chOff x="6476840" y="1756437"/>
                <a:chExt cx="3203639" cy="646332"/>
              </a:xfrm>
            </p:grpSpPr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F99A142-B2C0-BE62-B99B-D8518E958661}"/>
                    </a:ext>
                  </a:extLst>
                </p:cNvPr>
                <p:cNvSpPr txBox="1"/>
                <p:nvPr/>
              </p:nvSpPr>
              <p:spPr>
                <a:xfrm>
                  <a:off x="6657879" y="1756437"/>
                  <a:ext cx="3022600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285750" indent="-285750">
                    <a:buClr>
                      <a:srgbClr val="4297B7"/>
                    </a:buClr>
                    <a:buFont typeface="Arial" panose="020B0604020202020204" pitchFamily="34" charset="0"/>
                    <a:buChar char="•"/>
                  </a:pPr>
                  <a:r>
                    <a:rPr lang="it-IT" dirty="0" err="1">
                      <a:solidFill>
                        <a:schemeClr val="bg1">
                          <a:lumMod val="75000"/>
                        </a:schemeClr>
                      </a:solidFill>
                    </a:rPr>
                    <a:t>Electrical</a:t>
                  </a:r>
                  <a:endParaRPr lang="it-IT" dirty="0">
                    <a:solidFill>
                      <a:schemeClr val="bg1">
                        <a:lumMod val="75000"/>
                      </a:schemeClr>
                    </a:solidFill>
                  </a:endParaRPr>
                </a:p>
                <a:p>
                  <a:pPr marL="285750" indent="-285750">
                    <a:buClr>
                      <a:srgbClr val="4297B7"/>
                    </a:buClr>
                    <a:buFont typeface="Arial" panose="020B0604020202020204" pitchFamily="34" charset="0"/>
                    <a:buChar char="•"/>
                  </a:pPr>
                  <a:r>
                    <a:rPr lang="it-IT" dirty="0">
                      <a:solidFill>
                        <a:schemeClr val="bg1">
                          <a:lumMod val="75000"/>
                        </a:schemeClr>
                      </a:solidFill>
                    </a:rPr>
                    <a:t>Thermal and </a:t>
                  </a:r>
                  <a:r>
                    <a:rPr lang="it-IT" dirty="0" err="1">
                      <a:solidFill>
                        <a:schemeClr val="bg1">
                          <a:lumMod val="75000"/>
                        </a:schemeClr>
                      </a:solidFill>
                    </a:rPr>
                    <a:t>Mechanical</a:t>
                  </a:r>
                  <a:endParaRPr lang="en-GB" dirty="0">
                    <a:solidFill>
                      <a:schemeClr val="bg1">
                        <a:lumMod val="75000"/>
                      </a:schemeClr>
                    </a:solidFill>
                  </a:endParaRPr>
                </a:p>
              </p:txBody>
            </p:sp>
            <p:sp>
              <p:nvSpPr>
                <p:cNvPr id="25" name="Left Brace 24">
                  <a:extLst>
                    <a:ext uri="{FF2B5EF4-FFF2-40B4-BE49-F238E27FC236}">
                      <a16:creationId xmlns:a16="http://schemas.microsoft.com/office/drawing/2014/main" id="{2B4213F0-BB4E-BB8E-CDAD-DCC188BD9873}"/>
                    </a:ext>
                  </a:extLst>
                </p:cNvPr>
                <p:cNvSpPr/>
                <p:nvPr/>
              </p:nvSpPr>
              <p:spPr>
                <a:xfrm>
                  <a:off x="6476840" y="1756438"/>
                  <a:ext cx="181039" cy="646331"/>
                </a:xfrm>
                <a:prstGeom prst="leftBrace">
                  <a:avLst>
                    <a:gd name="adj1" fmla="val 41990"/>
                    <a:gd name="adj2" fmla="val 49375"/>
                  </a:avLst>
                </a:prstGeom>
                <a:ln w="28575">
                  <a:solidFill>
                    <a:srgbClr val="4297B7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E48F4197-342E-57FE-F2F6-98935F10CFCB}"/>
                  </a:ext>
                </a:extLst>
              </p:cNvPr>
              <p:cNvCxnSpPr/>
              <p:nvPr/>
            </p:nvCxnSpPr>
            <p:spPr>
              <a:xfrm>
                <a:off x="971614" y="3276600"/>
                <a:ext cx="9283700" cy="0"/>
              </a:xfrm>
              <a:prstGeom prst="line">
                <a:avLst/>
              </a:prstGeom>
              <a:ln w="19050">
                <a:solidFill>
                  <a:srgbClr val="4297B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691FA8C5-40C8-C4C7-76CA-53C52BBD41E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14689" y="2559050"/>
                <a:ext cx="7527861" cy="0"/>
              </a:xfrm>
              <a:prstGeom prst="line">
                <a:avLst/>
              </a:prstGeom>
              <a:ln w="12700">
                <a:solidFill>
                  <a:srgbClr val="4297B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E72EE2D6-0EE9-3428-C8E4-143C92B57869}"/>
                  </a:ext>
                </a:extLst>
              </p:cNvPr>
              <p:cNvCxnSpPr/>
              <p:nvPr/>
            </p:nvCxnSpPr>
            <p:spPr>
              <a:xfrm>
                <a:off x="971614" y="1574800"/>
                <a:ext cx="9283700" cy="0"/>
              </a:xfrm>
              <a:prstGeom prst="line">
                <a:avLst/>
              </a:prstGeom>
              <a:ln w="19050">
                <a:solidFill>
                  <a:srgbClr val="4297B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ECD93FC-8E74-7947-2338-692298E69A81}"/>
                  </a:ext>
                </a:extLst>
              </p:cNvPr>
              <p:cNvSpPr txBox="1"/>
              <p:nvPr/>
            </p:nvSpPr>
            <p:spPr>
              <a:xfrm>
                <a:off x="2803557" y="4053482"/>
                <a:ext cx="3854322" cy="506447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91440" tIns="91440" rIns="91440" bIns="91440" numCol="1" spcCol="1270" anchor="t" anchorCtr="0">
                <a:noAutofit/>
              </a:bodyPr>
              <a:lstStyle/>
              <a:p>
                <a:pPr lvl="0"/>
                <a:r>
                  <a:rPr lang="it-IT" sz="2400" dirty="0" err="1">
                    <a:solidFill>
                      <a:schemeClr val="bg1">
                        <a:lumMod val="75000"/>
                      </a:schemeClr>
                    </a:solidFill>
                  </a:rPr>
                  <a:t>Mechanical</a:t>
                </a:r>
                <a:r>
                  <a:rPr lang="it-IT" sz="2400" dirty="0">
                    <a:solidFill>
                      <a:schemeClr val="bg1">
                        <a:lumMod val="75000"/>
                      </a:schemeClr>
                    </a:solidFill>
                  </a:rPr>
                  <a:t> Assembly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FA0E0BE-9CDA-2EC2-73DE-7FB3D97AC0A2}"/>
                  </a:ext>
                </a:extLst>
              </p:cNvPr>
              <p:cNvSpPr txBox="1"/>
              <p:nvPr/>
            </p:nvSpPr>
            <p:spPr>
              <a:xfrm>
                <a:off x="2803557" y="3435489"/>
                <a:ext cx="3854322" cy="506447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91440" tIns="91440" rIns="91440" bIns="91440" numCol="1" spcCol="1270" anchor="t" anchorCtr="0">
                <a:noAutofit/>
              </a:bodyPr>
              <a:lstStyle/>
              <a:p>
                <a:pPr lvl="0"/>
                <a:r>
                  <a:rPr lang="it-IT" sz="2400" dirty="0" err="1">
                    <a:solidFill>
                      <a:schemeClr val="tx1"/>
                    </a:solidFill>
                  </a:rPr>
                  <a:t>Modules</a:t>
                </a:r>
                <a:r>
                  <a:rPr lang="it-IT" sz="2400" dirty="0">
                    <a:solidFill>
                      <a:schemeClr val="tx1"/>
                    </a:solidFill>
                  </a:rPr>
                  <a:t> manufacturing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288328F-91B1-3B34-5FE2-8A074947AAF5}"/>
                  </a:ext>
                </a:extLst>
              </p:cNvPr>
              <p:cNvSpPr txBox="1"/>
              <p:nvPr/>
            </p:nvSpPr>
            <p:spPr>
              <a:xfrm>
                <a:off x="2803557" y="4698469"/>
                <a:ext cx="3854322" cy="506447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91440" tIns="91440" rIns="91440" bIns="91440" numCol="1" spcCol="1270" anchor="t" anchorCtr="0">
                <a:noAutofit/>
              </a:bodyPr>
              <a:lstStyle/>
              <a:p>
                <a:pPr lvl="0"/>
                <a:r>
                  <a:rPr lang="it-IT" sz="2400" dirty="0" err="1">
                    <a:solidFill>
                      <a:schemeClr val="bg1">
                        <a:lumMod val="75000"/>
                      </a:schemeClr>
                    </a:solidFill>
                  </a:rPr>
                  <a:t>Final</a:t>
                </a:r>
                <a:r>
                  <a:rPr lang="it-IT" sz="2400" dirty="0">
                    <a:solidFill>
                      <a:schemeClr val="bg1">
                        <a:lumMod val="75000"/>
                      </a:schemeClr>
                    </a:solidFill>
                  </a:rPr>
                  <a:t> Testing</a:t>
                </a:r>
              </a:p>
            </p:txBody>
          </p: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5BF8D526-3C0A-C854-2B69-28C28F375B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27453" y="3978127"/>
                <a:ext cx="7527861" cy="0"/>
              </a:xfrm>
              <a:prstGeom prst="line">
                <a:avLst/>
              </a:prstGeom>
              <a:ln w="12700">
                <a:solidFill>
                  <a:srgbClr val="4297B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81C987CB-05E1-2E1D-EC9B-74676D57D8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63805" y="4698469"/>
                <a:ext cx="7527861" cy="0"/>
              </a:xfrm>
              <a:prstGeom prst="line">
                <a:avLst/>
              </a:prstGeom>
              <a:ln w="12700">
                <a:solidFill>
                  <a:srgbClr val="4297B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C8AF6BF0-BD51-4245-695D-B7EDEEAFA5E3}"/>
                  </a:ext>
                </a:extLst>
              </p:cNvPr>
              <p:cNvCxnSpPr/>
              <p:nvPr/>
            </p:nvCxnSpPr>
            <p:spPr>
              <a:xfrm>
                <a:off x="1007966" y="5302250"/>
                <a:ext cx="9283700" cy="0"/>
              </a:xfrm>
              <a:prstGeom prst="line">
                <a:avLst/>
              </a:prstGeom>
              <a:ln w="19050">
                <a:solidFill>
                  <a:srgbClr val="4297B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BF92FE7-0EA8-74D0-5AC3-30494F150E51}"/>
                </a:ext>
              </a:extLst>
            </p:cNvPr>
            <p:cNvSpPr/>
            <p:nvPr/>
          </p:nvSpPr>
          <p:spPr>
            <a:xfrm>
              <a:off x="10164794" y="1296814"/>
              <a:ext cx="1111186" cy="416767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7FC75731-CE6F-7F6D-5157-3B075730AE10}"/>
              </a:ext>
            </a:extLst>
          </p:cNvPr>
          <p:cNvSpPr txBox="1"/>
          <p:nvPr/>
        </p:nvSpPr>
        <p:spPr>
          <a:xfrm>
            <a:off x="2777314" y="2859035"/>
            <a:ext cx="5561045" cy="506447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91440" tIns="91440" rIns="91440" bIns="91440" numCol="1" spcCol="1270" anchor="t" anchorCtr="0">
            <a:noAutofit/>
          </a:bodyPr>
          <a:lstStyle/>
          <a:p>
            <a:pPr lvl="0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2400" dirty="0">
                <a:solidFill>
                  <a:schemeClr val="bg1">
                    <a:lumMod val="75000"/>
                  </a:schemeClr>
                </a:solidFill>
              </a:rPr>
              <a:t>Single </a:t>
            </a:r>
            <a:r>
              <a:rPr lang="it-IT" sz="2400" dirty="0" err="1">
                <a:solidFill>
                  <a:schemeClr val="bg1">
                    <a:lumMod val="75000"/>
                  </a:schemeClr>
                </a:solidFill>
              </a:rPr>
              <a:t>module</a:t>
            </a:r>
            <a:r>
              <a:rPr lang="it-IT" sz="2400" dirty="0">
                <a:solidFill>
                  <a:schemeClr val="bg1">
                    <a:lumMod val="75000"/>
                  </a:schemeClr>
                </a:solidFill>
              </a:rPr>
              <a:t> design and challenges</a:t>
            </a:r>
          </a:p>
        </p:txBody>
      </p:sp>
    </p:spTree>
    <p:extLst>
      <p:ext uri="{BB962C8B-B14F-4D97-AF65-F5344CB8AC3E}">
        <p14:creationId xmlns:p14="http://schemas.microsoft.com/office/powerpoint/2010/main" val="21997112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C0FCB-54F7-C953-EB32-2EEB8D067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CA83A-0FFE-3B19-EFD4-0B3880122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it-IT" dirty="0" err="1"/>
              <a:t>Phase</a:t>
            </a:r>
            <a:r>
              <a:rPr lang="it-IT" dirty="0"/>
              <a:t> 2: Module Manufacturing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30B641-1B6F-001C-BFA3-28205D958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L. Balconi | Young researchers grant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1AC2A0-AA65-726C-DF9E-D8A0C9375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6D798-1883-974D-96D0-4E82B243DEDE}" type="slidenum">
              <a:rPr lang="it-IT" smtClean="0"/>
              <a:t>17</a:t>
            </a:fld>
            <a:endParaRPr lang="it-IT"/>
          </a:p>
        </p:txBody>
      </p:sp>
      <p:pic>
        <p:nvPicPr>
          <p:cNvPr id="8" name="VID_20251124_165841039">
            <a:hlinkClick r:id="" action="ppaction://media"/>
            <a:extLst>
              <a:ext uri="{FF2B5EF4-FFF2-40B4-BE49-F238E27FC236}">
                <a16:creationId xmlns:a16="http://schemas.microsoft.com/office/drawing/2014/main" id="{96F57305-2D02-8A08-020A-4676CCE6A0F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947944" y="1422410"/>
            <a:ext cx="4739774" cy="2647718"/>
          </a:xfrm>
          <a:prstGeom prst="rect">
            <a:avLst/>
          </a:prstGeom>
        </p:spPr>
      </p:pic>
      <p:pic>
        <p:nvPicPr>
          <p:cNvPr id="10" name="Picture 9" descr="A close-up of a red piece of wood&#10;&#10;AI-generated content may be incorrect.">
            <a:extLst>
              <a:ext uri="{FF2B5EF4-FFF2-40B4-BE49-F238E27FC236}">
                <a16:creationId xmlns:a16="http://schemas.microsoft.com/office/drawing/2014/main" id="{CDC87D7A-FB51-5A00-81C8-B7326473891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90"/>
          <a:stretch>
            <a:fillRect/>
          </a:stretch>
        </p:blipFill>
        <p:spPr>
          <a:xfrm rot="5400000">
            <a:off x="6617029" y="4496211"/>
            <a:ext cx="2095886" cy="1434056"/>
          </a:xfrm>
          <a:prstGeom prst="rect">
            <a:avLst/>
          </a:prstGeom>
        </p:spPr>
      </p:pic>
      <p:pic>
        <p:nvPicPr>
          <p:cNvPr id="15" name="Picture 14" descr="A red and silver piece of metal&#10;&#10;AI-generated content may be incorrect.">
            <a:extLst>
              <a:ext uri="{FF2B5EF4-FFF2-40B4-BE49-F238E27FC236}">
                <a16:creationId xmlns:a16="http://schemas.microsoft.com/office/drawing/2014/main" id="{C3BA9442-3ADF-E924-2F3B-F9EE3C1A9AC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2" t="3333" r="18125" b="4714"/>
          <a:stretch>
            <a:fillRect/>
          </a:stretch>
        </p:blipFill>
        <p:spPr>
          <a:xfrm>
            <a:off x="8462894" y="4165296"/>
            <a:ext cx="3224824" cy="2095886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33FDB40-7A6E-66A1-59EC-A9D9B48E6EB3}"/>
              </a:ext>
            </a:extLst>
          </p:cNvPr>
          <p:cNvCxnSpPr>
            <a:cxnSpLocks/>
          </p:cNvCxnSpPr>
          <p:nvPr/>
        </p:nvCxnSpPr>
        <p:spPr>
          <a:xfrm flipH="1" flipV="1">
            <a:off x="7564417" y="4174428"/>
            <a:ext cx="1618084" cy="872867"/>
          </a:xfrm>
          <a:prstGeom prst="line">
            <a:avLst/>
          </a:prstGeom>
          <a:ln w="38100">
            <a:solidFill>
              <a:srgbClr val="4297B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AC12079-904D-9E40-794C-60CE9A174F0E}"/>
              </a:ext>
            </a:extLst>
          </p:cNvPr>
          <p:cNvCxnSpPr>
            <a:cxnSpLocks/>
          </p:cNvCxnSpPr>
          <p:nvPr/>
        </p:nvCxnSpPr>
        <p:spPr>
          <a:xfrm flipH="1">
            <a:off x="7435850" y="5047295"/>
            <a:ext cx="1746651" cy="1213887"/>
          </a:xfrm>
          <a:prstGeom prst="line">
            <a:avLst/>
          </a:prstGeom>
          <a:ln w="38100">
            <a:solidFill>
              <a:srgbClr val="4297B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F0E5E64-BA13-6189-F97D-B4709E986E66}"/>
              </a:ext>
            </a:extLst>
          </p:cNvPr>
          <p:cNvGrpSpPr/>
          <p:nvPr/>
        </p:nvGrpSpPr>
        <p:grpSpPr>
          <a:xfrm>
            <a:off x="854809" y="1422410"/>
            <a:ext cx="6028851" cy="3913892"/>
            <a:chOff x="838200" y="1574646"/>
            <a:chExt cx="6028851" cy="391389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2DBF91C-8DED-C619-6015-3FB160FF3E86}"/>
                </a:ext>
              </a:extLst>
            </p:cNvPr>
            <p:cNvSpPr txBox="1"/>
            <p:nvPr/>
          </p:nvSpPr>
          <p:spPr>
            <a:xfrm>
              <a:off x="838200" y="1574646"/>
              <a:ext cx="5441950" cy="39138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1800"/>
                </a:spcAft>
              </a:pPr>
              <a:r>
                <a:rPr lang="it-IT" sz="2000" dirty="0"/>
                <a:t>The </a:t>
              </a:r>
              <a:r>
                <a:rPr lang="it-IT" sz="2000" dirty="0" err="1"/>
                <a:t>winding</a:t>
              </a:r>
              <a:r>
                <a:rPr lang="it-IT" sz="2000" dirty="0"/>
                <a:t> of </a:t>
              </a:r>
              <a:r>
                <a:rPr lang="it-IT" sz="2000" dirty="0" err="1"/>
                <a:t>each</a:t>
              </a:r>
              <a:r>
                <a:rPr lang="it-IT" sz="2000" dirty="0"/>
                <a:t> ECHO </a:t>
              </a:r>
              <a:r>
                <a:rPr lang="it-IT" sz="2000" dirty="0" err="1"/>
                <a:t>module</a:t>
              </a:r>
              <a:r>
                <a:rPr lang="it-IT" sz="2000" dirty="0"/>
                <a:t> </a:t>
              </a:r>
              <a:r>
                <a:rPr lang="it-IT" sz="2000" dirty="0" err="1"/>
                <a:t>will</a:t>
              </a:r>
              <a:r>
                <a:rPr lang="it-IT" sz="2000" dirty="0"/>
                <a:t> be </a:t>
              </a:r>
              <a:r>
                <a:rPr lang="it-IT" sz="2000" dirty="0" err="1"/>
                <a:t>carried</a:t>
              </a:r>
              <a:r>
                <a:rPr lang="it-IT" sz="2000" dirty="0"/>
                <a:t> out </a:t>
              </a:r>
              <a:r>
                <a:rPr lang="it-IT" sz="2000" dirty="0" err="1"/>
                <a:t>considering</a:t>
              </a:r>
              <a:r>
                <a:rPr lang="it-IT" sz="2000" dirty="0"/>
                <a:t>:</a:t>
              </a:r>
            </a:p>
            <a:p>
              <a:pPr marL="285750" indent="-285750">
                <a:spcAft>
                  <a:spcPts val="1600"/>
                </a:spcAft>
                <a:buClr>
                  <a:srgbClr val="4297B7"/>
                </a:buClr>
                <a:buFont typeface="Arial" panose="020B0604020202020204" pitchFamily="34" charset="0"/>
                <a:buChar char="•"/>
              </a:pPr>
              <a:r>
                <a:rPr lang="it-IT" sz="2000" dirty="0" err="1"/>
                <a:t>Different</a:t>
              </a:r>
              <a:r>
                <a:rPr lang="it-IT" sz="2000" dirty="0"/>
                <a:t> </a:t>
              </a:r>
              <a:r>
                <a:rPr lang="it-IT" sz="2000" dirty="0" err="1"/>
                <a:t>winding</a:t>
              </a:r>
              <a:r>
                <a:rPr lang="it-IT" sz="2000" dirty="0"/>
                <a:t> </a:t>
              </a:r>
              <a:r>
                <a:rPr lang="it-IT" sz="2000" dirty="0" err="1"/>
                <a:t>technologies</a:t>
              </a:r>
              <a:r>
                <a:rPr lang="it-IT" sz="2000" dirty="0"/>
                <a:t> </a:t>
              </a:r>
              <a:r>
                <a:rPr lang="it-IT" sz="2000" dirty="0" err="1"/>
                <a:t>using</a:t>
              </a:r>
              <a:r>
                <a:rPr lang="it-IT" sz="2000" dirty="0"/>
                <a:t> a multi-tape </a:t>
              </a:r>
              <a:r>
                <a:rPr lang="it-IT" sz="2000" dirty="0" err="1"/>
                <a:t>winding</a:t>
              </a:r>
              <a:r>
                <a:rPr lang="it-IT" sz="2000" dirty="0"/>
                <a:t> machine:</a:t>
              </a:r>
            </a:p>
            <a:p>
              <a:pPr marL="742950" lvl="1" indent="-285750">
                <a:spcAft>
                  <a:spcPts val="1600"/>
                </a:spcAft>
                <a:buFont typeface="Arial" panose="020B0604020202020204" pitchFamily="34" charset="0"/>
                <a:buChar char="•"/>
              </a:pPr>
              <a:r>
                <a:rPr lang="it-IT" sz="2000" dirty="0"/>
                <a:t>Up to 6 tapes in </a:t>
              </a:r>
              <a:r>
                <a:rPr lang="it-IT" sz="2000" dirty="0" err="1"/>
                <a:t>parallel</a:t>
              </a:r>
              <a:r>
                <a:rPr lang="it-IT" sz="2000" dirty="0"/>
                <a:t>.</a:t>
              </a:r>
            </a:p>
            <a:p>
              <a:pPr marL="742950" lvl="1" indent="-285750">
                <a:spcAft>
                  <a:spcPts val="1600"/>
                </a:spcAft>
                <a:buFont typeface="Arial" panose="020B0604020202020204" pitchFamily="34" charset="0"/>
                <a:buChar char="•"/>
              </a:pPr>
              <a:r>
                <a:rPr lang="it-IT" sz="2000" dirty="0" err="1"/>
                <a:t>Variable</a:t>
              </a:r>
              <a:r>
                <a:rPr lang="it-IT" sz="2000" dirty="0"/>
                <a:t> and </a:t>
              </a:r>
              <a:r>
                <a:rPr lang="it-IT" sz="2000" dirty="0" err="1"/>
                <a:t>controlled</a:t>
              </a:r>
              <a:r>
                <a:rPr lang="it-IT" sz="2000" dirty="0"/>
                <a:t> </a:t>
              </a:r>
              <a:r>
                <a:rPr lang="it-IT" sz="2000" dirty="0" err="1"/>
                <a:t>winding</a:t>
              </a:r>
              <a:r>
                <a:rPr lang="it-IT" sz="2000" dirty="0"/>
                <a:t> </a:t>
              </a:r>
              <a:r>
                <a:rPr lang="it-IT" sz="2000" dirty="0" err="1"/>
                <a:t>tension</a:t>
              </a:r>
              <a:r>
                <a:rPr lang="it-IT" sz="2000" dirty="0"/>
                <a:t>.</a:t>
              </a:r>
            </a:p>
            <a:p>
              <a:pPr marL="285750" indent="-285750">
                <a:spcAft>
                  <a:spcPts val="1600"/>
                </a:spcAft>
                <a:buClr>
                  <a:srgbClr val="4297B7"/>
                </a:buClr>
                <a:buFont typeface="Arial" panose="020B0604020202020204" pitchFamily="34" charset="0"/>
                <a:buChar char="•"/>
              </a:pPr>
              <a:r>
                <a:rPr lang="it-IT" sz="2000" dirty="0"/>
                <a:t>A </a:t>
              </a:r>
              <a:r>
                <a:rPr lang="it-IT" sz="2000" dirty="0" err="1"/>
                <a:t>classical</a:t>
              </a:r>
              <a:r>
                <a:rPr lang="it-IT" sz="2000" dirty="0"/>
                <a:t> racetrack </a:t>
              </a:r>
              <a:r>
                <a:rPr lang="it-IT" sz="2000" dirty="0" err="1"/>
                <a:t>geometry</a:t>
              </a:r>
              <a:r>
                <a:rPr lang="it-IT" sz="2000" dirty="0"/>
                <a:t> </a:t>
              </a:r>
              <a:r>
                <a:rPr lang="it-IT" sz="2000" dirty="0" err="1"/>
                <a:t>suffers</a:t>
              </a:r>
              <a:r>
                <a:rPr lang="it-IT" sz="2000" dirty="0"/>
                <a:t> from </a:t>
              </a:r>
              <a:r>
                <a:rPr lang="it-IT" sz="2000" dirty="0" err="1"/>
                <a:t>buckling</a:t>
              </a:r>
              <a:r>
                <a:rPr lang="it-IT" sz="2000" dirty="0"/>
                <a:t>:</a:t>
              </a:r>
            </a:p>
            <a:p>
              <a:pPr marL="742950" lvl="1" indent="-285750">
                <a:spcAft>
                  <a:spcPts val="1600"/>
                </a:spcAft>
                <a:buFont typeface="Arial" panose="020B0604020202020204" pitchFamily="34" charset="0"/>
                <a:buChar char="•"/>
              </a:pPr>
              <a:r>
                <a:rPr lang="it-IT" sz="2000" dirty="0" err="1"/>
                <a:t>Alternatives</a:t>
              </a:r>
              <a:r>
                <a:rPr lang="it-IT" sz="2000" dirty="0"/>
                <a:t>/</a:t>
              </a:r>
              <a:r>
                <a:rPr lang="it-IT" sz="2000" dirty="0" err="1"/>
                <a:t>mitigations</a:t>
              </a:r>
              <a:r>
                <a:rPr lang="it-IT" sz="2000" dirty="0"/>
                <a:t> </a:t>
              </a:r>
              <a:r>
                <a:rPr lang="it-IT" sz="2000" dirty="0" err="1"/>
                <a:t>will</a:t>
              </a:r>
              <a:r>
                <a:rPr lang="it-IT" sz="2000" dirty="0"/>
                <a:t> be </a:t>
              </a:r>
              <a:r>
                <a:rPr lang="it-IT" sz="2000" dirty="0" err="1"/>
                <a:t>studied</a:t>
              </a:r>
              <a:r>
                <a:rPr lang="it-IT" sz="2000" dirty="0"/>
                <a:t>.</a:t>
              </a:r>
            </a:p>
          </p:txBody>
        </p:sp>
        <p:cxnSp>
          <p:nvCxnSpPr>
            <p:cNvPr id="26" name="Connector: Curved 25">
              <a:extLst>
                <a:ext uri="{FF2B5EF4-FFF2-40B4-BE49-F238E27FC236}">
                  <a16:creationId xmlns:a16="http://schemas.microsoft.com/office/drawing/2014/main" id="{716F564C-746D-D46D-45F4-CB3B02344216}"/>
                </a:ext>
              </a:extLst>
            </p:cNvPr>
            <p:cNvCxnSpPr>
              <a:cxnSpLocks/>
            </p:cNvCxnSpPr>
            <p:nvPr/>
          </p:nvCxnSpPr>
          <p:spPr>
            <a:xfrm>
              <a:off x="2209800" y="4755118"/>
              <a:ext cx="4657251" cy="12700"/>
            </a:xfrm>
            <a:prstGeom prst="curvedConnector3">
              <a:avLst/>
            </a:prstGeom>
            <a:ln w="28575">
              <a:solidFill>
                <a:srgbClr val="4297B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5D65ADCE-C122-1AA0-5380-72C375172F3E}"/>
                </a:ext>
              </a:extLst>
            </p:cNvPr>
            <p:cNvSpPr/>
            <p:nvPr/>
          </p:nvSpPr>
          <p:spPr>
            <a:xfrm>
              <a:off x="1116531" y="4575100"/>
              <a:ext cx="1093269" cy="365761"/>
            </a:xfrm>
            <a:prstGeom prst="ellipse">
              <a:avLst/>
            </a:prstGeom>
            <a:noFill/>
            <a:ln w="28575">
              <a:solidFill>
                <a:srgbClr val="4297B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7" name="Date Placeholder 1">
            <a:extLst>
              <a:ext uri="{FF2B5EF4-FFF2-40B4-BE49-F238E27FC236}">
                <a16:creationId xmlns:a16="http://schemas.microsoft.com/office/drawing/2014/main" id="{0FBB1021-5F1E-AE62-CA9F-77DB0C5683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it-IT" dirty="0"/>
              <a:t>01/12/2025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E14129-F149-7310-7B16-9DC56B13EE18}"/>
              </a:ext>
            </a:extLst>
          </p:cNvPr>
          <p:cNvSpPr txBox="1"/>
          <p:nvPr/>
        </p:nvSpPr>
        <p:spPr>
          <a:xfrm>
            <a:off x="8417174" y="1114633"/>
            <a:ext cx="46119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i="1" dirty="0" err="1"/>
              <a:t>Winding</a:t>
            </a:r>
            <a:r>
              <a:rPr lang="it-IT" sz="1400" i="1" dirty="0"/>
              <a:t> test: single tape on </a:t>
            </a:r>
            <a:r>
              <a:rPr lang="it-IT" sz="1400" i="1" dirty="0" err="1"/>
              <a:t>plastic</a:t>
            </a:r>
            <a:r>
              <a:rPr lang="it-IT" sz="1400" i="1" dirty="0"/>
              <a:t> </a:t>
            </a:r>
            <a:r>
              <a:rPr lang="it-IT" sz="1400" i="1" dirty="0" err="1"/>
              <a:t>mandrel</a:t>
            </a:r>
            <a:endParaRPr lang="en-GB" sz="1400" i="1" dirty="0"/>
          </a:p>
        </p:txBody>
      </p:sp>
    </p:spTree>
    <p:extLst>
      <p:ext uri="{BB962C8B-B14F-4D97-AF65-F5344CB8AC3E}">
        <p14:creationId xmlns:p14="http://schemas.microsoft.com/office/powerpoint/2010/main" val="406235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338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F3889-6407-7DA0-67ED-0FA271A94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8102B-B966-6428-0D3F-10FA00477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Roadmap of activities for ECHO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EDA2BA-D0C7-1E72-B481-FEBBE0F87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L. Balconi | Young researchers grant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832E3D-5D11-6613-9800-62FB0A948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6D798-1883-974D-96D0-4E82B243DEDE}" type="slidenum">
              <a:rPr lang="it-IT" smtClean="0"/>
              <a:t>18</a:t>
            </a:fld>
            <a:endParaRPr lang="it-IT"/>
          </a:p>
        </p:txBody>
      </p:sp>
      <p:sp>
        <p:nvSpPr>
          <p:cNvPr id="7" name="Date Placeholder 1">
            <a:extLst>
              <a:ext uri="{FF2B5EF4-FFF2-40B4-BE49-F238E27FC236}">
                <a16:creationId xmlns:a16="http://schemas.microsoft.com/office/drawing/2014/main" id="{B52DE15F-F671-4F21-C749-54C461A6CA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it-IT" dirty="0"/>
              <a:t>01/12/2025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210C58C-94B3-AA7D-77B6-869B4239713C}"/>
              </a:ext>
            </a:extLst>
          </p:cNvPr>
          <p:cNvGrpSpPr/>
          <p:nvPr/>
        </p:nvGrpSpPr>
        <p:grpSpPr>
          <a:xfrm>
            <a:off x="972360" y="1345162"/>
            <a:ext cx="10247280" cy="4167676"/>
            <a:chOff x="1028700" y="1296814"/>
            <a:chExt cx="10247280" cy="416767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965BBDF-BA31-869E-3687-46BFC767C5C1}"/>
                </a:ext>
              </a:extLst>
            </p:cNvPr>
            <p:cNvGrpSpPr/>
            <p:nvPr/>
          </p:nvGrpSpPr>
          <p:grpSpPr>
            <a:xfrm>
              <a:off x="1028700" y="1690688"/>
              <a:ext cx="9332816" cy="3727450"/>
              <a:chOff x="958850" y="1574800"/>
              <a:chExt cx="9332816" cy="3727450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882B2E7-1E52-A2B5-9C17-D998045835BD}"/>
                  </a:ext>
                </a:extLst>
              </p:cNvPr>
              <p:cNvSpPr txBox="1"/>
              <p:nvPr/>
            </p:nvSpPr>
            <p:spPr>
              <a:xfrm>
                <a:off x="958850" y="1779345"/>
                <a:ext cx="2057400" cy="535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14224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it-IT" sz="3200" b="1" dirty="0" err="1">
                    <a:solidFill>
                      <a:srgbClr val="C2E1ED"/>
                    </a:solidFill>
                    <a:latin typeface="Calibri Light" panose="020F0302020204030204"/>
                  </a:rPr>
                  <a:t>Phase</a:t>
                </a:r>
                <a:r>
                  <a:rPr lang="it-IT" sz="3200" b="1" dirty="0">
                    <a:solidFill>
                      <a:srgbClr val="C2E1ED"/>
                    </a:solidFill>
                    <a:latin typeface="Calibri Light" panose="020F0302020204030204"/>
                  </a:rPr>
                  <a:t> 1</a:t>
                </a:r>
                <a:endParaRPr lang="en-GB" sz="3200" b="1" dirty="0">
                  <a:solidFill>
                    <a:srgbClr val="C2E1ED"/>
                  </a:solidFill>
                  <a:latin typeface="Calibri Light" panose="020F0302020204030204"/>
                </a:endParaRP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726B5E9F-67AF-A3ED-4F35-B6249D9FE1B1}"/>
                  </a:ext>
                </a:extLst>
              </p:cNvPr>
              <p:cNvSpPr/>
              <p:nvPr/>
            </p:nvSpPr>
            <p:spPr>
              <a:xfrm>
                <a:off x="2714689" y="1818023"/>
                <a:ext cx="3854322" cy="899917"/>
              </a:xfrm>
              <a:prstGeom prst="rect">
                <a:avLst/>
              </a:pr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GB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81334E-82A2-3D00-E8C8-3D59888FB408}"/>
                  </a:ext>
                </a:extLst>
              </p:cNvPr>
              <p:cNvSpPr txBox="1"/>
              <p:nvPr/>
            </p:nvSpPr>
            <p:spPr>
              <a:xfrm>
                <a:off x="2713037" y="1817573"/>
                <a:ext cx="3854322" cy="476577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91440" tIns="91440" rIns="91440" bIns="91440" numCol="1" spcCol="1270" anchor="t" anchorCtr="0">
                <a:noAutofit/>
              </a:bodyPr>
              <a:lstStyle/>
              <a:p>
                <a:pPr marL="0" lvl="0" indent="0" algn="l" defTabSz="10668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it-IT" sz="2400" kern="1200" dirty="0" err="1">
                    <a:solidFill>
                      <a:schemeClr val="bg1">
                        <a:lumMod val="75000"/>
                      </a:schemeClr>
                    </a:solidFill>
                  </a:rPr>
                  <a:t>Characterization</a:t>
                </a:r>
                <a:r>
                  <a:rPr lang="it-IT" sz="2400" kern="1200" dirty="0">
                    <a:solidFill>
                      <a:schemeClr val="bg1">
                        <a:lumMod val="75000"/>
                      </a:schemeClr>
                    </a:solidFill>
                  </a:rPr>
                  <a:t> of HTS tape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EF87F19-FB12-CC0F-A87D-8F3F69911799}"/>
                  </a:ext>
                </a:extLst>
              </p:cNvPr>
              <p:cNvSpPr txBox="1"/>
              <p:nvPr/>
            </p:nvSpPr>
            <p:spPr>
              <a:xfrm>
                <a:off x="958850" y="3380652"/>
                <a:ext cx="20574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3200" b="1" dirty="0" err="1">
                    <a:solidFill>
                      <a:srgbClr val="4297B7"/>
                    </a:solidFill>
                    <a:latin typeface="Calibri Light" panose="020F0302020204030204"/>
                  </a:rPr>
                  <a:t>Phase</a:t>
                </a:r>
                <a:r>
                  <a:rPr lang="it-IT" sz="3200" b="1" dirty="0">
                    <a:solidFill>
                      <a:srgbClr val="4297B7"/>
                    </a:solidFill>
                    <a:latin typeface="Calibri Light" panose="020F0302020204030204"/>
                  </a:rPr>
                  <a:t> 2</a:t>
                </a:r>
                <a:endParaRPr lang="en-GB" sz="3200" b="1" dirty="0">
                  <a:solidFill>
                    <a:srgbClr val="4297B7"/>
                  </a:solidFill>
                  <a:latin typeface="Calibri Light" panose="020F0302020204030204"/>
                </a:endParaRPr>
              </a:p>
            </p:txBody>
          </p: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94DCE500-2987-C426-7F33-15AE88833BB7}"/>
                  </a:ext>
                </a:extLst>
              </p:cNvPr>
              <p:cNvGrpSpPr/>
              <p:nvPr/>
            </p:nvGrpSpPr>
            <p:grpSpPr>
              <a:xfrm>
                <a:off x="6476840" y="1746586"/>
                <a:ext cx="3203639" cy="646332"/>
                <a:chOff x="6476840" y="1756437"/>
                <a:chExt cx="3203639" cy="646332"/>
              </a:xfrm>
            </p:grpSpPr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995C93A4-F58A-1BDD-23F8-0C0CA52EB8EC}"/>
                    </a:ext>
                  </a:extLst>
                </p:cNvPr>
                <p:cNvSpPr txBox="1"/>
                <p:nvPr/>
              </p:nvSpPr>
              <p:spPr>
                <a:xfrm>
                  <a:off x="6657879" y="1756437"/>
                  <a:ext cx="3022600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285750" indent="-285750">
                    <a:buClr>
                      <a:srgbClr val="4297B7"/>
                    </a:buClr>
                    <a:buFont typeface="Arial" panose="020B0604020202020204" pitchFamily="34" charset="0"/>
                    <a:buChar char="•"/>
                  </a:pPr>
                  <a:r>
                    <a:rPr lang="it-IT" dirty="0" err="1">
                      <a:solidFill>
                        <a:schemeClr val="bg1">
                          <a:lumMod val="75000"/>
                        </a:schemeClr>
                      </a:solidFill>
                    </a:rPr>
                    <a:t>Electrical</a:t>
                  </a:r>
                  <a:endParaRPr lang="it-IT" dirty="0">
                    <a:solidFill>
                      <a:schemeClr val="bg1">
                        <a:lumMod val="75000"/>
                      </a:schemeClr>
                    </a:solidFill>
                  </a:endParaRPr>
                </a:p>
                <a:p>
                  <a:pPr marL="285750" indent="-285750">
                    <a:buClr>
                      <a:srgbClr val="4297B7"/>
                    </a:buClr>
                    <a:buFont typeface="Arial" panose="020B0604020202020204" pitchFamily="34" charset="0"/>
                    <a:buChar char="•"/>
                  </a:pPr>
                  <a:r>
                    <a:rPr lang="it-IT" dirty="0">
                      <a:solidFill>
                        <a:schemeClr val="bg1">
                          <a:lumMod val="75000"/>
                        </a:schemeClr>
                      </a:solidFill>
                    </a:rPr>
                    <a:t>Thermal and </a:t>
                  </a:r>
                  <a:r>
                    <a:rPr lang="it-IT" dirty="0" err="1">
                      <a:solidFill>
                        <a:schemeClr val="bg1">
                          <a:lumMod val="75000"/>
                        </a:schemeClr>
                      </a:solidFill>
                    </a:rPr>
                    <a:t>Mechanical</a:t>
                  </a:r>
                  <a:endParaRPr lang="en-GB" dirty="0">
                    <a:solidFill>
                      <a:schemeClr val="bg1">
                        <a:lumMod val="75000"/>
                      </a:schemeClr>
                    </a:solidFill>
                  </a:endParaRPr>
                </a:p>
              </p:txBody>
            </p:sp>
            <p:sp>
              <p:nvSpPr>
                <p:cNvPr id="25" name="Left Brace 24">
                  <a:extLst>
                    <a:ext uri="{FF2B5EF4-FFF2-40B4-BE49-F238E27FC236}">
                      <a16:creationId xmlns:a16="http://schemas.microsoft.com/office/drawing/2014/main" id="{B792A457-48F8-EABB-0BCF-19169DF426E5}"/>
                    </a:ext>
                  </a:extLst>
                </p:cNvPr>
                <p:cNvSpPr/>
                <p:nvPr/>
              </p:nvSpPr>
              <p:spPr>
                <a:xfrm>
                  <a:off x="6476840" y="1756438"/>
                  <a:ext cx="181039" cy="646331"/>
                </a:xfrm>
                <a:prstGeom prst="leftBrace">
                  <a:avLst>
                    <a:gd name="adj1" fmla="val 41990"/>
                    <a:gd name="adj2" fmla="val 49375"/>
                  </a:avLst>
                </a:prstGeom>
                <a:ln w="28575">
                  <a:solidFill>
                    <a:srgbClr val="4297B7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01739CAA-5D91-9886-5896-1D882A3A65A0}"/>
                  </a:ext>
                </a:extLst>
              </p:cNvPr>
              <p:cNvCxnSpPr/>
              <p:nvPr/>
            </p:nvCxnSpPr>
            <p:spPr>
              <a:xfrm>
                <a:off x="971614" y="3276600"/>
                <a:ext cx="9283700" cy="0"/>
              </a:xfrm>
              <a:prstGeom prst="line">
                <a:avLst/>
              </a:prstGeom>
              <a:ln w="19050">
                <a:solidFill>
                  <a:srgbClr val="4297B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11412767-425E-0F3E-5105-6E391175A2F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14689" y="2559050"/>
                <a:ext cx="7527861" cy="0"/>
              </a:xfrm>
              <a:prstGeom prst="line">
                <a:avLst/>
              </a:prstGeom>
              <a:ln w="12700">
                <a:solidFill>
                  <a:srgbClr val="4297B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F46B8020-7EEF-538C-AC34-60F28184D761}"/>
                  </a:ext>
                </a:extLst>
              </p:cNvPr>
              <p:cNvCxnSpPr/>
              <p:nvPr/>
            </p:nvCxnSpPr>
            <p:spPr>
              <a:xfrm>
                <a:off x="971614" y="1574800"/>
                <a:ext cx="9283700" cy="0"/>
              </a:xfrm>
              <a:prstGeom prst="line">
                <a:avLst/>
              </a:prstGeom>
              <a:ln w="19050">
                <a:solidFill>
                  <a:srgbClr val="4297B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74C3A19-4AC9-7209-942C-9CC10A274EB2}"/>
                  </a:ext>
                </a:extLst>
              </p:cNvPr>
              <p:cNvSpPr txBox="1"/>
              <p:nvPr/>
            </p:nvSpPr>
            <p:spPr>
              <a:xfrm>
                <a:off x="2803557" y="4053482"/>
                <a:ext cx="3854322" cy="506447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91440" tIns="91440" rIns="91440" bIns="91440" numCol="1" spcCol="1270" anchor="t" anchorCtr="0">
                <a:noAutofit/>
              </a:bodyPr>
              <a:lstStyle/>
              <a:p>
                <a:pPr lvl="0"/>
                <a:r>
                  <a:rPr lang="it-IT" sz="2400" dirty="0" err="1">
                    <a:solidFill>
                      <a:schemeClr val="tx1"/>
                    </a:solidFill>
                  </a:rPr>
                  <a:t>Mechanical</a:t>
                </a:r>
                <a:r>
                  <a:rPr lang="it-IT" sz="2400" dirty="0">
                    <a:solidFill>
                      <a:schemeClr val="tx1"/>
                    </a:solidFill>
                  </a:rPr>
                  <a:t> Assembly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0007CC4-0821-9187-EE7B-3341E2B126B6}"/>
                  </a:ext>
                </a:extLst>
              </p:cNvPr>
              <p:cNvSpPr txBox="1"/>
              <p:nvPr/>
            </p:nvSpPr>
            <p:spPr>
              <a:xfrm>
                <a:off x="2803557" y="3435489"/>
                <a:ext cx="3854322" cy="506447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91440" tIns="91440" rIns="91440" bIns="91440" numCol="1" spcCol="1270" anchor="t" anchorCtr="0">
                <a:noAutofit/>
              </a:bodyPr>
              <a:lstStyle/>
              <a:p>
                <a:pPr lvl="0"/>
                <a:r>
                  <a:rPr lang="it-IT" sz="2400" dirty="0" err="1">
                    <a:solidFill>
                      <a:schemeClr val="bg1">
                        <a:lumMod val="75000"/>
                      </a:schemeClr>
                    </a:solidFill>
                  </a:rPr>
                  <a:t>Modules</a:t>
                </a:r>
                <a:r>
                  <a:rPr lang="it-IT" sz="2400" dirty="0">
                    <a:solidFill>
                      <a:schemeClr val="bg1">
                        <a:lumMod val="75000"/>
                      </a:schemeClr>
                    </a:solidFill>
                  </a:rPr>
                  <a:t> manufacturing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DE4CE1F-C9FD-1560-3C64-BA70044E8600}"/>
                  </a:ext>
                </a:extLst>
              </p:cNvPr>
              <p:cNvSpPr txBox="1"/>
              <p:nvPr/>
            </p:nvSpPr>
            <p:spPr>
              <a:xfrm>
                <a:off x="2803557" y="4698469"/>
                <a:ext cx="3854322" cy="506447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91440" tIns="91440" rIns="91440" bIns="91440" numCol="1" spcCol="1270" anchor="t" anchorCtr="0">
                <a:noAutofit/>
              </a:bodyPr>
              <a:lstStyle/>
              <a:p>
                <a:pPr lvl="0"/>
                <a:r>
                  <a:rPr lang="it-IT" sz="2400" dirty="0" err="1">
                    <a:solidFill>
                      <a:schemeClr val="bg1">
                        <a:lumMod val="75000"/>
                      </a:schemeClr>
                    </a:solidFill>
                  </a:rPr>
                  <a:t>Final</a:t>
                </a:r>
                <a:r>
                  <a:rPr lang="it-IT" sz="2400" dirty="0">
                    <a:solidFill>
                      <a:schemeClr val="bg1">
                        <a:lumMod val="75000"/>
                      </a:schemeClr>
                    </a:solidFill>
                  </a:rPr>
                  <a:t> Testing</a:t>
                </a:r>
              </a:p>
            </p:txBody>
          </p: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2B19A6D4-C718-8F35-0533-503F9F5FE0C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27453" y="3978127"/>
                <a:ext cx="7527861" cy="0"/>
              </a:xfrm>
              <a:prstGeom prst="line">
                <a:avLst/>
              </a:prstGeom>
              <a:ln w="12700">
                <a:solidFill>
                  <a:srgbClr val="4297B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1D0E649C-4F4D-55B9-0226-1202020316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63805" y="4698469"/>
                <a:ext cx="7527861" cy="0"/>
              </a:xfrm>
              <a:prstGeom prst="line">
                <a:avLst/>
              </a:prstGeom>
              <a:ln w="12700">
                <a:solidFill>
                  <a:srgbClr val="4297B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44E565DC-A270-52CD-48A8-5968AE6F142E}"/>
                  </a:ext>
                </a:extLst>
              </p:cNvPr>
              <p:cNvCxnSpPr/>
              <p:nvPr/>
            </p:nvCxnSpPr>
            <p:spPr>
              <a:xfrm>
                <a:off x="1007966" y="5302250"/>
                <a:ext cx="9283700" cy="0"/>
              </a:xfrm>
              <a:prstGeom prst="line">
                <a:avLst/>
              </a:prstGeom>
              <a:ln w="19050">
                <a:solidFill>
                  <a:srgbClr val="4297B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3AB6C08-66C0-C835-9DE4-C6A461FE8E70}"/>
                </a:ext>
              </a:extLst>
            </p:cNvPr>
            <p:cNvSpPr/>
            <p:nvPr/>
          </p:nvSpPr>
          <p:spPr>
            <a:xfrm>
              <a:off x="10164794" y="1296814"/>
              <a:ext cx="1111186" cy="416767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BE1C509E-886C-F785-C645-5B8301497959}"/>
              </a:ext>
            </a:extLst>
          </p:cNvPr>
          <p:cNvSpPr txBox="1"/>
          <p:nvPr/>
        </p:nvSpPr>
        <p:spPr>
          <a:xfrm>
            <a:off x="2777314" y="2859035"/>
            <a:ext cx="5561045" cy="506447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91440" tIns="91440" rIns="91440" bIns="91440" numCol="1" spcCol="1270" anchor="t" anchorCtr="0">
            <a:noAutofit/>
          </a:bodyPr>
          <a:lstStyle/>
          <a:p>
            <a:pPr lvl="0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2400" dirty="0">
                <a:solidFill>
                  <a:schemeClr val="bg1">
                    <a:lumMod val="75000"/>
                  </a:schemeClr>
                </a:solidFill>
              </a:rPr>
              <a:t>Single </a:t>
            </a:r>
            <a:r>
              <a:rPr lang="it-IT" sz="2400" dirty="0" err="1">
                <a:solidFill>
                  <a:schemeClr val="bg1">
                    <a:lumMod val="75000"/>
                  </a:schemeClr>
                </a:solidFill>
              </a:rPr>
              <a:t>module</a:t>
            </a:r>
            <a:r>
              <a:rPr lang="it-IT" sz="2400" dirty="0">
                <a:solidFill>
                  <a:schemeClr val="bg1">
                    <a:lumMod val="75000"/>
                  </a:schemeClr>
                </a:solidFill>
              </a:rPr>
              <a:t> design and challenges</a:t>
            </a:r>
          </a:p>
        </p:txBody>
      </p:sp>
    </p:spTree>
    <p:extLst>
      <p:ext uri="{BB962C8B-B14F-4D97-AF65-F5344CB8AC3E}">
        <p14:creationId xmlns:p14="http://schemas.microsoft.com/office/powerpoint/2010/main" val="11328791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4E043-F94A-3344-8CC1-00B0356E3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FD1B8-85AA-85FD-25FC-14E918303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710" y="159809"/>
            <a:ext cx="10515600" cy="1325563"/>
          </a:xfrm>
        </p:spPr>
        <p:txBody>
          <a:bodyPr/>
          <a:lstStyle/>
          <a:p>
            <a:r>
              <a:rPr lang="it-IT" dirty="0" err="1"/>
              <a:t>Phase</a:t>
            </a:r>
            <a:r>
              <a:rPr lang="it-IT" dirty="0"/>
              <a:t> 2: </a:t>
            </a:r>
            <a:r>
              <a:rPr lang="it-IT" dirty="0" err="1"/>
              <a:t>Mechanical</a:t>
            </a:r>
            <a:r>
              <a:rPr lang="it-IT" dirty="0"/>
              <a:t> assembly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4CF64B-1095-06ED-303E-3A42B55BA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L. Balconi | Young researchers grant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FD2C8E-28FB-D2D4-ED33-DECD91C01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6D798-1883-974D-96D0-4E82B243DEDE}" type="slidenum">
              <a:rPr lang="it-IT" smtClean="0"/>
              <a:t>19</a:t>
            </a:fld>
            <a:endParaRPr lang="it-IT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7CDECD-9E93-B7E6-890B-A981C1F376CC}"/>
              </a:ext>
            </a:extLst>
          </p:cNvPr>
          <p:cNvSpPr txBox="1"/>
          <p:nvPr/>
        </p:nvSpPr>
        <p:spPr>
          <a:xfrm>
            <a:off x="926690" y="1394092"/>
            <a:ext cx="5441950" cy="486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it-IT" sz="2000" dirty="0"/>
              <a:t>The manufacturing of the ECHO </a:t>
            </a:r>
            <a:r>
              <a:rPr lang="it-IT" sz="2000" dirty="0" err="1"/>
              <a:t>module</a:t>
            </a:r>
            <a:r>
              <a:rPr lang="it-IT" sz="2000" dirty="0"/>
              <a:t> </a:t>
            </a:r>
            <a:r>
              <a:rPr lang="it-IT" sz="2000" dirty="0" err="1"/>
              <a:t>will</a:t>
            </a:r>
            <a:r>
              <a:rPr lang="it-IT" sz="2000" dirty="0"/>
              <a:t> be </a:t>
            </a:r>
            <a:r>
              <a:rPr lang="it-IT" sz="2000" dirty="0" err="1"/>
              <a:t>carried</a:t>
            </a:r>
            <a:r>
              <a:rPr lang="it-IT" sz="2000" dirty="0"/>
              <a:t> out </a:t>
            </a:r>
            <a:r>
              <a:rPr lang="it-IT" sz="2000" dirty="0" err="1"/>
              <a:t>considering</a:t>
            </a:r>
            <a:r>
              <a:rPr lang="it-IT" sz="2000" dirty="0"/>
              <a:t>:</a:t>
            </a:r>
          </a:p>
          <a:p>
            <a:pPr marL="342900" indent="-342900">
              <a:spcAft>
                <a:spcPts val="1200"/>
              </a:spcAft>
              <a:buClr>
                <a:srgbClr val="4297B7"/>
              </a:buClr>
              <a:buFont typeface="Arial" panose="020B0604020202020204" pitchFamily="34" charset="0"/>
              <a:buChar char="•"/>
            </a:pPr>
            <a:r>
              <a:rPr lang="it-IT" sz="2000" dirty="0" err="1"/>
              <a:t>Integrating</a:t>
            </a:r>
            <a:r>
              <a:rPr lang="it-IT" sz="2000" dirty="0"/>
              <a:t> the </a:t>
            </a:r>
            <a:r>
              <a:rPr lang="it-IT" sz="2000" dirty="0" err="1"/>
              <a:t>mechanic</a:t>
            </a:r>
            <a:r>
              <a:rPr lang="it-IT" sz="2000" dirty="0"/>
              <a:t> of </a:t>
            </a:r>
            <a:r>
              <a:rPr lang="it-IT" sz="2000" dirty="0" err="1"/>
              <a:t>each</a:t>
            </a:r>
            <a:r>
              <a:rPr lang="it-IT" sz="2000" dirty="0"/>
              <a:t> </a:t>
            </a:r>
            <a:r>
              <a:rPr lang="it-IT" sz="2000" dirty="0" err="1"/>
              <a:t>module</a:t>
            </a:r>
            <a:r>
              <a:rPr lang="it-IT" sz="2000" dirty="0"/>
              <a:t> with the </a:t>
            </a:r>
            <a:r>
              <a:rPr lang="it-IT" sz="2000" dirty="0" err="1"/>
              <a:t>curved</a:t>
            </a:r>
            <a:r>
              <a:rPr lang="it-IT" sz="2000" dirty="0"/>
              <a:t> support</a:t>
            </a:r>
          </a:p>
          <a:p>
            <a:pPr marL="342900" indent="-342900">
              <a:spcAft>
                <a:spcPts val="1200"/>
              </a:spcAft>
              <a:buClr>
                <a:srgbClr val="4297B7"/>
              </a:buClr>
              <a:buFont typeface="Arial" panose="020B0604020202020204" pitchFamily="34" charset="0"/>
              <a:buChar char="•"/>
            </a:pPr>
            <a:r>
              <a:rPr lang="it-IT" sz="2000" dirty="0" err="1"/>
              <a:t>Optimization</a:t>
            </a:r>
            <a:r>
              <a:rPr lang="it-IT" sz="2000" dirty="0"/>
              <a:t> of resistive </a:t>
            </a:r>
            <a:r>
              <a:rPr lang="it-IT" sz="2000" dirty="0" err="1"/>
              <a:t>junctions</a:t>
            </a:r>
            <a:r>
              <a:rPr lang="it-IT" sz="2000" dirty="0"/>
              <a:t> </a:t>
            </a:r>
            <a:r>
              <a:rPr lang="it-IT" sz="2000" dirty="0" err="1"/>
              <a:t>between</a:t>
            </a:r>
            <a:r>
              <a:rPr lang="it-IT" sz="2000" dirty="0"/>
              <a:t> </a:t>
            </a:r>
            <a:r>
              <a:rPr lang="it-IT" sz="2000" dirty="0" err="1"/>
              <a:t>modules</a:t>
            </a:r>
            <a:endParaRPr lang="it-IT" sz="2000" dirty="0"/>
          </a:p>
          <a:p>
            <a:pPr marL="285750" indent="-285750">
              <a:spcAft>
                <a:spcPts val="1200"/>
              </a:spcAft>
              <a:buClr>
                <a:srgbClr val="4297B7"/>
              </a:buClr>
              <a:buFont typeface="Arial" panose="020B0604020202020204" pitchFamily="34" charset="0"/>
              <a:buChar char="•"/>
            </a:pPr>
            <a:r>
              <a:rPr lang="it-IT" sz="2000" dirty="0" err="1"/>
              <a:t>Possibility</a:t>
            </a:r>
            <a:r>
              <a:rPr lang="it-IT" sz="2000" dirty="0"/>
              <a:t> to exploit </a:t>
            </a:r>
            <a:r>
              <a:rPr lang="it-IT" sz="2000" dirty="0" err="1"/>
              <a:t>metallic</a:t>
            </a:r>
            <a:r>
              <a:rPr lang="it-IT" sz="2000" dirty="0"/>
              <a:t> additive manufacturing:</a:t>
            </a: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it-IT" sz="2000" dirty="0"/>
              <a:t>Copper</a:t>
            </a: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it-IT" sz="2000" dirty="0" err="1"/>
              <a:t>Stainless</a:t>
            </a:r>
            <a:r>
              <a:rPr lang="it-IT" sz="2000" dirty="0"/>
              <a:t> </a:t>
            </a:r>
            <a:r>
              <a:rPr lang="it-IT" sz="2000" dirty="0" err="1"/>
              <a:t>steel</a:t>
            </a:r>
            <a:endParaRPr lang="it-IT" sz="2000" dirty="0"/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it-IT" sz="2000" dirty="0"/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it-IT" sz="2000" dirty="0"/>
          </a:p>
        </p:txBody>
      </p:sp>
      <p:pic>
        <p:nvPicPr>
          <p:cNvPr id="17" name="Immagine 4" descr="Immagine che contiene interno, pavimento, Elettrodomestico, muro&#10;&#10;Descrizione generata automaticamente">
            <a:extLst>
              <a:ext uri="{FF2B5EF4-FFF2-40B4-BE49-F238E27FC236}">
                <a16:creationId xmlns:a16="http://schemas.microsoft.com/office/drawing/2014/main" id="{DD9981DA-B21D-E02E-3A2D-976A5D4333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38" t="22308" r="5539" b="20920"/>
          <a:stretch>
            <a:fillRect/>
          </a:stretch>
        </p:blipFill>
        <p:spPr>
          <a:xfrm>
            <a:off x="7413133" y="3983346"/>
            <a:ext cx="3693300" cy="2395663"/>
          </a:xfrm>
          <a:prstGeom prst="rect">
            <a:avLst/>
          </a:prstGeom>
        </p:spPr>
      </p:pic>
      <p:sp>
        <p:nvSpPr>
          <p:cNvPr id="7" name="Date Placeholder 1">
            <a:extLst>
              <a:ext uri="{FF2B5EF4-FFF2-40B4-BE49-F238E27FC236}">
                <a16:creationId xmlns:a16="http://schemas.microsoft.com/office/drawing/2014/main" id="{ED62D271-BC61-C654-569E-555B53E8A5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it-IT" dirty="0"/>
              <a:t>01/12/2025</a:t>
            </a:r>
          </a:p>
        </p:txBody>
      </p:sp>
      <p:pic>
        <p:nvPicPr>
          <p:cNvPr id="11" name="Picture 10" descr="A white and orange object with a black background&#10;&#10;AI-generated content may be incorrect.">
            <a:extLst>
              <a:ext uri="{FF2B5EF4-FFF2-40B4-BE49-F238E27FC236}">
                <a16:creationId xmlns:a16="http://schemas.microsoft.com/office/drawing/2014/main" id="{9426A337-3E34-1137-D4C8-54F90F7CE64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83" r="32503"/>
          <a:stretch>
            <a:fillRect/>
          </a:stretch>
        </p:blipFill>
        <p:spPr bwMode="auto">
          <a:xfrm rot="15041395">
            <a:off x="6414338" y="1347277"/>
            <a:ext cx="2201364" cy="2094443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9" name="Picture 18" descr="A group of white objects&#10;&#10;AI-generated content may be incorrect.">
            <a:extLst>
              <a:ext uri="{FF2B5EF4-FFF2-40B4-BE49-F238E27FC236}">
                <a16:creationId xmlns:a16="http://schemas.microsoft.com/office/drawing/2014/main" id="{ED9DA44F-82AB-0792-3C2F-F18E6C1415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27" b="30090"/>
          <a:stretch>
            <a:fillRect/>
          </a:stretch>
        </p:blipFill>
        <p:spPr>
          <a:xfrm>
            <a:off x="8661400" y="-50986"/>
            <a:ext cx="7181440" cy="3731153"/>
          </a:xfrm>
          <a:prstGeom prst="rect">
            <a:avLst/>
          </a:prstGeom>
        </p:spPr>
      </p:pic>
      <p:sp>
        <p:nvSpPr>
          <p:cNvPr id="20" name="Arrow: Down 19">
            <a:extLst>
              <a:ext uri="{FF2B5EF4-FFF2-40B4-BE49-F238E27FC236}">
                <a16:creationId xmlns:a16="http://schemas.microsoft.com/office/drawing/2014/main" id="{CAFE4308-3B34-4426-4B76-BFE32E36231A}"/>
              </a:ext>
            </a:extLst>
          </p:cNvPr>
          <p:cNvSpPr/>
          <p:nvPr/>
        </p:nvSpPr>
        <p:spPr>
          <a:xfrm rot="16200000">
            <a:off x="8492912" y="2129529"/>
            <a:ext cx="213322" cy="535458"/>
          </a:xfrm>
          <a:prstGeom prst="downArrow">
            <a:avLst/>
          </a:prstGeom>
          <a:solidFill>
            <a:srgbClr val="2895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26207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2C326-A408-ED01-22D5-9DDF497A5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C79C5-F84D-2C30-EB42-75138E10D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Roadmap of activities for ECHO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66195D-F767-EDBE-5DC9-7B47FC824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L. Balconi | Young researchers grant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9E2062-A548-A1C0-C20B-5B4793FE1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6D798-1883-974D-96D0-4E82B243DEDE}" type="slidenum">
              <a:rPr lang="it-IT" smtClean="0"/>
              <a:t>20</a:t>
            </a:fld>
            <a:endParaRPr lang="it-IT"/>
          </a:p>
        </p:txBody>
      </p:sp>
      <p:sp>
        <p:nvSpPr>
          <p:cNvPr id="7" name="Date Placeholder 1">
            <a:extLst>
              <a:ext uri="{FF2B5EF4-FFF2-40B4-BE49-F238E27FC236}">
                <a16:creationId xmlns:a16="http://schemas.microsoft.com/office/drawing/2014/main" id="{BD1E3279-FE1E-10B4-E7AA-CA6D5DE030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it-IT" dirty="0"/>
              <a:t>01/12/2025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8DEA56D-165D-348D-10DC-71A7762C4A59}"/>
              </a:ext>
            </a:extLst>
          </p:cNvPr>
          <p:cNvGrpSpPr/>
          <p:nvPr/>
        </p:nvGrpSpPr>
        <p:grpSpPr>
          <a:xfrm>
            <a:off x="972360" y="1345162"/>
            <a:ext cx="10247280" cy="4167676"/>
            <a:chOff x="1028700" y="1296814"/>
            <a:chExt cx="10247280" cy="416767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9A89892-41F8-A7FC-198F-C12382BCC7C9}"/>
                </a:ext>
              </a:extLst>
            </p:cNvPr>
            <p:cNvGrpSpPr/>
            <p:nvPr/>
          </p:nvGrpSpPr>
          <p:grpSpPr>
            <a:xfrm>
              <a:off x="1028700" y="1690688"/>
              <a:ext cx="9332816" cy="3727450"/>
              <a:chOff x="958850" y="1574800"/>
              <a:chExt cx="9332816" cy="3727450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0BCE187-2310-F519-DF33-05C05C6C8670}"/>
                  </a:ext>
                </a:extLst>
              </p:cNvPr>
              <p:cNvSpPr txBox="1"/>
              <p:nvPr/>
            </p:nvSpPr>
            <p:spPr>
              <a:xfrm>
                <a:off x="958850" y="1779345"/>
                <a:ext cx="2057400" cy="535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14224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it-IT" sz="3200" b="1" dirty="0" err="1">
                    <a:solidFill>
                      <a:srgbClr val="C2E1ED"/>
                    </a:solidFill>
                    <a:latin typeface="Calibri Light" panose="020F0302020204030204"/>
                  </a:rPr>
                  <a:t>Phase</a:t>
                </a:r>
                <a:r>
                  <a:rPr lang="it-IT" sz="3200" b="1" dirty="0">
                    <a:solidFill>
                      <a:srgbClr val="C2E1ED"/>
                    </a:solidFill>
                    <a:latin typeface="Calibri Light" panose="020F0302020204030204"/>
                  </a:rPr>
                  <a:t> 1</a:t>
                </a:r>
                <a:endParaRPr lang="en-GB" sz="3200" b="1" dirty="0">
                  <a:solidFill>
                    <a:srgbClr val="C2E1ED"/>
                  </a:solidFill>
                  <a:latin typeface="Calibri Light" panose="020F0302020204030204"/>
                </a:endParaRP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45179AB9-E79C-71B2-0998-7C942B09089F}"/>
                  </a:ext>
                </a:extLst>
              </p:cNvPr>
              <p:cNvSpPr/>
              <p:nvPr/>
            </p:nvSpPr>
            <p:spPr>
              <a:xfrm>
                <a:off x="2714689" y="1818023"/>
                <a:ext cx="3854322" cy="899917"/>
              </a:xfrm>
              <a:prstGeom prst="rect">
                <a:avLst/>
              </a:pr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GB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5CD5678-15CC-16FA-238B-36FA71665331}"/>
                  </a:ext>
                </a:extLst>
              </p:cNvPr>
              <p:cNvSpPr txBox="1"/>
              <p:nvPr/>
            </p:nvSpPr>
            <p:spPr>
              <a:xfrm>
                <a:off x="2713037" y="1817573"/>
                <a:ext cx="3854322" cy="476577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91440" tIns="91440" rIns="91440" bIns="91440" numCol="1" spcCol="1270" anchor="t" anchorCtr="0">
                <a:noAutofit/>
              </a:bodyPr>
              <a:lstStyle/>
              <a:p>
                <a:pPr marL="0" lvl="0" indent="0" algn="l" defTabSz="10668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it-IT" sz="2400" kern="1200" dirty="0" err="1">
                    <a:solidFill>
                      <a:schemeClr val="bg1">
                        <a:lumMod val="75000"/>
                      </a:schemeClr>
                    </a:solidFill>
                  </a:rPr>
                  <a:t>Characterization</a:t>
                </a:r>
                <a:r>
                  <a:rPr lang="it-IT" sz="2400" kern="1200" dirty="0">
                    <a:solidFill>
                      <a:schemeClr val="bg1">
                        <a:lumMod val="75000"/>
                      </a:schemeClr>
                    </a:solidFill>
                  </a:rPr>
                  <a:t> of HTS tape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2F16E2B-82A6-A8C1-6336-5D68DF6CAFD1}"/>
                  </a:ext>
                </a:extLst>
              </p:cNvPr>
              <p:cNvSpPr txBox="1"/>
              <p:nvPr/>
            </p:nvSpPr>
            <p:spPr>
              <a:xfrm>
                <a:off x="958850" y="3380652"/>
                <a:ext cx="20574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3200" b="1" dirty="0" err="1">
                    <a:solidFill>
                      <a:srgbClr val="4297B7"/>
                    </a:solidFill>
                    <a:latin typeface="Calibri Light" panose="020F0302020204030204"/>
                  </a:rPr>
                  <a:t>Phase</a:t>
                </a:r>
                <a:r>
                  <a:rPr lang="it-IT" sz="3200" b="1" dirty="0">
                    <a:solidFill>
                      <a:srgbClr val="4297B7"/>
                    </a:solidFill>
                    <a:latin typeface="Calibri Light" panose="020F0302020204030204"/>
                  </a:rPr>
                  <a:t> 2</a:t>
                </a:r>
                <a:endParaRPr lang="en-GB" sz="3200" b="1" dirty="0">
                  <a:solidFill>
                    <a:srgbClr val="4297B7"/>
                  </a:solidFill>
                  <a:latin typeface="Calibri Light" panose="020F0302020204030204"/>
                </a:endParaRPr>
              </a:p>
            </p:txBody>
          </p: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68DF353D-AD58-55AB-C6D3-D79FA77D900F}"/>
                  </a:ext>
                </a:extLst>
              </p:cNvPr>
              <p:cNvGrpSpPr/>
              <p:nvPr/>
            </p:nvGrpSpPr>
            <p:grpSpPr>
              <a:xfrm>
                <a:off x="6476840" y="1746586"/>
                <a:ext cx="3203639" cy="646332"/>
                <a:chOff x="6476840" y="1756437"/>
                <a:chExt cx="3203639" cy="646332"/>
              </a:xfrm>
            </p:grpSpPr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4A71BA3B-9039-0552-5B52-1870169F4D18}"/>
                    </a:ext>
                  </a:extLst>
                </p:cNvPr>
                <p:cNvSpPr txBox="1"/>
                <p:nvPr/>
              </p:nvSpPr>
              <p:spPr>
                <a:xfrm>
                  <a:off x="6657879" y="1756437"/>
                  <a:ext cx="3022600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285750" indent="-285750">
                    <a:buClr>
                      <a:srgbClr val="4297B7"/>
                    </a:buClr>
                    <a:buFont typeface="Arial" panose="020B0604020202020204" pitchFamily="34" charset="0"/>
                    <a:buChar char="•"/>
                  </a:pPr>
                  <a:r>
                    <a:rPr lang="it-IT" dirty="0" err="1">
                      <a:solidFill>
                        <a:schemeClr val="bg1">
                          <a:lumMod val="75000"/>
                        </a:schemeClr>
                      </a:solidFill>
                    </a:rPr>
                    <a:t>Electrical</a:t>
                  </a:r>
                  <a:endParaRPr lang="it-IT" dirty="0">
                    <a:solidFill>
                      <a:schemeClr val="bg1">
                        <a:lumMod val="75000"/>
                      </a:schemeClr>
                    </a:solidFill>
                  </a:endParaRPr>
                </a:p>
                <a:p>
                  <a:pPr marL="285750" indent="-285750">
                    <a:buClr>
                      <a:srgbClr val="4297B7"/>
                    </a:buClr>
                    <a:buFont typeface="Arial" panose="020B0604020202020204" pitchFamily="34" charset="0"/>
                    <a:buChar char="•"/>
                  </a:pPr>
                  <a:r>
                    <a:rPr lang="it-IT" dirty="0">
                      <a:solidFill>
                        <a:schemeClr val="bg1">
                          <a:lumMod val="75000"/>
                        </a:schemeClr>
                      </a:solidFill>
                    </a:rPr>
                    <a:t>Thermal and </a:t>
                  </a:r>
                  <a:r>
                    <a:rPr lang="it-IT" dirty="0" err="1">
                      <a:solidFill>
                        <a:schemeClr val="bg1">
                          <a:lumMod val="75000"/>
                        </a:schemeClr>
                      </a:solidFill>
                    </a:rPr>
                    <a:t>Mechanical</a:t>
                  </a:r>
                  <a:endParaRPr lang="en-GB" dirty="0">
                    <a:solidFill>
                      <a:schemeClr val="bg1">
                        <a:lumMod val="75000"/>
                      </a:schemeClr>
                    </a:solidFill>
                  </a:endParaRPr>
                </a:p>
              </p:txBody>
            </p:sp>
            <p:sp>
              <p:nvSpPr>
                <p:cNvPr id="25" name="Left Brace 24">
                  <a:extLst>
                    <a:ext uri="{FF2B5EF4-FFF2-40B4-BE49-F238E27FC236}">
                      <a16:creationId xmlns:a16="http://schemas.microsoft.com/office/drawing/2014/main" id="{14B27F19-B402-CB91-EB29-72158A500655}"/>
                    </a:ext>
                  </a:extLst>
                </p:cNvPr>
                <p:cNvSpPr/>
                <p:nvPr/>
              </p:nvSpPr>
              <p:spPr>
                <a:xfrm>
                  <a:off x="6476840" y="1756438"/>
                  <a:ext cx="181039" cy="646331"/>
                </a:xfrm>
                <a:prstGeom prst="leftBrace">
                  <a:avLst>
                    <a:gd name="adj1" fmla="val 41990"/>
                    <a:gd name="adj2" fmla="val 49375"/>
                  </a:avLst>
                </a:prstGeom>
                <a:ln w="28575">
                  <a:solidFill>
                    <a:srgbClr val="4297B7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AE555056-8E4E-35C5-0628-DFC221466BE7}"/>
                  </a:ext>
                </a:extLst>
              </p:cNvPr>
              <p:cNvCxnSpPr/>
              <p:nvPr/>
            </p:nvCxnSpPr>
            <p:spPr>
              <a:xfrm>
                <a:off x="971614" y="3276600"/>
                <a:ext cx="9283700" cy="0"/>
              </a:xfrm>
              <a:prstGeom prst="line">
                <a:avLst/>
              </a:prstGeom>
              <a:ln w="19050">
                <a:solidFill>
                  <a:srgbClr val="4297B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BD8E3B33-68F9-984B-E683-222039DC41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14689" y="2559050"/>
                <a:ext cx="7527861" cy="0"/>
              </a:xfrm>
              <a:prstGeom prst="line">
                <a:avLst/>
              </a:prstGeom>
              <a:ln w="12700">
                <a:solidFill>
                  <a:srgbClr val="4297B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301D5C99-0CFF-BA02-CBB8-0A0D8DF86A52}"/>
                  </a:ext>
                </a:extLst>
              </p:cNvPr>
              <p:cNvCxnSpPr/>
              <p:nvPr/>
            </p:nvCxnSpPr>
            <p:spPr>
              <a:xfrm>
                <a:off x="971614" y="1574800"/>
                <a:ext cx="9283700" cy="0"/>
              </a:xfrm>
              <a:prstGeom prst="line">
                <a:avLst/>
              </a:prstGeom>
              <a:ln w="19050">
                <a:solidFill>
                  <a:srgbClr val="4297B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7BF6E58-DDEB-50CC-74F9-13E3AABE0F2D}"/>
                  </a:ext>
                </a:extLst>
              </p:cNvPr>
              <p:cNvSpPr txBox="1"/>
              <p:nvPr/>
            </p:nvSpPr>
            <p:spPr>
              <a:xfrm>
                <a:off x="2803557" y="4053482"/>
                <a:ext cx="3854322" cy="506447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91440" tIns="91440" rIns="91440" bIns="91440" numCol="1" spcCol="1270" anchor="t" anchorCtr="0">
                <a:noAutofit/>
              </a:bodyPr>
              <a:lstStyle/>
              <a:p>
                <a:pPr lvl="0"/>
                <a:r>
                  <a:rPr lang="it-IT" sz="2400" dirty="0" err="1">
                    <a:solidFill>
                      <a:schemeClr val="bg1">
                        <a:lumMod val="85000"/>
                      </a:schemeClr>
                    </a:solidFill>
                  </a:rPr>
                  <a:t>Mechanical</a:t>
                </a:r>
                <a:r>
                  <a:rPr lang="it-IT" sz="2400" dirty="0">
                    <a:solidFill>
                      <a:schemeClr val="bg1">
                        <a:lumMod val="85000"/>
                      </a:schemeClr>
                    </a:solidFill>
                  </a:rPr>
                  <a:t> Assembly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A1F4F80-62D5-6010-479A-62F6E61F94F6}"/>
                  </a:ext>
                </a:extLst>
              </p:cNvPr>
              <p:cNvSpPr txBox="1"/>
              <p:nvPr/>
            </p:nvSpPr>
            <p:spPr>
              <a:xfrm>
                <a:off x="2803557" y="3435489"/>
                <a:ext cx="3854322" cy="506447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91440" tIns="91440" rIns="91440" bIns="91440" numCol="1" spcCol="1270" anchor="t" anchorCtr="0">
                <a:noAutofit/>
              </a:bodyPr>
              <a:lstStyle/>
              <a:p>
                <a:pPr lvl="0"/>
                <a:r>
                  <a:rPr lang="it-IT" sz="2400" dirty="0" err="1">
                    <a:solidFill>
                      <a:schemeClr val="bg1">
                        <a:lumMod val="75000"/>
                      </a:schemeClr>
                    </a:solidFill>
                  </a:rPr>
                  <a:t>Modules</a:t>
                </a:r>
                <a:r>
                  <a:rPr lang="it-IT" sz="2400" dirty="0">
                    <a:solidFill>
                      <a:schemeClr val="bg1">
                        <a:lumMod val="75000"/>
                      </a:schemeClr>
                    </a:solidFill>
                  </a:rPr>
                  <a:t> manufacturing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C233109-D4E0-842F-D0D6-D2E127E12CA3}"/>
                  </a:ext>
                </a:extLst>
              </p:cNvPr>
              <p:cNvSpPr txBox="1"/>
              <p:nvPr/>
            </p:nvSpPr>
            <p:spPr>
              <a:xfrm>
                <a:off x="2803557" y="4698469"/>
                <a:ext cx="3854322" cy="506447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91440" tIns="91440" rIns="91440" bIns="91440" numCol="1" spcCol="1270" anchor="t" anchorCtr="0">
                <a:noAutofit/>
              </a:bodyPr>
              <a:lstStyle/>
              <a:p>
                <a:pPr lvl="0"/>
                <a:r>
                  <a:rPr lang="it-IT" sz="2400" dirty="0" err="1">
                    <a:solidFill>
                      <a:schemeClr val="tx1"/>
                    </a:solidFill>
                  </a:rPr>
                  <a:t>Final</a:t>
                </a:r>
                <a:r>
                  <a:rPr lang="it-IT" sz="2400" dirty="0">
                    <a:solidFill>
                      <a:schemeClr val="tx1"/>
                    </a:solidFill>
                  </a:rPr>
                  <a:t> Testing</a:t>
                </a:r>
              </a:p>
            </p:txBody>
          </p: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4100F084-F527-F08C-0AAE-6A082946406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27453" y="3978127"/>
                <a:ext cx="7527861" cy="0"/>
              </a:xfrm>
              <a:prstGeom prst="line">
                <a:avLst/>
              </a:prstGeom>
              <a:ln w="12700">
                <a:solidFill>
                  <a:srgbClr val="4297B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39E7A31B-ABF0-F000-DA66-9DC4CD5334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63805" y="4698469"/>
                <a:ext cx="7527861" cy="0"/>
              </a:xfrm>
              <a:prstGeom prst="line">
                <a:avLst/>
              </a:prstGeom>
              <a:ln w="12700">
                <a:solidFill>
                  <a:srgbClr val="4297B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18B1BF01-1E88-BF6D-9610-A40D3B996B2E}"/>
                  </a:ext>
                </a:extLst>
              </p:cNvPr>
              <p:cNvCxnSpPr/>
              <p:nvPr/>
            </p:nvCxnSpPr>
            <p:spPr>
              <a:xfrm>
                <a:off x="1007966" y="5302250"/>
                <a:ext cx="9283700" cy="0"/>
              </a:xfrm>
              <a:prstGeom prst="line">
                <a:avLst/>
              </a:prstGeom>
              <a:ln w="19050">
                <a:solidFill>
                  <a:srgbClr val="4297B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E4EC857-D367-4B21-E27C-893C9A8C668A}"/>
                </a:ext>
              </a:extLst>
            </p:cNvPr>
            <p:cNvSpPr/>
            <p:nvPr/>
          </p:nvSpPr>
          <p:spPr>
            <a:xfrm>
              <a:off x="10164794" y="1296814"/>
              <a:ext cx="1111186" cy="416767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98796825-A790-2059-6F3F-65E2F69A1AAF}"/>
              </a:ext>
            </a:extLst>
          </p:cNvPr>
          <p:cNvSpPr txBox="1"/>
          <p:nvPr/>
        </p:nvSpPr>
        <p:spPr>
          <a:xfrm>
            <a:off x="2777314" y="2859035"/>
            <a:ext cx="5561045" cy="506447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91440" tIns="91440" rIns="91440" bIns="91440" numCol="1" spcCol="1270" anchor="t" anchorCtr="0">
            <a:noAutofit/>
          </a:bodyPr>
          <a:lstStyle/>
          <a:p>
            <a:pPr lvl="0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2400" dirty="0">
                <a:solidFill>
                  <a:schemeClr val="bg1">
                    <a:lumMod val="75000"/>
                  </a:schemeClr>
                </a:solidFill>
              </a:rPr>
              <a:t>Single </a:t>
            </a:r>
            <a:r>
              <a:rPr lang="it-IT" sz="2400" dirty="0" err="1">
                <a:solidFill>
                  <a:schemeClr val="bg1">
                    <a:lumMod val="75000"/>
                  </a:schemeClr>
                </a:solidFill>
              </a:rPr>
              <a:t>module</a:t>
            </a:r>
            <a:r>
              <a:rPr lang="it-IT" sz="2400" dirty="0">
                <a:solidFill>
                  <a:schemeClr val="bg1">
                    <a:lumMod val="75000"/>
                  </a:schemeClr>
                </a:solidFill>
              </a:rPr>
              <a:t> design and challenges</a:t>
            </a:r>
          </a:p>
        </p:txBody>
      </p:sp>
    </p:spTree>
    <p:extLst>
      <p:ext uri="{BB962C8B-B14F-4D97-AF65-F5344CB8AC3E}">
        <p14:creationId xmlns:p14="http://schemas.microsoft.com/office/powerpoint/2010/main" val="21798195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C6022-A1DA-6E96-1EC3-B90FA30D5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2D556-19BA-111C-E45B-07CF546A6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Phase</a:t>
            </a:r>
            <a:r>
              <a:rPr lang="it-IT" dirty="0"/>
              <a:t> 2: </a:t>
            </a:r>
            <a:r>
              <a:rPr lang="it-IT" dirty="0" err="1"/>
              <a:t>Final</a:t>
            </a:r>
            <a:r>
              <a:rPr lang="it-IT" dirty="0"/>
              <a:t> testing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87436D-B23F-914B-353E-284A5FA8E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L. Balconi | Young researchers grant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894324-18B6-8832-BBBB-8FBA65339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6D798-1883-974D-96D0-4E82B243DEDE}" type="slidenum">
              <a:rPr lang="it-IT" smtClean="0"/>
              <a:t>21</a:t>
            </a:fld>
            <a:endParaRPr lang="it-IT"/>
          </a:p>
        </p:txBody>
      </p:sp>
      <p:pic>
        <p:nvPicPr>
          <p:cNvPr id="8" name="Immagine 10" descr="Immagine che contiene cilindro, candela, accendino, spazzolino da denti&#10;&#10;Descrizione generata automaticamente">
            <a:extLst>
              <a:ext uri="{FF2B5EF4-FFF2-40B4-BE49-F238E27FC236}">
                <a16:creationId xmlns:a16="http://schemas.microsoft.com/office/drawing/2014/main" id="{76740644-31CC-450C-E489-B80C5690E43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07596" y="-74924"/>
            <a:ext cx="1506636" cy="6883127"/>
          </a:xfrm>
          <a:prstGeom prst="rect">
            <a:avLst/>
          </a:prstGeom>
        </p:spPr>
      </p:pic>
      <p:grpSp>
        <p:nvGrpSpPr>
          <p:cNvPr id="9" name="Gruppo 13">
            <a:extLst>
              <a:ext uri="{FF2B5EF4-FFF2-40B4-BE49-F238E27FC236}">
                <a16:creationId xmlns:a16="http://schemas.microsoft.com/office/drawing/2014/main" id="{6777F61B-AF68-F84C-E6BE-DD8FBF60B908}"/>
              </a:ext>
            </a:extLst>
          </p:cNvPr>
          <p:cNvGrpSpPr/>
          <p:nvPr/>
        </p:nvGrpSpPr>
        <p:grpSpPr>
          <a:xfrm>
            <a:off x="6688155" y="365125"/>
            <a:ext cx="1264918" cy="5682350"/>
            <a:chOff x="9331282" y="1652217"/>
            <a:chExt cx="1488245" cy="4745871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7616FE39-A9DA-B0A1-1118-6BF884CB6F4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9366589" y="1652217"/>
              <a:ext cx="1417631" cy="4439234"/>
            </a:xfrm>
            <a:prstGeom prst="rect">
              <a:avLst/>
            </a:prstGeom>
          </p:spPr>
        </p:pic>
        <p:cxnSp>
          <p:nvCxnSpPr>
            <p:cNvPr id="11" name="Connettore 2 15">
              <a:extLst>
                <a:ext uri="{FF2B5EF4-FFF2-40B4-BE49-F238E27FC236}">
                  <a16:creationId xmlns:a16="http://schemas.microsoft.com/office/drawing/2014/main" id="{9D4FFF46-3D49-83E2-977F-C4439C0C74D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19541" y="3741220"/>
              <a:ext cx="70615" cy="2295987"/>
            </a:xfrm>
            <a:prstGeom prst="straightConnector1">
              <a:avLst/>
            </a:prstGeom>
            <a:ln w="3810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ttore 2 16">
              <a:extLst>
                <a:ext uri="{FF2B5EF4-FFF2-40B4-BE49-F238E27FC236}">
                  <a16:creationId xmlns:a16="http://schemas.microsoft.com/office/drawing/2014/main" id="{88DE4502-9A6A-E5A5-8F2A-BFD85A4AFEB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48912" y="3752445"/>
              <a:ext cx="70615" cy="2295987"/>
            </a:xfrm>
            <a:prstGeom prst="straightConnector1">
              <a:avLst/>
            </a:prstGeom>
            <a:ln w="3810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CasellaDiTesto 17">
              <a:extLst>
                <a:ext uri="{FF2B5EF4-FFF2-40B4-BE49-F238E27FC236}">
                  <a16:creationId xmlns:a16="http://schemas.microsoft.com/office/drawing/2014/main" id="{FE21AC44-55DD-67F2-555E-0A764A7742D1}"/>
                </a:ext>
              </a:extLst>
            </p:cNvPr>
            <p:cNvSpPr txBox="1"/>
            <p:nvPr/>
          </p:nvSpPr>
          <p:spPr>
            <a:xfrm>
              <a:off x="9331282" y="6028756"/>
              <a:ext cx="5068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it-IT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Titillium" panose="00000500000000000000" pitchFamily="50" charset="0"/>
                  <a:ea typeface="+mn-ea"/>
                  <a:cs typeface="+mn-cs"/>
                </a:rPr>
                <a:t>8 T</a:t>
              </a:r>
            </a:p>
          </p:txBody>
        </p:sp>
      </p:grpSp>
      <p:sp>
        <p:nvSpPr>
          <p:cNvPr id="15" name="CasellaDiTesto 6">
            <a:extLst>
              <a:ext uri="{FF2B5EF4-FFF2-40B4-BE49-F238E27FC236}">
                <a16:creationId xmlns:a16="http://schemas.microsoft.com/office/drawing/2014/main" id="{8A19C7E9-7071-4B7F-4C36-48F2E43027EF}"/>
              </a:ext>
            </a:extLst>
          </p:cNvPr>
          <p:cNvSpPr txBox="1"/>
          <p:nvPr/>
        </p:nvSpPr>
        <p:spPr>
          <a:xfrm>
            <a:off x="7576819" y="5764081"/>
            <a:ext cx="1762021" cy="923330"/>
          </a:xfrm>
          <a:prstGeom prst="rect">
            <a:avLst/>
          </a:prstGeom>
          <a:noFill/>
          <a:ln w="19050">
            <a:noFill/>
          </a:ln>
          <a:effectLst/>
        </p:spPr>
        <p:txBody>
          <a:bodyPr wrap="none" rtlCol="0">
            <a:sp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1761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1" i="0" u="none" strike="noStrike" kern="1200" cap="none" spc="0" normalizeH="0" baseline="0" noProof="0" dirty="0">
                <a:ln>
                  <a:noFill/>
                </a:ln>
                <a:solidFill>
                  <a:srgbClr val="4297B7"/>
                </a:solidFill>
                <a:effectLst/>
                <a:uLnTx/>
                <a:uFillTx/>
                <a:latin typeface="Arial" panose="020B0604020202020204" pitchFamily="34" charset="0"/>
                <a:ea typeface="Symbol" charset="2"/>
                <a:cs typeface="Arial" panose="020B0604020202020204" pitchFamily="34" charset="0"/>
              </a:rPr>
              <a:t>SOLEMI </a:t>
            </a:r>
            <a:r>
              <a:rPr kumimoji="0" lang="it-IT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4297B7"/>
                </a:solidFill>
                <a:effectLst/>
                <a:uLnTx/>
                <a:uFillTx/>
                <a:latin typeface="Arial" panose="020B0604020202020204" pitchFamily="34" charset="0"/>
                <a:ea typeface="Symbol" charset="2"/>
                <a:cs typeface="Arial" panose="020B0604020202020204" pitchFamily="34" charset="0"/>
              </a:rPr>
              <a:t>insert</a:t>
            </a:r>
            <a:endParaRPr kumimoji="0" lang="it-IT" sz="1800" b="1" i="0" u="none" strike="noStrike" kern="1200" cap="none" spc="0" normalizeH="0" baseline="0" noProof="0" dirty="0">
              <a:ln>
                <a:noFill/>
              </a:ln>
              <a:solidFill>
                <a:srgbClr val="4297B7"/>
              </a:solidFill>
              <a:effectLst/>
              <a:uLnTx/>
              <a:uFillTx/>
              <a:latin typeface="Arial" panose="020B0604020202020204" pitchFamily="34" charset="0"/>
              <a:ea typeface="Symbol" charset="2"/>
              <a:cs typeface="Arial" panose="020B0604020202020204" pitchFamily="34" charset="0"/>
            </a:endParaRPr>
          </a:p>
          <a:p>
            <a:pPr marL="0" marR="0" lvl="0" indent="0" algn="l" defTabSz="41761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1" i="0" u="none" strike="noStrike" kern="1200" cap="none" spc="0" normalizeH="0" baseline="0" noProof="0" dirty="0">
                <a:ln>
                  <a:noFill/>
                </a:ln>
                <a:solidFill>
                  <a:srgbClr val="4297B7"/>
                </a:solidFill>
                <a:effectLst/>
                <a:uLnTx/>
                <a:uFillTx/>
                <a:latin typeface="Arial" panose="020B0604020202020204" pitchFamily="34" charset="0"/>
                <a:ea typeface="Symbol" charset="2"/>
                <a:cs typeface="Arial" panose="020B0604020202020204" pitchFamily="34" charset="0"/>
              </a:rPr>
              <a:t>D 450 mm</a:t>
            </a:r>
          </a:p>
          <a:p>
            <a:pPr marL="0" marR="0" lvl="0" indent="0" algn="l" defTabSz="41761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1" i="0" u="none" strike="noStrike" kern="1200" cap="none" spc="0" normalizeH="0" baseline="0" noProof="0" dirty="0">
                <a:ln>
                  <a:noFill/>
                </a:ln>
                <a:solidFill>
                  <a:srgbClr val="4297B7"/>
                </a:solidFill>
                <a:effectLst/>
                <a:uLnTx/>
                <a:uFillTx/>
                <a:latin typeface="Arial" panose="020B0604020202020204" pitchFamily="34" charset="0"/>
                <a:ea typeface="Symbol" charset="2"/>
                <a:cs typeface="Arial" panose="020B0604020202020204" pitchFamily="34" charset="0"/>
              </a:rPr>
              <a:t>h 720 mm</a:t>
            </a:r>
          </a:p>
        </p:txBody>
      </p:sp>
      <p:sp>
        <p:nvSpPr>
          <p:cNvPr id="16" name="CasellaDiTesto 8">
            <a:extLst>
              <a:ext uri="{FF2B5EF4-FFF2-40B4-BE49-F238E27FC236}">
                <a16:creationId xmlns:a16="http://schemas.microsoft.com/office/drawing/2014/main" id="{39DACD22-BA30-43F3-D34A-E2CA68FC5DC5}"/>
              </a:ext>
            </a:extLst>
          </p:cNvPr>
          <p:cNvSpPr txBox="1"/>
          <p:nvPr/>
        </p:nvSpPr>
        <p:spPr>
          <a:xfrm>
            <a:off x="10623372" y="5136105"/>
            <a:ext cx="1377300" cy="923330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1761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4297B7"/>
                </a:solidFill>
                <a:effectLst/>
                <a:uLnTx/>
                <a:uFillTx/>
                <a:latin typeface="Arial" panose="020B0604020202020204" pitchFamily="34" charset="0"/>
                <a:ea typeface="Symbol" charset="2"/>
                <a:cs typeface="Arial" panose="020B0604020202020204" pitchFamily="34" charset="0"/>
              </a:rPr>
              <a:t>HiLumi</a:t>
            </a:r>
            <a:endParaRPr kumimoji="0" lang="it-IT" sz="1800" b="1" i="0" u="none" strike="noStrike" kern="1200" cap="none" spc="0" normalizeH="0" baseline="0" noProof="0" dirty="0">
              <a:ln>
                <a:noFill/>
              </a:ln>
              <a:solidFill>
                <a:srgbClr val="4297B7"/>
              </a:solidFill>
              <a:effectLst/>
              <a:uLnTx/>
              <a:uFillTx/>
              <a:latin typeface="Arial" panose="020B0604020202020204" pitchFamily="34" charset="0"/>
              <a:ea typeface="Symbol" charset="2"/>
              <a:cs typeface="Arial" panose="020B0604020202020204" pitchFamily="34" charset="0"/>
            </a:endParaRPr>
          </a:p>
          <a:p>
            <a:pPr marL="0" marR="0" lvl="0" indent="0" algn="l" defTabSz="41761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1" i="0" u="none" strike="noStrike" kern="1200" cap="none" spc="0" normalizeH="0" baseline="0" noProof="0" dirty="0">
                <a:ln>
                  <a:noFill/>
                </a:ln>
                <a:solidFill>
                  <a:srgbClr val="4297B7"/>
                </a:solidFill>
                <a:effectLst/>
                <a:uLnTx/>
                <a:uFillTx/>
                <a:latin typeface="Arial" panose="020B0604020202020204" pitchFamily="34" charset="0"/>
                <a:ea typeface="Symbol" charset="2"/>
                <a:cs typeface="Arial" panose="020B0604020202020204" pitchFamily="34" charset="0"/>
              </a:rPr>
              <a:t>D 450 mm</a:t>
            </a:r>
          </a:p>
          <a:p>
            <a:pPr marL="0" marR="0" lvl="0" indent="0" algn="l" defTabSz="41761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b="1" dirty="0">
                <a:solidFill>
                  <a:srgbClr val="4297B7"/>
                </a:solidFill>
                <a:latin typeface="Arial" panose="020B0604020202020204" pitchFamily="34" charset="0"/>
                <a:ea typeface="Symbol" charset="2"/>
                <a:cs typeface="Arial" panose="020B0604020202020204" pitchFamily="34" charset="0"/>
              </a:rPr>
              <a:t>h</a:t>
            </a:r>
            <a:r>
              <a:rPr kumimoji="0" lang="it-IT" sz="1800" b="1" i="0" u="none" strike="noStrike" kern="1200" cap="none" spc="0" normalizeH="0" baseline="0" noProof="0" dirty="0">
                <a:ln>
                  <a:noFill/>
                </a:ln>
                <a:solidFill>
                  <a:srgbClr val="4297B7"/>
                </a:solidFill>
                <a:effectLst/>
                <a:uLnTx/>
                <a:uFillTx/>
                <a:latin typeface="Arial" panose="020B0604020202020204" pitchFamily="34" charset="0"/>
                <a:ea typeface="Symbol" charset="2"/>
                <a:cs typeface="Arial" panose="020B0604020202020204" pitchFamily="34" charset="0"/>
              </a:rPr>
              <a:t> 1910 mm</a:t>
            </a:r>
          </a:p>
        </p:txBody>
      </p:sp>
      <p:sp>
        <p:nvSpPr>
          <p:cNvPr id="17" name="Content Placeholder 1">
            <a:extLst>
              <a:ext uri="{FF2B5EF4-FFF2-40B4-BE49-F238E27FC236}">
                <a16:creationId xmlns:a16="http://schemas.microsoft.com/office/drawing/2014/main" id="{63B4F860-D7A4-D9A5-1D43-3622BDE980FF}"/>
              </a:ext>
            </a:extLst>
          </p:cNvPr>
          <p:cNvSpPr>
            <a:spLocks noGrp="1"/>
          </p:cNvSpPr>
          <p:nvPr/>
        </p:nvSpPr>
        <p:spPr>
          <a:xfrm>
            <a:off x="938699" y="1706819"/>
            <a:ext cx="5699833" cy="44285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it-IT" sz="2000" dirty="0" err="1">
                <a:latin typeface="+mn-lt"/>
                <a:cs typeface="+mn-cs"/>
              </a:rPr>
              <a:t>Tests</a:t>
            </a:r>
            <a:r>
              <a:rPr lang="it-IT" sz="2000" dirty="0">
                <a:latin typeface="+mn-lt"/>
                <a:cs typeface="+mn-cs"/>
              </a:rPr>
              <a:t> </a:t>
            </a:r>
            <a:r>
              <a:rPr lang="it-IT" sz="2000" dirty="0" err="1">
                <a:latin typeface="+mn-lt"/>
                <a:cs typeface="+mn-cs"/>
              </a:rPr>
              <a:t>at</a:t>
            </a:r>
            <a:r>
              <a:rPr lang="it-IT" sz="2000" dirty="0">
                <a:latin typeface="+mn-lt"/>
                <a:cs typeface="+mn-cs"/>
              </a:rPr>
              <a:t> 20 K </a:t>
            </a:r>
            <a:r>
              <a:rPr lang="it-IT" sz="2000" dirty="0" err="1">
                <a:latin typeface="+mn-lt"/>
                <a:cs typeface="+mn-cs"/>
              </a:rPr>
              <a:t>will</a:t>
            </a:r>
            <a:r>
              <a:rPr lang="it-IT" sz="2000" dirty="0">
                <a:latin typeface="+mn-lt"/>
                <a:cs typeface="+mn-cs"/>
              </a:rPr>
              <a:t> be </a:t>
            </a:r>
            <a:r>
              <a:rPr lang="it-IT" sz="2000" dirty="0" err="1">
                <a:latin typeface="+mn-lt"/>
                <a:cs typeface="+mn-cs"/>
              </a:rPr>
              <a:t>carried</a:t>
            </a:r>
            <a:r>
              <a:rPr lang="it-IT" sz="2000" dirty="0">
                <a:latin typeface="+mn-lt"/>
                <a:cs typeface="+mn-cs"/>
              </a:rPr>
              <a:t> out inside the </a:t>
            </a:r>
            <a:r>
              <a:rPr lang="it-IT" sz="2000" dirty="0">
                <a:solidFill>
                  <a:srgbClr val="4297B7"/>
                </a:solidFill>
                <a:latin typeface="+mn-lt"/>
                <a:cs typeface="+mn-cs"/>
              </a:rPr>
              <a:t>IRIS </a:t>
            </a:r>
            <a:r>
              <a:rPr lang="it-IT" sz="2000" dirty="0" err="1">
                <a:solidFill>
                  <a:srgbClr val="4297B7"/>
                </a:solidFill>
                <a:latin typeface="+mn-lt"/>
                <a:cs typeface="+mn-cs"/>
              </a:rPr>
              <a:t>variable</a:t>
            </a:r>
            <a:r>
              <a:rPr lang="it-IT" sz="2000" dirty="0">
                <a:solidFill>
                  <a:srgbClr val="4297B7"/>
                </a:solidFill>
                <a:latin typeface="+mn-lt"/>
                <a:cs typeface="+mn-cs"/>
              </a:rPr>
              <a:t> temperature test stand </a:t>
            </a:r>
            <a:r>
              <a:rPr lang="it-IT" sz="2000" dirty="0">
                <a:latin typeface="+mn-lt"/>
                <a:cs typeface="+mn-cs"/>
              </a:rPr>
              <a:t>for HTS </a:t>
            </a:r>
            <a:r>
              <a:rPr lang="it-IT" sz="2000" dirty="0" err="1">
                <a:latin typeface="+mn-lt"/>
                <a:cs typeface="+mn-cs"/>
              </a:rPr>
              <a:t>magnets</a:t>
            </a:r>
            <a:r>
              <a:rPr lang="it-IT" sz="2000" dirty="0">
                <a:latin typeface="+mn-lt"/>
                <a:cs typeface="+mn-cs"/>
              </a:rPr>
              <a:t>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it-IT" sz="2000" dirty="0" err="1">
                <a:solidFill>
                  <a:srgbClr val="4297B7"/>
                </a:solidFill>
                <a:latin typeface="+mn-lt"/>
                <a:cs typeface="+mn-cs"/>
              </a:rPr>
              <a:t>Closed</a:t>
            </a:r>
            <a:r>
              <a:rPr lang="it-IT" sz="2000" dirty="0">
                <a:solidFill>
                  <a:srgbClr val="4297B7"/>
                </a:solidFill>
                <a:latin typeface="+mn-lt"/>
                <a:cs typeface="+mn-cs"/>
              </a:rPr>
              <a:t> loop </a:t>
            </a:r>
            <a:r>
              <a:rPr lang="it-IT" sz="2000" dirty="0" err="1">
                <a:solidFill>
                  <a:srgbClr val="4297B7"/>
                </a:solidFill>
                <a:latin typeface="+mn-lt"/>
                <a:cs typeface="+mn-cs"/>
              </a:rPr>
              <a:t>cooling</a:t>
            </a:r>
            <a:r>
              <a:rPr lang="it-IT" sz="2000" dirty="0">
                <a:solidFill>
                  <a:srgbClr val="4297B7"/>
                </a:solidFill>
                <a:latin typeface="+mn-lt"/>
                <a:cs typeface="+mn-cs"/>
              </a:rPr>
              <a:t> 20 K – 50 K</a:t>
            </a:r>
            <a:endParaRPr lang="en-US" sz="2000" dirty="0">
              <a:solidFill>
                <a:srgbClr val="4297B7"/>
              </a:solidFill>
              <a:latin typeface="+mn-lt"/>
              <a:cs typeface="+mn-cs"/>
            </a:endParaRPr>
          </a:p>
          <a:p>
            <a:pPr>
              <a:lnSpc>
                <a:spcPct val="120000"/>
              </a:lnSpc>
            </a:pPr>
            <a:r>
              <a:rPr lang="it-IT" sz="2000" dirty="0" err="1">
                <a:latin typeface="+mn-lt"/>
                <a:cs typeface="+mn-cs"/>
              </a:rPr>
              <a:t>Based</a:t>
            </a:r>
            <a:r>
              <a:rPr lang="it-IT" sz="2000" dirty="0">
                <a:latin typeface="+mn-lt"/>
                <a:cs typeface="+mn-cs"/>
              </a:rPr>
              <a:t> on </a:t>
            </a:r>
            <a:r>
              <a:rPr lang="it-IT" sz="2000" dirty="0" err="1">
                <a:latin typeface="+mn-lt"/>
                <a:cs typeface="+mn-cs"/>
              </a:rPr>
              <a:t>cryocoolers</a:t>
            </a:r>
            <a:r>
              <a:rPr lang="it-IT" sz="2000" dirty="0">
                <a:latin typeface="+mn-lt"/>
                <a:cs typeface="+mn-cs"/>
              </a:rPr>
              <a:t> and </a:t>
            </a:r>
            <a:r>
              <a:rPr lang="it-IT" sz="2000" dirty="0" err="1">
                <a:latin typeface="+mn-lt"/>
                <a:cs typeface="+mn-cs"/>
              </a:rPr>
              <a:t>closed</a:t>
            </a:r>
            <a:r>
              <a:rPr lang="it-IT" sz="2000" dirty="0">
                <a:latin typeface="+mn-lt"/>
                <a:cs typeface="+mn-cs"/>
              </a:rPr>
              <a:t> loop </a:t>
            </a:r>
            <a:br>
              <a:rPr lang="it-IT" sz="2000" dirty="0">
                <a:latin typeface="+mn-lt"/>
                <a:cs typeface="+mn-cs"/>
              </a:rPr>
            </a:br>
            <a:r>
              <a:rPr lang="it-IT" sz="2000" dirty="0">
                <a:latin typeface="+mn-lt"/>
                <a:cs typeface="+mn-cs"/>
              </a:rPr>
              <a:t>G-</a:t>
            </a:r>
            <a:r>
              <a:rPr lang="it-IT" sz="2000" dirty="0" err="1">
                <a:latin typeface="+mn-lt"/>
                <a:cs typeface="+mn-cs"/>
              </a:rPr>
              <a:t>Helium</a:t>
            </a:r>
            <a:r>
              <a:rPr lang="it-IT" sz="2000" dirty="0">
                <a:latin typeface="+mn-lt"/>
                <a:cs typeface="+mn-cs"/>
              </a:rPr>
              <a:t> :</a:t>
            </a:r>
          </a:p>
          <a:p>
            <a:pPr lvl="1">
              <a:lnSpc>
                <a:spcPct val="120000"/>
              </a:lnSpc>
            </a:pPr>
            <a:r>
              <a:rPr lang="en-US" dirty="0">
                <a:solidFill>
                  <a:srgbClr val="4297B7"/>
                </a:solidFill>
                <a:latin typeface="+mn-lt"/>
                <a:cs typeface="+mn-cs"/>
              </a:rPr>
              <a:t>20 W @ 20 K </a:t>
            </a:r>
            <a:br>
              <a:rPr lang="en-US" dirty="0">
                <a:latin typeface="+mn-lt"/>
                <a:cs typeface="+mn-cs"/>
              </a:rPr>
            </a:br>
            <a:r>
              <a:rPr lang="en-US" dirty="0">
                <a:latin typeface="+mn-lt"/>
                <a:cs typeface="+mn-cs"/>
              </a:rPr>
              <a:t>(Adjustable T from 20 K to 50 K) </a:t>
            </a:r>
          </a:p>
          <a:p>
            <a:pPr lvl="1">
              <a:lnSpc>
                <a:spcPct val="120000"/>
              </a:lnSpc>
            </a:pPr>
            <a:r>
              <a:rPr lang="en-US" dirty="0">
                <a:solidFill>
                  <a:srgbClr val="4297B7"/>
                </a:solidFill>
                <a:latin typeface="+mn-lt"/>
                <a:cs typeface="+mn-cs"/>
              </a:rPr>
              <a:t>300 W @ 55 K</a:t>
            </a:r>
          </a:p>
          <a:p>
            <a:endParaRPr lang="it-IT" dirty="0"/>
          </a:p>
        </p:txBody>
      </p:sp>
      <p:sp>
        <p:nvSpPr>
          <p:cNvPr id="6" name="Date Placeholder 1">
            <a:extLst>
              <a:ext uri="{FF2B5EF4-FFF2-40B4-BE49-F238E27FC236}">
                <a16:creationId xmlns:a16="http://schemas.microsoft.com/office/drawing/2014/main" id="{19E819DF-3EB2-ED02-993B-237A1C3D09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it-IT" dirty="0"/>
              <a:t>01/12/2025</a:t>
            </a:r>
          </a:p>
        </p:txBody>
      </p:sp>
    </p:spTree>
    <p:extLst>
      <p:ext uri="{BB962C8B-B14F-4D97-AF65-F5344CB8AC3E}">
        <p14:creationId xmlns:p14="http://schemas.microsoft.com/office/powerpoint/2010/main" val="3561185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975EA-DD8F-76E3-2629-EE609B2C1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1C4E66-5961-7E53-8A89-BAAB8FC45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L. Balconi | Young researchers grant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E42345-5ECA-D821-15DA-04840D077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6D798-1883-974D-96D0-4E82B243DEDE}" type="slidenum">
              <a:rPr lang="it-IT" smtClean="0"/>
              <a:t>22</a:t>
            </a:fld>
            <a:endParaRPr lang="it-IT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8A33B3D-DFF8-ABC4-48AC-70D6A5946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822" y="0"/>
            <a:ext cx="10515600" cy="1325563"/>
          </a:xfrm>
        </p:spPr>
        <p:txBody>
          <a:bodyPr/>
          <a:lstStyle/>
          <a:p>
            <a:r>
              <a:rPr lang="it-IT" dirty="0">
                <a:solidFill>
                  <a:srgbClr val="005677"/>
                </a:solidFill>
              </a:rPr>
              <a:t>Project timeline</a:t>
            </a:r>
            <a:endParaRPr lang="en-GB" dirty="0">
              <a:solidFill>
                <a:srgbClr val="005677"/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A5F678-FA93-3C9C-42F0-F01CB3B94B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it-IT" dirty="0"/>
              <a:t>01/12/2025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9C5439F-49AB-1F6A-29B1-17C1983FA375}"/>
              </a:ext>
            </a:extLst>
          </p:cNvPr>
          <p:cNvGrpSpPr/>
          <p:nvPr/>
        </p:nvGrpSpPr>
        <p:grpSpPr>
          <a:xfrm>
            <a:off x="8728206" y="228133"/>
            <a:ext cx="1718369" cy="737469"/>
            <a:chOff x="8728206" y="228133"/>
            <a:chExt cx="1718369" cy="737469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E01603A-1249-2332-5BFE-F3235431816A}"/>
                </a:ext>
              </a:extLst>
            </p:cNvPr>
            <p:cNvSpPr txBox="1"/>
            <p:nvPr/>
          </p:nvSpPr>
          <p:spPr>
            <a:xfrm>
              <a:off x="8728206" y="256353"/>
              <a:ext cx="149182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>
                  <a:solidFill>
                    <a:srgbClr val="005677"/>
                  </a:solidFill>
                </a:rPr>
                <a:t>Milestones:</a:t>
              </a:r>
            </a:p>
            <a:p>
              <a:r>
                <a:rPr lang="it-IT" dirty="0">
                  <a:solidFill>
                    <a:srgbClr val="005677"/>
                  </a:solidFill>
                </a:rPr>
                <a:t>Deliverables: </a:t>
              </a:r>
              <a:endParaRPr lang="en-GB" dirty="0">
                <a:solidFill>
                  <a:srgbClr val="005677"/>
                </a:solidFill>
              </a:endParaRPr>
            </a:p>
          </p:txBody>
        </p:sp>
        <p:pic>
          <p:nvPicPr>
            <p:cNvPr id="16" name="Graphic 15" descr="Flag with solid fill">
              <a:extLst>
                <a:ext uri="{FF2B5EF4-FFF2-40B4-BE49-F238E27FC236}">
                  <a16:creationId xmlns:a16="http://schemas.microsoft.com/office/drawing/2014/main" id="{58EFE0B0-10A6-E531-342D-4B7CD2EA43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13252" y="228133"/>
              <a:ext cx="372724" cy="372724"/>
            </a:xfrm>
            <a:prstGeom prst="rect">
              <a:avLst/>
            </a:prstGeom>
          </p:spPr>
        </p:pic>
        <p:pic>
          <p:nvPicPr>
            <p:cNvPr id="19" name="Graphic 18" descr="Checkbox Ticked outline">
              <a:extLst>
                <a:ext uri="{FF2B5EF4-FFF2-40B4-BE49-F238E27FC236}">
                  <a16:creationId xmlns:a16="http://schemas.microsoft.com/office/drawing/2014/main" id="{6C6F7D78-9D23-F015-4860-38353B7E10C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993490" y="512517"/>
              <a:ext cx="453085" cy="453085"/>
            </a:xfrm>
            <a:prstGeom prst="rect">
              <a:avLst/>
            </a:prstGeom>
          </p:spPr>
        </p:pic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5CC873A8-66EC-BB53-C41F-CBFD76C25F8B}"/>
              </a:ext>
            </a:extLst>
          </p:cNvPr>
          <p:cNvGrpSpPr/>
          <p:nvPr/>
        </p:nvGrpSpPr>
        <p:grpSpPr>
          <a:xfrm>
            <a:off x="838200" y="965602"/>
            <a:ext cx="10980898" cy="5208298"/>
            <a:chOff x="838200" y="965602"/>
            <a:chExt cx="10980898" cy="5208298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A7B141A9-831F-BD6C-7C74-316F6757D6A6}"/>
                </a:ext>
              </a:extLst>
            </p:cNvPr>
            <p:cNvGrpSpPr/>
            <p:nvPr/>
          </p:nvGrpSpPr>
          <p:grpSpPr>
            <a:xfrm>
              <a:off x="838200" y="965602"/>
              <a:ext cx="10634978" cy="5208298"/>
              <a:chOff x="407248" y="2092099"/>
              <a:chExt cx="10634978" cy="5208298"/>
            </a:xfrm>
          </p:grpSpPr>
          <p:pic>
            <p:nvPicPr>
              <p:cNvPr id="7" name="Picture 6" descr="A screenshot of a project&#10;&#10;AI-generated content may be incorrect.">
                <a:extLst>
                  <a:ext uri="{FF2B5EF4-FFF2-40B4-BE49-F238E27FC236}">
                    <a16:creationId xmlns:a16="http://schemas.microsoft.com/office/drawing/2014/main" id="{F7E39968-1DF7-3FE0-C1EB-8C11DAA0ED9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1670"/>
              <a:stretch>
                <a:fillRect/>
              </a:stretch>
            </p:blipFill>
            <p:spPr>
              <a:xfrm>
                <a:off x="407248" y="2092099"/>
                <a:ext cx="10634978" cy="5208298"/>
              </a:xfrm>
              <a:prstGeom prst="rect">
                <a:avLst/>
              </a:prstGeom>
            </p:spPr>
          </p:pic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2D067149-849B-631B-7D80-8164DB6E983C}"/>
                  </a:ext>
                </a:extLst>
              </p:cNvPr>
              <p:cNvGrpSpPr/>
              <p:nvPr/>
            </p:nvGrpSpPr>
            <p:grpSpPr>
              <a:xfrm>
                <a:off x="1050131" y="2516190"/>
                <a:ext cx="744538" cy="262731"/>
                <a:chOff x="1928811" y="1555750"/>
                <a:chExt cx="744538" cy="262731"/>
              </a:xfrm>
            </p:grpSpPr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28459422-B231-4467-62FA-EA472627E878}"/>
                    </a:ext>
                  </a:extLst>
                </p:cNvPr>
                <p:cNvSpPr/>
                <p:nvPr/>
              </p:nvSpPr>
              <p:spPr>
                <a:xfrm>
                  <a:off x="1928811" y="1555750"/>
                  <a:ext cx="744538" cy="262731"/>
                </a:xfrm>
                <a:prstGeom prst="rect">
                  <a:avLst/>
                </a:prstGeom>
                <a:solidFill>
                  <a:srgbClr val="F2F2F2"/>
                </a:solidFill>
                <a:ln>
                  <a:solidFill>
                    <a:srgbClr val="F2F2F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pic>
              <p:nvPicPr>
                <p:cNvPr id="10" name="Picture 9" descr="A screenshot of a project&#10;&#10;AI-generated content may be incorrect.">
                  <a:extLst>
                    <a:ext uri="{FF2B5EF4-FFF2-40B4-BE49-F238E27FC236}">
                      <a16:creationId xmlns:a16="http://schemas.microsoft.com/office/drawing/2014/main" id="{40B1DF70-39D0-ED72-EFFD-54B1B264449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7212" t="19922" r="86757" b="76982"/>
                <a:stretch>
                  <a:fillRect/>
                </a:stretch>
              </p:blipFill>
              <p:spPr>
                <a:xfrm>
                  <a:off x="1964901" y="1617550"/>
                  <a:ext cx="641350" cy="182562"/>
                </a:xfrm>
                <a:prstGeom prst="rect">
                  <a:avLst/>
                </a:prstGeom>
              </p:spPr>
            </p:pic>
          </p:grpSp>
        </p:grpSp>
        <p:pic>
          <p:nvPicPr>
            <p:cNvPr id="8" name="Picture 21" descr="A white and orange object with a black background&#10;&#10;AI-generated content may be incorrect.">
              <a:extLst>
                <a:ext uri="{FF2B5EF4-FFF2-40B4-BE49-F238E27FC236}">
                  <a16:creationId xmlns:a16="http://schemas.microsoft.com/office/drawing/2014/main" id="{9892D148-D9A7-496C-AD09-3651651F590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183" r="32503"/>
            <a:stretch>
              <a:fillRect/>
            </a:stretch>
          </p:blipFill>
          <p:spPr bwMode="auto">
            <a:xfrm flipH="1">
              <a:off x="5976861" y="3225853"/>
              <a:ext cx="1099795" cy="1046378"/>
            </a:xfrm>
            <a:prstGeom prst="rect">
              <a:avLst/>
            </a:prstGeom>
            <a:noFill/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3" name="Picture 2" descr="A red and orange object&#10;&#10;AI-generated content may be incorrect.">
              <a:extLst>
                <a:ext uri="{FF2B5EF4-FFF2-40B4-BE49-F238E27FC236}">
                  <a16:creationId xmlns:a16="http://schemas.microsoft.com/office/drawing/2014/main" id="{01CD53F2-7A32-91D7-1092-85D6B659865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32417" b="71917" l="28429" r="74429">
                          <a14:foregroundMark x1="30333" y1="64000" x2="30333" y2="64000"/>
                          <a14:foregroundMark x1="72762" y1="36833" x2="72762" y2="36833"/>
                          <a14:foregroundMark x1="28429" y1="65250" x2="28429" y2="65250"/>
                          <a14:foregroundMark x1="74476" y1="36083" x2="74476" y2="36083"/>
                          <a14:foregroundMark x1="32905" y1="71083" x2="32905" y2="71083"/>
                          <a14:foregroundMark x1="32571" y1="71917" x2="32571" y2="71917"/>
                          <a14:foregroundMark x1="31000" y1="71917" x2="31000" y2="7191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693" t="27644" r="24298" b="24237"/>
            <a:stretch>
              <a:fillRect/>
            </a:stretch>
          </p:blipFill>
          <p:spPr>
            <a:xfrm>
              <a:off x="7961443" y="4740604"/>
              <a:ext cx="1533525" cy="843175"/>
            </a:xfrm>
            <a:prstGeom prst="rect">
              <a:avLst/>
            </a:prstGeom>
          </p:spPr>
        </p:pic>
        <p:pic>
          <p:nvPicPr>
            <p:cNvPr id="26" name="Graphic 25" descr="Flag with solid fill">
              <a:extLst>
                <a:ext uri="{FF2B5EF4-FFF2-40B4-BE49-F238E27FC236}">
                  <a16:creationId xmlns:a16="http://schemas.microsoft.com/office/drawing/2014/main" id="{6277BBA1-C0FB-E663-40A5-E5F9F59B19A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280154" y="2473634"/>
              <a:ext cx="309806" cy="309806"/>
            </a:xfrm>
            <a:prstGeom prst="rect">
              <a:avLst/>
            </a:prstGeom>
          </p:spPr>
        </p:pic>
        <p:pic>
          <p:nvPicPr>
            <p:cNvPr id="31" name="Graphic 30" descr="Checkbox Ticked outline">
              <a:extLst>
                <a:ext uri="{FF2B5EF4-FFF2-40B4-BE49-F238E27FC236}">
                  <a16:creationId xmlns:a16="http://schemas.microsoft.com/office/drawing/2014/main" id="{E8F988E3-1A7C-3CCE-0510-0F62E86EAD5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481565" y="1315212"/>
              <a:ext cx="453085" cy="453085"/>
            </a:xfrm>
            <a:prstGeom prst="rect">
              <a:avLst/>
            </a:prstGeom>
          </p:spPr>
        </p:pic>
        <p:pic>
          <p:nvPicPr>
            <p:cNvPr id="32" name="Graphic 31" descr="Checkbox Ticked outline">
              <a:extLst>
                <a:ext uri="{FF2B5EF4-FFF2-40B4-BE49-F238E27FC236}">
                  <a16:creationId xmlns:a16="http://schemas.microsoft.com/office/drawing/2014/main" id="{F51BC93C-C926-E6E9-DE4C-AAF422EE5B3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453817" y="2689734"/>
              <a:ext cx="453085" cy="453085"/>
            </a:xfrm>
            <a:prstGeom prst="rect">
              <a:avLst/>
            </a:prstGeom>
          </p:spPr>
        </p:pic>
        <p:pic>
          <p:nvPicPr>
            <p:cNvPr id="33" name="Graphic 32" descr="Checkbox Ticked outline">
              <a:extLst>
                <a:ext uri="{FF2B5EF4-FFF2-40B4-BE49-F238E27FC236}">
                  <a16:creationId xmlns:a16="http://schemas.microsoft.com/office/drawing/2014/main" id="{C8B9B32B-5903-FB2A-D0A8-90C8C467556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714190" y="4087468"/>
              <a:ext cx="453085" cy="453085"/>
            </a:xfrm>
            <a:prstGeom prst="rect">
              <a:avLst/>
            </a:prstGeom>
          </p:spPr>
        </p:pic>
        <p:pic>
          <p:nvPicPr>
            <p:cNvPr id="34" name="Graphic 33" descr="Checkbox Ticked outline">
              <a:extLst>
                <a:ext uri="{FF2B5EF4-FFF2-40B4-BE49-F238E27FC236}">
                  <a16:creationId xmlns:a16="http://schemas.microsoft.com/office/drawing/2014/main" id="{18982CA5-E352-FD31-075C-7E4BF6E038B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1366013" y="4935650"/>
              <a:ext cx="453085" cy="453085"/>
            </a:xfrm>
            <a:prstGeom prst="rect">
              <a:avLst/>
            </a:prstGeom>
          </p:spPr>
        </p:pic>
        <p:pic>
          <p:nvPicPr>
            <p:cNvPr id="35" name="Graphic 34" descr="Flag with solid fill">
              <a:extLst>
                <a:ext uri="{FF2B5EF4-FFF2-40B4-BE49-F238E27FC236}">
                  <a16:creationId xmlns:a16="http://schemas.microsoft.com/office/drawing/2014/main" id="{AFC9F886-CF00-80E8-E204-FEFFB1C3467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455697" y="3594828"/>
              <a:ext cx="309806" cy="309806"/>
            </a:xfrm>
            <a:prstGeom prst="rect">
              <a:avLst/>
            </a:prstGeom>
          </p:spPr>
        </p:pic>
        <p:pic>
          <p:nvPicPr>
            <p:cNvPr id="36" name="Graphic 35" descr="Flag with solid fill">
              <a:extLst>
                <a:ext uri="{FF2B5EF4-FFF2-40B4-BE49-F238E27FC236}">
                  <a16:creationId xmlns:a16="http://schemas.microsoft.com/office/drawing/2014/main" id="{57C398AD-7A47-BB70-9386-4465768268C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525456" y="4723003"/>
              <a:ext cx="309806" cy="309806"/>
            </a:xfrm>
            <a:prstGeom prst="rect">
              <a:avLst/>
            </a:prstGeom>
          </p:spPr>
        </p:pic>
        <p:pic>
          <p:nvPicPr>
            <p:cNvPr id="37" name="Graphic 36" descr="Flag with solid fill">
              <a:extLst>
                <a:ext uri="{FF2B5EF4-FFF2-40B4-BE49-F238E27FC236}">
                  <a16:creationId xmlns:a16="http://schemas.microsoft.com/office/drawing/2014/main" id="{CDE5293C-0EEB-A312-CF5C-EB47BC47B48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163372" y="5841820"/>
              <a:ext cx="309806" cy="309806"/>
            </a:xfrm>
            <a:prstGeom prst="rect">
              <a:avLst/>
            </a:prstGeom>
          </p:spPr>
        </p:pic>
        <p:pic>
          <p:nvPicPr>
            <p:cNvPr id="38" name="Graphic 37" descr="Flag with solid fill">
              <a:extLst>
                <a:ext uri="{FF2B5EF4-FFF2-40B4-BE49-F238E27FC236}">
                  <a16:creationId xmlns:a16="http://schemas.microsoft.com/office/drawing/2014/main" id="{EEBAAB45-1C15-0A0F-1E16-EBF56670D9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074746" y="3315365"/>
              <a:ext cx="309806" cy="309806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7C3CA7C0-3793-D88D-2A6C-25A354AA6082}"/>
                </a:ext>
              </a:extLst>
            </p:cNvPr>
            <p:cNvSpPr txBox="1"/>
            <p:nvPr/>
          </p:nvSpPr>
          <p:spPr>
            <a:xfrm>
              <a:off x="8515350" y="3234867"/>
              <a:ext cx="19312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/>
                <a:t>First 10 coils</a:t>
              </a:r>
              <a:endParaRPr lang="en-GB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68804CF-15B3-6C1E-4A4D-236C8E97028B}"/>
                </a:ext>
              </a:extLst>
            </p:cNvPr>
            <p:cNvSpPr/>
            <p:nvPr/>
          </p:nvSpPr>
          <p:spPr>
            <a:xfrm>
              <a:off x="3035300" y="2019300"/>
              <a:ext cx="311150" cy="1524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3DDBF1B-3598-5959-FC47-52874B9F56BA}"/>
                </a:ext>
              </a:extLst>
            </p:cNvPr>
            <p:cNvSpPr/>
            <p:nvPr/>
          </p:nvSpPr>
          <p:spPr>
            <a:xfrm>
              <a:off x="3035300" y="2277950"/>
              <a:ext cx="311150" cy="152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7575733-E400-9A90-FD94-C6188EEEC6E4}"/>
                </a:ext>
              </a:extLst>
            </p:cNvPr>
            <p:cNvSpPr/>
            <p:nvPr/>
          </p:nvSpPr>
          <p:spPr>
            <a:xfrm>
              <a:off x="3035300" y="4801706"/>
              <a:ext cx="311150" cy="1524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2054C01-4C32-112A-648F-649CB16E7FE7}"/>
                </a:ext>
              </a:extLst>
            </p:cNvPr>
            <p:cNvSpPr/>
            <p:nvPr/>
          </p:nvSpPr>
          <p:spPr>
            <a:xfrm>
              <a:off x="3035300" y="5650378"/>
              <a:ext cx="311150" cy="152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11CEF3B-01F3-D115-7AF7-B5F6625E10FC}"/>
                </a:ext>
              </a:extLst>
            </p:cNvPr>
            <p:cNvSpPr/>
            <p:nvPr/>
          </p:nvSpPr>
          <p:spPr>
            <a:xfrm>
              <a:off x="3968750" y="5920523"/>
              <a:ext cx="311150" cy="1524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B0B24F2-AC7F-7C02-F44C-54D1FABAB21E}"/>
                </a:ext>
              </a:extLst>
            </p:cNvPr>
            <p:cNvSpPr/>
            <p:nvPr/>
          </p:nvSpPr>
          <p:spPr>
            <a:xfrm>
              <a:off x="3025775" y="5919708"/>
              <a:ext cx="311150" cy="1524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0E5E516-69CE-0ED8-FEBC-B4EA0CDC0B33}"/>
                </a:ext>
              </a:extLst>
            </p:cNvPr>
            <p:cNvSpPr txBox="1"/>
            <p:nvPr/>
          </p:nvSpPr>
          <p:spPr>
            <a:xfrm>
              <a:off x="3051175" y="1949384"/>
              <a:ext cx="260350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300" dirty="0"/>
                <a:t>3</a:t>
              </a:r>
              <a:endParaRPr lang="en-GB" sz="1300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BF64EA0-321D-2FE9-A010-3F86910BC6AC}"/>
                </a:ext>
              </a:extLst>
            </p:cNvPr>
            <p:cNvSpPr txBox="1"/>
            <p:nvPr/>
          </p:nvSpPr>
          <p:spPr>
            <a:xfrm>
              <a:off x="3051175" y="2211067"/>
              <a:ext cx="260350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300" dirty="0"/>
                <a:t>5</a:t>
              </a:r>
              <a:endParaRPr lang="en-GB" sz="1300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2D66B3E-B7F3-8F5C-0168-3F3FC8F9D675}"/>
                </a:ext>
              </a:extLst>
            </p:cNvPr>
            <p:cNvSpPr txBox="1"/>
            <p:nvPr/>
          </p:nvSpPr>
          <p:spPr>
            <a:xfrm>
              <a:off x="2947987" y="4728995"/>
              <a:ext cx="466726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300" dirty="0"/>
                <a:t>18</a:t>
              </a:r>
              <a:endParaRPr lang="en-GB" sz="1300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D63DB5F-3B10-5096-BCD3-AF3B16523F26}"/>
                </a:ext>
              </a:extLst>
            </p:cNvPr>
            <p:cNvSpPr txBox="1"/>
            <p:nvPr/>
          </p:nvSpPr>
          <p:spPr>
            <a:xfrm>
              <a:off x="2947987" y="5580384"/>
              <a:ext cx="466726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300" dirty="0"/>
                <a:t>20</a:t>
              </a:r>
              <a:endParaRPr lang="en-GB" sz="1300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F15650F9-B8AF-4F8F-9961-70BF3BF41400}"/>
                </a:ext>
              </a:extLst>
            </p:cNvPr>
            <p:cNvSpPr txBox="1"/>
            <p:nvPr/>
          </p:nvSpPr>
          <p:spPr>
            <a:xfrm>
              <a:off x="2947987" y="5833782"/>
              <a:ext cx="466726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300" dirty="0"/>
                <a:t>24</a:t>
              </a:r>
              <a:endParaRPr lang="en-GB" sz="1300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35131D8E-716F-808C-D478-4AE4AE48A552}"/>
                </a:ext>
              </a:extLst>
            </p:cNvPr>
            <p:cNvSpPr txBox="1"/>
            <p:nvPr/>
          </p:nvSpPr>
          <p:spPr>
            <a:xfrm>
              <a:off x="3890962" y="5833782"/>
              <a:ext cx="466726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300" dirty="0"/>
                <a:t>1</a:t>
              </a:r>
              <a:endParaRPr lang="en-GB" sz="1300" dirty="0"/>
            </a:p>
          </p:txBody>
        </p:sp>
      </p:grpSp>
    </p:spTree>
    <p:extLst>
      <p:ext uri="{BB962C8B-B14F-4D97-AF65-F5344CB8AC3E}">
        <p14:creationId xmlns:p14="http://schemas.microsoft.com/office/powerpoint/2010/main" val="15870078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39BBE-C24A-A160-B81F-0C0E418EF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B83230-B1FC-8F7F-94CB-F0252EBCD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L. Balconi | Young </a:t>
            </a:r>
            <a:r>
              <a:rPr lang="fr-FR" dirty="0" err="1"/>
              <a:t>researchers</a:t>
            </a:r>
            <a:r>
              <a:rPr lang="fr-FR" dirty="0"/>
              <a:t> </a:t>
            </a:r>
            <a:r>
              <a:rPr lang="fr-FR" dirty="0" err="1"/>
              <a:t>grant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04531C-9565-5687-FFCD-AD2514238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6D798-1883-974D-96D0-4E82B243DEDE}" type="slidenum">
              <a:rPr lang="it-IT" smtClean="0"/>
              <a:t>23</a:t>
            </a:fld>
            <a:endParaRPr lang="it-IT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84B8D7F-A869-4167-9394-E5ABD8565D38}"/>
              </a:ext>
            </a:extLst>
          </p:cNvPr>
          <p:cNvSpPr txBox="1"/>
          <p:nvPr/>
        </p:nvSpPr>
        <p:spPr>
          <a:xfrm>
            <a:off x="678425" y="1713232"/>
            <a:ext cx="4798142" cy="4385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/>
              <a:t>About the risk analysis: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dirty="0"/>
              <a:t>Risks are mainly calculated from the experience accumulated in the </a:t>
            </a:r>
            <a:r>
              <a:rPr lang="en-GB" sz="2000" dirty="0">
                <a:solidFill>
                  <a:srgbClr val="4297B7"/>
                </a:solidFill>
              </a:rPr>
              <a:t>design and manufacturing of ESMA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dirty="0" err="1">
                <a:solidFill>
                  <a:srgbClr val="4297B7"/>
                </a:solidFill>
              </a:rPr>
              <a:t>Windability</a:t>
            </a:r>
            <a:r>
              <a:rPr lang="en-GB" sz="2000" dirty="0">
                <a:solidFill>
                  <a:srgbClr val="4297B7"/>
                </a:solidFill>
              </a:rPr>
              <a:t> </a:t>
            </a:r>
            <a:r>
              <a:rPr lang="en-GB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may be affected by the chosen geometry and superficial homogeneity of the tape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rgbClr val="4297B7"/>
                </a:solidFill>
              </a:rPr>
              <a:t>Protection and thermal budget </a:t>
            </a:r>
            <a:r>
              <a:rPr lang="en-GB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must be carefully addressed, as well as </a:t>
            </a:r>
            <a:r>
              <a:rPr lang="en-GB" sz="2000" dirty="0">
                <a:solidFill>
                  <a:srgbClr val="4297B7"/>
                </a:solidFill>
              </a:rPr>
              <a:t>field quality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GB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/>
          </a:p>
        </p:txBody>
      </p:sp>
      <p:sp>
        <p:nvSpPr>
          <p:cNvPr id="6" name="Date Placeholder 1">
            <a:extLst>
              <a:ext uri="{FF2B5EF4-FFF2-40B4-BE49-F238E27FC236}">
                <a16:creationId xmlns:a16="http://schemas.microsoft.com/office/drawing/2014/main" id="{3B28F211-1E32-D213-D98E-68DA69D93F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it-IT" dirty="0"/>
              <a:t>01/12/2025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7BB237B-BAC9-236D-11DE-76A22B123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075" y="323959"/>
            <a:ext cx="10515600" cy="1325563"/>
          </a:xfrm>
        </p:spPr>
        <p:txBody>
          <a:bodyPr/>
          <a:lstStyle/>
          <a:p>
            <a:r>
              <a:rPr lang="it-IT" u="sng" dirty="0"/>
              <a:t>Risks</a:t>
            </a:r>
            <a:r>
              <a:rPr lang="it-IT" dirty="0"/>
              <a:t> and costs </a:t>
            </a:r>
            <a:r>
              <a:rPr lang="it-IT" dirty="0" err="1"/>
              <a:t>summary</a:t>
            </a:r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6CBEAE-547E-2FB1-992E-825B484262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4887" y="1779907"/>
            <a:ext cx="5622725" cy="384357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B70BB340-E9EB-048F-073F-815233CBA918}"/>
              </a:ext>
            </a:extLst>
          </p:cNvPr>
          <p:cNvGrpSpPr/>
          <p:nvPr/>
        </p:nvGrpSpPr>
        <p:grpSpPr>
          <a:xfrm>
            <a:off x="7909560" y="2954600"/>
            <a:ext cx="1069988" cy="303719"/>
            <a:chOff x="7909560" y="2954600"/>
            <a:chExt cx="1069988" cy="303719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9E627B9A-AC47-08A4-743A-71E02E96C789}"/>
                </a:ext>
              </a:extLst>
            </p:cNvPr>
            <p:cNvSpPr/>
            <p:nvPr/>
          </p:nvSpPr>
          <p:spPr>
            <a:xfrm>
              <a:off x="7909560" y="2973745"/>
              <a:ext cx="1009676" cy="284574"/>
            </a:xfrm>
            <a:prstGeom prst="ellipse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3F08E8F-A2D0-8BAE-DAF1-9102D4695969}"/>
                </a:ext>
              </a:extLst>
            </p:cNvPr>
            <p:cNvSpPr txBox="1"/>
            <p:nvPr/>
          </p:nvSpPr>
          <p:spPr>
            <a:xfrm>
              <a:off x="7969872" y="2954600"/>
              <a:ext cx="100967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200" b="1" dirty="0"/>
                <a:t>HTS </a:t>
              </a:r>
              <a:r>
                <a:rPr lang="it-IT" sz="1200" b="1" dirty="0" err="1"/>
                <a:t>defects</a:t>
              </a:r>
              <a:endParaRPr lang="en-GB" sz="1200" b="1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8DF9FAA-69F5-A7EE-528E-DD55AE7F27B8}"/>
              </a:ext>
            </a:extLst>
          </p:cNvPr>
          <p:cNvGrpSpPr/>
          <p:nvPr/>
        </p:nvGrpSpPr>
        <p:grpSpPr>
          <a:xfrm>
            <a:off x="9624695" y="2973745"/>
            <a:ext cx="1107769" cy="303719"/>
            <a:chOff x="7909560" y="2954600"/>
            <a:chExt cx="1107769" cy="303719"/>
          </a:xfrm>
        </p:grpSpPr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0BD54A80-6FF9-9A8F-F160-CFBA83F474E2}"/>
                </a:ext>
              </a:extLst>
            </p:cNvPr>
            <p:cNvSpPr/>
            <p:nvPr/>
          </p:nvSpPr>
          <p:spPr>
            <a:xfrm>
              <a:off x="7909560" y="2973745"/>
              <a:ext cx="1009676" cy="284574"/>
            </a:xfrm>
            <a:prstGeom prst="ellipse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0327AC2-ECAC-2DAB-70FB-0CE6B9E1B417}"/>
                </a:ext>
              </a:extLst>
            </p:cNvPr>
            <p:cNvSpPr txBox="1"/>
            <p:nvPr/>
          </p:nvSpPr>
          <p:spPr>
            <a:xfrm>
              <a:off x="8007653" y="2954600"/>
              <a:ext cx="100967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200" b="1" dirty="0" err="1"/>
                <a:t>Protection</a:t>
              </a:r>
              <a:endParaRPr lang="en-GB" sz="1200" b="1" dirty="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A7B42DA3-627B-9A64-2128-7046E74C1B88}"/>
              </a:ext>
            </a:extLst>
          </p:cNvPr>
          <p:cNvGrpSpPr/>
          <p:nvPr/>
        </p:nvGrpSpPr>
        <p:grpSpPr>
          <a:xfrm>
            <a:off x="10418915" y="2314261"/>
            <a:ext cx="1058723" cy="284574"/>
            <a:chOff x="7909560" y="2973745"/>
            <a:chExt cx="1058723" cy="284574"/>
          </a:xfrm>
        </p:grpSpPr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D1E692B0-96DD-3E0D-AFE4-210044BC4566}"/>
                </a:ext>
              </a:extLst>
            </p:cNvPr>
            <p:cNvSpPr/>
            <p:nvPr/>
          </p:nvSpPr>
          <p:spPr>
            <a:xfrm>
              <a:off x="7909560" y="2973745"/>
              <a:ext cx="1009676" cy="284574"/>
            </a:xfrm>
            <a:prstGeom prst="ellipse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1706214-68A5-5EB6-577D-DA74587CD47C}"/>
                </a:ext>
              </a:extLst>
            </p:cNvPr>
            <p:cNvSpPr txBox="1"/>
            <p:nvPr/>
          </p:nvSpPr>
          <p:spPr>
            <a:xfrm>
              <a:off x="7958607" y="2973745"/>
              <a:ext cx="100967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200" b="1" dirty="0"/>
                <a:t>Field Quality</a:t>
              </a:r>
              <a:endParaRPr lang="en-GB" sz="1200" b="1" dirty="0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0A21225-049C-C75B-A31C-05C3320954CB}"/>
              </a:ext>
            </a:extLst>
          </p:cNvPr>
          <p:cNvGrpSpPr/>
          <p:nvPr/>
        </p:nvGrpSpPr>
        <p:grpSpPr>
          <a:xfrm>
            <a:off x="8778875" y="4296758"/>
            <a:ext cx="1090169" cy="295999"/>
            <a:chOff x="7909560" y="2962320"/>
            <a:chExt cx="1090169" cy="295999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90AA061A-2C94-4A59-EEE3-2541B8E0AF94}"/>
                </a:ext>
              </a:extLst>
            </p:cNvPr>
            <p:cNvSpPr/>
            <p:nvPr/>
          </p:nvSpPr>
          <p:spPr>
            <a:xfrm>
              <a:off x="7909560" y="2973745"/>
              <a:ext cx="1009676" cy="284574"/>
            </a:xfrm>
            <a:prstGeom prst="ellipse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CAC3433B-FE91-B2E1-353E-62B9E2A33869}"/>
                </a:ext>
              </a:extLst>
            </p:cNvPr>
            <p:cNvSpPr txBox="1"/>
            <p:nvPr/>
          </p:nvSpPr>
          <p:spPr>
            <a:xfrm>
              <a:off x="7990053" y="2962320"/>
              <a:ext cx="100967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200" b="1" dirty="0"/>
                <a:t>Test </a:t>
              </a:r>
              <a:r>
                <a:rPr lang="it-IT" sz="1200" b="1" dirty="0" err="1"/>
                <a:t>issues</a:t>
              </a:r>
              <a:endParaRPr lang="en-GB" sz="1200" b="1" dirty="0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6D3FA4CE-1147-68BF-B7E5-8AED4A840C1E}"/>
              </a:ext>
            </a:extLst>
          </p:cNvPr>
          <p:cNvGrpSpPr/>
          <p:nvPr/>
        </p:nvGrpSpPr>
        <p:grpSpPr>
          <a:xfrm>
            <a:off x="9575648" y="4910582"/>
            <a:ext cx="1058723" cy="311294"/>
            <a:chOff x="7909560" y="2947025"/>
            <a:chExt cx="1058723" cy="311294"/>
          </a:xfrm>
        </p:grpSpPr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D9875800-19B8-F077-6187-45B19203907A}"/>
                </a:ext>
              </a:extLst>
            </p:cNvPr>
            <p:cNvSpPr/>
            <p:nvPr/>
          </p:nvSpPr>
          <p:spPr>
            <a:xfrm>
              <a:off x="7909560" y="2973745"/>
              <a:ext cx="1009676" cy="284574"/>
            </a:xfrm>
            <a:prstGeom prst="ellipse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A4867812-3A49-4F75-011F-0EAB4C3B57FC}"/>
                </a:ext>
              </a:extLst>
            </p:cNvPr>
            <p:cNvSpPr txBox="1"/>
            <p:nvPr/>
          </p:nvSpPr>
          <p:spPr>
            <a:xfrm>
              <a:off x="7958607" y="2947025"/>
              <a:ext cx="100967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200" b="1" dirty="0" err="1"/>
                <a:t>Windability</a:t>
              </a:r>
              <a:endParaRPr lang="en-GB" sz="12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0988843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80E24-9788-7182-294E-5E3F4D8D8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90B68E-C940-6643-C32A-7FB268C72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L. Balconi | Young </a:t>
            </a:r>
            <a:r>
              <a:rPr lang="fr-FR" dirty="0" err="1"/>
              <a:t>researchers</a:t>
            </a:r>
            <a:r>
              <a:rPr lang="fr-FR" dirty="0"/>
              <a:t> </a:t>
            </a:r>
            <a:r>
              <a:rPr lang="fr-FR" dirty="0" err="1"/>
              <a:t>grant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C99977-4DDB-3E81-433E-1666D951F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6D798-1883-974D-96D0-4E82B243DEDE}" type="slidenum">
              <a:rPr lang="it-IT" smtClean="0"/>
              <a:t>24</a:t>
            </a:fld>
            <a:endParaRPr lang="it-IT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A5A08D-0D45-5C88-E61F-E76D451F362F}"/>
              </a:ext>
            </a:extLst>
          </p:cNvPr>
          <p:cNvSpPr txBox="1"/>
          <p:nvPr/>
        </p:nvSpPr>
        <p:spPr>
          <a:xfrm>
            <a:off x="824723" y="1649522"/>
            <a:ext cx="4798142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/>
              <a:t>Main </a:t>
            </a:r>
            <a:r>
              <a:rPr lang="en-GB" sz="2000" dirty="0">
                <a:solidFill>
                  <a:srgbClr val="4297B7"/>
                </a:solidFill>
              </a:rPr>
              <a:t>mitigations</a:t>
            </a:r>
            <a:r>
              <a:rPr lang="en-GB" sz="2000" dirty="0"/>
              <a:t>:</a:t>
            </a:r>
          </a:p>
          <a:p>
            <a:pPr marL="342900" lvl="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Field quality</a:t>
            </a:r>
            <a:r>
              <a:rPr lang="en-US" dirty="0"/>
              <a:t>: in the design phase consider a narrow tape (4 mm, or less).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Protection</a:t>
            </a:r>
            <a:r>
              <a:rPr lang="en-US" dirty="0"/>
              <a:t>: pass from insulated to Controlled Resistance (CI) mode.</a:t>
            </a:r>
          </a:p>
          <a:p>
            <a:pPr marL="342900" lvl="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Defects</a:t>
            </a:r>
            <a:r>
              <a:rPr lang="en-US" dirty="0"/>
              <a:t>: cut the weak portion of the cable and optimize joint procedure.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Test issues</a:t>
            </a:r>
            <a:r>
              <a:rPr lang="en-US" dirty="0"/>
              <a:t>: Increase the cooling power with a suitable additional variable temperature heat exchanger.</a:t>
            </a:r>
          </a:p>
          <a:p>
            <a:pPr marL="342900" lvl="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 err="1"/>
              <a:t>Windability</a:t>
            </a:r>
            <a:r>
              <a:rPr lang="en-US" dirty="0"/>
              <a:t>: Ask for more demanding thickness specification to the </a:t>
            </a:r>
            <a:r>
              <a:rPr lang="en-US" dirty="0" err="1"/>
              <a:t>manufacturerand</a:t>
            </a:r>
            <a:r>
              <a:rPr lang="en-US" dirty="0"/>
              <a:t> act on the design of the flat coil geometry. 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/>
          </a:p>
        </p:txBody>
      </p:sp>
      <p:sp>
        <p:nvSpPr>
          <p:cNvPr id="6" name="Date Placeholder 1">
            <a:extLst>
              <a:ext uri="{FF2B5EF4-FFF2-40B4-BE49-F238E27FC236}">
                <a16:creationId xmlns:a16="http://schemas.microsoft.com/office/drawing/2014/main" id="{E144F673-881F-E635-C36B-D08E1AD6F1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it-IT" dirty="0"/>
              <a:t>01/12/2025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B9FFEB2-747B-CE89-1D94-4BF0645AB1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4887" y="1779907"/>
            <a:ext cx="5622725" cy="384357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7C368603-C914-07DC-A5B0-1A9993BE4377}"/>
              </a:ext>
            </a:extLst>
          </p:cNvPr>
          <p:cNvGrpSpPr/>
          <p:nvPr/>
        </p:nvGrpSpPr>
        <p:grpSpPr>
          <a:xfrm>
            <a:off x="6943712" y="2956961"/>
            <a:ext cx="1069988" cy="303719"/>
            <a:chOff x="7909560" y="2954600"/>
            <a:chExt cx="1069988" cy="303719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46C062D-F8FC-3FE3-BC4E-04AD554D3556}"/>
                </a:ext>
              </a:extLst>
            </p:cNvPr>
            <p:cNvSpPr/>
            <p:nvPr/>
          </p:nvSpPr>
          <p:spPr>
            <a:xfrm>
              <a:off x="7909560" y="2973745"/>
              <a:ext cx="1009676" cy="284574"/>
            </a:xfrm>
            <a:prstGeom prst="ellipse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C45ACEC-E6E0-FB7C-CB31-A55C9981BFCA}"/>
                </a:ext>
              </a:extLst>
            </p:cNvPr>
            <p:cNvSpPr txBox="1"/>
            <p:nvPr/>
          </p:nvSpPr>
          <p:spPr>
            <a:xfrm>
              <a:off x="7969872" y="2954600"/>
              <a:ext cx="100967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200" b="1" dirty="0"/>
                <a:t>HTS </a:t>
              </a:r>
              <a:r>
                <a:rPr lang="it-IT" sz="1200" b="1" dirty="0" err="1"/>
                <a:t>defects</a:t>
              </a:r>
              <a:endParaRPr lang="en-GB" sz="1200" b="1" dirty="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F17AA7A-850A-D111-23FA-E579344224CD}"/>
              </a:ext>
            </a:extLst>
          </p:cNvPr>
          <p:cNvGrpSpPr/>
          <p:nvPr/>
        </p:nvGrpSpPr>
        <p:grpSpPr>
          <a:xfrm>
            <a:off x="8733475" y="2968819"/>
            <a:ext cx="1058723" cy="284574"/>
            <a:chOff x="7909560" y="2973745"/>
            <a:chExt cx="1058723" cy="284574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E4AFFBE4-9925-1898-8455-2B40BCDBF1B2}"/>
                </a:ext>
              </a:extLst>
            </p:cNvPr>
            <p:cNvSpPr/>
            <p:nvPr/>
          </p:nvSpPr>
          <p:spPr>
            <a:xfrm>
              <a:off x="7909560" y="2973745"/>
              <a:ext cx="1009676" cy="284574"/>
            </a:xfrm>
            <a:prstGeom prst="ellipse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E7BDB98-1E93-CD8A-2630-390309ECABE0}"/>
                </a:ext>
              </a:extLst>
            </p:cNvPr>
            <p:cNvSpPr txBox="1"/>
            <p:nvPr/>
          </p:nvSpPr>
          <p:spPr>
            <a:xfrm>
              <a:off x="7958607" y="2973745"/>
              <a:ext cx="100967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200" b="1" dirty="0"/>
                <a:t>Field Quality</a:t>
              </a:r>
              <a:endParaRPr lang="en-GB" sz="1200" b="1" dirty="0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BD7D9C5-69ED-230B-BCBB-DC5CAD0B71CD}"/>
              </a:ext>
            </a:extLst>
          </p:cNvPr>
          <p:cNvGrpSpPr/>
          <p:nvPr/>
        </p:nvGrpSpPr>
        <p:grpSpPr>
          <a:xfrm>
            <a:off x="8733475" y="3604608"/>
            <a:ext cx="1107769" cy="303719"/>
            <a:chOff x="7909560" y="2954600"/>
            <a:chExt cx="1107769" cy="303719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2B50A16F-67B8-AECC-6A07-5612E3BD96DF}"/>
                </a:ext>
              </a:extLst>
            </p:cNvPr>
            <p:cNvSpPr/>
            <p:nvPr/>
          </p:nvSpPr>
          <p:spPr>
            <a:xfrm>
              <a:off x="7909560" y="2973745"/>
              <a:ext cx="1009676" cy="284574"/>
            </a:xfrm>
            <a:prstGeom prst="ellipse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DCC0E7C-D5E4-25AE-68E6-D532EE1263B0}"/>
                </a:ext>
              </a:extLst>
            </p:cNvPr>
            <p:cNvSpPr txBox="1"/>
            <p:nvPr/>
          </p:nvSpPr>
          <p:spPr>
            <a:xfrm>
              <a:off x="8007653" y="2954600"/>
              <a:ext cx="100967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200" b="1" dirty="0" err="1"/>
                <a:t>Protection</a:t>
              </a:r>
              <a:endParaRPr lang="en-GB" sz="1200" b="1" dirty="0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1A29B22-FF2F-8559-C18E-CC357BEB86EE}"/>
              </a:ext>
            </a:extLst>
          </p:cNvPr>
          <p:cNvGrpSpPr/>
          <p:nvPr/>
        </p:nvGrpSpPr>
        <p:grpSpPr>
          <a:xfrm>
            <a:off x="7943248" y="4296920"/>
            <a:ext cx="1090169" cy="295999"/>
            <a:chOff x="7909560" y="2962320"/>
            <a:chExt cx="1090169" cy="295999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D2B02E23-6C6A-3BF3-61C5-B922DEB855C2}"/>
                </a:ext>
              </a:extLst>
            </p:cNvPr>
            <p:cNvSpPr/>
            <p:nvPr/>
          </p:nvSpPr>
          <p:spPr>
            <a:xfrm>
              <a:off x="7909560" y="2973745"/>
              <a:ext cx="1009676" cy="284574"/>
            </a:xfrm>
            <a:prstGeom prst="ellipse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2E25D635-7CE4-F3A9-D0AB-EF8BACC593AC}"/>
                </a:ext>
              </a:extLst>
            </p:cNvPr>
            <p:cNvSpPr txBox="1"/>
            <p:nvPr/>
          </p:nvSpPr>
          <p:spPr>
            <a:xfrm>
              <a:off x="7990053" y="2962320"/>
              <a:ext cx="100967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200" b="1" dirty="0"/>
                <a:t>Test </a:t>
              </a:r>
              <a:r>
                <a:rPr lang="it-IT" sz="1200" b="1" dirty="0" err="1"/>
                <a:t>issues</a:t>
              </a:r>
              <a:endParaRPr lang="en-GB" sz="1200" b="1" dirty="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CD781708-1CF9-A75F-E198-05C33AB71AF6}"/>
              </a:ext>
            </a:extLst>
          </p:cNvPr>
          <p:cNvGrpSpPr/>
          <p:nvPr/>
        </p:nvGrpSpPr>
        <p:grpSpPr>
          <a:xfrm>
            <a:off x="8757998" y="4914872"/>
            <a:ext cx="1058723" cy="311294"/>
            <a:chOff x="7909560" y="2947025"/>
            <a:chExt cx="1058723" cy="311294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9EDC722A-5220-E2FF-F671-9DB594F011B0}"/>
                </a:ext>
              </a:extLst>
            </p:cNvPr>
            <p:cNvSpPr/>
            <p:nvPr/>
          </p:nvSpPr>
          <p:spPr>
            <a:xfrm>
              <a:off x="7909560" y="2973745"/>
              <a:ext cx="1009676" cy="284574"/>
            </a:xfrm>
            <a:prstGeom prst="ellipse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22B8D06E-8081-3A7F-57BB-65C0363B3B39}"/>
                </a:ext>
              </a:extLst>
            </p:cNvPr>
            <p:cNvSpPr txBox="1"/>
            <p:nvPr/>
          </p:nvSpPr>
          <p:spPr>
            <a:xfrm>
              <a:off x="7958607" y="2947025"/>
              <a:ext cx="100967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200" b="1" dirty="0" err="1"/>
                <a:t>Windability</a:t>
              </a:r>
              <a:endParaRPr lang="en-GB" sz="1200" b="1" dirty="0"/>
            </a:p>
          </p:txBody>
        </p:sp>
      </p:grpSp>
      <p:sp>
        <p:nvSpPr>
          <p:cNvPr id="44" name="Title 1">
            <a:extLst>
              <a:ext uri="{FF2B5EF4-FFF2-40B4-BE49-F238E27FC236}">
                <a16:creationId xmlns:a16="http://schemas.microsoft.com/office/drawing/2014/main" id="{ACB4005A-6AA3-4EFE-F56B-44EEA0A72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075" y="323959"/>
            <a:ext cx="10515600" cy="1325563"/>
          </a:xfrm>
        </p:spPr>
        <p:txBody>
          <a:bodyPr/>
          <a:lstStyle/>
          <a:p>
            <a:r>
              <a:rPr lang="it-IT" u="sng" dirty="0"/>
              <a:t>Risks</a:t>
            </a:r>
            <a:r>
              <a:rPr lang="it-IT" dirty="0"/>
              <a:t> and costs </a:t>
            </a:r>
            <a:r>
              <a:rPr lang="it-IT" dirty="0" err="1"/>
              <a:t>summary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205620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FBDD1-E81C-3850-A936-0DB0C6EEC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70C3F-D6CA-BEDE-AB97-878D51AAF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075" y="323959"/>
            <a:ext cx="10515600" cy="1325563"/>
          </a:xfrm>
        </p:spPr>
        <p:txBody>
          <a:bodyPr/>
          <a:lstStyle/>
          <a:p>
            <a:r>
              <a:rPr lang="it-IT" dirty="0"/>
              <a:t>Risks and </a:t>
            </a:r>
            <a:r>
              <a:rPr lang="it-IT" u="sng" dirty="0"/>
              <a:t>costs</a:t>
            </a:r>
            <a:r>
              <a:rPr lang="it-IT" dirty="0"/>
              <a:t> </a:t>
            </a:r>
            <a:r>
              <a:rPr lang="it-IT" dirty="0" err="1"/>
              <a:t>summary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9BAC59-0FAD-9062-A5C7-1E012C12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L. Balconi | Young researchers grant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A36822-EF94-5E16-BC77-AC0456A12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6D798-1883-974D-96D0-4E82B243DEDE}" type="slidenum">
              <a:rPr lang="it-IT" smtClean="0"/>
              <a:t>25</a:t>
            </a:fld>
            <a:endParaRPr lang="it-IT"/>
          </a:p>
        </p:txBody>
      </p:sp>
      <p:graphicFrame>
        <p:nvGraphicFramePr>
          <p:cNvPr id="10" name="Table 6">
            <a:extLst>
              <a:ext uri="{FF2B5EF4-FFF2-40B4-BE49-F238E27FC236}">
                <a16:creationId xmlns:a16="http://schemas.microsoft.com/office/drawing/2014/main" id="{C5800D96-276A-4351-528F-3550E6E0ED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8907438"/>
              </p:ext>
            </p:extLst>
          </p:nvPr>
        </p:nvGraphicFramePr>
        <p:xfrm>
          <a:off x="5692526" y="1815889"/>
          <a:ext cx="6390968" cy="330109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03934">
                  <a:extLst>
                    <a:ext uri="{9D8B030D-6E8A-4147-A177-3AD203B41FA5}">
                      <a16:colId xmlns:a16="http://schemas.microsoft.com/office/drawing/2014/main" val="113922037"/>
                    </a:ext>
                  </a:extLst>
                </a:gridCol>
                <a:gridCol w="990963">
                  <a:extLst>
                    <a:ext uri="{9D8B030D-6E8A-4147-A177-3AD203B41FA5}">
                      <a16:colId xmlns:a16="http://schemas.microsoft.com/office/drawing/2014/main" val="1490116165"/>
                    </a:ext>
                  </a:extLst>
                </a:gridCol>
                <a:gridCol w="1299766">
                  <a:extLst>
                    <a:ext uri="{9D8B030D-6E8A-4147-A177-3AD203B41FA5}">
                      <a16:colId xmlns:a16="http://schemas.microsoft.com/office/drawing/2014/main" val="198259223"/>
                    </a:ext>
                  </a:extLst>
                </a:gridCol>
                <a:gridCol w="1796305">
                  <a:extLst>
                    <a:ext uri="{9D8B030D-6E8A-4147-A177-3AD203B41FA5}">
                      <a16:colId xmlns:a16="http://schemas.microsoft.com/office/drawing/2014/main" val="2746673004"/>
                    </a:ext>
                  </a:extLst>
                </a:gridCol>
              </a:tblGrid>
              <a:tr h="523707">
                <a:tc>
                  <a:txBody>
                    <a:bodyPr/>
                    <a:lstStyle/>
                    <a:p>
                      <a:pPr marR="407035" algn="ctr">
                        <a:lnSpc>
                          <a:spcPct val="102000"/>
                        </a:lnSpc>
                        <a:spcBef>
                          <a:spcPts val="995"/>
                        </a:spcBef>
                        <a:buNone/>
                        <a:tabLst>
                          <a:tab pos="422275" algn="l"/>
                        </a:tabLst>
                      </a:pPr>
                      <a:r>
                        <a:rPr lang="en-GB" sz="1600" b="1" dirty="0">
                          <a:effectLst/>
                        </a:rPr>
                        <a:t>Object</a:t>
                      </a:r>
                      <a:endParaRPr lang="en-GB" sz="1600" b="1" dirty="0">
                        <a:effectLst/>
                        <a:latin typeface="Book Antiqua" panose="02040602050305030304" pitchFamily="18" charset="0"/>
                        <a:ea typeface="Book Antiqua" panose="02040602050305030304" pitchFamily="18" charset="0"/>
                        <a:cs typeface="Book Antiqua" panose="02040602050305030304" pitchFamily="18" charset="0"/>
                      </a:endParaRPr>
                    </a:p>
                  </a:txBody>
                  <a:tcPr marL="46285" marR="46285" marT="0" marB="0" anchor="ctr"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407035" algn="ctr">
                        <a:lnSpc>
                          <a:spcPct val="102000"/>
                        </a:lnSpc>
                        <a:spcBef>
                          <a:spcPts val="995"/>
                        </a:spcBef>
                        <a:buNone/>
                        <a:tabLst>
                          <a:tab pos="422275" algn="l"/>
                        </a:tabLst>
                      </a:pPr>
                      <a:r>
                        <a:rPr lang="en-GB" sz="1600" b="1" dirty="0">
                          <a:effectLst/>
                        </a:rPr>
                        <a:t>Year</a:t>
                      </a:r>
                      <a:endParaRPr lang="en-GB" sz="1600" b="1" dirty="0">
                        <a:effectLst/>
                        <a:latin typeface="Book Antiqua" panose="02040602050305030304" pitchFamily="18" charset="0"/>
                        <a:ea typeface="Book Antiqua" panose="02040602050305030304" pitchFamily="18" charset="0"/>
                        <a:cs typeface="Book Antiqua" panose="02040602050305030304" pitchFamily="18" charset="0"/>
                      </a:endParaRPr>
                    </a:p>
                  </a:txBody>
                  <a:tcPr marL="46285" marR="46285" marT="0" marB="0" anchor="ctr"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407035" algn="ctr">
                        <a:lnSpc>
                          <a:spcPct val="102000"/>
                        </a:lnSpc>
                        <a:spcBef>
                          <a:spcPts val="995"/>
                        </a:spcBef>
                        <a:buNone/>
                        <a:tabLst>
                          <a:tab pos="422275" algn="l"/>
                        </a:tabLst>
                      </a:pPr>
                      <a:r>
                        <a:rPr lang="en-GB" sz="1600" b="1" dirty="0">
                          <a:effectLst/>
                        </a:rPr>
                        <a:t>Cost [€]</a:t>
                      </a:r>
                      <a:endParaRPr lang="en-GB" sz="1600" b="1" dirty="0">
                        <a:effectLst/>
                        <a:latin typeface="Book Antiqua" panose="02040602050305030304" pitchFamily="18" charset="0"/>
                        <a:ea typeface="Book Antiqua" panose="02040602050305030304" pitchFamily="18" charset="0"/>
                        <a:cs typeface="Book Antiqua" panose="02040602050305030304" pitchFamily="18" charset="0"/>
                      </a:endParaRPr>
                    </a:p>
                  </a:txBody>
                  <a:tcPr marL="46285" marR="46285" marT="0" marB="0" anchor="ctr"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407035" algn="ctr">
                        <a:lnSpc>
                          <a:spcPct val="102000"/>
                        </a:lnSpc>
                        <a:spcBef>
                          <a:spcPts val="995"/>
                        </a:spcBef>
                        <a:buNone/>
                        <a:tabLst>
                          <a:tab pos="422275" algn="l"/>
                        </a:tabLst>
                      </a:pPr>
                      <a:r>
                        <a:rPr lang="en-GB" sz="1600" b="1" dirty="0">
                          <a:effectLst/>
                        </a:rPr>
                        <a:t>Cost + IVA [€]</a:t>
                      </a:r>
                      <a:endParaRPr lang="en-GB" sz="1600" b="1" dirty="0">
                        <a:effectLst/>
                        <a:latin typeface="Book Antiqua" panose="02040602050305030304" pitchFamily="18" charset="0"/>
                        <a:ea typeface="Book Antiqua" panose="02040602050305030304" pitchFamily="18" charset="0"/>
                        <a:cs typeface="Book Antiqua" panose="02040602050305030304" pitchFamily="18" charset="0"/>
                      </a:endParaRPr>
                    </a:p>
                  </a:txBody>
                  <a:tcPr marL="46285" marR="46285" marT="0" marB="0" anchor="ctr"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4971173"/>
                  </a:ext>
                </a:extLst>
              </a:tr>
              <a:tr h="264155">
                <a:tc>
                  <a:txBody>
                    <a:bodyPr/>
                    <a:lstStyle/>
                    <a:p>
                      <a:pPr marR="407035" algn="ctr">
                        <a:lnSpc>
                          <a:spcPct val="102000"/>
                        </a:lnSpc>
                        <a:spcBef>
                          <a:spcPts val="995"/>
                        </a:spcBef>
                        <a:buNone/>
                        <a:tabLst>
                          <a:tab pos="422275" algn="l"/>
                        </a:tabLst>
                      </a:pPr>
                      <a:r>
                        <a:rPr lang="en-GB" sz="1600" dirty="0">
                          <a:effectLst/>
                        </a:rPr>
                        <a:t>3 km of HTS tape</a:t>
                      </a:r>
                      <a:endParaRPr lang="en-GB" sz="1600" dirty="0">
                        <a:effectLst/>
                        <a:latin typeface="Book Antiqua" panose="02040602050305030304" pitchFamily="18" charset="0"/>
                        <a:ea typeface="Book Antiqua" panose="02040602050305030304" pitchFamily="18" charset="0"/>
                        <a:cs typeface="Book Antiqua" panose="02040602050305030304" pitchFamily="18" charset="0"/>
                      </a:endParaRPr>
                    </a:p>
                  </a:txBody>
                  <a:tcPr marL="46285" marR="46285" marT="0" marB="0" anchor="ctr"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407035" algn="ctr" defTabSz="914400" rtl="0" eaLnBrk="1" latinLnBrk="0" hangingPunct="1">
                        <a:lnSpc>
                          <a:spcPct val="102000"/>
                        </a:lnSpc>
                        <a:spcBef>
                          <a:spcPts val="995"/>
                        </a:spcBef>
                        <a:buNone/>
                        <a:tabLst>
                          <a:tab pos="422275" algn="l"/>
                        </a:tabLst>
                      </a:pPr>
                      <a:r>
                        <a:rPr lang="en-GB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1+2</a:t>
                      </a:r>
                    </a:p>
                  </a:txBody>
                  <a:tcPr marL="46285" marR="46285" marT="0" marB="0" anchor="ctr"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407035" algn="ctr" defTabSz="914400" rtl="0" eaLnBrk="1" latinLnBrk="0" hangingPunct="1">
                        <a:lnSpc>
                          <a:spcPct val="102000"/>
                        </a:lnSpc>
                        <a:spcBef>
                          <a:spcPts val="995"/>
                        </a:spcBef>
                        <a:buNone/>
                        <a:tabLst>
                          <a:tab pos="422275" algn="l"/>
                        </a:tabLst>
                      </a:pPr>
                      <a:r>
                        <a:rPr lang="en-GB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55 500</a:t>
                      </a:r>
                    </a:p>
                  </a:txBody>
                  <a:tcPr marL="46285" marR="46285" marT="0" marB="0" anchor="ctr"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407035" algn="ctr" defTabSz="914400" rtl="0" eaLnBrk="1" latinLnBrk="0" hangingPunct="1">
                        <a:lnSpc>
                          <a:spcPct val="102000"/>
                        </a:lnSpc>
                        <a:spcBef>
                          <a:spcPts val="995"/>
                        </a:spcBef>
                        <a:buNone/>
                        <a:tabLst>
                          <a:tab pos="422275" algn="l"/>
                        </a:tabLst>
                      </a:pPr>
                      <a:r>
                        <a:rPr lang="en-GB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67 710</a:t>
                      </a:r>
                    </a:p>
                  </a:txBody>
                  <a:tcPr marL="46285" marR="46285" marT="0" marB="0" anchor="ctr"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920697"/>
                  </a:ext>
                </a:extLst>
              </a:tr>
              <a:tr h="523641">
                <a:tc>
                  <a:txBody>
                    <a:bodyPr/>
                    <a:lstStyle/>
                    <a:p>
                      <a:pPr marR="407035" algn="ctr">
                        <a:lnSpc>
                          <a:spcPct val="102000"/>
                        </a:lnSpc>
                        <a:spcBef>
                          <a:spcPts val="995"/>
                        </a:spcBef>
                        <a:buNone/>
                        <a:tabLst>
                          <a:tab pos="422275" algn="l"/>
                        </a:tabLst>
                      </a:pPr>
                      <a:r>
                        <a:rPr lang="en-GB" sz="1600" dirty="0">
                          <a:effectLst/>
                        </a:rPr>
                        <a:t>Coils mechanical </a:t>
                      </a:r>
                      <a:br>
                        <a:rPr lang="en-GB" sz="1600" dirty="0">
                          <a:effectLst/>
                        </a:rPr>
                      </a:br>
                      <a:r>
                        <a:rPr lang="en-GB" sz="1600" dirty="0">
                          <a:effectLst/>
                        </a:rPr>
                        <a:t>components </a:t>
                      </a:r>
                      <a:endParaRPr lang="en-GB" sz="1600" dirty="0">
                        <a:effectLst/>
                        <a:latin typeface="Book Antiqua" panose="02040602050305030304" pitchFamily="18" charset="0"/>
                        <a:ea typeface="Book Antiqua" panose="02040602050305030304" pitchFamily="18" charset="0"/>
                        <a:cs typeface="Book Antiqua" panose="02040602050305030304" pitchFamily="18" charset="0"/>
                      </a:endParaRPr>
                    </a:p>
                  </a:txBody>
                  <a:tcPr marL="46285" marR="46285" marT="0" marB="0" anchor="ctr"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407035" algn="ctr" defTabSz="914400" rtl="0" eaLnBrk="1" latinLnBrk="0" hangingPunct="1">
                        <a:lnSpc>
                          <a:spcPct val="102000"/>
                        </a:lnSpc>
                        <a:spcBef>
                          <a:spcPts val="995"/>
                        </a:spcBef>
                        <a:buNone/>
                        <a:tabLst>
                          <a:tab pos="422275" algn="l"/>
                        </a:tabLst>
                      </a:pPr>
                      <a:r>
                        <a:rPr lang="en-GB" sz="16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46285" marR="46285" marT="0" marB="0" anchor="ctr"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407035" algn="ctr" defTabSz="914400" rtl="0" eaLnBrk="1" latinLnBrk="0" hangingPunct="1">
                        <a:lnSpc>
                          <a:spcPct val="102000"/>
                        </a:lnSpc>
                        <a:spcBef>
                          <a:spcPts val="995"/>
                        </a:spcBef>
                        <a:buNone/>
                        <a:tabLst>
                          <a:tab pos="422275" algn="l"/>
                        </a:tabLst>
                      </a:pPr>
                      <a:r>
                        <a:rPr lang="en-GB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22 800</a:t>
                      </a:r>
                    </a:p>
                  </a:txBody>
                  <a:tcPr marL="46285" marR="46285" marT="0" marB="0" anchor="ctr"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407035" algn="ctr" defTabSz="914400" rtl="0" eaLnBrk="1" latinLnBrk="0" hangingPunct="1">
                        <a:lnSpc>
                          <a:spcPct val="102000"/>
                        </a:lnSpc>
                        <a:spcBef>
                          <a:spcPts val="995"/>
                        </a:spcBef>
                        <a:buNone/>
                        <a:tabLst>
                          <a:tab pos="422275" algn="l"/>
                        </a:tabLst>
                      </a:pPr>
                      <a:r>
                        <a:rPr lang="en-GB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27 816</a:t>
                      </a:r>
                    </a:p>
                  </a:txBody>
                  <a:tcPr marL="46285" marR="46285" marT="0" marB="0" anchor="ctr"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2734506"/>
                  </a:ext>
                </a:extLst>
              </a:tr>
              <a:tr h="523641">
                <a:tc>
                  <a:txBody>
                    <a:bodyPr/>
                    <a:lstStyle/>
                    <a:p>
                      <a:pPr marR="407035" algn="ctr">
                        <a:lnSpc>
                          <a:spcPct val="102000"/>
                        </a:lnSpc>
                        <a:spcBef>
                          <a:spcPts val="995"/>
                        </a:spcBef>
                        <a:buNone/>
                        <a:tabLst>
                          <a:tab pos="422275" algn="l"/>
                        </a:tabLst>
                      </a:pPr>
                      <a:r>
                        <a:rPr lang="en-GB" sz="1600" dirty="0">
                          <a:effectLst/>
                        </a:rPr>
                        <a:t>Curved mechanical </a:t>
                      </a:r>
                      <a:br>
                        <a:rPr lang="en-GB" sz="1600" dirty="0">
                          <a:effectLst/>
                        </a:rPr>
                      </a:br>
                      <a:r>
                        <a:rPr lang="en-GB" sz="1600" dirty="0">
                          <a:effectLst/>
                        </a:rPr>
                        <a:t>supports</a:t>
                      </a:r>
                      <a:endParaRPr lang="en-GB" sz="1600" dirty="0">
                        <a:effectLst/>
                        <a:latin typeface="Book Antiqua" panose="02040602050305030304" pitchFamily="18" charset="0"/>
                        <a:ea typeface="Book Antiqua" panose="02040602050305030304" pitchFamily="18" charset="0"/>
                        <a:cs typeface="Book Antiqua" panose="02040602050305030304" pitchFamily="18" charset="0"/>
                      </a:endParaRPr>
                    </a:p>
                  </a:txBody>
                  <a:tcPr marL="46285" marR="46285" marT="0" marB="0" anchor="ctr"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407035" algn="ctr" defTabSz="914400" rtl="0" eaLnBrk="1" latinLnBrk="0" hangingPunct="1">
                        <a:lnSpc>
                          <a:spcPct val="102000"/>
                        </a:lnSpc>
                        <a:spcBef>
                          <a:spcPts val="995"/>
                        </a:spcBef>
                        <a:buNone/>
                        <a:tabLst>
                          <a:tab pos="422275" algn="l"/>
                        </a:tabLst>
                      </a:pPr>
                      <a:r>
                        <a:rPr lang="en-GB" sz="16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46285" marR="46285" marT="0" marB="0" anchor="ctr"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407035" algn="ctr" defTabSz="914400" rtl="0" eaLnBrk="1" latinLnBrk="0" hangingPunct="1">
                        <a:lnSpc>
                          <a:spcPct val="102000"/>
                        </a:lnSpc>
                        <a:spcBef>
                          <a:spcPts val="995"/>
                        </a:spcBef>
                        <a:buNone/>
                        <a:tabLst>
                          <a:tab pos="422275" algn="l"/>
                        </a:tabLst>
                      </a:pPr>
                      <a:r>
                        <a:rPr lang="en-GB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12 250</a:t>
                      </a:r>
                    </a:p>
                  </a:txBody>
                  <a:tcPr marL="46285" marR="46285" marT="0" marB="0" anchor="ctr"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407035" algn="ctr" defTabSz="914400" rtl="0" eaLnBrk="1" latinLnBrk="0" hangingPunct="1">
                        <a:lnSpc>
                          <a:spcPct val="102000"/>
                        </a:lnSpc>
                        <a:spcBef>
                          <a:spcPts val="995"/>
                        </a:spcBef>
                        <a:buNone/>
                        <a:tabLst>
                          <a:tab pos="422275" algn="l"/>
                        </a:tabLst>
                      </a:pPr>
                      <a:r>
                        <a:rPr lang="en-GB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14 945</a:t>
                      </a:r>
                    </a:p>
                  </a:txBody>
                  <a:tcPr marL="46285" marR="46285" marT="0" marB="0" anchor="ctr"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0838332"/>
                  </a:ext>
                </a:extLst>
              </a:tr>
              <a:tr h="523641">
                <a:tc>
                  <a:txBody>
                    <a:bodyPr/>
                    <a:lstStyle/>
                    <a:p>
                      <a:pPr marR="407035" algn="ctr">
                        <a:lnSpc>
                          <a:spcPct val="102000"/>
                        </a:lnSpc>
                        <a:spcBef>
                          <a:spcPts val="995"/>
                        </a:spcBef>
                        <a:buNone/>
                        <a:tabLst>
                          <a:tab pos="422275" algn="l"/>
                        </a:tabLst>
                      </a:pPr>
                      <a:r>
                        <a:rPr lang="en-GB" sz="1600" dirty="0">
                          <a:effectLst/>
                        </a:rPr>
                        <a:t>Cryogenic test </a:t>
                      </a:r>
                      <a:br>
                        <a:rPr lang="en-GB" sz="1600" dirty="0">
                          <a:effectLst/>
                        </a:rPr>
                      </a:br>
                      <a:r>
                        <a:rPr lang="en-GB" sz="1600" dirty="0">
                          <a:effectLst/>
                        </a:rPr>
                        <a:t>components</a:t>
                      </a:r>
                      <a:endParaRPr lang="en-GB" sz="1600" dirty="0">
                        <a:effectLst/>
                        <a:latin typeface="Book Antiqua" panose="02040602050305030304" pitchFamily="18" charset="0"/>
                        <a:ea typeface="Book Antiqua" panose="02040602050305030304" pitchFamily="18" charset="0"/>
                        <a:cs typeface="Book Antiqua" panose="02040602050305030304" pitchFamily="18" charset="0"/>
                      </a:endParaRPr>
                    </a:p>
                  </a:txBody>
                  <a:tcPr marL="46285" marR="46285" marT="0" marB="0" anchor="ctr"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07035" algn="ctr" defTabSz="914400" rtl="0" eaLnBrk="1" latinLnBrk="0" hangingPunct="1">
                        <a:lnSpc>
                          <a:spcPct val="102000"/>
                        </a:lnSpc>
                        <a:spcBef>
                          <a:spcPts val="995"/>
                        </a:spcBef>
                        <a:buNone/>
                        <a:tabLst>
                          <a:tab pos="422275" algn="l"/>
                        </a:tabLst>
                      </a:pPr>
                      <a:r>
                        <a:rPr lang="en-GB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46285" marR="46285" marT="0" marB="0" anchor="ctr"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07035" algn="ctr" defTabSz="914400" rtl="0" eaLnBrk="1" latinLnBrk="0" hangingPunct="1">
                        <a:lnSpc>
                          <a:spcPct val="102000"/>
                        </a:lnSpc>
                        <a:spcBef>
                          <a:spcPts val="995"/>
                        </a:spcBef>
                        <a:buNone/>
                        <a:tabLst>
                          <a:tab pos="422275" algn="l"/>
                        </a:tabLst>
                      </a:pPr>
                      <a:r>
                        <a:rPr lang="en-GB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25 300</a:t>
                      </a:r>
                    </a:p>
                  </a:txBody>
                  <a:tcPr marL="46285" marR="46285" marT="0" marB="0" anchor="ctr"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07035" algn="ctr" defTabSz="914400" rtl="0" eaLnBrk="1" latinLnBrk="0" hangingPunct="1">
                        <a:lnSpc>
                          <a:spcPct val="102000"/>
                        </a:lnSpc>
                        <a:spcBef>
                          <a:spcPts val="995"/>
                        </a:spcBef>
                        <a:buNone/>
                        <a:tabLst>
                          <a:tab pos="422275" algn="l"/>
                        </a:tabLst>
                      </a:pPr>
                      <a:r>
                        <a:rPr lang="en-GB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30 866</a:t>
                      </a:r>
                    </a:p>
                  </a:txBody>
                  <a:tcPr marL="46285" marR="46285" marT="0" marB="0" anchor="ctr"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142996"/>
                  </a:ext>
                </a:extLst>
              </a:tr>
              <a:tr h="524048">
                <a:tc>
                  <a:txBody>
                    <a:bodyPr/>
                    <a:lstStyle/>
                    <a:p>
                      <a:pPr marL="0" marR="407035" algn="ctr" defTabSz="914400" rtl="0" eaLnBrk="1" latinLnBrk="0" hangingPunct="1">
                        <a:lnSpc>
                          <a:spcPct val="102000"/>
                        </a:lnSpc>
                        <a:spcBef>
                          <a:spcPts val="995"/>
                        </a:spcBef>
                        <a:buNone/>
                        <a:tabLst>
                          <a:tab pos="422275" algn="l"/>
                        </a:tabLst>
                      </a:pPr>
                      <a:r>
                        <a:rPr lang="it-IT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Presentation </a:t>
                      </a:r>
                      <a:r>
                        <a:rPr lang="it-IT" sz="16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at</a:t>
                      </a:r>
                      <a:r>
                        <a:rPr lang="it-IT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br>
                        <a:rPr lang="it-IT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it-IT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conferences</a:t>
                      </a:r>
                      <a:endParaRPr lang="en-GB" sz="16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6285" marR="46285" marT="0" marB="0" anchor="ctr"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07035" algn="ctr" defTabSz="914400" rtl="0" eaLnBrk="1" latinLnBrk="0" hangingPunct="1">
                        <a:lnSpc>
                          <a:spcPct val="102000"/>
                        </a:lnSpc>
                        <a:spcBef>
                          <a:spcPts val="995"/>
                        </a:spcBef>
                        <a:buNone/>
                        <a:tabLst>
                          <a:tab pos="422275" algn="l"/>
                        </a:tabLst>
                      </a:pPr>
                      <a:r>
                        <a:rPr lang="it-IT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1+2</a:t>
                      </a:r>
                      <a:endParaRPr lang="en-GB" sz="16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6285" marR="46285" marT="0" marB="0" anchor="ctr"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07035" algn="ctr" defTabSz="914400" rtl="0" eaLnBrk="1" latinLnBrk="0" hangingPunct="1">
                        <a:lnSpc>
                          <a:spcPct val="102000"/>
                        </a:lnSpc>
                        <a:spcBef>
                          <a:spcPts val="995"/>
                        </a:spcBef>
                        <a:buNone/>
                        <a:tabLst>
                          <a:tab pos="422275" algn="l"/>
                        </a:tabLst>
                      </a:pPr>
                      <a:r>
                        <a:rPr lang="it-IT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3 600</a:t>
                      </a:r>
                      <a:endParaRPr lang="en-GB" sz="16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6285" marR="46285" marT="0" marB="0" anchor="ctr"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07035" algn="ctr" defTabSz="914400" rtl="0" eaLnBrk="1" latinLnBrk="0" hangingPunct="1">
                        <a:lnSpc>
                          <a:spcPct val="102000"/>
                        </a:lnSpc>
                        <a:spcBef>
                          <a:spcPts val="995"/>
                        </a:spcBef>
                        <a:buNone/>
                        <a:tabLst>
                          <a:tab pos="422275" algn="l"/>
                        </a:tabLst>
                      </a:pPr>
                      <a:r>
                        <a:rPr lang="it-IT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3 600</a:t>
                      </a:r>
                      <a:endParaRPr lang="en-GB" sz="16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6285" marR="46285" marT="0" marB="0" anchor="ctr"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402309"/>
                  </a:ext>
                </a:extLst>
              </a:tr>
              <a:tr h="418264">
                <a:tc>
                  <a:txBody>
                    <a:bodyPr/>
                    <a:lstStyle/>
                    <a:p>
                      <a:pPr marR="407035" algn="ctr">
                        <a:lnSpc>
                          <a:spcPct val="102000"/>
                        </a:lnSpc>
                        <a:spcBef>
                          <a:spcPts val="995"/>
                        </a:spcBef>
                        <a:buNone/>
                        <a:tabLst>
                          <a:tab pos="422275" algn="l"/>
                        </a:tabLst>
                      </a:pPr>
                      <a:r>
                        <a:rPr lang="it-IT" sz="1600" b="1" dirty="0"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Total</a:t>
                      </a:r>
                      <a:endParaRPr lang="en-GB" sz="1600" b="1" dirty="0">
                        <a:effectLst/>
                        <a:latin typeface="Book Antiqua" panose="02040602050305030304" pitchFamily="18" charset="0"/>
                        <a:ea typeface="Book Antiqua" panose="02040602050305030304" pitchFamily="18" charset="0"/>
                        <a:cs typeface="Book Antiqua" panose="02040602050305030304" pitchFamily="18" charset="0"/>
                      </a:endParaRPr>
                    </a:p>
                  </a:txBody>
                  <a:tcPr marL="46285" marR="46285" marT="0" marB="0" anchor="ctr"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07035" algn="ctr" defTabSz="914400" rtl="0" eaLnBrk="1" latinLnBrk="0" hangingPunct="1">
                        <a:lnSpc>
                          <a:spcPct val="102000"/>
                        </a:lnSpc>
                        <a:spcBef>
                          <a:spcPts val="995"/>
                        </a:spcBef>
                        <a:buNone/>
                        <a:tabLst>
                          <a:tab pos="422275" algn="l"/>
                        </a:tabLst>
                      </a:pPr>
                      <a:r>
                        <a:rPr lang="it-IT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1+2</a:t>
                      </a:r>
                      <a:endParaRPr lang="en-GB" sz="16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6285" marR="46285" marT="0" marB="0" anchor="ctr"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07035" algn="ctr" defTabSz="914400" rtl="0" eaLnBrk="1" latinLnBrk="0" hangingPunct="1">
                        <a:lnSpc>
                          <a:spcPct val="102000"/>
                        </a:lnSpc>
                        <a:spcBef>
                          <a:spcPts val="995"/>
                        </a:spcBef>
                        <a:buNone/>
                        <a:tabLst>
                          <a:tab pos="422275" algn="l"/>
                        </a:tabLst>
                      </a:pPr>
                      <a:r>
                        <a:rPr lang="en-GB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119 450</a:t>
                      </a:r>
                    </a:p>
                  </a:txBody>
                  <a:tcPr marL="46285" marR="46285" marT="0" marB="0" anchor="ctr"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07035" algn="ctr" defTabSz="914400" rtl="0" eaLnBrk="1" latinLnBrk="0" hangingPunct="1">
                        <a:lnSpc>
                          <a:spcPct val="102000"/>
                        </a:lnSpc>
                        <a:spcBef>
                          <a:spcPts val="995"/>
                        </a:spcBef>
                        <a:buNone/>
                        <a:tabLst>
                          <a:tab pos="422275" algn="l"/>
                        </a:tabLst>
                      </a:pPr>
                      <a:r>
                        <a:rPr lang="en-GB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144 937</a:t>
                      </a:r>
                    </a:p>
                  </a:txBody>
                  <a:tcPr marL="46285" marR="46285" marT="0" marB="0" anchor="ctr"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7524342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F01B9BDC-7B9D-8E50-4E2C-C0C3A7A47816}"/>
              </a:ext>
            </a:extLst>
          </p:cNvPr>
          <p:cNvSpPr txBox="1"/>
          <p:nvPr/>
        </p:nvSpPr>
        <p:spPr>
          <a:xfrm>
            <a:off x="611004" y="1574646"/>
            <a:ext cx="4798142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000" dirty="0"/>
              <a:t>Costs analysis considered:</a:t>
            </a:r>
            <a:endParaRPr lang="it-IT" sz="2000" dirty="0"/>
          </a:p>
          <a:p>
            <a:pPr marL="285750" indent="-285750">
              <a:spcAft>
                <a:spcPts val="600"/>
              </a:spcAft>
              <a:buClr>
                <a:srgbClr val="4297B7"/>
              </a:buClr>
              <a:buFont typeface="Arial" panose="020B0604020202020204" pitchFamily="34" charset="0"/>
              <a:buChar char="•"/>
            </a:pPr>
            <a:r>
              <a:rPr lang="it-IT" sz="2000" dirty="0"/>
              <a:t>Tape </a:t>
            </a:r>
            <a:r>
              <a:rPr lang="it-IT" sz="2000" dirty="0" err="1"/>
              <a:t>quotation</a:t>
            </a:r>
            <a:r>
              <a:rPr lang="it-IT" sz="2000" dirty="0"/>
              <a:t> </a:t>
            </a:r>
            <a:r>
              <a:rPr lang="it-IT" sz="2000" dirty="0" err="1"/>
              <a:t>was</a:t>
            </a:r>
            <a:r>
              <a:rPr lang="it-IT" sz="2000" dirty="0"/>
              <a:t> </a:t>
            </a:r>
            <a:r>
              <a:rPr lang="it-IT" sz="2000" dirty="0" err="1"/>
              <a:t>obtained</a:t>
            </a:r>
            <a:r>
              <a:rPr lang="it-IT" sz="2000" dirty="0"/>
              <a:t> </a:t>
            </a:r>
            <a:r>
              <a:rPr lang="it-IT" sz="2000" dirty="0" err="1"/>
              <a:t>addressing</a:t>
            </a:r>
            <a:r>
              <a:rPr lang="it-IT" sz="2000" dirty="0"/>
              <a:t> </a:t>
            </a:r>
            <a:r>
              <a:rPr lang="it-IT" sz="2000" dirty="0">
                <a:solidFill>
                  <a:srgbClr val="4297B7"/>
                </a:solidFill>
              </a:rPr>
              <a:t>medium performance</a:t>
            </a:r>
            <a:r>
              <a:rPr lang="it-IT" sz="2000" dirty="0"/>
              <a:t>, </a:t>
            </a:r>
            <a:r>
              <a:rPr lang="it-IT" sz="2000" dirty="0" err="1"/>
              <a:t>commerically</a:t>
            </a:r>
            <a:r>
              <a:rPr lang="it-IT" sz="2000" dirty="0"/>
              <a:t> </a:t>
            </a:r>
            <a:r>
              <a:rPr lang="it-IT" sz="2000" dirty="0" err="1"/>
              <a:t>available</a:t>
            </a:r>
            <a:r>
              <a:rPr lang="it-IT" sz="2000" dirty="0"/>
              <a:t> </a:t>
            </a:r>
            <a:r>
              <a:rPr lang="en-GB" sz="2000" dirty="0"/>
              <a:t>4 mm HTS tape</a:t>
            </a:r>
          </a:p>
          <a:p>
            <a:pPr marL="285750" indent="-285750">
              <a:spcAft>
                <a:spcPts val="600"/>
              </a:spcAft>
              <a:buClr>
                <a:srgbClr val="4297B7"/>
              </a:buClr>
              <a:buFont typeface="Arial" panose="020B0604020202020204" pitchFamily="34" charset="0"/>
              <a:buChar char="•"/>
            </a:pPr>
            <a:r>
              <a:rPr lang="en-GB" sz="2000" dirty="0"/>
              <a:t>Mechanical components for each coil were based on a preliminary design for small HTS racetrack coil</a:t>
            </a:r>
          </a:p>
          <a:p>
            <a:pPr marL="285750" indent="-285750">
              <a:spcAft>
                <a:spcPts val="1800"/>
              </a:spcAft>
              <a:buClr>
                <a:srgbClr val="4297B7"/>
              </a:buClr>
              <a:buFont typeface="Arial" panose="020B0604020202020204" pitchFamily="34" charset="0"/>
              <a:buChar char="•"/>
            </a:pPr>
            <a:r>
              <a:rPr lang="en-GB" sz="2000" dirty="0"/>
              <a:t>Curved mechanical supports and cryogenic tests component are based on </a:t>
            </a:r>
            <a:r>
              <a:rPr lang="en-GB" sz="2000" dirty="0">
                <a:solidFill>
                  <a:srgbClr val="4297B7"/>
                </a:solidFill>
              </a:rPr>
              <a:t>SIG mechanics </a:t>
            </a:r>
            <a:r>
              <a:rPr lang="en-GB" sz="2000" dirty="0"/>
              <a:t>and from the preparation of the </a:t>
            </a:r>
            <a:r>
              <a:rPr lang="en-GB" sz="2000" dirty="0">
                <a:solidFill>
                  <a:srgbClr val="4297B7"/>
                </a:solidFill>
              </a:rPr>
              <a:t>test of a single ESMA coil</a:t>
            </a:r>
          </a:p>
        </p:txBody>
      </p:sp>
      <p:sp>
        <p:nvSpPr>
          <p:cNvPr id="6" name="Date Placeholder 1">
            <a:extLst>
              <a:ext uri="{FF2B5EF4-FFF2-40B4-BE49-F238E27FC236}">
                <a16:creationId xmlns:a16="http://schemas.microsoft.com/office/drawing/2014/main" id="{4AAAEFE9-016F-86C6-4322-7CC45D6C02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it-IT" dirty="0"/>
              <a:t>01/12/2025</a:t>
            </a:r>
          </a:p>
        </p:txBody>
      </p:sp>
    </p:spTree>
    <p:extLst>
      <p:ext uri="{BB962C8B-B14F-4D97-AF65-F5344CB8AC3E}">
        <p14:creationId xmlns:p14="http://schemas.microsoft.com/office/powerpoint/2010/main" val="31181294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48598-5FD8-C2D4-0A45-A89686BF6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D0E7D0-35AF-5BB3-E518-297ED0CEB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L. Balconi | Young researchers grant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265CD0-C2F5-7322-E9D7-2304A89E2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6D798-1883-974D-96D0-4E82B243DEDE}" type="slidenum">
              <a:rPr lang="it-IT" smtClean="0"/>
              <a:t>26</a:t>
            </a:fld>
            <a:endParaRPr lang="it-IT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AE76CAC-F3CD-CABB-21C3-2046CB5EB202}"/>
              </a:ext>
            </a:extLst>
          </p:cNvPr>
          <p:cNvSpPr txBox="1">
            <a:spLocks/>
          </p:cNvSpPr>
          <p:nvPr/>
        </p:nvSpPr>
        <p:spPr>
          <a:xfrm>
            <a:off x="983958" y="4454781"/>
            <a:ext cx="9962478" cy="181414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GB" sz="1800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62CFD34D-3B06-9AB0-83CA-9EA9B85A4C76}"/>
              </a:ext>
            </a:extLst>
          </p:cNvPr>
          <p:cNvSpPr txBox="1">
            <a:spLocks/>
          </p:cNvSpPr>
          <p:nvPr/>
        </p:nvSpPr>
        <p:spPr>
          <a:xfrm>
            <a:off x="838200" y="136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4400" b="1" kern="1200" dirty="0">
                <a:solidFill>
                  <a:srgbClr val="4297B7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dirty="0" err="1"/>
              <a:t>Final</a:t>
            </a:r>
            <a:r>
              <a:rPr lang="it-IT" dirty="0"/>
              <a:t> recap and </a:t>
            </a:r>
            <a:r>
              <a:rPr lang="it-IT" dirty="0" err="1"/>
              <a:t>conclusions</a:t>
            </a:r>
            <a:endParaRPr lang="it-IT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9E7A27-1E23-BBA7-194C-EAF9F831B3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it-IT"/>
              <a:t>01/12/2025</a:t>
            </a:r>
            <a:endParaRPr lang="it-IT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3638A5F-CD04-4E32-5CA2-75B3D786F04C}"/>
              </a:ext>
            </a:extLst>
          </p:cNvPr>
          <p:cNvSpPr txBox="1">
            <a:spLocks/>
          </p:cNvSpPr>
          <p:nvPr/>
        </p:nvSpPr>
        <p:spPr>
          <a:xfrm>
            <a:off x="983958" y="3904097"/>
            <a:ext cx="10515600" cy="54453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4400" b="1" kern="1200" dirty="0">
                <a:solidFill>
                  <a:srgbClr val="4297B7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GB" sz="1700" b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B8F1512-0E8F-8E8A-FDAC-60D93F1FFF79}"/>
              </a:ext>
            </a:extLst>
          </p:cNvPr>
          <p:cNvSpPr txBox="1">
            <a:spLocks/>
          </p:cNvSpPr>
          <p:nvPr/>
        </p:nvSpPr>
        <p:spPr>
          <a:xfrm>
            <a:off x="838200" y="1426528"/>
            <a:ext cx="10175240" cy="47740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2800" kern="1200" dirty="0" smtClean="0">
                <a:solidFill>
                  <a:schemeClr val="tx1"/>
                </a:solidFill>
                <a:effectLst/>
                <a:latin typeface="Titillium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2400" kern="1200" dirty="0" smtClean="0">
                <a:solidFill>
                  <a:schemeClr val="tx1"/>
                </a:solidFill>
                <a:effectLst/>
                <a:latin typeface="Titillium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2000" kern="1200" dirty="0" smtClean="0">
                <a:solidFill>
                  <a:schemeClr val="tx1"/>
                </a:solidFill>
                <a:effectLst/>
                <a:latin typeface="Titillium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800" kern="1200" dirty="0" smtClean="0">
                <a:solidFill>
                  <a:schemeClr val="tx1"/>
                </a:solidFill>
                <a:effectLst/>
                <a:latin typeface="Titillium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600" kern="1200" dirty="0">
                <a:solidFill>
                  <a:schemeClr val="tx1"/>
                </a:solidFill>
                <a:effectLst/>
                <a:latin typeface="Titillium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GB" sz="2400" dirty="0">
                <a:latin typeface="+mn-lt"/>
              </a:rPr>
              <a:t>Given the expertise gained from </a:t>
            </a:r>
            <a:r>
              <a:rPr lang="en-GB" sz="2400" b="1" dirty="0">
                <a:solidFill>
                  <a:srgbClr val="4297B7"/>
                </a:solidFill>
                <a:latin typeface="+mn-lt"/>
              </a:rPr>
              <a:t>INFN-led</a:t>
            </a:r>
            <a:r>
              <a:rPr lang="en-GB" sz="2400" dirty="0">
                <a:latin typeface="+mn-lt"/>
              </a:rPr>
              <a:t> project as </a:t>
            </a:r>
            <a:r>
              <a:rPr lang="en-GB" sz="2400" b="1" dirty="0">
                <a:solidFill>
                  <a:srgbClr val="4297B7"/>
                </a:solidFill>
                <a:latin typeface="+mn-lt"/>
              </a:rPr>
              <a:t>SIG</a:t>
            </a:r>
            <a:r>
              <a:rPr lang="en-GB" sz="2400" dirty="0">
                <a:latin typeface="+mn-lt"/>
              </a:rPr>
              <a:t> e </a:t>
            </a:r>
            <a:r>
              <a:rPr lang="en-GB" sz="2400" b="1" dirty="0">
                <a:solidFill>
                  <a:srgbClr val="4297B7"/>
                </a:solidFill>
                <a:latin typeface="+mn-lt"/>
              </a:rPr>
              <a:t>HITRI+</a:t>
            </a:r>
            <a:r>
              <a:rPr lang="en-GB" sz="2400" dirty="0">
                <a:latin typeface="+mn-lt"/>
              </a:rPr>
              <a:t> on SC gantry, a </a:t>
            </a:r>
            <a:r>
              <a:rPr lang="en-GB" sz="2400" b="1" dirty="0">
                <a:solidFill>
                  <a:srgbClr val="4297B7"/>
                </a:solidFill>
                <a:latin typeface="+mn-lt"/>
              </a:rPr>
              <a:t>classical CCT </a:t>
            </a:r>
            <a:r>
              <a:rPr lang="en-GB" sz="2400" dirty="0">
                <a:latin typeface="+mn-lt"/>
              </a:rPr>
              <a:t>design was adapted to be realized in a </a:t>
            </a:r>
            <a:r>
              <a:rPr lang="en-GB" sz="2400" b="1" dirty="0">
                <a:solidFill>
                  <a:srgbClr val="4297B7"/>
                </a:solidFill>
                <a:latin typeface="+mn-lt"/>
              </a:rPr>
              <a:t>modular structure</a:t>
            </a:r>
            <a:r>
              <a:rPr lang="en-GB" sz="2000" dirty="0">
                <a:latin typeface="+mn-lt"/>
              </a:rPr>
              <a:t>:</a:t>
            </a:r>
          </a:p>
          <a:p>
            <a:pPr lvl="1" algn="just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GB" dirty="0">
                <a:latin typeface="+mn-lt"/>
              </a:rPr>
              <a:t>The goal is to realize a </a:t>
            </a:r>
            <a:r>
              <a:rPr lang="en-GB" b="1" dirty="0">
                <a:solidFill>
                  <a:srgbClr val="4297B7"/>
                </a:solidFill>
                <a:latin typeface="+mn-lt"/>
              </a:rPr>
              <a:t>small-scale</a:t>
            </a:r>
            <a:r>
              <a:rPr lang="en-GB" dirty="0">
                <a:latin typeface="+mn-lt"/>
              </a:rPr>
              <a:t> </a:t>
            </a:r>
            <a:r>
              <a:rPr lang="en-GB" b="1" dirty="0">
                <a:solidFill>
                  <a:srgbClr val="4297B7"/>
                </a:solidFill>
                <a:latin typeface="+mn-lt"/>
              </a:rPr>
              <a:t>HTS</a:t>
            </a:r>
            <a:r>
              <a:rPr lang="en-GB" dirty="0">
                <a:latin typeface="+mn-lt"/>
              </a:rPr>
              <a:t> dipole magnet</a:t>
            </a:r>
            <a:r>
              <a:rPr lang="en-GB" dirty="0">
                <a:solidFill>
                  <a:srgbClr val="4297B7"/>
                </a:solidFill>
                <a:latin typeface="+mn-lt"/>
              </a:rPr>
              <a:t> </a:t>
            </a:r>
            <a:r>
              <a:rPr lang="en-GB" dirty="0">
                <a:latin typeface="+mn-lt"/>
              </a:rPr>
              <a:t>demonstrator consisting of </a:t>
            </a:r>
            <a:r>
              <a:rPr lang="en-GB" b="1" dirty="0">
                <a:solidFill>
                  <a:srgbClr val="4297B7"/>
                </a:solidFill>
                <a:latin typeface="+mn-lt"/>
              </a:rPr>
              <a:t>10 modules </a:t>
            </a:r>
            <a:r>
              <a:rPr lang="en-GB" dirty="0">
                <a:latin typeface="+mn-lt"/>
              </a:rPr>
              <a:t>for each layer.</a:t>
            </a:r>
          </a:p>
          <a:p>
            <a:pPr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2400" dirty="0">
                <a:latin typeface="+mn-lt"/>
              </a:rPr>
              <a:t>The project sets the </a:t>
            </a:r>
            <a:r>
              <a:rPr lang="en-GB" sz="2400" b="1" dirty="0">
                <a:solidFill>
                  <a:srgbClr val="4297B7"/>
                </a:solidFill>
                <a:latin typeface="+mn-lt"/>
              </a:rPr>
              <a:t>first milestone </a:t>
            </a:r>
            <a:r>
              <a:rPr lang="en-GB" sz="2400" dirty="0">
                <a:latin typeface="+mn-lt"/>
              </a:rPr>
              <a:t>towards a </a:t>
            </a:r>
            <a:r>
              <a:rPr lang="en-GB" sz="2400" b="1" dirty="0">
                <a:solidFill>
                  <a:srgbClr val="4297B7"/>
                </a:solidFill>
                <a:latin typeface="+mn-lt"/>
              </a:rPr>
              <a:t>next generation </a:t>
            </a:r>
            <a:r>
              <a:rPr lang="en-GB" sz="2400" dirty="0">
                <a:latin typeface="+mn-lt"/>
              </a:rPr>
              <a:t>of ion gantries introducing:</a:t>
            </a:r>
          </a:p>
          <a:p>
            <a:pPr lvl="1" algn="just">
              <a:lnSpc>
                <a:spcPct val="100000"/>
              </a:lnSpc>
              <a:spcAft>
                <a:spcPts val="600"/>
              </a:spcAft>
            </a:pPr>
            <a:r>
              <a:rPr lang="en-GB" sz="2200" u="sng" dirty="0">
                <a:latin typeface="+mn-lt"/>
              </a:rPr>
              <a:t>Energy saving.</a:t>
            </a:r>
          </a:p>
          <a:p>
            <a:pPr lvl="1" algn="just">
              <a:lnSpc>
                <a:spcPct val="100000"/>
              </a:lnSpc>
              <a:spcAft>
                <a:spcPts val="600"/>
              </a:spcAft>
            </a:pPr>
            <a:r>
              <a:rPr lang="en-GB" sz="2200" u="sng" dirty="0">
                <a:latin typeface="+mn-lt"/>
              </a:rPr>
              <a:t>Industrial scalability.</a:t>
            </a:r>
          </a:p>
          <a:p>
            <a:pPr lvl="1" algn="just">
              <a:lnSpc>
                <a:spcPct val="100000"/>
              </a:lnSpc>
              <a:spcAft>
                <a:spcPts val="600"/>
              </a:spcAft>
            </a:pPr>
            <a:r>
              <a:rPr lang="en-GB" sz="2200" u="sng" dirty="0">
                <a:latin typeface="+mn-lt"/>
              </a:rPr>
              <a:t>Compact gantries.</a:t>
            </a:r>
          </a:p>
          <a:p>
            <a:pPr lvl="1" algn="just">
              <a:lnSpc>
                <a:spcPct val="100000"/>
              </a:lnSpc>
              <a:spcAft>
                <a:spcPts val="600"/>
              </a:spcAft>
            </a:pPr>
            <a:endParaRPr lang="en-GB" sz="1800" u="sng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982174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ue and red curved object with a black background&#10;&#10;AI-generated content may be incorrect.">
            <a:extLst>
              <a:ext uri="{FF2B5EF4-FFF2-40B4-BE49-F238E27FC236}">
                <a16:creationId xmlns:a16="http://schemas.microsoft.com/office/drawing/2014/main" id="{821665AE-4CC4-22DA-D73A-B056D5530E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34526" y="0"/>
            <a:ext cx="1064947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46D3D7-146A-3C55-9B8D-D633DC8D2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The end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84A6BF-C59C-EE23-8523-8F53CD9DE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L. Balconi | Young researchers grant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B99BAD-AE5B-1449-CC1E-23D3C249E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6D798-1883-974D-96D0-4E82B243DEDE}" type="slidenum">
              <a:rPr lang="it-IT" smtClean="0"/>
              <a:t>27</a:t>
            </a:fld>
            <a:endParaRPr lang="it-IT"/>
          </a:p>
        </p:txBody>
      </p:sp>
      <p:sp>
        <p:nvSpPr>
          <p:cNvPr id="6" name="Date Placeholder 1">
            <a:extLst>
              <a:ext uri="{FF2B5EF4-FFF2-40B4-BE49-F238E27FC236}">
                <a16:creationId xmlns:a16="http://schemas.microsoft.com/office/drawing/2014/main" id="{455568A9-9F48-6BE9-3EBF-F10B9D84C9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it-IT" dirty="0"/>
              <a:t>01/12/2025</a:t>
            </a:r>
          </a:p>
        </p:txBody>
      </p:sp>
    </p:spTree>
    <p:extLst>
      <p:ext uri="{BB962C8B-B14F-4D97-AF65-F5344CB8AC3E}">
        <p14:creationId xmlns:p14="http://schemas.microsoft.com/office/powerpoint/2010/main" val="38892298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29E70-C6E2-1EB8-5AEA-188988785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8E9C7-0D19-F3E6-C57A-D3B72E1D1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3150" y="2766218"/>
            <a:ext cx="4965700" cy="1325563"/>
          </a:xfrm>
        </p:spPr>
        <p:txBody>
          <a:bodyPr/>
          <a:lstStyle/>
          <a:p>
            <a:pPr algn="ctr"/>
            <a:r>
              <a:rPr lang="it-IT" dirty="0"/>
              <a:t>Backup Slides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6383A8-F05A-5D25-2D86-27DC5A253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L. Balconi | Young researchers grant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1064EC-27FF-5AC3-B753-A794F09CA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6D798-1883-974D-96D0-4E82B243DEDE}" type="slidenum">
              <a:rPr lang="it-IT" smtClean="0"/>
              <a:t>28</a:t>
            </a:fld>
            <a:endParaRPr lang="it-IT"/>
          </a:p>
        </p:txBody>
      </p:sp>
      <p:pic>
        <p:nvPicPr>
          <p:cNvPr id="6" name="Picture 5" descr="A blue and orange spiral with a black background&#10;&#10;AI-generated content may be incorrect.">
            <a:extLst>
              <a:ext uri="{FF2B5EF4-FFF2-40B4-BE49-F238E27FC236}">
                <a16:creationId xmlns:a16="http://schemas.microsoft.com/office/drawing/2014/main" id="{01BA8E1E-B890-501D-8DE9-F4CEEFCBEF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61" y="2790266"/>
            <a:ext cx="5231130" cy="3748646"/>
          </a:xfrm>
          <a:prstGeom prst="rect">
            <a:avLst/>
          </a:prstGeom>
        </p:spPr>
      </p:pic>
      <p:sp>
        <p:nvSpPr>
          <p:cNvPr id="7" name="Date Placeholder 1">
            <a:extLst>
              <a:ext uri="{FF2B5EF4-FFF2-40B4-BE49-F238E27FC236}">
                <a16:creationId xmlns:a16="http://schemas.microsoft.com/office/drawing/2014/main" id="{F5FC1CAD-23BD-697F-284C-E7A426B513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it-IT"/>
              <a:t>01/12/2025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4405894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4910C-9F44-5A62-144F-62984AC73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1A307E3-78E4-AD92-82C7-A592BD5B7EF0}"/>
              </a:ext>
            </a:extLst>
          </p:cNvPr>
          <p:cNvSpPr txBox="1">
            <a:spLocks/>
          </p:cNvSpPr>
          <p:nvPr/>
        </p:nvSpPr>
        <p:spPr>
          <a:xfrm>
            <a:off x="678180" y="676742"/>
            <a:ext cx="10515600" cy="5445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it-IT" sz="2800" b="1" kern="1200" dirty="0">
                <a:solidFill>
                  <a:srgbClr val="B27F47"/>
                </a:solidFill>
                <a:latin typeface="Titillium Bd" pitchFamily="2" charset="77"/>
                <a:ea typeface="+mn-ea"/>
                <a:cs typeface="+mn-cs"/>
              </a:defRPr>
            </a:lvl1pPr>
          </a:lstStyle>
          <a:p>
            <a:r>
              <a:rPr lang="en-GB" dirty="0">
                <a:solidFill>
                  <a:srgbClr val="4297B7"/>
                </a:solidFill>
              </a:rPr>
              <a:t>Thickness Inhomogeneity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C6A6FE1-641C-0E0A-AEBC-106985B60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3B172-409A-48BF-92CD-9E808051E234}" type="slidenum">
              <a:rPr lang="en-GB" noProof="0" smtClean="0"/>
              <a:t>29</a:t>
            </a:fld>
            <a:endParaRPr lang="en-GB" noProof="0" dirty="0"/>
          </a:p>
        </p:txBody>
      </p:sp>
      <p:sp>
        <p:nvSpPr>
          <p:cNvPr id="10" name="Segnaposto contenuto 10">
            <a:extLst>
              <a:ext uri="{FF2B5EF4-FFF2-40B4-BE49-F238E27FC236}">
                <a16:creationId xmlns:a16="http://schemas.microsoft.com/office/drawing/2014/main" id="{1E332D29-5266-A446-5D4A-576D7A2B1041}"/>
              </a:ext>
            </a:extLst>
          </p:cNvPr>
          <p:cNvSpPr txBox="1">
            <a:spLocks/>
          </p:cNvSpPr>
          <p:nvPr/>
        </p:nvSpPr>
        <p:spPr>
          <a:xfrm>
            <a:off x="6889751" y="5469203"/>
            <a:ext cx="5942909" cy="13887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2800" kern="1200" dirty="0" smtClean="0">
                <a:solidFill>
                  <a:schemeClr val="tx1"/>
                </a:solidFill>
                <a:effectLst/>
                <a:latin typeface="Titillium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2400" kern="1200" dirty="0" smtClean="0">
                <a:solidFill>
                  <a:schemeClr val="tx1"/>
                </a:solidFill>
                <a:effectLst/>
                <a:latin typeface="Titillium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2000" kern="1200" dirty="0" smtClean="0">
                <a:solidFill>
                  <a:schemeClr val="tx1"/>
                </a:solidFill>
                <a:effectLst/>
                <a:latin typeface="Titillium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800" kern="1200" dirty="0" smtClean="0">
                <a:solidFill>
                  <a:schemeClr val="tx1"/>
                </a:solidFill>
                <a:effectLst/>
                <a:latin typeface="Titillium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600" kern="1200" dirty="0">
                <a:solidFill>
                  <a:schemeClr val="tx1"/>
                </a:solidFill>
                <a:effectLst/>
                <a:latin typeface="Titillium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A65AF"/>
              </a:buClr>
              <a:buNone/>
            </a:pPr>
            <a:r>
              <a:rPr lang="en-GB" sz="1800" dirty="0">
                <a:latin typeface="Titillium" panose="020B0604020202020204"/>
              </a:rPr>
              <a:t>Supplier Spec 67 µm </a:t>
            </a:r>
            <a:r>
              <a:rPr lang="en-GB" sz="1800" dirty="0">
                <a:latin typeface="Titillium" panose="020B0604020202020204"/>
                <a:cs typeface="Times New Roman" panose="02020603050405020304" pitchFamily="18" charset="0"/>
              </a:rPr>
              <a:t>± 10% (from 59 </a:t>
            </a:r>
            <a:r>
              <a:rPr lang="en-GB" sz="1800" dirty="0">
                <a:latin typeface="Titillium" panose="020B0604020202020204"/>
              </a:rPr>
              <a:t>µm</a:t>
            </a:r>
            <a:r>
              <a:rPr lang="en-GB" sz="1800" dirty="0">
                <a:latin typeface="Titillium" panose="020B0604020202020204"/>
                <a:cs typeface="Times New Roman" panose="02020603050405020304" pitchFamily="18" charset="0"/>
              </a:rPr>
              <a:t> to 74 </a:t>
            </a:r>
            <a:r>
              <a:rPr lang="en-GB" sz="1800" dirty="0">
                <a:latin typeface="Titillium" panose="020B0604020202020204"/>
              </a:rPr>
              <a:t>µm)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56E291D-CB76-6A70-6644-042ECCD0A2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728"/>
          <a:stretch>
            <a:fillRect/>
          </a:stretch>
        </p:blipFill>
        <p:spPr>
          <a:xfrm>
            <a:off x="6547818" y="1132638"/>
            <a:ext cx="5644182" cy="420004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44B9D1-0C35-261E-2883-800552FF8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Backup</a:t>
            </a:r>
            <a:endParaRPr kumimoji="0" lang="it-IT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Date Placeholder 1">
            <a:extLst>
              <a:ext uri="{FF2B5EF4-FFF2-40B4-BE49-F238E27FC236}">
                <a16:creationId xmlns:a16="http://schemas.microsoft.com/office/drawing/2014/main" id="{9EEFFFE2-718D-567F-B1F6-5E514F31B281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200" dirty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t>01/12/2025</a:t>
            </a:r>
            <a:endParaRPr lang="it-IT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1588ED-D2A3-A7A9-E977-70A3DB402561}"/>
              </a:ext>
            </a:extLst>
          </p:cNvPr>
          <p:cNvSpPr txBox="1"/>
          <p:nvPr/>
        </p:nvSpPr>
        <p:spPr>
          <a:xfrm>
            <a:off x="678180" y="1639831"/>
            <a:ext cx="541782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lang="it-IT" sz="2000" dirty="0"/>
              <a:t>Tapes </a:t>
            </a:r>
            <a:r>
              <a:rPr lang="it-IT" sz="2000" dirty="0" err="1"/>
              <a:t>may</a:t>
            </a:r>
            <a:r>
              <a:rPr lang="it-IT" sz="2000" dirty="0"/>
              <a:t> show </a:t>
            </a:r>
            <a:r>
              <a:rPr lang="it-IT" sz="2000" dirty="0" err="1"/>
              <a:t>thickness</a:t>
            </a:r>
            <a:r>
              <a:rPr lang="it-IT" sz="2000" dirty="0"/>
              <a:t> </a:t>
            </a:r>
            <a:r>
              <a:rPr lang="it-IT" sz="2000" dirty="0" err="1"/>
              <a:t>inhomogeneity</a:t>
            </a:r>
            <a:r>
              <a:rPr lang="en-GB" sz="2000" dirty="0"/>
              <a:t> commonly referred to as “dog-bone”, occurring during the electroplating of the final copper layer.</a:t>
            </a:r>
          </a:p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tabLst/>
              <a:defRPr/>
            </a:pPr>
            <a:r>
              <a:rPr lang="en-GB" sz="2000" dirty="0"/>
              <a:t>This may lead to: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2000" dirty="0"/>
              <a:t>Localized stresses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2000" dirty="0"/>
              <a:t>Winding issues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endParaRPr lang="it-IT" sz="2000" dirty="0"/>
          </a:p>
        </p:txBody>
      </p:sp>
    </p:spTree>
    <p:extLst>
      <p:ext uri="{BB962C8B-B14F-4D97-AF65-F5344CB8AC3E}">
        <p14:creationId xmlns:p14="http://schemas.microsoft.com/office/powerpoint/2010/main" val="18670086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94F0E-0F3F-A38F-579B-3B7BD3BBC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3D3CA08E-208B-DF9D-EE24-528683D8D694}"/>
              </a:ext>
            </a:extLst>
          </p:cNvPr>
          <p:cNvSpPr txBox="1">
            <a:spLocks/>
          </p:cNvSpPr>
          <p:nvPr/>
        </p:nvSpPr>
        <p:spPr>
          <a:xfrm>
            <a:off x="510465" y="520054"/>
            <a:ext cx="10515600" cy="5445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it-IT" sz="2800" b="1" kern="1200" dirty="0">
                <a:solidFill>
                  <a:srgbClr val="B27F47"/>
                </a:solidFill>
                <a:latin typeface="Titillium Bd" pitchFamily="2" charset="77"/>
                <a:ea typeface="+mn-ea"/>
                <a:cs typeface="+mn-cs"/>
              </a:defRPr>
            </a:lvl1pPr>
          </a:lstStyle>
          <a:p>
            <a:r>
              <a:rPr lang="en-GB" noProof="0" dirty="0">
                <a:solidFill>
                  <a:srgbClr val="4297B7"/>
                </a:solidFill>
              </a:rPr>
              <a:t>Inclusion Characterisation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6482671-4603-3BC4-63DE-DD81CC472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3B172-409A-48BF-92CD-9E808051E234}" type="slidenum">
              <a:rPr lang="en-GB" noProof="0" smtClean="0"/>
              <a:t>30</a:t>
            </a:fld>
            <a:endParaRPr lang="en-GB" noProof="0" dirty="0"/>
          </a:p>
        </p:txBody>
      </p:sp>
      <p:sp>
        <p:nvSpPr>
          <p:cNvPr id="15" name="Segnaposto contenuto 10">
            <a:extLst>
              <a:ext uri="{FF2B5EF4-FFF2-40B4-BE49-F238E27FC236}">
                <a16:creationId xmlns:a16="http://schemas.microsoft.com/office/drawing/2014/main" id="{C10DCC3E-479B-E327-4894-8F418F4FC311}"/>
              </a:ext>
            </a:extLst>
          </p:cNvPr>
          <p:cNvSpPr txBox="1">
            <a:spLocks/>
          </p:cNvSpPr>
          <p:nvPr/>
        </p:nvSpPr>
        <p:spPr>
          <a:xfrm>
            <a:off x="510465" y="1303025"/>
            <a:ext cx="6016591" cy="48148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2800" kern="1200" dirty="0" smtClean="0">
                <a:solidFill>
                  <a:schemeClr val="tx1"/>
                </a:solidFill>
                <a:effectLst/>
                <a:latin typeface="Titillium" pitchFamily="2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2400" kern="1200" dirty="0" smtClean="0">
                <a:solidFill>
                  <a:schemeClr val="tx1"/>
                </a:solidFill>
                <a:effectLst/>
                <a:latin typeface="Titillium" pitchFamily="2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2000" kern="1200" dirty="0" smtClean="0">
                <a:solidFill>
                  <a:schemeClr val="tx1"/>
                </a:solidFill>
                <a:effectLst/>
                <a:latin typeface="Titillium" pitchFamily="2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800" kern="1200" dirty="0" smtClean="0">
                <a:solidFill>
                  <a:schemeClr val="tx1"/>
                </a:solidFill>
                <a:effectLst/>
                <a:latin typeface="Titillium" pitchFamily="2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600" kern="1200" dirty="0">
                <a:solidFill>
                  <a:schemeClr val="tx1"/>
                </a:solidFill>
                <a:effectLst/>
                <a:latin typeface="Titillium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2A65AF"/>
              </a:buClr>
              <a:buNone/>
            </a:pPr>
            <a:r>
              <a:rPr lang="en-GB" sz="2000" noProof="0" dirty="0"/>
              <a:t>64 Spools fully de-spooled and inspected for defects</a:t>
            </a:r>
          </a:p>
          <a:p>
            <a:pPr marL="0" indent="0">
              <a:buClr>
                <a:srgbClr val="2A65AF"/>
              </a:buClr>
              <a:buNone/>
            </a:pPr>
            <a:r>
              <a:rPr lang="en-GB" sz="2000" noProof="0" dirty="0"/>
              <a:t>Minimum Inclusion thickness tracked: 30 µm</a:t>
            </a:r>
          </a:p>
          <a:p>
            <a:pPr marL="0" indent="0">
              <a:buClr>
                <a:srgbClr val="2A65AF"/>
              </a:buClr>
              <a:buNone/>
            </a:pPr>
            <a:r>
              <a:rPr lang="en-GB" sz="2000" noProof="0" dirty="0"/>
              <a:t>Inclusions: &gt; 400</a:t>
            </a:r>
          </a:p>
          <a:p>
            <a:pPr marL="0" indent="0">
              <a:buClr>
                <a:srgbClr val="2A65AF"/>
              </a:buClr>
              <a:buNone/>
            </a:pPr>
            <a:r>
              <a:rPr lang="en-GB" sz="2000" noProof="0" dirty="0"/>
              <a:t>95% Inclusion on the good side (YBCO side)</a:t>
            </a:r>
          </a:p>
          <a:p>
            <a:pPr marL="0" indent="0">
              <a:buClr>
                <a:srgbClr val="2A65AF"/>
              </a:buClr>
              <a:buNone/>
            </a:pPr>
            <a:r>
              <a:rPr lang="en-GB" sz="2000" noProof="0" dirty="0"/>
              <a:t>80% Inclusion on the edge areas</a:t>
            </a:r>
          </a:p>
          <a:p>
            <a:pPr marL="0" indent="0">
              <a:buClr>
                <a:srgbClr val="2A65AF"/>
              </a:buClr>
              <a:buNone/>
            </a:pPr>
            <a:endParaRPr lang="en-GB" sz="1000" noProof="0" dirty="0"/>
          </a:p>
          <a:p>
            <a:pPr marL="0" indent="0">
              <a:buNone/>
            </a:pPr>
            <a:r>
              <a:rPr lang="en-GB" sz="2000" b="1" noProof="0" dirty="0"/>
              <a:t>Inclusion Genesis – Silver Sputtering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000" noProof="0" dirty="0"/>
              <a:t>small silver particles can stick to the rollers in the tape transport system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000" noProof="0" dirty="0"/>
              <a:t>they stick to the tape surface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000" noProof="0" dirty="0"/>
              <a:t>they get coated with copper during electroplating </a:t>
            </a:r>
          </a:p>
        </p:txBody>
      </p:sp>
      <p:pic>
        <p:nvPicPr>
          <p:cNvPr id="16" name="Picture 12" descr="A graph paper with writing on it&#10;&#10;AI-generated content may be incorrect.">
            <a:extLst>
              <a:ext uri="{FF2B5EF4-FFF2-40B4-BE49-F238E27FC236}">
                <a16:creationId xmlns:a16="http://schemas.microsoft.com/office/drawing/2014/main" id="{197659DD-5CE7-6829-42C9-D92B02F76BD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57" r="7007" b="8859"/>
          <a:stretch>
            <a:fillRect/>
          </a:stretch>
        </p:blipFill>
        <p:spPr>
          <a:xfrm>
            <a:off x="9347387" y="1186713"/>
            <a:ext cx="2657730" cy="1050560"/>
          </a:xfrm>
          <a:prstGeom prst="rect">
            <a:avLst/>
          </a:prstGeom>
        </p:spPr>
      </p:pic>
      <p:pic>
        <p:nvPicPr>
          <p:cNvPr id="20" name="Picture 19" descr="A graph with numbers and a black border&#10;&#10;AI-generated content may be incorrect.">
            <a:extLst>
              <a:ext uri="{FF2B5EF4-FFF2-40B4-BE49-F238E27FC236}">
                <a16:creationId xmlns:a16="http://schemas.microsoft.com/office/drawing/2014/main" id="{01479495-5311-9619-FF2C-7772D9EFEB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34" r="8270"/>
          <a:stretch>
            <a:fillRect/>
          </a:stretch>
        </p:blipFill>
        <p:spPr>
          <a:xfrm>
            <a:off x="6711751" y="3305957"/>
            <a:ext cx="5368278" cy="3165429"/>
          </a:xfrm>
          <a:prstGeom prst="rect">
            <a:avLst/>
          </a:prstGeom>
        </p:spPr>
      </p:pic>
      <p:pic>
        <p:nvPicPr>
          <p:cNvPr id="23" name="Picture 22" descr="A hand holding a gold bar&#10;&#10;AI-generated content may be incorrect.">
            <a:extLst>
              <a:ext uri="{FF2B5EF4-FFF2-40B4-BE49-F238E27FC236}">
                <a16:creationId xmlns:a16="http://schemas.microsoft.com/office/drawing/2014/main" id="{72DAAC5A-8E2F-FED0-5D34-B364971353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8" t="36261" r="21486" b="41049"/>
          <a:stretch>
            <a:fillRect/>
          </a:stretch>
        </p:blipFill>
        <p:spPr>
          <a:xfrm>
            <a:off x="6765984" y="1186713"/>
            <a:ext cx="2342477" cy="1050560"/>
          </a:xfrm>
          <a:prstGeom prst="rect">
            <a:avLst/>
          </a:prstGeom>
        </p:spPr>
      </p:pic>
      <p:pic>
        <p:nvPicPr>
          <p:cNvPr id="25" name="Picture 24" descr="A gold bar on a white surface&#10;&#10;AI-generated content may be incorrect.">
            <a:extLst>
              <a:ext uri="{FF2B5EF4-FFF2-40B4-BE49-F238E27FC236}">
                <a16:creationId xmlns:a16="http://schemas.microsoft.com/office/drawing/2014/main" id="{A6C0268A-1438-B8D0-78BE-E4900986C3A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98" t="56021" r="13249" b="17387"/>
          <a:stretch>
            <a:fillRect/>
          </a:stretch>
        </p:blipFill>
        <p:spPr>
          <a:xfrm>
            <a:off x="6765983" y="2283390"/>
            <a:ext cx="2342477" cy="105056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F9820650-0B64-544D-3647-9347254B6B8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329" t="41061" r="17173" b="44097"/>
          <a:stretch>
            <a:fillRect/>
          </a:stretch>
        </p:blipFill>
        <p:spPr>
          <a:xfrm>
            <a:off x="9347387" y="2294466"/>
            <a:ext cx="2671311" cy="1022567"/>
          </a:xfrm>
          <a:prstGeom prst="rect">
            <a:avLst/>
          </a:prstGeom>
        </p:spPr>
      </p:pic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D137230C-26B8-7196-A2B9-C40EB8DCF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Backup</a:t>
            </a:r>
            <a:endParaRPr kumimoji="0" lang="it-IT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Date Placeholder 1">
            <a:extLst>
              <a:ext uri="{FF2B5EF4-FFF2-40B4-BE49-F238E27FC236}">
                <a16:creationId xmlns:a16="http://schemas.microsoft.com/office/drawing/2014/main" id="{9788AD75-C386-5006-3834-31C173F9C2CD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200" dirty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t>01/12/2025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5247910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A2372-91BA-A22C-76EA-B90A7ADF6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3C7347-2219-1365-E1EC-832BE627B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Backup</a:t>
            </a:r>
            <a:endParaRPr kumimoji="0" lang="it-IT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2AF0FD-AED3-CE19-9D7E-696B3C64C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D6D798-1883-974D-96D0-4E82B243DEDE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DF1134-AA43-5ABE-F5C0-5CEC40BCF4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2993" y="1710736"/>
            <a:ext cx="4840496" cy="343652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0F21051-6051-FAD6-891E-D09304D6E736}"/>
              </a:ext>
            </a:extLst>
          </p:cNvPr>
          <p:cNvSpPr txBox="1"/>
          <p:nvPr/>
        </p:nvSpPr>
        <p:spPr>
          <a:xfrm>
            <a:off x="948690" y="1816100"/>
            <a:ext cx="5417820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Tx/>
              <a:buNone/>
              <a:tabLst/>
              <a:defRPr/>
            </a:pPr>
            <a:r>
              <a:rPr lang="it-IT" sz="2000" dirty="0" err="1"/>
              <a:t>Mechanical</a:t>
            </a:r>
            <a:r>
              <a:rPr lang="it-IT" sz="2000" dirty="0"/>
              <a:t> </a:t>
            </a:r>
            <a:r>
              <a:rPr lang="it-IT" sz="2000" dirty="0" err="1"/>
              <a:t>measurement</a:t>
            </a:r>
            <a:r>
              <a:rPr lang="it-IT" sz="2000" dirty="0"/>
              <a:t> </a:t>
            </a:r>
            <a:r>
              <a:rPr lang="it-IT" sz="2000" dirty="0" err="1"/>
              <a:t>will</a:t>
            </a:r>
            <a:r>
              <a:rPr lang="it-IT" sz="2000" dirty="0"/>
              <a:t> be </a:t>
            </a:r>
            <a:r>
              <a:rPr lang="it-IT" sz="2000" dirty="0" err="1"/>
              <a:t>followed</a:t>
            </a:r>
            <a:r>
              <a:rPr lang="it-IT" sz="2000" dirty="0"/>
              <a:t> by </a:t>
            </a:r>
            <a:r>
              <a:rPr lang="it-IT" sz="2000" dirty="0" err="1"/>
              <a:t>electrical</a:t>
            </a:r>
            <a:r>
              <a:rPr lang="it-IT" sz="2000" dirty="0"/>
              <a:t> </a:t>
            </a:r>
            <a:r>
              <a:rPr lang="it-IT" sz="2000" dirty="0" err="1"/>
              <a:t>measurements</a:t>
            </a:r>
            <a:r>
              <a:rPr lang="it-IT" sz="2000" dirty="0"/>
              <a:t> to </a:t>
            </a:r>
            <a:r>
              <a:rPr lang="it-IT" sz="2000" dirty="0" err="1"/>
              <a:t>assess</a:t>
            </a:r>
            <a:r>
              <a:rPr lang="it-IT" sz="2000" dirty="0"/>
              <a:t> a </a:t>
            </a:r>
            <a:r>
              <a:rPr lang="it-IT" sz="2000" dirty="0" err="1"/>
              <a:t>possible</a:t>
            </a:r>
            <a:r>
              <a:rPr lang="it-IT" sz="2000" dirty="0"/>
              <a:t> tape </a:t>
            </a:r>
            <a:r>
              <a:rPr lang="it-IT" sz="2000" dirty="0" err="1"/>
              <a:t>degradation</a:t>
            </a:r>
            <a:r>
              <a:rPr lang="it-IT" sz="2000" dirty="0"/>
              <a:t>: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it-IT" sz="2000" dirty="0" err="1"/>
              <a:t>Variable</a:t>
            </a:r>
            <a:r>
              <a:rPr lang="it-IT" sz="2000" dirty="0"/>
              <a:t> </a:t>
            </a:r>
            <a:r>
              <a:rPr lang="it-IT" sz="2000" dirty="0" err="1"/>
              <a:t>uniaxial</a:t>
            </a:r>
            <a:r>
              <a:rPr lang="it-IT" sz="2000" dirty="0"/>
              <a:t> compressive load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it-IT" sz="2000" dirty="0" err="1"/>
              <a:t>Different</a:t>
            </a:r>
            <a:r>
              <a:rPr lang="it-IT" sz="2000" dirty="0"/>
              <a:t> </a:t>
            </a:r>
            <a:r>
              <a:rPr lang="it-IT" sz="2000" dirty="0" err="1"/>
              <a:t>stack</a:t>
            </a:r>
            <a:r>
              <a:rPr lang="it-IT" sz="2000" dirty="0"/>
              <a:t> </a:t>
            </a:r>
            <a:r>
              <a:rPr lang="it-IT" sz="2000" dirty="0" err="1"/>
              <a:t>conditions</a:t>
            </a:r>
            <a:endParaRPr lang="it-IT" sz="20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endParaRPr lang="en-GB" sz="200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978CD50-ADA1-3F59-F304-586000B27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2427"/>
            <a:ext cx="10515600" cy="1325563"/>
          </a:xfrm>
        </p:spPr>
        <p:txBody>
          <a:bodyPr/>
          <a:lstStyle/>
          <a:p>
            <a:r>
              <a:rPr lang="it-IT" dirty="0" err="1"/>
              <a:t>Characterization</a:t>
            </a:r>
            <a:r>
              <a:rPr lang="it-IT" dirty="0"/>
              <a:t> of HTS </a:t>
            </a:r>
            <a:r>
              <a:rPr lang="it-IT" dirty="0" err="1"/>
              <a:t>stacks</a:t>
            </a:r>
            <a:endParaRPr lang="en-GB" dirty="0"/>
          </a:p>
        </p:txBody>
      </p: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EAA8BB41-5FFD-6B03-2276-912419C1014C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200" dirty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t>01/12/2025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0481070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9B9FC8D-2828-4CBC-BFCA-23C32A431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0590" y="333375"/>
            <a:ext cx="10515600" cy="1325563"/>
          </a:xfrm>
        </p:spPr>
        <p:txBody>
          <a:bodyPr/>
          <a:lstStyle/>
          <a:p>
            <a:r>
              <a:rPr lang="it-IT" dirty="0" err="1"/>
              <a:t>Resources</a:t>
            </a:r>
            <a:r>
              <a:rPr lang="it-IT" dirty="0"/>
              <a:t> </a:t>
            </a:r>
            <a:r>
              <a:rPr lang="it-IT" dirty="0" err="1"/>
              <a:t>availability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BD09192-98B1-488E-94AC-065F78C2F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6D798-1883-974D-96D0-4E82B243DEDE}" type="slidenum">
              <a:rPr lang="it-IT" smtClean="0"/>
              <a:t>32</a:t>
            </a:fld>
            <a:endParaRPr lang="it-IT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124E4E8D-04FC-A3D8-1CAB-0229031DB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Backup</a:t>
            </a:r>
            <a:endParaRPr kumimoji="0" lang="it-IT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59E63E-9051-82FC-B528-D34977E610F8}"/>
              </a:ext>
            </a:extLst>
          </p:cNvPr>
          <p:cNvSpPr txBox="1"/>
          <p:nvPr/>
        </p:nvSpPr>
        <p:spPr>
          <a:xfrm>
            <a:off x="910590" y="1790690"/>
            <a:ext cx="9693910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2400"/>
              </a:spcAft>
            </a:pPr>
            <a:r>
              <a:rPr lang="it-IT" sz="2000" dirty="0"/>
              <a:t>Endorsement of the </a:t>
            </a:r>
            <a:r>
              <a:rPr lang="it-IT" sz="2000" dirty="0" err="1"/>
              <a:t>magnet</a:t>
            </a:r>
            <a:r>
              <a:rPr lang="it-IT" sz="2000" dirty="0"/>
              <a:t> group leader </a:t>
            </a:r>
            <a:r>
              <a:rPr lang="it-IT" sz="2000" dirty="0" err="1"/>
              <a:t>at</a:t>
            </a:r>
            <a:r>
              <a:rPr lang="it-IT" sz="2000" dirty="0"/>
              <a:t> LASA for the use of the following </a:t>
            </a:r>
            <a:r>
              <a:rPr lang="it-IT" sz="2000" dirty="0" err="1"/>
              <a:t>resources</a:t>
            </a:r>
            <a:r>
              <a:rPr lang="it-IT" sz="2000" dirty="0"/>
              <a:t>:</a:t>
            </a:r>
          </a:p>
          <a:p>
            <a:pPr marL="571500" indent="-57150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it-IT" sz="2000" dirty="0"/>
              <a:t>Group </a:t>
            </a:r>
            <a:r>
              <a:rPr lang="it-IT" sz="2000" dirty="0" err="1"/>
              <a:t>technicians</a:t>
            </a:r>
            <a:r>
              <a:rPr lang="it-IT" sz="2000" dirty="0"/>
              <a:t> for coil assembly and manufacturing up to 2 FTE</a:t>
            </a:r>
          </a:p>
          <a:p>
            <a:endParaRPr lang="it-IT" sz="2000" dirty="0"/>
          </a:p>
        </p:txBody>
      </p: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950D4250-5DDE-D12E-378A-8628E3984532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200" dirty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t>01/12/2025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90980029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16298</TotalTime>
  <Words>2428</Words>
  <Application>Microsoft Office PowerPoint</Application>
  <PresentationFormat>Widescreen</PresentationFormat>
  <Paragraphs>481</Paragraphs>
  <Slides>32</Slides>
  <Notes>9</Notes>
  <HiddenSlides>0</HiddenSlides>
  <MMClips>1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3" baseType="lpstr">
      <vt:lpstr>Aptos</vt:lpstr>
      <vt:lpstr>Arial</vt:lpstr>
      <vt:lpstr>Book Antiqua</vt:lpstr>
      <vt:lpstr>Calibri</vt:lpstr>
      <vt:lpstr>Calibri Light</vt:lpstr>
      <vt:lpstr>Cambria Math</vt:lpstr>
      <vt:lpstr>Times New Roman</vt:lpstr>
      <vt:lpstr>Titillium</vt:lpstr>
      <vt:lpstr>Titillium Bd</vt:lpstr>
      <vt:lpstr>Wingdings</vt:lpstr>
      <vt:lpstr>1_Office Theme</vt:lpstr>
      <vt:lpstr> ECHO Magnet </vt:lpstr>
      <vt:lpstr>About me: </vt:lpstr>
      <vt:lpstr>Outline</vt:lpstr>
      <vt:lpstr>State-of-the-art &amp; actual R&amp;D</vt:lpstr>
      <vt:lpstr>ECHO Magnet: Targets</vt:lpstr>
      <vt:lpstr>PowerPoint Presentation</vt:lpstr>
      <vt:lpstr>ECHO Magnet: Advantages</vt:lpstr>
      <vt:lpstr>PowerPoint Presentation</vt:lpstr>
      <vt:lpstr>Roadmap of activities for ECHO</vt:lpstr>
      <vt:lpstr>Roadmap of activities for ECHO</vt:lpstr>
      <vt:lpstr>Phase 1: Characterization of HTS tape  Electrical</vt:lpstr>
      <vt:lpstr>Roadmap of activities for ECHO</vt:lpstr>
      <vt:lpstr>Phase 1: Characterization of HTS tape  Thermal and Mechanical</vt:lpstr>
      <vt:lpstr>Roadmap of activities for ECHO</vt:lpstr>
      <vt:lpstr>Phase 1: Single module design</vt:lpstr>
      <vt:lpstr>Roadmap of activities for ECHO</vt:lpstr>
      <vt:lpstr>Phase 2: Module Manufacturing</vt:lpstr>
      <vt:lpstr>Roadmap of activities for ECHO</vt:lpstr>
      <vt:lpstr>Phase 2: Mechanical assembly</vt:lpstr>
      <vt:lpstr>Roadmap of activities for ECHO</vt:lpstr>
      <vt:lpstr>Phase 2: Final testing</vt:lpstr>
      <vt:lpstr>Project timeline</vt:lpstr>
      <vt:lpstr>Risks and costs summary</vt:lpstr>
      <vt:lpstr>Risks and costs summary</vt:lpstr>
      <vt:lpstr>Risks and costs summary</vt:lpstr>
      <vt:lpstr>PowerPoint Presentation</vt:lpstr>
      <vt:lpstr>The end</vt:lpstr>
      <vt:lpstr>Backup Slides</vt:lpstr>
      <vt:lpstr>PowerPoint Presentation</vt:lpstr>
      <vt:lpstr>PowerPoint Presentation</vt:lpstr>
      <vt:lpstr>Characterization of HTS stacks</vt:lpstr>
      <vt:lpstr>Resources availability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ECHO Magnet</dc:title>
  <dc:creator>Lorenzo Balconi</dc:creator>
  <cp:lastModifiedBy>Lorenzo Balconi</cp:lastModifiedBy>
  <cp:revision>22</cp:revision>
  <dcterms:created xsi:type="dcterms:W3CDTF">2025-11-11T14:14:36Z</dcterms:created>
  <dcterms:modified xsi:type="dcterms:W3CDTF">2025-11-29T16:56:30Z</dcterms:modified>
</cp:coreProperties>
</file>