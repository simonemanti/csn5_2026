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583" r:id="rId2"/>
    <p:sldId id="599" r:id="rId3"/>
    <p:sldId id="598" r:id="rId4"/>
    <p:sldId id="293" r:id="rId5"/>
    <p:sldId id="271" r:id="rId6"/>
    <p:sldId id="278" r:id="rId7"/>
    <p:sldId id="295" r:id="rId8"/>
    <p:sldId id="280" r:id="rId9"/>
    <p:sldId id="281" r:id="rId10"/>
    <p:sldId id="282" r:id="rId11"/>
    <p:sldId id="284" r:id="rId12"/>
    <p:sldId id="289" r:id="rId13"/>
    <p:sldId id="276" r:id="rId14"/>
    <p:sldId id="296" r:id="rId15"/>
    <p:sldId id="277" r:id="rId16"/>
    <p:sldId id="292" r:id="rId17"/>
    <p:sldId id="291" r:id="rId18"/>
    <p:sldId id="590" r:id="rId19"/>
    <p:sldId id="589" r:id="rId20"/>
    <p:sldId id="602" r:id="rId21"/>
    <p:sldId id="600" r:id="rId22"/>
    <p:sldId id="601" r:id="rId23"/>
    <p:sldId id="297" r:id="rId24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D7A8"/>
    <a:srgbClr val="3E83C4"/>
    <a:srgbClr val="ACC8E8"/>
    <a:srgbClr val="2E74B6"/>
    <a:srgbClr val="71ADDF"/>
    <a:srgbClr val="CED55D"/>
    <a:srgbClr val="7BFF79"/>
    <a:srgbClr val="EAB201"/>
    <a:srgbClr val="BEE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0"/>
    <p:restoredTop sz="94694"/>
  </p:normalViewPr>
  <p:slideViewPr>
    <p:cSldViewPr snapToGrid="0">
      <p:cViewPr>
        <p:scale>
          <a:sx n="139" d="100"/>
          <a:sy n="139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43004-2095-F440-BCFA-ED03CB498714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44F86-1C19-C144-9C4D-370DD27F936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18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B97A-D63A-33CF-1A35-6F982FF23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030F5-1A38-938E-A410-3AB9FEA2E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8046D-84A7-1BDF-1EAF-0FA50CAC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FFF34-6155-1A4C-5050-1752EE7FA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01AE5-71F4-D096-A754-AC2B26F0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5996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4C91-BED3-A244-0B25-17144C148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57E59-9691-D4AC-DC0F-AFF04313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BAAE4-0EA9-839C-BC6F-C0BF6C7C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563D5-83F5-7BC3-4F71-B6CE5A9E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0321C-FE27-BA94-7956-391557AA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0019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D102-47D8-8F37-3FAD-F9436E9E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18523-4FB7-A3C3-73D7-1AE870E93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EF9DE-FDB7-6F57-A453-00C9623D1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B1B78-6319-2FF0-2224-C70CF7EE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5BD29-E398-343E-6D34-7750F7BF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3473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8C78-16C2-216E-F366-E3DEBDCC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08B82-2410-8C8C-7689-7D796233A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99EAA-10A8-89FD-BFDB-3BEA6A601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59452-DA79-8E11-659B-DBA0F9C9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3A820-C730-7067-C227-01D06DFA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CAE5F-016B-49F6-163D-52AE5694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99177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E626-F2DC-79DF-47D9-155C6EFF3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0424D-AF38-A745-6D72-98EA69EE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6014B-3606-D342-65BC-7E2D2F2AD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7BC7-A75A-D947-8E3F-ABF20BA7D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DBB33-E930-D10D-1EB7-4A1DB157D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6B3F06-A39D-2FE2-0A3B-BA5BD499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90087-7863-F6D5-5EC7-E53FC295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18826A-0FCD-04D6-CC1F-64AB3D1E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44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4B86-FA58-1852-F019-4E0CE16C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AFC15-963F-25ED-06ED-4E8A63D2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2E6A5-416A-BCE6-B654-8DD091C2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FE8D6-0C0B-3E36-5F3B-54994E7A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255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041BC-2FFE-83D3-42BE-F26D9507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6AE2E-F0AE-905D-9DBC-3B8F35ED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002B0-E823-9329-C3FE-A166E333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043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68A0-3109-9EA8-8F2B-9A44C6AB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D3118-F4D6-C5CF-36E0-8F87CD54D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97605-C8B3-5CC1-F257-C2AA2ABD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5C9F8-3B27-1EEC-E5F5-7B889BBAA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A7011-1327-7260-1715-0AF37695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32EE6-0E7D-F968-B3DD-D718D4BD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5672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2217-F4D4-C473-C9ED-D98AE62B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452F8E-513E-3E6B-0E52-F56E1B07A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408F4-C6CC-616F-B9DE-EAA71EDCF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8C8C4-51E9-B29F-0135-315B554D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C6BCA-1133-9A08-369E-49C86159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C654-83C7-03C4-E731-F7E66582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4348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A523-31AC-D891-14B2-F61E68FF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60643-C639-E2EC-4E98-7D5523F4F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A37C-ED61-7A17-975E-888379E5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78994-BE6A-85B5-A0B3-95D42558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822AA-83E0-9D24-9221-6CB67D7A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770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C5EA4-C4F6-EE30-9CED-65D569ACD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DC70D-08F1-7698-4C63-A60365DCF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62F27-47C6-B089-B8FD-7969FD7A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BE80E-0857-87EA-82F2-3BB3343D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72A7-2C15-C703-AC1C-63DD9E0F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6000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088AC-A9D4-FEED-93DF-E58C3925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C38EB-44B2-B683-2BE5-0CEBB062A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6CC36-804A-572C-C14E-D56F9C7E0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F7A29-F8DB-7D49-8C83-FC9983983A6D}" type="datetimeFigureOut">
              <a:rPr lang="en-IT" smtClean="0"/>
              <a:t>18/11/24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5772-F754-BBB9-5860-F2F337ADA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0DD7-AD05-C42C-59FF-045513872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A8548-7DF8-9744-A88C-FC9569FDA13A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3584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ublicdomainpictures.net/view-image.php?image=20394&amp;picture=tick-button-image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22.jpeg"/><Relationship Id="rId12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4.png"/><Relationship Id="rId3" Type="http://schemas.microsoft.com/office/2007/relationships/hdphoto" Target="../media/hdphoto4.wdp"/><Relationship Id="rId7" Type="http://schemas.openxmlformats.org/officeDocument/2006/relationships/image" Target="../media/image29.png"/><Relationship Id="rId12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microsoft.com/office/2007/relationships/hdphoto" Target="../media/hdphoto9.wdp"/><Relationship Id="rId12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microsoft.com/office/2007/relationships/hdphoto" Target="../media/hdphoto8.wdp"/><Relationship Id="rId10" Type="http://schemas.openxmlformats.org/officeDocument/2006/relationships/image" Target="../media/image1.png"/><Relationship Id="rId4" Type="http://schemas.microsoft.com/office/2007/relationships/hdphoto" Target="../media/hdphoto7.wdp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microsoft.com/office/2007/relationships/hdphoto" Target="../media/hdphoto1.wdp"/><Relationship Id="rId7" Type="http://schemas.openxmlformats.org/officeDocument/2006/relationships/image" Target="../media/image29.png"/><Relationship Id="rId12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microsoft.com/office/2007/relationships/hdphoto" Target="../media/hdphoto10.wdp"/><Relationship Id="rId10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36.png"/><Relationship Id="rId3" Type="http://schemas.microsoft.com/office/2007/relationships/hdphoto" Target="../media/hdphoto1.wdp"/><Relationship Id="rId7" Type="http://schemas.openxmlformats.org/officeDocument/2006/relationships/image" Target="../media/image29.png"/><Relationship Id="rId12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2.wdp"/><Relationship Id="rId11" Type="http://schemas.openxmlformats.org/officeDocument/2006/relationships/image" Target="../media/image4.png"/><Relationship Id="rId5" Type="http://schemas.microsoft.com/office/2007/relationships/hdphoto" Target="../media/hdphoto11.wdp"/><Relationship Id="rId10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35.png"/><Relationship Id="rId1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4.wdp"/><Relationship Id="rId13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39.png"/><Relationship Id="rId12" Type="http://schemas.openxmlformats.org/officeDocument/2006/relationships/image" Target="../media/image1.png"/><Relationship Id="rId2" Type="http://schemas.openxmlformats.org/officeDocument/2006/relationships/image" Target="../media/image20.png"/><Relationship Id="rId16" Type="http://schemas.openxmlformats.org/officeDocument/2006/relationships/image" Target="../media/image42.svg"/><Relationship Id="rId1" Type="http://schemas.openxmlformats.org/officeDocument/2006/relationships/slideLayout" Target="../slideLayouts/slideLayout2.xml"/><Relationship Id="rId6" Type="http://schemas.microsoft.com/office/2007/relationships/hdphoto" Target="../media/hdphoto13.wdp"/><Relationship Id="rId11" Type="http://schemas.openxmlformats.org/officeDocument/2006/relationships/image" Target="../media/image37.png"/><Relationship Id="rId5" Type="http://schemas.openxmlformats.org/officeDocument/2006/relationships/image" Target="../media/image38.png"/><Relationship Id="rId15" Type="http://schemas.openxmlformats.org/officeDocument/2006/relationships/image" Target="../media/image41.png"/><Relationship Id="rId10" Type="http://schemas.microsoft.com/office/2007/relationships/hdphoto" Target="../media/hdphoto15.wdp"/><Relationship Id="rId4" Type="http://schemas.openxmlformats.org/officeDocument/2006/relationships/image" Target="../media/image22.jpeg"/><Relationship Id="rId9" Type="http://schemas.openxmlformats.org/officeDocument/2006/relationships/image" Target="../media/image40.png"/><Relationship Id="rId1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4.jpg"/><Relationship Id="rId7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7.png"/><Relationship Id="rId2" Type="http://schemas.openxmlformats.org/officeDocument/2006/relationships/video" Target="../media/media1.avi"/><Relationship Id="rId1" Type="http://schemas.microsoft.com/office/2007/relationships/media" Target="../media/media1.avi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4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8DC884E-51FD-23E0-A146-CA202FFE9AD1}"/>
              </a:ext>
            </a:extLst>
          </p:cNvPr>
          <p:cNvSpPr/>
          <p:nvPr/>
        </p:nvSpPr>
        <p:spPr>
          <a:xfrm>
            <a:off x="5061" y="0"/>
            <a:ext cx="12186939" cy="583798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77000">
                <a:schemeClr val="bg1">
                  <a:lumMod val="95000"/>
                  <a:alpha val="0"/>
                </a:schemeClr>
              </a:gs>
              <a:gs pos="41000">
                <a:schemeClr val="tx2">
                  <a:lumMod val="25000"/>
                  <a:lumOff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CasellaDiTesto 8">
            <a:extLst>
              <a:ext uri="{FF2B5EF4-FFF2-40B4-BE49-F238E27FC236}">
                <a16:creationId xmlns:a16="http://schemas.microsoft.com/office/drawing/2014/main" id="{B280E50F-821A-E0DB-B916-CB9DD24F53F4}"/>
              </a:ext>
            </a:extLst>
          </p:cNvPr>
          <p:cNvSpPr txBox="1"/>
          <p:nvPr/>
        </p:nvSpPr>
        <p:spPr>
          <a:xfrm>
            <a:off x="275188" y="6156052"/>
            <a:ext cx="1790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Helvetica Light" panose="020B0403020202020204" pitchFamily="34" charset="0"/>
                <a:cs typeface="Arial" panose="020B0604020202020204" pitchFamily="34" charset="0"/>
              </a:rPr>
              <a:t>Alberto </a:t>
            </a:r>
            <a:r>
              <a:rPr lang="it-IT" dirty="0" err="1">
                <a:latin typeface="Helvetica Light" panose="020B0403020202020204" pitchFamily="34" charset="0"/>
                <a:cs typeface="Arial" panose="020B0604020202020204" pitchFamily="34" charset="0"/>
              </a:rPr>
              <a:t>Taffelli</a:t>
            </a:r>
            <a:endParaRPr lang="it-IT" dirty="0">
              <a:latin typeface="Helvetica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A19179-A953-79E6-1824-5BDF42F5B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826" y="1732549"/>
            <a:ext cx="9051115" cy="3437463"/>
          </a:xfrm>
        </p:spPr>
        <p:txBody>
          <a:bodyPr>
            <a:noAutofit/>
          </a:bodyPr>
          <a:lstStyle/>
          <a:p>
            <a:r>
              <a:rPr lang="en-IT" sz="4800" dirty="0">
                <a:latin typeface="Helvetica" pitchFamily="2" charset="0"/>
              </a:rPr>
              <a:t>FORM-3D:</a:t>
            </a:r>
            <a:r>
              <a:rPr lang="en-IT" sz="4800" b="1" dirty="0">
                <a:latin typeface="Helvetica" pitchFamily="2" charset="0"/>
              </a:rPr>
              <a:t> </a:t>
            </a:r>
            <a:br>
              <a:rPr lang="en-IT" sz="4800" dirty="0">
                <a:latin typeface="Helvetica" pitchFamily="2" charset="0"/>
              </a:rPr>
            </a:br>
            <a:r>
              <a:rPr lang="en-IT" sz="4800" b="1" dirty="0"/>
              <a:t>F</a:t>
            </a:r>
            <a:r>
              <a:rPr lang="en-IT" sz="4800" dirty="0"/>
              <a:t>ast </a:t>
            </a:r>
            <a:r>
              <a:rPr lang="en-IT" sz="4800" b="1" dirty="0"/>
              <a:t>O</a:t>
            </a:r>
            <a:r>
              <a:rPr lang="en-IT" sz="4800" dirty="0"/>
              <a:t>ptimization of </a:t>
            </a:r>
            <a:r>
              <a:rPr lang="en-IT" sz="4800" b="1" dirty="0"/>
              <a:t>R</a:t>
            </a:r>
            <a:r>
              <a:rPr lang="en-IT" sz="4800" dirty="0"/>
              <a:t>ange </a:t>
            </a:r>
            <a:r>
              <a:rPr lang="en-IT" sz="4800" b="1" dirty="0"/>
              <a:t>M</a:t>
            </a:r>
            <a:r>
              <a:rPr lang="en-IT" sz="4800" dirty="0"/>
              <a:t>odulators </a:t>
            </a:r>
            <a:r>
              <a:rPr lang="en-IT" sz="4800" b="1" dirty="0"/>
              <a:t>3D</a:t>
            </a:r>
            <a:br>
              <a:rPr lang="en-IT" sz="4800" dirty="0">
                <a:latin typeface="Helvetica" pitchFamily="2" charset="0"/>
              </a:rPr>
            </a:br>
            <a:br>
              <a:rPr lang="en-IT" sz="4800" dirty="0">
                <a:latin typeface="Helvetica" pitchFamily="2" charset="0"/>
              </a:rPr>
            </a:br>
            <a:r>
              <a:rPr lang="en-IT" sz="1800" dirty="0">
                <a:latin typeface="Helvetica Light" panose="020B0403020202020204" pitchFamily="34" charset="0"/>
              </a:rPr>
              <a:t>Grant Giovani INFN, November, 19</a:t>
            </a:r>
            <a:r>
              <a:rPr lang="en-IT" sz="1800" baseline="30000" dirty="0">
                <a:latin typeface="Helvetica Light" panose="020B0403020202020204" pitchFamily="34" charset="0"/>
              </a:rPr>
              <a:t>th</a:t>
            </a:r>
            <a:r>
              <a:rPr lang="en-IT" sz="1800" dirty="0">
                <a:latin typeface="Helvetica Light" panose="020B0403020202020204" pitchFamily="34" charset="0"/>
              </a:rPr>
              <a:t>, 2024</a:t>
            </a:r>
            <a:br>
              <a:rPr lang="en-IT" sz="1800" dirty="0">
                <a:latin typeface="Helvetica Light" panose="020B0403020202020204" pitchFamily="34" charset="0"/>
              </a:rPr>
            </a:br>
            <a:endParaRPr lang="en-IT" sz="4800" dirty="0">
              <a:latin typeface="Helvetica" pitchFamily="2" charset="0"/>
            </a:endParaRPr>
          </a:p>
        </p:txBody>
      </p:sp>
      <p:pic>
        <p:nvPicPr>
          <p:cNvPr id="7" name="Picture 6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2F020F7F-28E1-73FF-F132-5C4FFC368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440" y="1400331"/>
            <a:ext cx="1508387" cy="788250"/>
          </a:xfrm>
          <a:prstGeom prst="rect">
            <a:avLst/>
          </a:prstGeom>
        </p:spPr>
      </p:pic>
      <p:pic>
        <p:nvPicPr>
          <p:cNvPr id="1026" name="Picture 2" descr="APSS Trento: le regole per l'attività degli Informatori ...">
            <a:extLst>
              <a:ext uri="{FF2B5EF4-FFF2-40B4-BE49-F238E27FC236}">
                <a16:creationId xmlns:a16="http://schemas.microsoft.com/office/drawing/2014/main" id="{0BF44BA5-68AE-50ED-18F0-C62AF477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9633" y="3078759"/>
            <a:ext cx="1962005" cy="158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D68B292-5CEE-8599-2F0D-EEF46B5CB5B3}"/>
              </a:ext>
            </a:extLst>
          </p:cNvPr>
          <p:cNvGrpSpPr>
            <a:grpSpLocks noChangeAspect="1"/>
          </p:cNvGrpSpPr>
          <p:nvPr/>
        </p:nvGrpSpPr>
        <p:grpSpPr>
          <a:xfrm>
            <a:off x="10089633" y="2441668"/>
            <a:ext cx="1902388" cy="684909"/>
            <a:chOff x="8254460" y="1009450"/>
            <a:chExt cx="2879921" cy="1036846"/>
          </a:xfrm>
        </p:grpSpPr>
        <p:pic>
          <p:nvPicPr>
            <p:cNvPr id="13" name="Picture 2" descr="Rosso e lineare: ecco il nuovo logo dell'Università di Trento | UniTrento">
              <a:extLst>
                <a:ext uri="{FF2B5EF4-FFF2-40B4-BE49-F238E27FC236}">
                  <a16:creationId xmlns:a16="http://schemas.microsoft.com/office/drawing/2014/main" id="{E7F94221-79F9-0977-BFFD-660B98E786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81"/>
            <a:stretch/>
          </p:blipFill>
          <p:spPr bwMode="auto">
            <a:xfrm>
              <a:off x="9222626" y="1009450"/>
              <a:ext cx="1911755" cy="88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Rosso e lineare: ecco il nuovo logo dell'Università di Trento | UniTrento">
              <a:extLst>
                <a:ext uri="{FF2B5EF4-FFF2-40B4-BE49-F238E27FC236}">
                  <a16:creationId xmlns:a16="http://schemas.microsoft.com/office/drawing/2014/main" id="{93453FF6-8B73-DEDC-3C6F-D0DB278B8B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428"/>
            <a:stretch/>
          </p:blipFill>
          <p:spPr bwMode="auto">
            <a:xfrm>
              <a:off x="8254460" y="1164546"/>
              <a:ext cx="956239" cy="88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CasellaDiTesto 8">
            <a:extLst>
              <a:ext uri="{FF2B5EF4-FFF2-40B4-BE49-F238E27FC236}">
                <a16:creationId xmlns:a16="http://schemas.microsoft.com/office/drawing/2014/main" id="{8C6FAC94-6E60-DDD7-B609-7C78E1836C7F}"/>
              </a:ext>
            </a:extLst>
          </p:cNvPr>
          <p:cNvSpPr txBox="1"/>
          <p:nvPr/>
        </p:nvSpPr>
        <p:spPr>
          <a:xfrm>
            <a:off x="8854752" y="6167280"/>
            <a:ext cx="3240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Helvetica Light" panose="020B0403020202020204" pitchFamily="34" charset="0"/>
                <a:cs typeface="Arial" panose="020B0604020202020204" pitchFamily="34" charset="0"/>
              </a:rPr>
              <a:t>Rome, November, 19</a:t>
            </a:r>
            <a:r>
              <a:rPr lang="it-IT" baseline="30000" dirty="0">
                <a:latin typeface="Helvetica Light" panose="020B0403020202020204" pitchFamily="34" charset="0"/>
                <a:cs typeface="Arial" panose="020B0604020202020204" pitchFamily="34" charset="0"/>
              </a:rPr>
              <a:t>th</a:t>
            </a:r>
            <a:r>
              <a:rPr lang="it-IT" dirty="0">
                <a:latin typeface="Helvetica Light" panose="020B0403020202020204" pitchFamily="34" charset="0"/>
                <a:cs typeface="Arial" panose="020B0604020202020204" pitchFamily="34" charset="0"/>
              </a:rPr>
              <a:t>, 2024</a:t>
            </a:r>
            <a:endParaRPr lang="it-IT" baseline="30000" dirty="0">
              <a:latin typeface="Helvetica Light" panose="020B04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281B8D25-1B81-DEC7-B3D0-E5198274B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134" y="23718"/>
            <a:ext cx="2159000" cy="1346200"/>
          </a:xfrm>
          <a:prstGeom prst="rect">
            <a:avLst/>
          </a:prstGeom>
        </p:spPr>
      </p:pic>
      <p:pic>
        <p:nvPicPr>
          <p:cNvPr id="2" name="Picture 1" descr="A yellow and blue text&#10;&#10;Description automatically generated">
            <a:extLst>
              <a:ext uri="{FF2B5EF4-FFF2-40B4-BE49-F238E27FC236}">
                <a16:creationId xmlns:a16="http://schemas.microsoft.com/office/drawing/2014/main" id="{2CE879E3-F8F9-D410-213D-2E69381F51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58"/>
          <a:stretch/>
        </p:blipFill>
        <p:spPr>
          <a:xfrm>
            <a:off x="10010236" y="4733414"/>
            <a:ext cx="2085394" cy="69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9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44BE1-11CD-2813-1E81-944586D0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8CE2905-0503-BECA-62CD-04FD2F56F360}"/>
              </a:ext>
            </a:extLst>
          </p:cNvPr>
          <p:cNvSpPr/>
          <p:nvPr/>
        </p:nvSpPr>
        <p:spPr>
          <a:xfrm>
            <a:off x="0" y="0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Picture 5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4B6175BC-65C2-DFBA-9FEC-7DBBFDE9B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E187CA09-3EF3-E538-BE89-4A60B59A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7" y="11875"/>
            <a:ext cx="10515600" cy="563562"/>
          </a:xfrm>
        </p:spPr>
        <p:txBody>
          <a:bodyPr>
            <a:noAutofit/>
          </a:bodyPr>
          <a:lstStyle/>
          <a:p>
            <a:r>
              <a:rPr lang="en-IT" sz="3200" dirty="0"/>
              <a:t>INTRODUCTION</a:t>
            </a:r>
          </a:p>
        </p:txBody>
      </p:sp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DD438129-A249-ACD0-20DD-3EE62F6E8A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9" name="Picture 8" descr="A yellow and blue text&#10;&#10;Description automatically generated">
            <a:extLst>
              <a:ext uri="{FF2B5EF4-FFF2-40B4-BE49-F238E27FC236}">
                <a16:creationId xmlns:a16="http://schemas.microsoft.com/office/drawing/2014/main" id="{21B9B76C-C9F8-3BAC-96A1-77B08661A6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pic>
        <p:nvPicPr>
          <p:cNvPr id="4" name="Picture 3" descr="A graph of a normal tissue&#10;&#10;Description automatically generated">
            <a:extLst>
              <a:ext uri="{FF2B5EF4-FFF2-40B4-BE49-F238E27FC236}">
                <a16:creationId xmlns:a16="http://schemas.microsoft.com/office/drawing/2014/main" id="{F33086DB-BC1A-8AA1-F95C-BAFDF43B5F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29" t="5159" r="5763" b="21186"/>
          <a:stretch/>
        </p:blipFill>
        <p:spPr>
          <a:xfrm>
            <a:off x="7347118" y="3959897"/>
            <a:ext cx="4161841" cy="2753345"/>
          </a:xfrm>
          <a:prstGeom prst="rect">
            <a:avLst/>
          </a:prstGeom>
        </p:spPr>
      </p:pic>
      <p:sp>
        <p:nvSpPr>
          <p:cNvPr id="31" name="Slide Number Placeholder 114">
            <a:extLst>
              <a:ext uri="{FF2B5EF4-FFF2-40B4-BE49-F238E27FC236}">
                <a16:creationId xmlns:a16="http://schemas.microsoft.com/office/drawing/2014/main" id="{2EC2B3FE-D9CD-BAD5-7E7F-35D99797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2</a:t>
            </a:fld>
            <a:endParaRPr lang="en-IT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C0BBC2-C78B-7E9C-D90C-982EF23CDF70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FA58D0-3194-3817-DBDE-431DA3937963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3FAA16-7000-D6E3-79D5-FD87BF3DFCF6}"/>
              </a:ext>
            </a:extLst>
          </p:cNvPr>
          <p:cNvSpPr txBox="1"/>
          <p:nvPr/>
        </p:nvSpPr>
        <p:spPr>
          <a:xfrm rot="5400000">
            <a:off x="10899459" y="5330659"/>
            <a:ext cx="13083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effectLst/>
                <a:latin typeface="Aptos" panose="020B0004020202020204" pitchFamily="34" charset="0"/>
              </a:rPr>
              <a:t>Schuller et al., 2020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38747E-7E51-FF6F-6AF7-9DBC5E96E9A8}"/>
              </a:ext>
            </a:extLst>
          </p:cNvPr>
          <p:cNvSpPr txBox="1"/>
          <p:nvPr/>
        </p:nvSpPr>
        <p:spPr>
          <a:xfrm>
            <a:off x="9113045" y="6590313"/>
            <a:ext cx="904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/>
              <a:t>Dose (a.u.)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1E7DB-0AF2-0969-AB96-C10317176F0B}"/>
              </a:ext>
            </a:extLst>
          </p:cNvPr>
          <p:cNvSpPr txBox="1"/>
          <p:nvPr/>
        </p:nvSpPr>
        <p:spPr>
          <a:xfrm>
            <a:off x="378197" y="916764"/>
            <a:ext cx="18287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/>
              <a:t>Proton Therapy:</a:t>
            </a:r>
          </a:p>
          <a:p>
            <a:r>
              <a:rPr lang="en-IT" dirty="0"/>
              <a:t> </a:t>
            </a:r>
          </a:p>
          <a:p>
            <a:endParaRPr lang="en-IT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9B3EB7-5D65-3E80-3C33-D32E5D78507D}"/>
              </a:ext>
            </a:extLst>
          </p:cNvPr>
          <p:cNvSpPr txBox="1"/>
          <p:nvPr/>
        </p:nvSpPr>
        <p:spPr>
          <a:xfrm>
            <a:off x="378197" y="1257831"/>
            <a:ext cx="5409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Protons can deliver dose precisely in deep seated tumours thanks to their peaked dose distribution in depth (Bragg peak), thus </a:t>
            </a:r>
            <a:r>
              <a:rPr lang="en-GB" b="1" dirty="0">
                <a:latin typeface="Aptos" panose="020B0004020202020204" pitchFamily="34" charset="0"/>
              </a:rPr>
              <a:t>sparing normal tissues</a:t>
            </a:r>
          </a:p>
        </p:txBody>
      </p:sp>
      <p:pic>
        <p:nvPicPr>
          <p:cNvPr id="11" name="Picture 10" descr="A close-up of a x-ray image&#10;&#10;Description automatically generated">
            <a:extLst>
              <a:ext uri="{FF2B5EF4-FFF2-40B4-BE49-F238E27FC236}">
                <a16:creationId xmlns:a16="http://schemas.microsoft.com/office/drawing/2014/main" id="{9F1AD861-C91E-2B33-9F51-514A5CAD9C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49" t="6205" r="60975"/>
          <a:stretch/>
        </p:blipFill>
        <p:spPr>
          <a:xfrm>
            <a:off x="6422740" y="625091"/>
            <a:ext cx="1991975" cy="1991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AE850C-B8F6-56E3-839A-F708182BC7CC}"/>
              </a:ext>
            </a:extLst>
          </p:cNvPr>
          <p:cNvSpPr txBox="1"/>
          <p:nvPr/>
        </p:nvSpPr>
        <p:spPr>
          <a:xfrm>
            <a:off x="10848949" y="2358795"/>
            <a:ext cx="1314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err="1">
                <a:effectLst/>
                <a:latin typeface="Aptos" panose="020B0004020202020204" pitchFamily="34" charset="0"/>
              </a:rPr>
              <a:t>Dell’Oro</a:t>
            </a:r>
            <a:r>
              <a:rPr lang="en-GB" sz="1000" dirty="0">
                <a:effectLst/>
                <a:latin typeface="Aptos" panose="020B0004020202020204" pitchFamily="34" charset="0"/>
              </a:rPr>
              <a:t> et al., 2021 </a:t>
            </a:r>
          </a:p>
        </p:txBody>
      </p:sp>
      <p:pic>
        <p:nvPicPr>
          <p:cNvPr id="21" name="Picture 20" descr="A close-up of a x-ray image&#10;&#10;Description automatically generated">
            <a:extLst>
              <a:ext uri="{FF2B5EF4-FFF2-40B4-BE49-F238E27FC236}">
                <a16:creationId xmlns:a16="http://schemas.microsoft.com/office/drawing/2014/main" id="{E4210B0A-BEF9-842F-812B-15D579086A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517" t="6586" r="5168" b="10830"/>
          <a:stretch/>
        </p:blipFill>
        <p:spPr>
          <a:xfrm>
            <a:off x="8691851" y="781199"/>
            <a:ext cx="1472376" cy="1626675"/>
          </a:xfrm>
          <a:prstGeom prst="rect">
            <a:avLst/>
          </a:prstGeom>
        </p:spPr>
      </p:pic>
      <p:pic>
        <p:nvPicPr>
          <p:cNvPr id="24" name="Picture 23" descr="A close-up of a x-ray image&#10;&#10;Description automatically generated">
            <a:extLst>
              <a:ext uri="{FF2B5EF4-FFF2-40B4-BE49-F238E27FC236}">
                <a16:creationId xmlns:a16="http://schemas.microsoft.com/office/drawing/2014/main" id="{780D5329-CAD2-E13D-FA87-671FFE20E8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914" t="5883" r="31771" b="13488"/>
          <a:stretch/>
        </p:blipFill>
        <p:spPr>
          <a:xfrm>
            <a:off x="10457182" y="764978"/>
            <a:ext cx="1472376" cy="1588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B37736-A283-8DE8-64D7-719851D4C130}"/>
              </a:ext>
            </a:extLst>
          </p:cNvPr>
          <p:cNvSpPr txBox="1"/>
          <p:nvPr/>
        </p:nvSpPr>
        <p:spPr>
          <a:xfrm>
            <a:off x="416211" y="4086890"/>
            <a:ext cx="1615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/>
              <a:t>FLASH Effect:</a:t>
            </a:r>
          </a:p>
          <a:p>
            <a:r>
              <a:rPr lang="en-IT" dirty="0"/>
              <a:t> </a:t>
            </a:r>
          </a:p>
          <a:p>
            <a:endParaRPr lang="en-IT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C8DBA-65F3-7E0D-ED58-D1C76DEEBB36}"/>
              </a:ext>
            </a:extLst>
          </p:cNvPr>
          <p:cNvSpPr txBox="1"/>
          <p:nvPr/>
        </p:nvSpPr>
        <p:spPr>
          <a:xfrm>
            <a:off x="416211" y="4432008"/>
            <a:ext cx="7079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U</a:t>
            </a:r>
            <a:r>
              <a:rPr lang="en-GB" sz="1800" dirty="0">
                <a:effectLst/>
                <a:latin typeface="Aptos" panose="020B0004020202020204" pitchFamily="34" charset="0"/>
              </a:rPr>
              <a:t>ltra-high dose rates (UHDR) irradiation, i.e. &gt;40 Gy/s, have a protective effect on normal tissues, compared to conventional irradiation (0.01Gy/s), while maintaining the same efficacy against tumours.</a:t>
            </a:r>
          </a:p>
          <a:p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85DC90-CEBB-A91C-5A42-82FE7E35BA4E}"/>
              </a:ext>
            </a:extLst>
          </p:cNvPr>
          <p:cNvSpPr txBox="1"/>
          <p:nvPr/>
        </p:nvSpPr>
        <p:spPr>
          <a:xfrm>
            <a:off x="522587" y="5804147"/>
            <a:ext cx="51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In RT = increase the </a:t>
            </a:r>
            <a:r>
              <a:rPr lang="en-GB" b="1" dirty="0">
                <a:latin typeface="Aptos" panose="020B0004020202020204" pitchFamily="34" charset="0"/>
              </a:rPr>
              <a:t>therapeutic window</a:t>
            </a:r>
            <a:r>
              <a:rPr lang="en-GB" b="1" dirty="0">
                <a:effectLst/>
                <a:latin typeface="Aptos" panose="020B0004020202020204" pitchFamily="34" charset="0"/>
              </a:rPr>
              <a:t> </a:t>
            </a:r>
          </a:p>
          <a:p>
            <a:pPr algn="ctr"/>
            <a:endParaRPr lang="en-IT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B9C0000-CC88-0438-D6AC-688948347B43}"/>
              </a:ext>
            </a:extLst>
          </p:cNvPr>
          <p:cNvSpPr/>
          <p:nvPr/>
        </p:nvSpPr>
        <p:spPr>
          <a:xfrm>
            <a:off x="4847481" y="5835825"/>
            <a:ext cx="572058" cy="323165"/>
          </a:xfrm>
          <a:prstGeom prst="rightArrow">
            <a:avLst>
              <a:gd name="adj1" fmla="val 44226"/>
              <a:gd name="adj2" fmla="val 50000"/>
            </a:avLst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2482DD-4A29-08BD-F109-3644E044541D}"/>
              </a:ext>
            </a:extLst>
          </p:cNvPr>
          <p:cNvSpPr txBox="1"/>
          <p:nvPr/>
        </p:nvSpPr>
        <p:spPr>
          <a:xfrm>
            <a:off x="378197" y="2262271"/>
            <a:ext cx="5294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Active Pencil beam scanning (PBS) systems make use of </a:t>
            </a:r>
            <a:r>
              <a:rPr lang="en-GB" b="1" dirty="0">
                <a:latin typeface="Aptos" panose="020B0004020202020204" pitchFamily="34" charset="0"/>
              </a:rPr>
              <a:t>different energy layers</a:t>
            </a:r>
            <a:r>
              <a:rPr lang="en-GB" dirty="0">
                <a:latin typeface="Aptos" panose="020B0004020202020204" pitchFamily="34" charset="0"/>
              </a:rPr>
              <a:t> to reproduce dose uniformity in the target (SOPB)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FC903-5368-3432-CF83-E3CC90FB3A74}"/>
              </a:ext>
            </a:extLst>
          </p:cNvPr>
          <p:cNvSpPr/>
          <p:nvPr/>
        </p:nvSpPr>
        <p:spPr>
          <a:xfrm>
            <a:off x="6249972" y="691080"/>
            <a:ext cx="5850103" cy="1991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13" name="Picture 12" descr="A diagram of a person's face&#10;&#10;Description automatically generated">
            <a:extLst>
              <a:ext uri="{FF2B5EF4-FFF2-40B4-BE49-F238E27FC236}">
                <a16:creationId xmlns:a16="http://schemas.microsoft.com/office/drawing/2014/main" id="{BA794E1A-DB56-777A-F38D-004BC07CC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821" y="714420"/>
            <a:ext cx="3331267" cy="274236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B396640-AC14-9537-1DC5-0288224562B1}"/>
              </a:ext>
            </a:extLst>
          </p:cNvPr>
          <p:cNvGrpSpPr>
            <a:grpSpLocks noChangeAspect="1"/>
          </p:cNvGrpSpPr>
          <p:nvPr/>
        </p:nvGrpSpPr>
        <p:grpSpPr>
          <a:xfrm>
            <a:off x="5574674" y="811206"/>
            <a:ext cx="3356022" cy="1991900"/>
            <a:chOff x="7972456" y="3473301"/>
            <a:chExt cx="2710993" cy="192753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BDF94BA-159C-FF2D-F049-664C320B7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72456" y="3473301"/>
              <a:ext cx="2710993" cy="192753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63AE69-F0F7-CCB9-C9D3-57BF6C630F9C}"/>
                </a:ext>
              </a:extLst>
            </p:cNvPr>
            <p:cNvSpPr txBox="1"/>
            <p:nvPr/>
          </p:nvSpPr>
          <p:spPr>
            <a:xfrm>
              <a:off x="9292487" y="3964567"/>
              <a:ext cx="6303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1400" dirty="0"/>
                <a:t>SOBP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tangolo 34">
                <a:extLst>
                  <a:ext uri="{FF2B5EF4-FFF2-40B4-BE49-F238E27FC236}">
                    <a16:creationId xmlns:a16="http://schemas.microsoft.com/office/drawing/2014/main" id="{5D691994-EDD0-B400-72C5-3736FD5FF561}"/>
                  </a:ext>
                </a:extLst>
              </p:cNvPr>
              <p:cNvSpPr/>
              <p:nvPr/>
            </p:nvSpPr>
            <p:spPr>
              <a:xfrm>
                <a:off x="3063743" y="3154459"/>
                <a:ext cx="4736862" cy="748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5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it-IT" sz="135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l-GR" sz="135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𝑶𝑨𝑹</m:t>
                                  </m:r>
                                </m:sub>
                                <m:sup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𝑫𝒎𝒂𝒙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it-IT" sz="135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35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Sup>
                            <m:sSubSup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𝑶𝑨𝑹</m:t>
                              </m:r>
                            </m:sub>
                            <m:sup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𝑫𝒎𝒂𝒙</m:t>
                              </m:r>
                            </m:sup>
                          </m:sSubSup>
                        </m:sup>
                        <m:e>
                          <m:f>
                            <m:f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135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𝑫</m:t>
                                          </m:r>
                                        </m:e>
                                        <m:sub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𝒎𝒂𝒙</m:t>
                                          </m:r>
                                        </m:sub>
                                      </m:sSub>
                                      <m:r>
                                        <a:rPr lang="it-IT" sz="135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𝑫</m:t>
                                          </m:r>
                                        </m:e>
                                        <m:sub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it-IT" sz="135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sz="1350" b="1" i="1">
                                                  <a:latin typeface="Cambria Math" panose="02040503050406030204" pitchFamily="18" charset="0"/>
                                                </a:rPr>
                                                <m:t>𝑵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135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Sup>
                                <m:sSubSupPr>
                                  <m:ctrlP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sub>
                                <m:sup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it-IT" sz="135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35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d>
                        <m:dPr>
                          <m:ctrlPr>
                            <a:rPr lang="it-IT" sz="135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</m:acc>
                            </m:e>
                          </m:d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1350" dirty="0"/>
              </a:p>
            </p:txBody>
          </p:sp>
        </mc:Choice>
        <mc:Fallback xmlns="">
          <p:sp>
            <p:nvSpPr>
              <p:cNvPr id="20" name="Rettangolo 34">
                <a:extLst>
                  <a:ext uri="{FF2B5EF4-FFF2-40B4-BE49-F238E27FC236}">
                    <a16:creationId xmlns:a16="http://schemas.microsoft.com/office/drawing/2014/main" id="{5D691994-EDD0-B400-72C5-3736FD5FF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43" y="3154459"/>
                <a:ext cx="4736862" cy="748282"/>
              </a:xfrm>
              <a:prstGeom prst="rect">
                <a:avLst/>
              </a:prstGeom>
              <a:blipFill>
                <a:blip r:embed="rId9"/>
                <a:stretch>
                  <a:fillRect t="-78333" b="-14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ttangolo 36">
                <a:extLst>
                  <a:ext uri="{FF2B5EF4-FFF2-40B4-BE49-F238E27FC236}">
                    <a16:creationId xmlns:a16="http://schemas.microsoft.com/office/drawing/2014/main" id="{8431BE02-5328-DB76-2223-4C2E1F6297CC}"/>
                  </a:ext>
                </a:extLst>
              </p:cNvPr>
              <p:cNvSpPr/>
              <p:nvPr/>
            </p:nvSpPr>
            <p:spPr>
              <a:xfrm>
                <a:off x="445550" y="3165941"/>
                <a:ext cx="2923749" cy="748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35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35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it-IT" sz="135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</m:acc>
                        </m:e>
                      </m:d>
                      <m:r>
                        <a:rPr lang="it-IT" sz="135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35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it-IT" sz="135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35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135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sSub>
                            <m:sSub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135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it-IT" sz="135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135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𝑫</m:t>
                                          </m:r>
                                        </m:e>
                                        <m:sub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𝒑𝒓𝒆</m:t>
                                          </m:r>
                                        </m:sub>
                                      </m:sSub>
                                      <m:r>
                                        <a:rPr lang="it-IT" sz="1350" b="1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𝑫</m:t>
                                          </m:r>
                                        </m:e>
                                        <m:sub>
                                          <m: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it-IT" sz="135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it-IT" sz="1350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sz="1350" b="1" i="1">
                                                  <a:latin typeface="Cambria Math" panose="02040503050406030204" pitchFamily="18" charset="0"/>
                                                </a:rPr>
                                                <m:t>𝑵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it-IT" sz="135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Sup>
                                <m:sSubSupPr>
                                  <m:ctrlP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𝒑𝒓𝒆</m:t>
                                  </m:r>
                                </m:sub>
                                <m:sup>
                                  <m:r>
                                    <a:rPr lang="it-IT" sz="135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it-IT" sz="1350" dirty="0"/>
              </a:p>
            </p:txBody>
          </p:sp>
        </mc:Choice>
        <mc:Fallback>
          <p:sp>
            <p:nvSpPr>
              <p:cNvPr id="23" name="Rettangolo 36">
                <a:extLst>
                  <a:ext uri="{FF2B5EF4-FFF2-40B4-BE49-F238E27FC236}">
                    <a16:creationId xmlns:a16="http://schemas.microsoft.com/office/drawing/2014/main" id="{8431BE02-5328-DB76-2223-4C2E1F629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50" y="3165941"/>
                <a:ext cx="2923749" cy="748282"/>
              </a:xfrm>
              <a:prstGeom prst="rect">
                <a:avLst/>
              </a:prstGeom>
              <a:blipFill>
                <a:blip r:embed="rId10"/>
                <a:stretch>
                  <a:fillRect t="-78333" b="-14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85115BF5-28FD-16D2-A613-9B12533992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5096" y="3427810"/>
            <a:ext cx="2055213" cy="403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32F93F-2F43-AB07-BD25-C0FFAA020F92}"/>
              </a:ext>
            </a:extLst>
          </p:cNvPr>
          <p:cNvSpPr txBox="1"/>
          <p:nvPr/>
        </p:nvSpPr>
        <p:spPr>
          <a:xfrm>
            <a:off x="9894006" y="3463598"/>
            <a:ext cx="1049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n ∽ 10</a:t>
            </a:r>
            <a:r>
              <a:rPr lang="en-IT" sz="1400" baseline="30000" dirty="0"/>
              <a:t>3</a:t>
            </a:r>
            <a:r>
              <a:rPr lang="en-IT" sz="1400" dirty="0"/>
              <a:t>-10</a:t>
            </a:r>
            <a:r>
              <a:rPr lang="en-IT" sz="1400" baseline="30000" dirty="0"/>
              <a:t>4</a:t>
            </a:r>
            <a:endParaRPr lang="en-IT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71149F-BCEA-E430-8895-6D72F25E7E8C}"/>
              </a:ext>
            </a:extLst>
          </p:cNvPr>
          <p:cNvSpPr txBox="1"/>
          <p:nvPr/>
        </p:nvSpPr>
        <p:spPr>
          <a:xfrm>
            <a:off x="6218674" y="2953131"/>
            <a:ext cx="151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400" dirty="0"/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166326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2" grpId="0"/>
      <p:bldP spid="15" grpId="0"/>
      <p:bldP spid="16" grpId="0"/>
      <p:bldP spid="18" grpId="0" animBg="1"/>
      <p:bldP spid="22" grpId="0"/>
      <p:bldP spid="8" grpId="0" animBg="1"/>
      <p:bldP spid="20" grpId="0"/>
      <p:bldP spid="23" grpId="0"/>
      <p:bldP spid="5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BDA24-B651-5CC2-9368-CB0BCBF4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25D16A-F54D-4DEE-6704-21AF5CA120E5}"/>
              </a:ext>
            </a:extLst>
          </p:cNvPr>
          <p:cNvSpPr/>
          <p:nvPr/>
        </p:nvSpPr>
        <p:spPr>
          <a:xfrm>
            <a:off x="0" y="0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57EED4CC-7A39-AF91-E7E3-71872488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7" y="0"/>
            <a:ext cx="10515600" cy="563562"/>
          </a:xfrm>
        </p:spPr>
        <p:txBody>
          <a:bodyPr>
            <a:noAutofit/>
          </a:bodyPr>
          <a:lstStyle/>
          <a:p>
            <a:r>
              <a:rPr lang="en-IT" sz="3200" dirty="0"/>
              <a:t>INTRODUCTION</a:t>
            </a:r>
          </a:p>
        </p:txBody>
      </p:sp>
      <p:pic>
        <p:nvPicPr>
          <p:cNvPr id="6" name="Picture 5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98ED07DF-D616-21F0-14DB-6E46A714F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BE1F54D6-B215-19D7-3254-6B81F13B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9" name="Picture 8" descr="A yellow and blue text&#10;&#10;Description automatically generated">
            <a:extLst>
              <a:ext uri="{FF2B5EF4-FFF2-40B4-BE49-F238E27FC236}">
                <a16:creationId xmlns:a16="http://schemas.microsoft.com/office/drawing/2014/main" id="{E5F3F1F7-31D3-BB89-5551-EA45A725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A253F0-8B67-EC4C-2874-6CDC4E3DB189}"/>
              </a:ext>
            </a:extLst>
          </p:cNvPr>
          <p:cNvSpPr txBox="1"/>
          <p:nvPr/>
        </p:nvSpPr>
        <p:spPr>
          <a:xfrm>
            <a:off x="616687" y="753348"/>
            <a:ext cx="56884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b="1" dirty="0"/>
              <a:t>FLASH Effect in proton therapy:</a:t>
            </a:r>
          </a:p>
          <a:p>
            <a:r>
              <a:rPr lang="en-IT" dirty="0"/>
              <a:t> </a:t>
            </a:r>
          </a:p>
          <a:p>
            <a:r>
              <a:rPr lang="en-IT" dirty="0">
                <a:solidFill>
                  <a:srgbClr val="FF0000"/>
                </a:solidFill>
              </a:rPr>
              <a:t>Problem:</a:t>
            </a:r>
            <a:r>
              <a:rPr lang="en-IT" dirty="0"/>
              <a:t> modern PBS proton therapy centers (PTC) can’t deliver UHDR due to the energy switching time required between different energy layers (0.5-2 s)</a:t>
            </a:r>
          </a:p>
          <a:p>
            <a:endParaRPr lang="en-IT" dirty="0"/>
          </a:p>
          <a:p>
            <a:r>
              <a:rPr lang="en-IT" dirty="0"/>
              <a:t>	</a:t>
            </a:r>
            <a:r>
              <a:rPr lang="en-IT" b="1" dirty="0"/>
              <a:t>T</a:t>
            </a:r>
            <a:r>
              <a:rPr lang="en-GB" b="1" dirty="0"/>
              <a:t>h</a:t>
            </a:r>
            <a:r>
              <a:rPr lang="en-IT" b="1" dirty="0"/>
              <a:t>e FLASH effect is lost</a:t>
            </a:r>
          </a:p>
          <a:p>
            <a:endParaRPr lang="en-IT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A7D279-9A80-8631-5462-84995E91C62B}"/>
              </a:ext>
            </a:extLst>
          </p:cNvPr>
          <p:cNvSpPr txBox="1"/>
          <p:nvPr/>
        </p:nvSpPr>
        <p:spPr>
          <a:xfrm>
            <a:off x="648940" y="3203372"/>
            <a:ext cx="56884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b="1" dirty="0"/>
              <a:t>3D Range Modulators (3DRM)</a:t>
            </a:r>
            <a:endParaRPr lang="en-IT" dirty="0"/>
          </a:p>
          <a:p>
            <a:endParaRPr lang="en-IT" dirty="0"/>
          </a:p>
          <a:p>
            <a:r>
              <a:rPr lang="en-IT" dirty="0">
                <a:solidFill>
                  <a:schemeClr val="accent6"/>
                </a:solidFill>
              </a:rPr>
              <a:t>Solution:</a:t>
            </a:r>
            <a:r>
              <a:rPr lang="en-IT" dirty="0"/>
              <a:t> 3DRM, objects able to passively modulate the proton pencil beam energy and conformally shape the dose in the target (tumor)</a:t>
            </a:r>
          </a:p>
          <a:p>
            <a:endParaRPr lang="en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Optimization based on pre-calculated look-up-tables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Each pin is designed to contribute correctly to the final dose distribution (pin’s lengths)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Fluence of each pencil beam needs to be optimized</a:t>
            </a:r>
          </a:p>
        </p:txBody>
      </p:sp>
      <p:sp>
        <p:nvSpPr>
          <p:cNvPr id="31" name="Slide Number Placeholder 114">
            <a:extLst>
              <a:ext uri="{FF2B5EF4-FFF2-40B4-BE49-F238E27FC236}">
                <a16:creationId xmlns:a16="http://schemas.microsoft.com/office/drawing/2014/main" id="{0F0E2CA4-06B4-1763-1985-681CA5E6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3</a:t>
            </a:fld>
            <a:endParaRPr lang="en-IT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80D1C0-CA28-5D60-D376-F772EB23CEFC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8689B5-F527-1E54-55E4-235611EECBB7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pic>
        <p:nvPicPr>
          <p:cNvPr id="12" name="Simeonov2017_3.png" descr="Simeonov2017_3.png">
            <a:extLst>
              <a:ext uri="{FF2B5EF4-FFF2-40B4-BE49-F238E27FC236}">
                <a16:creationId xmlns:a16="http://schemas.microsoft.com/office/drawing/2014/main" id="{A8487A4C-F109-CA88-E4BA-06CC179ADA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16" b="51981"/>
          <a:stretch/>
        </p:blipFill>
        <p:spPr>
          <a:xfrm>
            <a:off x="6279960" y="3330609"/>
            <a:ext cx="5842892" cy="16474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4A5353-EC82-15E2-F767-0335189A4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47" y="789605"/>
            <a:ext cx="3144575" cy="2235809"/>
          </a:xfrm>
          <a:prstGeom prst="rect">
            <a:avLst/>
          </a:prstGeom>
        </p:spPr>
      </p:pic>
      <p:sp>
        <p:nvSpPr>
          <p:cNvPr id="63" name="Right Arrow 62">
            <a:extLst>
              <a:ext uri="{FF2B5EF4-FFF2-40B4-BE49-F238E27FC236}">
                <a16:creationId xmlns:a16="http://schemas.microsoft.com/office/drawing/2014/main" id="{595F9D5D-C1A6-C57E-C918-55643F3351FF}"/>
              </a:ext>
            </a:extLst>
          </p:cNvPr>
          <p:cNvSpPr/>
          <p:nvPr/>
        </p:nvSpPr>
        <p:spPr>
          <a:xfrm>
            <a:off x="788116" y="2420913"/>
            <a:ext cx="572058" cy="323165"/>
          </a:xfrm>
          <a:prstGeom prst="rightArrow">
            <a:avLst>
              <a:gd name="adj1" fmla="val 44226"/>
              <a:gd name="adj2" fmla="val 50000"/>
            </a:avLst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pic>
        <p:nvPicPr>
          <p:cNvPr id="64" name="Picture 63" descr="ModulatedPeaks.png">
            <a:extLst>
              <a:ext uri="{FF2B5EF4-FFF2-40B4-BE49-F238E27FC236}">
                <a16:creationId xmlns:a16="http://schemas.microsoft.com/office/drawing/2014/main" id="{66847499-375D-F597-8F9F-883B450D28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6" b="65335"/>
          <a:stretch/>
        </p:blipFill>
        <p:spPr>
          <a:xfrm flipV="1">
            <a:off x="6669435" y="5446578"/>
            <a:ext cx="2777430" cy="480075"/>
          </a:xfrm>
          <a:prstGeom prst="rect">
            <a:avLst/>
          </a:prstGeom>
        </p:spPr>
      </p:pic>
      <p:pic>
        <p:nvPicPr>
          <p:cNvPr id="65" name="Simeonov2017_3.png" descr="Simeonov2017_3.png">
            <a:extLst>
              <a:ext uri="{FF2B5EF4-FFF2-40B4-BE49-F238E27FC236}">
                <a16:creationId xmlns:a16="http://schemas.microsoft.com/office/drawing/2014/main" id="{67E5B451-EA6F-B3C2-0B1D-58AFFD1D43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941" t="49898" r="1957" b="4399"/>
          <a:stretch/>
        </p:blipFill>
        <p:spPr>
          <a:xfrm>
            <a:off x="9893111" y="4959277"/>
            <a:ext cx="2167829" cy="16474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person's face&#10;&#10;Description automatically generated">
            <a:extLst>
              <a:ext uri="{FF2B5EF4-FFF2-40B4-BE49-F238E27FC236}">
                <a16:creationId xmlns:a16="http://schemas.microsoft.com/office/drawing/2014/main" id="{E589120F-CEAC-CE40-2FE4-9D4287FCD9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2699" y="747280"/>
            <a:ext cx="2715935" cy="2235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4F7763-F62D-49EB-D563-C71813EE94C4}"/>
              </a:ext>
            </a:extLst>
          </p:cNvPr>
          <p:cNvSpPr txBox="1"/>
          <p:nvPr/>
        </p:nvSpPr>
        <p:spPr>
          <a:xfrm>
            <a:off x="8534038" y="4934850"/>
            <a:ext cx="1334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000" dirty="0"/>
              <a:t>Simoneov et al. 2017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381BBF-85D8-7DCE-9E8C-87A58C1D73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0759" y="6065694"/>
            <a:ext cx="2183905" cy="43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6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B05E-4663-974E-AE14-AE887341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B55F9-DC9D-D897-F163-6045FBD6FFA5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5C74CCBA-025A-F228-F2D4-180D4FB5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7" y="0"/>
            <a:ext cx="10515600" cy="563562"/>
          </a:xfrm>
        </p:spPr>
        <p:txBody>
          <a:bodyPr>
            <a:noAutofit/>
          </a:bodyPr>
          <a:lstStyle/>
          <a:p>
            <a:r>
              <a:rPr lang="en-IT" sz="3200" dirty="0"/>
              <a:t>PURPOSE</a:t>
            </a:r>
          </a:p>
        </p:txBody>
      </p:sp>
      <p:pic>
        <p:nvPicPr>
          <p:cNvPr id="6" name="Picture 5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47DB0ACE-F2F2-19AB-956D-7EBF7271F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474F0BA4-4CEE-D68B-71E0-C9475929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9" name="Picture 8" descr="A yellow and blue text&#10;&#10;Description automatically generated">
            <a:extLst>
              <a:ext uri="{FF2B5EF4-FFF2-40B4-BE49-F238E27FC236}">
                <a16:creationId xmlns:a16="http://schemas.microsoft.com/office/drawing/2014/main" id="{5A6C43EC-F814-2E63-C568-EA562DF92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pic>
        <p:nvPicPr>
          <p:cNvPr id="11" name="Picture 10" descr="A yellow and blue text&#10;&#10;Description automatically generated">
            <a:extLst>
              <a:ext uri="{FF2B5EF4-FFF2-40B4-BE49-F238E27FC236}">
                <a16:creationId xmlns:a16="http://schemas.microsoft.com/office/drawing/2014/main" id="{39ADBD3B-4057-21B9-8A43-8E1549132E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4431809" y="531912"/>
            <a:ext cx="3316507" cy="11109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90283E-784E-BDD1-55E5-2CE8AE02DADC}"/>
              </a:ext>
            </a:extLst>
          </p:cNvPr>
          <p:cNvSpPr txBox="1"/>
          <p:nvPr/>
        </p:nvSpPr>
        <p:spPr>
          <a:xfrm>
            <a:off x="280747" y="1672178"/>
            <a:ext cx="787468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b="1" dirty="0">
                <a:solidFill>
                  <a:srgbClr val="3E83C4"/>
                </a:solidFill>
              </a:rPr>
              <a:t>Why?</a:t>
            </a:r>
          </a:p>
          <a:p>
            <a:endParaRPr lang="en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T</a:t>
            </a:r>
            <a:r>
              <a:rPr lang="en-GB" dirty="0"/>
              <a:t>h</a:t>
            </a:r>
            <a:r>
              <a:rPr lang="en-IT" dirty="0"/>
              <a:t>e design of 3DRM is a non-trivial optimization process, dealing with </a:t>
            </a:r>
            <a:r>
              <a:rPr lang="en-IT" b="1" dirty="0"/>
              <a:t>inaccurate 3D look-up-tables, </a:t>
            </a:r>
            <a:r>
              <a:rPr lang="en-IT" dirty="0"/>
              <a:t>requiring </a:t>
            </a:r>
            <a:r>
              <a:rPr lang="en-IT" b="1" dirty="0"/>
              <a:t>long computational times</a:t>
            </a:r>
            <a:r>
              <a:rPr lang="en-IT" dirty="0"/>
              <a:t>, </a:t>
            </a:r>
            <a:r>
              <a:rPr lang="en-IT" b="1" dirty="0"/>
              <a:t>uncompatible with clinical routine </a:t>
            </a:r>
            <a:r>
              <a:rPr lang="en-IT" dirty="0"/>
              <a:t>(up to days)</a:t>
            </a:r>
            <a:endParaRPr lang="en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A complete workflow to design, print and test the 3DRM is still missing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T" dirty="0"/>
          </a:p>
          <a:p>
            <a:r>
              <a:rPr lang="en-IT" dirty="0"/>
              <a:t>	</a:t>
            </a:r>
            <a:r>
              <a:rPr lang="en-IT" b="1" dirty="0"/>
              <a:t>To speed up the translation of FLASH proton therapy into clinics</a:t>
            </a:r>
          </a:p>
          <a:p>
            <a:endParaRPr lang="en-IT" b="1" dirty="0"/>
          </a:p>
          <a:p>
            <a:endParaRPr lang="en-IT" b="1" dirty="0"/>
          </a:p>
          <a:p>
            <a:r>
              <a:rPr lang="en-IT" b="1" dirty="0">
                <a:solidFill>
                  <a:srgbClr val="3E83C4"/>
                </a:solidFill>
              </a:rPr>
              <a:t>How?</a:t>
            </a:r>
          </a:p>
          <a:p>
            <a:pPr algn="ctr"/>
            <a:endParaRPr lang="en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Exploiting the </a:t>
            </a:r>
            <a:r>
              <a:rPr lang="en-IT" b="1" dirty="0"/>
              <a:t>superior computational speed of FRED</a:t>
            </a:r>
            <a:r>
              <a:rPr lang="en-IT" dirty="0"/>
              <a:t>, a GPU-based MC simulation tool, in the optimization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Creating a dedicated </a:t>
            </a:r>
            <a:r>
              <a:rPr lang="en-IT" b="1" dirty="0"/>
              <a:t>efficient optimization algorithm </a:t>
            </a:r>
            <a:r>
              <a:rPr lang="en-IT" dirty="0"/>
              <a:t>to design the 3DRM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Developing a </a:t>
            </a:r>
            <a:r>
              <a:rPr lang="en-IT" b="1" dirty="0"/>
              <a:t>complete workflow</a:t>
            </a:r>
            <a:r>
              <a:rPr lang="en-IT" dirty="0"/>
              <a:t> for the design, printing and testing of </a:t>
            </a:r>
            <a:r>
              <a:rPr lang="en-IT" b="1" dirty="0"/>
              <a:t>patient-specific 3DRM </a:t>
            </a:r>
            <a:r>
              <a:rPr lang="en-IT" dirty="0"/>
              <a:t>at the PTC of Trento (APSS)</a:t>
            </a:r>
          </a:p>
          <a:p>
            <a:endParaRPr lang="en-IT" dirty="0"/>
          </a:p>
          <a:p>
            <a:r>
              <a:rPr lang="en-IT" dirty="0"/>
              <a:t> </a:t>
            </a:r>
          </a:p>
        </p:txBody>
      </p:sp>
      <p:pic>
        <p:nvPicPr>
          <p:cNvPr id="4" name="Picture 3" descr="A screen shot of a chart&#10;&#10;Description automatically generated">
            <a:extLst>
              <a:ext uri="{FF2B5EF4-FFF2-40B4-BE49-F238E27FC236}">
                <a16:creationId xmlns:a16="http://schemas.microsoft.com/office/drawing/2014/main" id="{C4412E29-4CA1-8D95-1B1B-B3003A0119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888"/>
          <a:stretch/>
        </p:blipFill>
        <p:spPr>
          <a:xfrm>
            <a:off x="7968398" y="2061180"/>
            <a:ext cx="4078463" cy="1840784"/>
          </a:xfrm>
          <a:prstGeom prst="rect">
            <a:avLst/>
          </a:prstGeom>
        </p:spPr>
      </p:pic>
      <p:pic>
        <p:nvPicPr>
          <p:cNvPr id="3" name="Picture 2" descr="A blue background with yellow and red letters&#10;&#10;Description automatically generated">
            <a:extLst>
              <a:ext uri="{FF2B5EF4-FFF2-40B4-BE49-F238E27FC236}">
                <a16:creationId xmlns:a16="http://schemas.microsoft.com/office/drawing/2014/main" id="{842D0BEB-0454-408B-C034-90C693D6E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3588" y="1508093"/>
            <a:ext cx="1010499" cy="4434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FA9D57-46EA-E973-DA50-8DEC3022E2D7}"/>
              </a:ext>
            </a:extLst>
          </p:cNvPr>
          <p:cNvSpPr txBox="1"/>
          <p:nvPr/>
        </p:nvSpPr>
        <p:spPr>
          <a:xfrm>
            <a:off x="3906772" y="1527502"/>
            <a:ext cx="436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/>
              <a:t>F</a:t>
            </a:r>
            <a:r>
              <a:rPr lang="en-IT" dirty="0"/>
              <a:t>ast </a:t>
            </a:r>
            <a:r>
              <a:rPr lang="en-IT" b="1" dirty="0"/>
              <a:t>O</a:t>
            </a:r>
            <a:r>
              <a:rPr lang="en-IT" dirty="0"/>
              <a:t>ptimization of </a:t>
            </a:r>
            <a:r>
              <a:rPr lang="en-IT" b="1" dirty="0"/>
              <a:t>R</a:t>
            </a:r>
            <a:r>
              <a:rPr lang="en-IT" dirty="0"/>
              <a:t>ange </a:t>
            </a:r>
            <a:r>
              <a:rPr lang="en-IT" b="1" dirty="0"/>
              <a:t>M</a:t>
            </a:r>
            <a:r>
              <a:rPr lang="en-IT" dirty="0"/>
              <a:t>odulators </a:t>
            </a:r>
            <a:r>
              <a:rPr lang="en-IT" b="1" dirty="0"/>
              <a:t>3D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A75F8-1CB5-AD6D-D8A0-A4BB5196A68F}"/>
              </a:ext>
            </a:extLst>
          </p:cNvPr>
          <p:cNvSpPr txBox="1"/>
          <p:nvPr/>
        </p:nvSpPr>
        <p:spPr>
          <a:xfrm>
            <a:off x="8179718" y="4317112"/>
            <a:ext cx="3952255" cy="1815882"/>
          </a:xfrm>
          <a:prstGeom prst="rect">
            <a:avLst/>
          </a:prstGeom>
          <a:noFill/>
          <a:ln w="1905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T" sz="1400" b="1" dirty="0"/>
              <a:t>FRED EXPERTISE: </a:t>
            </a:r>
          </a:p>
          <a:p>
            <a:pPr algn="ctr"/>
            <a:endParaRPr lang="en-IT" sz="1400" b="1" dirty="0"/>
          </a:p>
          <a:p>
            <a:r>
              <a:rPr lang="en-IT" sz="1400" b="1" dirty="0"/>
              <a:t>FRED Commissioning during FRIDA:</a:t>
            </a:r>
          </a:p>
          <a:p>
            <a:endParaRPr lang="en-IT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400" dirty="0"/>
              <a:t>APSS beam model implemented in FRED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400" dirty="0"/>
              <a:t>Tool to recalculate patient’s RT plan developed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400" dirty="0"/>
              <a:t>Validated on a set of significant patients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FD9EFD-057E-19AD-760F-8F7F343B3327}"/>
              </a:ext>
            </a:extLst>
          </p:cNvPr>
          <p:cNvSpPr txBox="1"/>
          <p:nvPr/>
        </p:nvSpPr>
        <p:spPr>
          <a:xfrm>
            <a:off x="9528243" y="3806795"/>
            <a:ext cx="1318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/>
              <a:t>www.fred-mc.org</a:t>
            </a:r>
          </a:p>
        </p:txBody>
      </p:sp>
      <p:pic>
        <p:nvPicPr>
          <p:cNvPr id="15" name="Picture 14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E1935578-34C1-E998-CD73-DE97BC56AA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671523" y="5194340"/>
            <a:ext cx="239729" cy="239729"/>
          </a:xfrm>
          <a:prstGeom prst="rect">
            <a:avLst/>
          </a:prstGeom>
        </p:spPr>
      </p:pic>
      <p:pic>
        <p:nvPicPr>
          <p:cNvPr id="16" name="Picture 15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1DE59F48-D4C3-80BC-9DEA-71FA7AFD46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355485" y="5637156"/>
            <a:ext cx="239729" cy="239729"/>
          </a:xfrm>
          <a:prstGeom prst="rect">
            <a:avLst/>
          </a:prstGeom>
        </p:spPr>
      </p:pic>
      <p:pic>
        <p:nvPicPr>
          <p:cNvPr id="17" name="Picture 16" descr="A green check mark in a circle&#10;&#10;Description automatically generated">
            <a:extLst>
              <a:ext uri="{FF2B5EF4-FFF2-40B4-BE49-F238E27FC236}">
                <a16:creationId xmlns:a16="http://schemas.microsoft.com/office/drawing/2014/main" id="{3E3650EA-0844-2EA3-DD2F-E66694367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615407" y="5836725"/>
            <a:ext cx="239729" cy="239729"/>
          </a:xfrm>
          <a:prstGeom prst="rect">
            <a:avLst/>
          </a:prstGeom>
        </p:spPr>
      </p:pic>
      <p:sp>
        <p:nvSpPr>
          <p:cNvPr id="18" name="Slide Number Placeholder 114">
            <a:extLst>
              <a:ext uri="{FF2B5EF4-FFF2-40B4-BE49-F238E27FC236}">
                <a16:creationId xmlns:a16="http://schemas.microsoft.com/office/drawing/2014/main" id="{5CA8C478-3C1F-C7F4-1E9F-590F662F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4</a:t>
            </a:fld>
            <a:endParaRPr lang="en-IT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B82057-7878-EF17-6B83-64CAE269A729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85ABA-06C8-96EA-838E-0E5ED789FF91}"/>
              </a:ext>
            </a:extLst>
          </p:cNvPr>
          <p:cNvSpPr txBox="1"/>
          <p:nvPr/>
        </p:nvSpPr>
        <p:spPr>
          <a:xfrm>
            <a:off x="10598014" y="1460596"/>
            <a:ext cx="1585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sz="800" dirty="0">
                <a:latin typeface="Helvetica Light" panose="020B0403020202020204" pitchFamily="34" charset="0"/>
              </a:rPr>
              <a:t>Copyright © 2015-2023. A. Schiavi and Sapienza university of Rome.  All rights reserved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319CE7-8B6F-EFE1-DDC7-703F50E21204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5C06CF5-32B0-8AB5-ED6B-4B7691D66892}"/>
              </a:ext>
            </a:extLst>
          </p:cNvPr>
          <p:cNvSpPr/>
          <p:nvPr/>
        </p:nvSpPr>
        <p:spPr>
          <a:xfrm>
            <a:off x="645654" y="3609066"/>
            <a:ext cx="542781" cy="32316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A5B63604-B866-2682-B7F8-545471A4A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762" y="4355434"/>
            <a:ext cx="924430" cy="60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41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E7E3-A34C-3355-F888-6A5AD2E7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7A1D86A-91E1-A805-09EA-646D11DF3E43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96F23B-A6C1-D111-D51D-B393D64FEAB8}"/>
              </a:ext>
            </a:extLst>
          </p:cNvPr>
          <p:cNvGrpSpPr/>
          <p:nvPr/>
        </p:nvGrpSpPr>
        <p:grpSpPr>
          <a:xfrm>
            <a:off x="3444942" y="798073"/>
            <a:ext cx="6157010" cy="5643397"/>
            <a:chOff x="3444942" y="798073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8784A5E-AE1A-FF43-A92B-B364C25FCEA9}"/>
                </a:ext>
              </a:extLst>
            </p:cNvPr>
            <p:cNvSpPr/>
            <p:nvPr/>
          </p:nvSpPr>
          <p:spPr>
            <a:xfrm>
              <a:off x="4322012" y="5941739"/>
              <a:ext cx="2026838" cy="499731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A2007A3-C989-19E3-70CA-81331CD2FF0E}"/>
                </a:ext>
              </a:extLst>
            </p:cNvPr>
            <p:cNvSpPr txBox="1"/>
            <p:nvPr/>
          </p:nvSpPr>
          <p:spPr>
            <a:xfrm>
              <a:off x="4357608" y="798073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86E289B-379C-C037-098B-25F354C4A761}"/>
                </a:ext>
              </a:extLst>
            </p:cNvPr>
            <p:cNvSpPr txBox="1"/>
            <p:nvPr/>
          </p:nvSpPr>
          <p:spPr>
            <a:xfrm>
              <a:off x="4253360" y="1710102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C6FD3D-E9BC-EFB1-84C2-4994696EE20B}"/>
                </a:ext>
              </a:extLst>
            </p:cNvPr>
            <p:cNvSpPr txBox="1"/>
            <p:nvPr/>
          </p:nvSpPr>
          <p:spPr>
            <a:xfrm>
              <a:off x="4232094" y="2646341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7DB21FB-BFE0-0EF0-628D-3852A0453A1E}"/>
                </a:ext>
              </a:extLst>
            </p:cNvPr>
            <p:cNvSpPr txBox="1"/>
            <p:nvPr/>
          </p:nvSpPr>
          <p:spPr>
            <a:xfrm>
              <a:off x="4293737" y="3733632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0F0B556-9671-6958-4BE8-44E9DB4F1988}"/>
                </a:ext>
              </a:extLst>
            </p:cNvPr>
            <p:cNvSpPr txBox="1"/>
            <p:nvPr/>
          </p:nvSpPr>
          <p:spPr>
            <a:xfrm>
              <a:off x="4419904" y="4866709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1D5FC5E-F81F-0D7E-DF0D-7CF66252CE14}"/>
                </a:ext>
              </a:extLst>
            </p:cNvPr>
            <p:cNvCxnSpPr>
              <a:cxnSpLocks/>
            </p:cNvCxnSpPr>
            <p:nvPr/>
          </p:nvCxnSpPr>
          <p:spPr>
            <a:xfrm>
              <a:off x="5277611" y="132129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6F64B73-8C10-FFC6-A701-9CE6F16F5FE2}"/>
                </a:ext>
              </a:extLst>
            </p:cNvPr>
            <p:cNvCxnSpPr>
              <a:cxnSpLocks/>
            </p:cNvCxnSpPr>
            <p:nvPr/>
          </p:nvCxnSpPr>
          <p:spPr>
            <a:xfrm>
              <a:off x="5275110" y="2278305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E3E9CAA-A948-4429-BB2C-C42D67F7F87B}"/>
                </a:ext>
              </a:extLst>
            </p:cNvPr>
            <p:cNvCxnSpPr>
              <a:cxnSpLocks/>
            </p:cNvCxnSpPr>
            <p:nvPr/>
          </p:nvCxnSpPr>
          <p:spPr>
            <a:xfrm>
              <a:off x="5291743" y="323874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6D3400D-19F2-9879-10AB-ADED1F0A6829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30" y="4160601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6EE156-0045-D1FC-70F9-2C0C9341DC96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327067" y="5447539"/>
              <a:ext cx="8364" cy="494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E1C4B4-DD30-566D-80BC-08FA866AA136}"/>
                </a:ext>
              </a:extLst>
            </p:cNvPr>
            <p:cNvSpPr txBox="1"/>
            <p:nvPr/>
          </p:nvSpPr>
          <p:spPr>
            <a:xfrm>
              <a:off x="4390548" y="604232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6BC3C9-59F1-B92A-CCDF-C22D396E9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1885" y="5009784"/>
              <a:ext cx="1389523" cy="1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5E958D3-49E7-1FDB-7923-03272ABA1381}"/>
                </a:ext>
              </a:extLst>
            </p:cNvPr>
            <p:cNvCxnSpPr>
              <a:cxnSpLocks/>
            </p:cNvCxnSpPr>
            <p:nvPr/>
          </p:nvCxnSpPr>
          <p:spPr>
            <a:xfrm>
              <a:off x="7850775" y="2932694"/>
              <a:ext cx="0" cy="20770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F7062D6-1627-B1AC-6A08-A057E0050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3634" y="2943327"/>
              <a:ext cx="1566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9983DF4-2B1F-6F25-960D-AF77C65E30EC}"/>
                </a:ext>
              </a:extLst>
            </p:cNvPr>
            <p:cNvSpPr txBox="1"/>
            <p:nvPr/>
          </p:nvSpPr>
          <p:spPr>
            <a:xfrm>
              <a:off x="6781269" y="3526589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correction of the weights w</a:t>
              </a:r>
              <a:r>
                <a:rPr lang="en-IT" sz="1400" baseline="-25000" dirty="0"/>
                <a:t>l</a:t>
              </a:r>
              <a:r>
                <a:rPr lang="en-IT" sz="1400" dirty="0"/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2EC67A-A836-9379-2526-5A222E9F66CB}"/>
                </a:ext>
              </a:extLst>
            </p:cNvPr>
            <p:cNvSpPr txBox="1"/>
            <p:nvPr/>
          </p:nvSpPr>
          <p:spPr>
            <a:xfrm>
              <a:off x="7796778" y="2092382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178939A5-C413-BE63-038A-2B3B5ED9A149}"/>
                </a:ext>
              </a:extLst>
            </p:cNvPr>
            <p:cNvSpPr/>
            <p:nvPr/>
          </p:nvSpPr>
          <p:spPr>
            <a:xfrm>
              <a:off x="4157663" y="4572030"/>
              <a:ext cx="2338809" cy="875509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C3D986-33DF-1990-8896-FCC73D2406E2}"/>
                </a:ext>
              </a:extLst>
            </p:cNvPr>
            <p:cNvSpPr/>
            <p:nvPr/>
          </p:nvSpPr>
          <p:spPr>
            <a:xfrm>
              <a:off x="4295892" y="1731368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601804-1E28-413E-CEA1-DF5500F27520}"/>
                </a:ext>
              </a:extLst>
            </p:cNvPr>
            <p:cNvSpPr/>
            <p:nvPr/>
          </p:nvSpPr>
          <p:spPr>
            <a:xfrm>
              <a:off x="4276567" y="802311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63245A-20A2-0BE7-58FB-EFCEA4AFB3EB}"/>
                </a:ext>
              </a:extLst>
            </p:cNvPr>
            <p:cNvSpPr/>
            <p:nvPr/>
          </p:nvSpPr>
          <p:spPr>
            <a:xfrm>
              <a:off x="4279259" y="2650855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FA00F28-1432-4771-E37A-6A42CB94D421}"/>
                </a:ext>
              </a:extLst>
            </p:cNvPr>
            <p:cNvSpPr/>
            <p:nvPr/>
          </p:nvSpPr>
          <p:spPr>
            <a:xfrm>
              <a:off x="4300746" y="3625910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103F36-6549-D0AC-EFA1-0156CD25547A}"/>
                </a:ext>
              </a:extLst>
            </p:cNvPr>
            <p:cNvSpPr/>
            <p:nvPr/>
          </p:nvSpPr>
          <p:spPr>
            <a:xfrm>
              <a:off x="6809756" y="3564227"/>
              <a:ext cx="2053683" cy="6633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F06C7D-25AE-C6BC-808C-04688217451D}"/>
                </a:ext>
              </a:extLst>
            </p:cNvPr>
            <p:cNvSpPr/>
            <p:nvPr/>
          </p:nvSpPr>
          <p:spPr>
            <a:xfrm>
              <a:off x="3444942" y="2518427"/>
              <a:ext cx="5794745" cy="3244419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CA08AB8-04E6-934B-FAFA-09DC088A9B1F}"/>
                </a:ext>
              </a:extLst>
            </p:cNvPr>
            <p:cNvSpPr txBox="1"/>
            <p:nvPr/>
          </p:nvSpPr>
          <p:spPr>
            <a:xfrm>
              <a:off x="6444154" y="4651085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66FC816-2949-26FA-34D5-988A1E763D53}"/>
                </a:ext>
              </a:extLst>
            </p:cNvPr>
            <p:cNvSpPr txBox="1"/>
            <p:nvPr/>
          </p:nvSpPr>
          <p:spPr>
            <a:xfrm>
              <a:off x="5344388" y="5388199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309EC497-582C-783D-2D9F-FB192A075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1885" y="2721494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E294D920-59CA-8A48-8025-DD9BE7D53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750" y="1840909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ED54381A-F101-2651-1FC0-C8A4E2194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5902" y="3276414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8342BB92-E837-165D-F574-E5727335CC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5439" b="5392"/>
            <a:stretch/>
          </p:blipFill>
          <p:spPr>
            <a:xfrm>
              <a:off x="6368348" y="825133"/>
              <a:ext cx="1466199" cy="433162"/>
            </a:xfrm>
            <a:prstGeom prst="rect">
              <a:avLst/>
            </a:prstGeom>
          </p:spPr>
        </p:pic>
      </p:grpSp>
      <p:sp>
        <p:nvSpPr>
          <p:cNvPr id="100" name="Title 7">
            <a:extLst>
              <a:ext uri="{FF2B5EF4-FFF2-40B4-BE49-F238E27FC236}">
                <a16:creationId xmlns:a16="http://schemas.microsoft.com/office/drawing/2014/main" id="{AB4037EF-0115-6734-67C4-9C22B9DA1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7" y="0"/>
            <a:ext cx="10515600" cy="575911"/>
          </a:xfrm>
        </p:spPr>
        <p:txBody>
          <a:bodyPr>
            <a:noAutofit/>
          </a:bodyPr>
          <a:lstStyle/>
          <a:p>
            <a:r>
              <a:rPr lang="en-IT" sz="3200" dirty="0"/>
              <a:t>3DRM DESIGN</a:t>
            </a:r>
          </a:p>
        </p:txBody>
      </p:sp>
      <p:pic>
        <p:nvPicPr>
          <p:cNvPr id="102" name="Picture 101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329D4101-47CA-3BA2-5185-87518C2A5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03" name="Picture 102" descr="A blue and black logo&#10;&#10;Description automatically generated">
            <a:extLst>
              <a:ext uri="{FF2B5EF4-FFF2-40B4-BE49-F238E27FC236}">
                <a16:creationId xmlns:a16="http://schemas.microsoft.com/office/drawing/2014/main" id="{875DC7A5-CDA3-024F-AEAB-DE23AE7747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04" name="Picture 103" descr="A yellow and blue text&#10;&#10;Description automatically generated">
            <a:extLst>
              <a:ext uri="{FF2B5EF4-FFF2-40B4-BE49-F238E27FC236}">
                <a16:creationId xmlns:a16="http://schemas.microsoft.com/office/drawing/2014/main" id="{1B82A834-BA9D-438C-3CFE-6E012DEBF2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05" name="Slide Number Placeholder 114">
            <a:extLst>
              <a:ext uri="{FF2B5EF4-FFF2-40B4-BE49-F238E27FC236}">
                <a16:creationId xmlns:a16="http://schemas.microsoft.com/office/drawing/2014/main" id="{AE68B491-7EFF-2779-171D-56A2E7F0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5</a:t>
            </a:fld>
            <a:endParaRPr lang="en-IT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514428C-2EC4-9695-8EAD-537AE6AC8F0F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539E873-7EF7-2C16-765D-AD2F664C8E12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352108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C -0.06589 0.01481 -0.13099 0.03009 -0.16615 0.03241 C -0.20131 0.03565 -0.20638 0.02546 -0.21081 0.01597 " pathEditMode="relative" rAng="0" ptsTypes="AAA">
                                      <p:cBhvr>
                                        <p:cTn id="6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47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D9E2-5043-06FF-B24C-B18ECDE0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666A48A-0B4B-6651-DA9E-C244D008FA40}"/>
              </a:ext>
            </a:extLst>
          </p:cNvPr>
          <p:cNvGrpSpPr/>
          <p:nvPr/>
        </p:nvGrpSpPr>
        <p:grpSpPr>
          <a:xfrm>
            <a:off x="875714" y="904398"/>
            <a:ext cx="6157010" cy="5643397"/>
            <a:chOff x="1424758" y="893766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4AD519D2-A4D8-C322-C1B6-87EBE34531E0}"/>
                </a:ext>
              </a:extLst>
            </p:cNvPr>
            <p:cNvSpPr/>
            <p:nvPr/>
          </p:nvSpPr>
          <p:spPr>
            <a:xfrm>
              <a:off x="2301828" y="6037432"/>
              <a:ext cx="2026838" cy="49973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B107CC-B3EA-BB24-E705-6F4275D0C8AC}"/>
                </a:ext>
              </a:extLst>
            </p:cNvPr>
            <p:cNvSpPr txBox="1"/>
            <p:nvPr/>
          </p:nvSpPr>
          <p:spPr>
            <a:xfrm>
              <a:off x="2337424" y="893766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B2D9BA-62B3-172F-3204-A49883DE0B40}"/>
                </a:ext>
              </a:extLst>
            </p:cNvPr>
            <p:cNvSpPr txBox="1"/>
            <p:nvPr/>
          </p:nvSpPr>
          <p:spPr>
            <a:xfrm>
              <a:off x="2233176" y="1805795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19E971-780F-4350-A22E-9210EE6B3D58}"/>
                </a:ext>
              </a:extLst>
            </p:cNvPr>
            <p:cNvSpPr txBox="1"/>
            <p:nvPr/>
          </p:nvSpPr>
          <p:spPr>
            <a:xfrm>
              <a:off x="2211910" y="2742034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769D3C-8730-E24B-0262-58D0F51E914F}"/>
                </a:ext>
              </a:extLst>
            </p:cNvPr>
            <p:cNvSpPr txBox="1"/>
            <p:nvPr/>
          </p:nvSpPr>
          <p:spPr>
            <a:xfrm>
              <a:off x="2273553" y="3829325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0831D96-B5CB-5C1F-FCFE-C49B2B205CE2}"/>
                </a:ext>
              </a:extLst>
            </p:cNvPr>
            <p:cNvSpPr txBox="1"/>
            <p:nvPr/>
          </p:nvSpPr>
          <p:spPr>
            <a:xfrm>
              <a:off x="2399720" y="496240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874F604-5AA0-B1F8-AF3F-B8144C94F4DC}"/>
                </a:ext>
              </a:extLst>
            </p:cNvPr>
            <p:cNvCxnSpPr>
              <a:cxnSpLocks/>
            </p:cNvCxnSpPr>
            <p:nvPr/>
          </p:nvCxnSpPr>
          <p:spPr>
            <a:xfrm>
              <a:off x="3257427" y="1416986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D4FFF47-B055-64CE-AA27-5A2D4F05521B}"/>
                </a:ext>
              </a:extLst>
            </p:cNvPr>
            <p:cNvCxnSpPr>
              <a:cxnSpLocks/>
            </p:cNvCxnSpPr>
            <p:nvPr/>
          </p:nvCxnSpPr>
          <p:spPr>
            <a:xfrm>
              <a:off x="3254926" y="2373998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2A68C1C-43BD-843E-6568-5765E9FF2B64}"/>
                </a:ext>
              </a:extLst>
            </p:cNvPr>
            <p:cNvCxnSpPr>
              <a:cxnSpLocks/>
            </p:cNvCxnSpPr>
            <p:nvPr/>
          </p:nvCxnSpPr>
          <p:spPr>
            <a:xfrm>
              <a:off x="3271559" y="333443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ECFC20F-8937-8723-78CC-7BD6BAD20541}"/>
                </a:ext>
              </a:extLst>
            </p:cNvPr>
            <p:cNvCxnSpPr>
              <a:cxnSpLocks/>
            </p:cNvCxnSpPr>
            <p:nvPr/>
          </p:nvCxnSpPr>
          <p:spPr>
            <a:xfrm>
              <a:off x="3307846" y="4256294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83882C4-0F1A-F0E1-6B99-7976726580EC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3306883" y="5543232"/>
              <a:ext cx="8364" cy="49420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FE9169-950F-6536-753D-6770AE79CD0E}"/>
                </a:ext>
              </a:extLst>
            </p:cNvPr>
            <p:cNvSpPr txBox="1"/>
            <p:nvPr/>
          </p:nvSpPr>
          <p:spPr>
            <a:xfrm>
              <a:off x="2370364" y="6138015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75000"/>
                    </a:schemeClr>
                  </a:solidFill>
                </a:rPr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85C50B9-0C23-A901-741B-4F9DB16C1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1701" y="5105477"/>
              <a:ext cx="1389523" cy="18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F83D8F1-7E61-52D1-407F-57D91675483E}"/>
                </a:ext>
              </a:extLst>
            </p:cNvPr>
            <p:cNvCxnSpPr>
              <a:cxnSpLocks/>
            </p:cNvCxnSpPr>
            <p:nvPr/>
          </p:nvCxnSpPr>
          <p:spPr>
            <a:xfrm>
              <a:off x="5830591" y="3028387"/>
              <a:ext cx="0" cy="20770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3589AC2-A4AB-89B7-F5F8-58E0431F6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3450" y="3039020"/>
              <a:ext cx="1566729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24D662-587D-F166-61AF-EEB4E3BD3FEA}"/>
                </a:ext>
              </a:extLst>
            </p:cNvPr>
            <p:cNvSpPr txBox="1"/>
            <p:nvPr/>
          </p:nvSpPr>
          <p:spPr>
            <a:xfrm>
              <a:off x="4761085" y="3622282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correction of the weights w</a:t>
              </a:r>
              <a:r>
                <a:rPr lang="en-IT" sz="1400" baseline="-25000" dirty="0">
                  <a:solidFill>
                    <a:schemeClr val="bg1">
                      <a:lumMod val="85000"/>
                    </a:schemeClr>
                  </a:solidFill>
                </a:rPr>
                <a:t>l</a:t>
              </a:r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ED9D6F-34BF-1DC4-A2AC-9969A68982A5}"/>
                </a:ext>
              </a:extLst>
            </p:cNvPr>
            <p:cNvSpPr txBox="1"/>
            <p:nvPr/>
          </p:nvSpPr>
          <p:spPr>
            <a:xfrm>
              <a:off x="5776594" y="2188075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E10207C9-8060-46AF-CD22-D27D7B8B5A52}"/>
                </a:ext>
              </a:extLst>
            </p:cNvPr>
            <p:cNvSpPr/>
            <p:nvPr/>
          </p:nvSpPr>
          <p:spPr>
            <a:xfrm>
              <a:off x="2137479" y="4667723"/>
              <a:ext cx="2338809" cy="875509"/>
            </a:xfrm>
            <a:prstGeom prst="diamond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971B69-212F-F26E-CED4-73F9E5E58071}"/>
                </a:ext>
              </a:extLst>
            </p:cNvPr>
            <p:cNvSpPr/>
            <p:nvPr/>
          </p:nvSpPr>
          <p:spPr>
            <a:xfrm>
              <a:off x="2275708" y="1827061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4FC843-56F9-249E-5DCB-FF7EC275C2A0}"/>
                </a:ext>
              </a:extLst>
            </p:cNvPr>
            <p:cNvSpPr/>
            <p:nvPr/>
          </p:nvSpPr>
          <p:spPr>
            <a:xfrm>
              <a:off x="2256383" y="898004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8F6A860-B33E-3A8F-E9E9-C45877270CBA}"/>
                </a:ext>
              </a:extLst>
            </p:cNvPr>
            <p:cNvSpPr/>
            <p:nvPr/>
          </p:nvSpPr>
          <p:spPr>
            <a:xfrm>
              <a:off x="2259075" y="2746548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F6EB45-ABCC-E5A6-78B7-0D9D94F1D20B}"/>
                </a:ext>
              </a:extLst>
            </p:cNvPr>
            <p:cNvSpPr/>
            <p:nvPr/>
          </p:nvSpPr>
          <p:spPr>
            <a:xfrm>
              <a:off x="2280562" y="3721603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0136D9-F83E-D1D5-5CAD-49B0DB46FD3C}"/>
                </a:ext>
              </a:extLst>
            </p:cNvPr>
            <p:cNvSpPr/>
            <p:nvPr/>
          </p:nvSpPr>
          <p:spPr>
            <a:xfrm>
              <a:off x="4789572" y="3659920"/>
              <a:ext cx="2053683" cy="66338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071145C-BF56-E078-C360-3076D8E8AFC8}"/>
                </a:ext>
              </a:extLst>
            </p:cNvPr>
            <p:cNvSpPr/>
            <p:nvPr/>
          </p:nvSpPr>
          <p:spPr>
            <a:xfrm>
              <a:off x="1424758" y="2614120"/>
              <a:ext cx="5794745" cy="3244419"/>
            </a:xfrm>
            <a:prstGeom prst="rect">
              <a:avLst/>
            </a:prstGeom>
            <a:noFill/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E04D7AD-EB23-02F5-0433-19D044C0D06A}"/>
                </a:ext>
              </a:extLst>
            </p:cNvPr>
            <p:cNvSpPr txBox="1"/>
            <p:nvPr/>
          </p:nvSpPr>
          <p:spPr>
            <a:xfrm>
              <a:off x="4423970" y="47467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233BFD2-8BF2-05B5-01C2-1FEB228822CD}"/>
                </a:ext>
              </a:extLst>
            </p:cNvPr>
            <p:cNvSpPr txBox="1"/>
            <p:nvPr/>
          </p:nvSpPr>
          <p:spPr>
            <a:xfrm>
              <a:off x="3324204" y="5483892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EDBE98B8-DB2A-8744-3797-0D89BEB26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51701" y="2817187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30907671-9CA4-D8B6-97C7-90C1DC079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23566" y="1936602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409360D6-7197-353A-D9F6-E6DD86EB8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35718" y="3372107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F7B43921-8769-A9C4-4AC9-454004235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55439" b="5392"/>
            <a:stretch/>
          </p:blipFill>
          <p:spPr>
            <a:xfrm>
              <a:off x="4348164" y="920826"/>
              <a:ext cx="1466199" cy="433162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D1EE721F-99D4-FC03-81D2-43AA511455C6}"/>
              </a:ext>
            </a:extLst>
          </p:cNvPr>
          <p:cNvSpPr txBox="1"/>
          <p:nvPr/>
        </p:nvSpPr>
        <p:spPr>
          <a:xfrm>
            <a:off x="7531405" y="1883705"/>
            <a:ext cx="20536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/>
              <a:t>TPS dicom files: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/>
              <a:t>RT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/>
              <a:t>RT dose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/>
              <a:t>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/>
              <a:t>Structures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2D33B5-10B5-7E4E-605C-783B57E79115}"/>
              </a:ext>
            </a:extLst>
          </p:cNvPr>
          <p:cNvSpPr txBox="1"/>
          <p:nvPr/>
        </p:nvSpPr>
        <p:spPr>
          <a:xfrm>
            <a:off x="7361661" y="4825622"/>
            <a:ext cx="4262705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pb: 001 1; </a:t>
            </a:r>
            <a:r>
              <a:rPr lang="en-GB" sz="1200" dirty="0">
                <a:solidFill>
                  <a:srgbClr val="FF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	    pb: 001 1; </a:t>
            </a:r>
            <a:r>
              <a:rPr lang="en-GB" sz="1200" dirty="0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 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pb: 002 1; </a:t>
            </a:r>
            <a:r>
              <a:rPr lang="en-GB" sz="1200" dirty="0">
                <a:solidFill>
                  <a:srgbClr val="FF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	    pb: 002 1; </a:t>
            </a:r>
            <a:r>
              <a:rPr lang="en-GB" sz="1200" dirty="0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 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		    …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pb: 301 1; </a:t>
            </a:r>
            <a:r>
              <a:rPr lang="en-GB" sz="1200" dirty="0">
                <a:solidFill>
                  <a:srgbClr val="FF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=98.5;	    pb: 301 1; </a:t>
            </a:r>
            <a:r>
              <a:rPr lang="en-GB" sz="1200" dirty="0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pb: 302 1; </a:t>
            </a:r>
            <a:r>
              <a:rPr lang="en-GB" sz="1200" dirty="0">
                <a:solidFill>
                  <a:srgbClr val="FF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=98.5;	    pb: 302 1; </a:t>
            </a:r>
            <a:r>
              <a:rPr lang="en-GB" sz="1200" dirty="0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 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		    …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pb: 701 1; </a:t>
            </a:r>
            <a:r>
              <a:rPr lang="en-GB" sz="1200" dirty="0">
                <a:solidFill>
                  <a:srgbClr val="FF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=78.3;	    pb: 701 1; </a:t>
            </a:r>
            <a:r>
              <a:rPr lang="en-GB" sz="1200" dirty="0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 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pb: 702 1; </a:t>
            </a:r>
            <a:r>
              <a:rPr lang="en-GB" sz="1200" dirty="0">
                <a:solidFill>
                  <a:srgbClr val="FF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=78.3;	    pb: 702 1; </a:t>
            </a:r>
            <a:r>
              <a:rPr lang="en-GB" sz="1200" dirty="0">
                <a:solidFill>
                  <a:schemeClr val="accent6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</a:t>
            </a:r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=105.6;</a:t>
            </a:r>
          </a:p>
          <a:p>
            <a:r>
              <a:rPr lang="en-GB" sz="12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		    …</a:t>
            </a:r>
          </a:p>
          <a:p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7" name="Right Arrow 66">
            <a:extLst>
              <a:ext uri="{FF2B5EF4-FFF2-40B4-BE49-F238E27FC236}">
                <a16:creationId xmlns:a16="http://schemas.microsoft.com/office/drawing/2014/main" id="{EEEDD85B-5011-0741-D13E-09B72D08A10C}"/>
              </a:ext>
            </a:extLst>
          </p:cNvPr>
          <p:cNvSpPr/>
          <p:nvPr/>
        </p:nvSpPr>
        <p:spPr>
          <a:xfrm>
            <a:off x="9306915" y="4420181"/>
            <a:ext cx="435327" cy="259288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523C8A-C170-D3FF-9DAE-47E62995D17F}"/>
              </a:ext>
            </a:extLst>
          </p:cNvPr>
          <p:cNvSpPr/>
          <p:nvPr/>
        </p:nvSpPr>
        <p:spPr>
          <a:xfrm>
            <a:off x="8406800" y="4760319"/>
            <a:ext cx="794420" cy="179872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6600524-B1F3-549A-27CD-507CC9C36258}"/>
              </a:ext>
            </a:extLst>
          </p:cNvPr>
          <p:cNvSpPr/>
          <p:nvPr/>
        </p:nvSpPr>
        <p:spPr>
          <a:xfrm>
            <a:off x="10629086" y="4760319"/>
            <a:ext cx="794420" cy="1798727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B2575B-850D-E1D0-D57A-756E3D9AA09C}"/>
              </a:ext>
            </a:extLst>
          </p:cNvPr>
          <p:cNvSpPr txBox="1"/>
          <p:nvPr/>
        </p:nvSpPr>
        <p:spPr>
          <a:xfrm>
            <a:off x="7395910" y="4329795"/>
            <a:ext cx="1790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rgbClr val="FF0000"/>
                </a:solidFill>
              </a:rPr>
              <a:t>RT original plan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8ABC57-5F6F-CBC2-7E54-4EA5426F4569}"/>
              </a:ext>
            </a:extLst>
          </p:cNvPr>
          <p:cNvSpPr txBox="1"/>
          <p:nvPr/>
        </p:nvSpPr>
        <p:spPr>
          <a:xfrm>
            <a:off x="9863014" y="4360945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chemeClr val="accent6"/>
                </a:solidFill>
              </a:rPr>
              <a:t>3DRM based plan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AB472E7-3B51-A59D-F331-CFD1C7C6F45D}"/>
              </a:ext>
            </a:extLst>
          </p:cNvPr>
          <p:cNvGrpSpPr/>
          <p:nvPr/>
        </p:nvGrpSpPr>
        <p:grpSpPr>
          <a:xfrm>
            <a:off x="9667175" y="1330878"/>
            <a:ext cx="2106232" cy="2351866"/>
            <a:chOff x="5863630" y="611147"/>
            <a:chExt cx="2106232" cy="2351866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8205C84-0BA2-E95A-2DBA-AFE7B98A55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863630" y="611147"/>
              <a:ext cx="2106232" cy="2351866"/>
              <a:chOff x="6193187" y="160637"/>
              <a:chExt cx="3079564" cy="3265313"/>
            </a:xfrm>
          </p:grpSpPr>
          <p:pic>
            <p:nvPicPr>
              <p:cNvPr id="91" name="Picture 90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FBEF8A3D-8050-8880-7A4F-0258922879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9084" b="14203"/>
              <a:stretch/>
            </p:blipFill>
            <p:spPr>
              <a:xfrm>
                <a:off x="6193187" y="160638"/>
                <a:ext cx="3079563" cy="3265312"/>
              </a:xfrm>
              <a:prstGeom prst="rect">
                <a:avLst/>
              </a:prstGeom>
            </p:spPr>
          </p:pic>
          <p:pic>
            <p:nvPicPr>
              <p:cNvPr id="92" name="Picture 91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D7B6AD62-053D-72EA-D6D3-FF7E924695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81411" b="71231"/>
              <a:stretch/>
            </p:blipFill>
            <p:spPr>
              <a:xfrm>
                <a:off x="8085603" y="160637"/>
                <a:ext cx="1187148" cy="1837298"/>
              </a:xfrm>
              <a:prstGeom prst="rect">
                <a:avLst/>
              </a:prstGeom>
            </p:spPr>
          </p:pic>
          <p:pic>
            <p:nvPicPr>
              <p:cNvPr id="93" name="Picture 92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92A0E5E7-1B83-A393-CD6D-6847C446AB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8949" t="12987" r="10010" b="14902"/>
              <a:stretch/>
            </p:blipFill>
            <p:spPr>
              <a:xfrm>
                <a:off x="6202343" y="654908"/>
                <a:ext cx="2703697" cy="2744444"/>
              </a:xfrm>
              <a:prstGeom prst="rect">
                <a:avLst/>
              </a:prstGeom>
            </p:spPr>
          </p:pic>
        </p:grpSp>
        <p:pic>
          <p:nvPicPr>
            <p:cNvPr id="79" name="Picture 7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DC288D5-00FE-41F3-F37F-FE6CE26BDC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5953" r="67920" b="91017"/>
            <a:stretch/>
          </p:blipFill>
          <p:spPr>
            <a:xfrm>
              <a:off x="5998812" y="654863"/>
              <a:ext cx="775716" cy="280859"/>
            </a:xfrm>
            <a:prstGeom prst="rect">
              <a:avLst/>
            </a:prstGeom>
          </p:spPr>
        </p:pic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865036E-5C93-0797-D312-43AABD27DE36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5" name="Title 7">
            <a:extLst>
              <a:ext uri="{FF2B5EF4-FFF2-40B4-BE49-F238E27FC236}">
                <a16:creationId xmlns:a16="http://schemas.microsoft.com/office/drawing/2014/main" id="{20D872B5-EAB5-F5FE-A7A9-A8D8AE58D839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3DRM DESIGN</a:t>
            </a:r>
          </a:p>
        </p:txBody>
      </p:sp>
      <p:pic>
        <p:nvPicPr>
          <p:cNvPr id="106" name="Picture 105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76B7C634-329D-2BED-2B43-F87B26301F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07" name="Picture 106" descr="A blue and black logo&#10;&#10;Description automatically generated">
            <a:extLst>
              <a:ext uri="{FF2B5EF4-FFF2-40B4-BE49-F238E27FC236}">
                <a16:creationId xmlns:a16="http://schemas.microsoft.com/office/drawing/2014/main" id="{14C9EB01-EBF7-295D-64E5-8EBB2CFAF9B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08" name="Picture 107" descr="A yellow and blue text&#10;&#10;Description automatically generated">
            <a:extLst>
              <a:ext uri="{FF2B5EF4-FFF2-40B4-BE49-F238E27FC236}">
                <a16:creationId xmlns:a16="http://schemas.microsoft.com/office/drawing/2014/main" id="{F6C8A132-5141-612A-5848-2C21A80D3AF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09" name="Slide Number Placeholder 114">
            <a:extLst>
              <a:ext uri="{FF2B5EF4-FFF2-40B4-BE49-F238E27FC236}">
                <a16:creationId xmlns:a16="http://schemas.microsoft.com/office/drawing/2014/main" id="{41B9E074-D60D-FB68-BB50-B5DF0D2D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6</a:t>
            </a:fld>
            <a:endParaRPr lang="en-IT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D7FB253-4789-C9EF-A01E-8E27015429F7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D8AFA8B-AAFA-2832-6206-227E3A4E6194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11784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999D-3B84-4103-B15C-1FA5BB32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3A2EECC-2CF2-AF29-2F8C-EE5CA2DB4CC6}"/>
              </a:ext>
            </a:extLst>
          </p:cNvPr>
          <p:cNvGrpSpPr/>
          <p:nvPr/>
        </p:nvGrpSpPr>
        <p:grpSpPr>
          <a:xfrm>
            <a:off x="875714" y="904398"/>
            <a:ext cx="6157010" cy="5643397"/>
            <a:chOff x="1424758" y="893766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3202F423-58AA-5F13-AF8B-E042EDAD412B}"/>
                </a:ext>
              </a:extLst>
            </p:cNvPr>
            <p:cNvSpPr/>
            <p:nvPr/>
          </p:nvSpPr>
          <p:spPr>
            <a:xfrm>
              <a:off x="2301828" y="6037432"/>
              <a:ext cx="2026838" cy="49973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89971B-CA05-9A21-2F42-5CE6D5B41E64}"/>
                </a:ext>
              </a:extLst>
            </p:cNvPr>
            <p:cNvSpPr txBox="1"/>
            <p:nvPr/>
          </p:nvSpPr>
          <p:spPr>
            <a:xfrm>
              <a:off x="2337424" y="893766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508079B-2BFC-3E24-D671-810E11F96D11}"/>
                </a:ext>
              </a:extLst>
            </p:cNvPr>
            <p:cNvSpPr txBox="1"/>
            <p:nvPr/>
          </p:nvSpPr>
          <p:spPr>
            <a:xfrm>
              <a:off x="2233176" y="1805795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BBC962F-FFB6-83F9-C14D-87667F11E538}"/>
                </a:ext>
              </a:extLst>
            </p:cNvPr>
            <p:cNvSpPr txBox="1"/>
            <p:nvPr/>
          </p:nvSpPr>
          <p:spPr>
            <a:xfrm>
              <a:off x="2211910" y="2742034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C5A676-F9F5-C4A9-CF8B-B90C5DF26432}"/>
                </a:ext>
              </a:extLst>
            </p:cNvPr>
            <p:cNvSpPr txBox="1"/>
            <p:nvPr/>
          </p:nvSpPr>
          <p:spPr>
            <a:xfrm>
              <a:off x="2273553" y="3829325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54B412-D360-7215-D27F-EA2AE5757320}"/>
                </a:ext>
              </a:extLst>
            </p:cNvPr>
            <p:cNvSpPr txBox="1"/>
            <p:nvPr/>
          </p:nvSpPr>
          <p:spPr>
            <a:xfrm>
              <a:off x="2399720" y="496240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BFFF0E7-2A11-208A-67B6-4C99471A2E78}"/>
                </a:ext>
              </a:extLst>
            </p:cNvPr>
            <p:cNvCxnSpPr>
              <a:cxnSpLocks/>
            </p:cNvCxnSpPr>
            <p:nvPr/>
          </p:nvCxnSpPr>
          <p:spPr>
            <a:xfrm>
              <a:off x="3257427" y="141698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12DA9F8-23E0-FD95-EA08-5F7FA62FDB34}"/>
                </a:ext>
              </a:extLst>
            </p:cNvPr>
            <p:cNvCxnSpPr>
              <a:cxnSpLocks/>
            </p:cNvCxnSpPr>
            <p:nvPr/>
          </p:nvCxnSpPr>
          <p:spPr>
            <a:xfrm>
              <a:off x="3254926" y="2373998"/>
              <a:ext cx="0" cy="37255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A4B1660-FBD3-B387-6077-5F1E7414A637}"/>
                </a:ext>
              </a:extLst>
            </p:cNvPr>
            <p:cNvCxnSpPr>
              <a:cxnSpLocks/>
            </p:cNvCxnSpPr>
            <p:nvPr/>
          </p:nvCxnSpPr>
          <p:spPr>
            <a:xfrm>
              <a:off x="3271559" y="333443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5F00AC2-0018-7C8C-E98E-D56750501784}"/>
                </a:ext>
              </a:extLst>
            </p:cNvPr>
            <p:cNvCxnSpPr>
              <a:cxnSpLocks/>
            </p:cNvCxnSpPr>
            <p:nvPr/>
          </p:nvCxnSpPr>
          <p:spPr>
            <a:xfrm>
              <a:off x="3307846" y="4256294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4593A9D-1827-DC8E-611A-605314A3F046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3306883" y="5543232"/>
              <a:ext cx="8364" cy="49420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BFCA65-06B9-40C5-C8E4-A3813DEAD422}"/>
                </a:ext>
              </a:extLst>
            </p:cNvPr>
            <p:cNvSpPr txBox="1"/>
            <p:nvPr/>
          </p:nvSpPr>
          <p:spPr>
            <a:xfrm>
              <a:off x="2370364" y="6138015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75000"/>
                    </a:schemeClr>
                  </a:solidFill>
                </a:rPr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A68EA7-C829-C3FC-0FC7-679B939F1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1701" y="5105477"/>
              <a:ext cx="1389523" cy="18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67D2212-278B-F1B7-A41F-9B074EFF7802}"/>
                </a:ext>
              </a:extLst>
            </p:cNvPr>
            <p:cNvCxnSpPr>
              <a:cxnSpLocks/>
            </p:cNvCxnSpPr>
            <p:nvPr/>
          </p:nvCxnSpPr>
          <p:spPr>
            <a:xfrm>
              <a:off x="5830591" y="3028387"/>
              <a:ext cx="0" cy="20770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E634AD-78B0-CF58-E5E6-9BAAB955D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3450" y="3039020"/>
              <a:ext cx="1566729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D7EC81-4DA2-35B7-AA22-4EA5358BF5CF}"/>
                </a:ext>
              </a:extLst>
            </p:cNvPr>
            <p:cNvSpPr txBox="1"/>
            <p:nvPr/>
          </p:nvSpPr>
          <p:spPr>
            <a:xfrm>
              <a:off x="4761085" y="3622282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correction of the weights w</a:t>
              </a:r>
              <a:r>
                <a:rPr lang="en-IT" sz="1400" baseline="-25000" dirty="0">
                  <a:solidFill>
                    <a:schemeClr val="bg1">
                      <a:lumMod val="85000"/>
                    </a:schemeClr>
                  </a:solidFill>
                </a:rPr>
                <a:t>l</a:t>
              </a:r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FDACFA-91AA-CEB4-15BB-9AB1E8717148}"/>
                </a:ext>
              </a:extLst>
            </p:cNvPr>
            <p:cNvSpPr txBox="1"/>
            <p:nvPr/>
          </p:nvSpPr>
          <p:spPr>
            <a:xfrm>
              <a:off x="5776594" y="2188075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C4148C1F-2F04-51CC-D06D-09AD6AACDF44}"/>
                </a:ext>
              </a:extLst>
            </p:cNvPr>
            <p:cNvSpPr/>
            <p:nvPr/>
          </p:nvSpPr>
          <p:spPr>
            <a:xfrm>
              <a:off x="2137479" y="4667723"/>
              <a:ext cx="2338809" cy="875509"/>
            </a:xfrm>
            <a:prstGeom prst="diamond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E39C1E-29D6-11D8-148D-4CE9C260E934}"/>
                </a:ext>
              </a:extLst>
            </p:cNvPr>
            <p:cNvSpPr/>
            <p:nvPr/>
          </p:nvSpPr>
          <p:spPr>
            <a:xfrm>
              <a:off x="2275708" y="1827061"/>
              <a:ext cx="1991703" cy="52322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C47BF3-A2DF-9CBC-486B-A72FCC7C7DFD}"/>
                </a:ext>
              </a:extLst>
            </p:cNvPr>
            <p:cNvSpPr/>
            <p:nvPr/>
          </p:nvSpPr>
          <p:spPr>
            <a:xfrm>
              <a:off x="2256383" y="898004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3B67AA-A5C6-64ED-5410-84EFA6620C60}"/>
                </a:ext>
              </a:extLst>
            </p:cNvPr>
            <p:cNvSpPr/>
            <p:nvPr/>
          </p:nvSpPr>
          <p:spPr>
            <a:xfrm>
              <a:off x="2259075" y="2746548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994257-E86B-C0F3-8C2F-493B27CDFF58}"/>
                </a:ext>
              </a:extLst>
            </p:cNvPr>
            <p:cNvSpPr/>
            <p:nvPr/>
          </p:nvSpPr>
          <p:spPr>
            <a:xfrm>
              <a:off x="2280562" y="3721603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C8073B-2F19-790C-6F32-C434E53B1CE1}"/>
                </a:ext>
              </a:extLst>
            </p:cNvPr>
            <p:cNvSpPr/>
            <p:nvPr/>
          </p:nvSpPr>
          <p:spPr>
            <a:xfrm>
              <a:off x="4789572" y="3659920"/>
              <a:ext cx="2053683" cy="66338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76C3E9-CEA7-97B0-551F-54D3CA5337CD}"/>
                </a:ext>
              </a:extLst>
            </p:cNvPr>
            <p:cNvSpPr/>
            <p:nvPr/>
          </p:nvSpPr>
          <p:spPr>
            <a:xfrm>
              <a:off x="1424758" y="2614120"/>
              <a:ext cx="5794745" cy="3244419"/>
            </a:xfrm>
            <a:prstGeom prst="rect">
              <a:avLst/>
            </a:prstGeom>
            <a:noFill/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98496DC-AB84-C184-B691-5A005A10019E}"/>
                </a:ext>
              </a:extLst>
            </p:cNvPr>
            <p:cNvSpPr txBox="1"/>
            <p:nvPr/>
          </p:nvSpPr>
          <p:spPr>
            <a:xfrm>
              <a:off x="4423970" y="47467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356885-B56C-7A0F-D3BE-95B6F58967BA}"/>
                </a:ext>
              </a:extLst>
            </p:cNvPr>
            <p:cNvSpPr txBox="1"/>
            <p:nvPr/>
          </p:nvSpPr>
          <p:spPr>
            <a:xfrm>
              <a:off x="3324204" y="5483892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5F9B3FA4-7BC0-F141-3DB0-89DDAD302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51701" y="2817187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37FF3919-2161-5785-3EE8-E7B4C86BD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3566" y="1936602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A5B06744-D5C8-EB8D-5962-FF68DB745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35718" y="3372107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6163BFF8-6511-5DFF-94FB-8662BAA18F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t="55439" b="5392"/>
            <a:stretch/>
          </p:blipFill>
          <p:spPr>
            <a:xfrm>
              <a:off x="4348164" y="920826"/>
              <a:ext cx="1466199" cy="433162"/>
            </a:xfrm>
            <a:prstGeom prst="rect">
              <a:avLst/>
            </a:prstGeom>
          </p:spPr>
        </p:pic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4B79257-834F-7AA2-15FC-9FDAAB28E09E}"/>
              </a:ext>
            </a:extLst>
          </p:cNvPr>
          <p:cNvSpPr txBox="1"/>
          <p:nvPr/>
        </p:nvSpPr>
        <p:spPr>
          <a:xfrm>
            <a:off x="8765738" y="4995937"/>
            <a:ext cx="3397279" cy="1169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T" sz="1400" dirty="0"/>
              <a:t>Quick guess of the 3DRM based on:</a:t>
            </a:r>
          </a:p>
          <a:p>
            <a:endParaRPr lang="en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400" dirty="0"/>
              <a:t>Geometrical considerations on the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400" dirty="0"/>
              <a:t>Pre-optimized independent 2D SOPBs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63A78FB-2443-49DA-D127-05D402E1C1A4}"/>
              </a:ext>
            </a:extLst>
          </p:cNvPr>
          <p:cNvGrpSpPr/>
          <p:nvPr/>
        </p:nvGrpSpPr>
        <p:grpSpPr>
          <a:xfrm>
            <a:off x="7313464" y="5025359"/>
            <a:ext cx="1519871" cy="1755379"/>
            <a:chOff x="7408464" y="4999232"/>
            <a:chExt cx="1519871" cy="175537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74E9BB9-38B0-AF9B-CB17-D64EDCCD0AEE}"/>
                </a:ext>
              </a:extLst>
            </p:cNvPr>
            <p:cNvSpPr txBox="1"/>
            <p:nvPr/>
          </p:nvSpPr>
          <p:spPr>
            <a:xfrm>
              <a:off x="7973903" y="6477612"/>
              <a:ext cx="396262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T" sz="1200" dirty="0"/>
                <a:t>cm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0A3F6B23-B1D3-AF48-7CCB-952CDCDDA3C2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404695" y="5003001"/>
              <a:ext cx="1527409" cy="1519871"/>
              <a:chOff x="10060971" y="1553467"/>
              <a:chExt cx="1105005" cy="1104344"/>
            </a:xfrm>
            <a:solidFill>
              <a:schemeClr val="bg1"/>
            </a:solidFill>
          </p:grpSpPr>
          <p:pic>
            <p:nvPicPr>
              <p:cNvPr id="96" name="Picture 95" descr="A graph with green and blue lines&#10;&#10;Description automatically generated">
                <a:extLst>
                  <a:ext uri="{FF2B5EF4-FFF2-40B4-BE49-F238E27FC236}">
                    <a16:creationId xmlns:a16="http://schemas.microsoft.com/office/drawing/2014/main" id="{D8666D83-B441-79F3-007B-B766B08EB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12397" t="26929" r="59490" b="26240"/>
              <a:stretch/>
            </p:blipFill>
            <p:spPr>
              <a:xfrm rot="10800000">
                <a:off x="10060971" y="1610948"/>
                <a:ext cx="950977" cy="958278"/>
              </a:xfrm>
              <a:prstGeom prst="rect">
                <a:avLst/>
              </a:prstGeom>
              <a:grpFill/>
              <a:ln>
                <a:noFill/>
              </a:ln>
            </p:spPr>
          </p:pic>
          <p:pic>
            <p:nvPicPr>
              <p:cNvPr id="97" name="Picture 96" descr="A diagram of a slice of pizza&#10;&#10;Description automatically generated">
                <a:extLst>
                  <a:ext uri="{FF2B5EF4-FFF2-40B4-BE49-F238E27FC236}">
                    <a16:creationId xmlns:a16="http://schemas.microsoft.com/office/drawing/2014/main" id="{77B9B6F3-AE31-3C30-939D-5F2D272BE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11461" t="26528" r="80880" b="23782"/>
              <a:stretch/>
            </p:blipFill>
            <p:spPr>
              <a:xfrm rot="10800000">
                <a:off x="11000508" y="1553467"/>
                <a:ext cx="165468" cy="1104344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1814F4F7-0B63-A4E1-74CA-784C34D3F419}"/>
              </a:ext>
            </a:extLst>
          </p:cNvPr>
          <p:cNvSpPr txBox="1"/>
          <p:nvPr/>
        </p:nvSpPr>
        <p:spPr>
          <a:xfrm>
            <a:off x="10147070" y="4692340"/>
            <a:ext cx="1071457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T" sz="1400" b="1" dirty="0"/>
              <a:t>Raw 3DRM</a:t>
            </a:r>
            <a:endParaRPr lang="en-IT" sz="1200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49D9C36-125B-E9E2-1FA6-C26EEF5580B8}"/>
              </a:ext>
            </a:extLst>
          </p:cNvPr>
          <p:cNvGrpSpPr/>
          <p:nvPr/>
        </p:nvGrpSpPr>
        <p:grpSpPr>
          <a:xfrm>
            <a:off x="7081299" y="2831813"/>
            <a:ext cx="4486974" cy="2110767"/>
            <a:chOff x="7081299" y="2831813"/>
            <a:chExt cx="4486974" cy="2110767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6CA3AD7-C6C1-A931-82CC-777C2A1BD276}"/>
                </a:ext>
              </a:extLst>
            </p:cNvPr>
            <p:cNvSpPr txBox="1"/>
            <p:nvPr/>
          </p:nvSpPr>
          <p:spPr>
            <a:xfrm>
              <a:off x="9899195" y="2831813"/>
              <a:ext cx="1669078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b="1" dirty="0"/>
                <a:t>Target structure (e.g. PTV)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E4C9771-FCF3-0B78-EC8B-DC3C05731F18}"/>
                </a:ext>
              </a:extLst>
            </p:cNvPr>
            <p:cNvGrpSpPr/>
            <p:nvPr/>
          </p:nvGrpSpPr>
          <p:grpSpPr>
            <a:xfrm>
              <a:off x="7081299" y="2920629"/>
              <a:ext cx="2416305" cy="2021951"/>
              <a:chOff x="7081299" y="2920629"/>
              <a:chExt cx="2416305" cy="2021951"/>
            </a:xfrm>
          </p:grpSpPr>
          <p:pic>
            <p:nvPicPr>
              <p:cNvPr id="84" name="Picture 83" descr="A diagram of a circular object&#10;&#10;Description automatically generated">
                <a:extLst>
                  <a:ext uri="{FF2B5EF4-FFF2-40B4-BE49-F238E27FC236}">
                    <a16:creationId xmlns:a16="http://schemas.microsoft.com/office/drawing/2014/main" id="{532930CE-0478-506D-933A-1CEEE4779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12176"/>
              <a:stretch/>
            </p:blipFill>
            <p:spPr>
              <a:xfrm>
                <a:off x="7081299" y="2920629"/>
                <a:ext cx="2416305" cy="18760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50CBF40-679F-8ECE-5BF6-D2D4571DFC87}"/>
                  </a:ext>
                </a:extLst>
              </p:cNvPr>
              <p:cNvSpPr txBox="1"/>
              <p:nvPr/>
            </p:nvSpPr>
            <p:spPr>
              <a:xfrm>
                <a:off x="7712103" y="4708752"/>
                <a:ext cx="785814" cy="2338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IT" sz="1200" dirty="0"/>
                  <a:t>Depth (cm)</a:t>
                </a: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396F5E6-6C83-DBB6-895D-539A82FE50D8}"/>
              </a:ext>
            </a:extLst>
          </p:cNvPr>
          <p:cNvGrpSpPr/>
          <p:nvPr/>
        </p:nvGrpSpPr>
        <p:grpSpPr>
          <a:xfrm>
            <a:off x="6537610" y="969307"/>
            <a:ext cx="4758660" cy="2015777"/>
            <a:chOff x="6537610" y="969307"/>
            <a:chExt cx="4758660" cy="2015777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3CB9DA-E572-1262-D599-C8882BD5ADC6}"/>
                </a:ext>
              </a:extLst>
            </p:cNvPr>
            <p:cNvSpPr txBox="1"/>
            <p:nvPr/>
          </p:nvSpPr>
          <p:spPr>
            <a:xfrm>
              <a:off x="10150545" y="1438179"/>
              <a:ext cx="1145725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b="1" dirty="0"/>
                <a:t>TPS dose distribution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1FB281B-EBCE-A885-79B7-1077C0A7A1FF}"/>
                </a:ext>
              </a:extLst>
            </p:cNvPr>
            <p:cNvGrpSpPr/>
            <p:nvPr/>
          </p:nvGrpSpPr>
          <p:grpSpPr>
            <a:xfrm>
              <a:off x="6537610" y="969307"/>
              <a:ext cx="2973630" cy="2015777"/>
              <a:chOff x="7437643" y="855960"/>
              <a:chExt cx="2973630" cy="2015777"/>
            </a:xfrm>
          </p:grpSpPr>
          <p:pic>
            <p:nvPicPr>
              <p:cNvPr id="83" name="Picture 82" descr="A diagram of a slice of pizza&#10;&#10;Description automatically generated">
                <a:extLst>
                  <a:ext uri="{FF2B5EF4-FFF2-40B4-BE49-F238E27FC236}">
                    <a16:creationId xmlns:a16="http://schemas.microsoft.com/office/drawing/2014/main" id="{DCF22109-3325-29C0-5A05-02A809448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11681"/>
              <a:stretch/>
            </p:blipFill>
            <p:spPr>
              <a:xfrm>
                <a:off x="7981332" y="855960"/>
                <a:ext cx="2429941" cy="1876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CB45B948-C752-8528-42F2-0CD3AE89AD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7691" y="1100263"/>
                <a:ext cx="0" cy="837688"/>
              </a:xfrm>
              <a:prstGeom prst="straightConnector1">
                <a:avLst/>
              </a:prstGeom>
              <a:solidFill>
                <a:schemeClr val="bg1"/>
              </a:solidFill>
              <a:ln>
                <a:noFill/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92C0D282-5D43-587A-0879-D255E68CA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7643" y="951707"/>
                <a:ext cx="50041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noFill/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2CDEB64C-BE4F-F26F-2FB6-0883DA410F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13873" y="951564"/>
                <a:ext cx="50041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noFill/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C0AE84D-9B84-56AB-1A5B-B92F95A42669}"/>
                  </a:ext>
                </a:extLst>
              </p:cNvPr>
              <p:cNvSpPr txBox="1"/>
              <p:nvPr/>
            </p:nvSpPr>
            <p:spPr>
              <a:xfrm>
                <a:off x="8629241" y="2637909"/>
                <a:ext cx="785814" cy="2338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IT" sz="1200" dirty="0"/>
                  <a:t>Depth (cm)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E51FE2A-A21A-9EEC-87FB-7A357ED5280C}"/>
                  </a:ext>
                </a:extLst>
              </p:cNvPr>
              <p:cNvSpPr txBox="1"/>
              <p:nvPr/>
            </p:nvSpPr>
            <p:spPr>
              <a:xfrm>
                <a:off x="9960414" y="892505"/>
                <a:ext cx="362600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IT" sz="1200" dirty="0"/>
                  <a:t>Gy</a:t>
                </a:r>
              </a:p>
            </p:txBody>
          </p:sp>
        </p:grp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FF64F97-7162-EC41-7B57-15BE15398A8A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8" name="Title 7">
            <a:extLst>
              <a:ext uri="{FF2B5EF4-FFF2-40B4-BE49-F238E27FC236}">
                <a16:creationId xmlns:a16="http://schemas.microsoft.com/office/drawing/2014/main" id="{DB8825AA-8E58-FB38-A3C9-A0920F376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7" y="0"/>
            <a:ext cx="10515600" cy="575911"/>
          </a:xfrm>
        </p:spPr>
        <p:txBody>
          <a:bodyPr>
            <a:noAutofit/>
          </a:bodyPr>
          <a:lstStyle/>
          <a:p>
            <a:r>
              <a:rPr lang="en-IT" sz="3200" dirty="0"/>
              <a:t>3DRM DESIGN</a:t>
            </a:r>
          </a:p>
        </p:txBody>
      </p:sp>
      <p:pic>
        <p:nvPicPr>
          <p:cNvPr id="109" name="Picture 108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AF52BCDD-A756-786A-53E6-BBC9D7EDEE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10" name="Picture 109" descr="A blue and black logo&#10;&#10;Description automatically generated">
            <a:extLst>
              <a:ext uri="{FF2B5EF4-FFF2-40B4-BE49-F238E27FC236}">
                <a16:creationId xmlns:a16="http://schemas.microsoft.com/office/drawing/2014/main" id="{D2DDB80B-7669-8C86-B411-AAC2CAAE025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11" name="Picture 110" descr="A yellow and blue text&#10;&#10;Description automatically generated">
            <a:extLst>
              <a:ext uri="{FF2B5EF4-FFF2-40B4-BE49-F238E27FC236}">
                <a16:creationId xmlns:a16="http://schemas.microsoft.com/office/drawing/2014/main" id="{42A5B5E6-9A4F-8D45-F150-B82BCE62528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0F090BB8-60A9-F754-3512-FF4DC88F7C6E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15" name="Slide Number Placeholder 114">
            <a:extLst>
              <a:ext uri="{FF2B5EF4-FFF2-40B4-BE49-F238E27FC236}">
                <a16:creationId xmlns:a16="http://schemas.microsoft.com/office/drawing/2014/main" id="{4605AC6D-D916-A149-2F49-CFC8C3CB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7</a:t>
            </a:fld>
            <a:endParaRPr lang="en-IT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A4787A-1E67-4297-DBD6-753A84B50C93}"/>
              </a:ext>
            </a:extLst>
          </p:cNvPr>
          <p:cNvSpPr txBox="1"/>
          <p:nvPr/>
        </p:nvSpPr>
        <p:spPr>
          <a:xfrm>
            <a:off x="6188647" y="649717"/>
            <a:ext cx="434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600" b="1" dirty="0"/>
              <a:t>Starting from simple geometries (e.g. sphere)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1EA74-B7D7-0737-87BA-1FEFFD801805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CEBE7B-9E10-F136-59A2-ADB20C6DF608}"/>
              </a:ext>
            </a:extLst>
          </p:cNvPr>
          <p:cNvSpPr/>
          <p:nvPr/>
        </p:nvSpPr>
        <p:spPr>
          <a:xfrm flipV="1">
            <a:off x="7944884" y="3820446"/>
            <a:ext cx="749604" cy="581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9B9988-3336-BC1F-C7D0-9866E69C17EE}"/>
              </a:ext>
            </a:extLst>
          </p:cNvPr>
          <p:cNvSpPr>
            <a:spLocks/>
          </p:cNvSpPr>
          <p:nvPr/>
        </p:nvSpPr>
        <p:spPr>
          <a:xfrm flipV="1">
            <a:off x="7988358" y="3972001"/>
            <a:ext cx="641840" cy="581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506EA9-2F19-2477-B628-4BB7301B014B}"/>
              </a:ext>
            </a:extLst>
          </p:cNvPr>
          <p:cNvSpPr>
            <a:spLocks/>
          </p:cNvSpPr>
          <p:nvPr/>
        </p:nvSpPr>
        <p:spPr>
          <a:xfrm flipV="1">
            <a:off x="8154616" y="4121460"/>
            <a:ext cx="334873" cy="581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0" name="Picture 49" descr="A graph with green and blue lines&#10;&#10;Description automatically generated">
            <a:extLst>
              <a:ext uri="{FF2B5EF4-FFF2-40B4-BE49-F238E27FC236}">
                <a16:creationId xmlns:a16="http://schemas.microsoft.com/office/drawing/2014/main" id="{288191D0-A207-999A-644F-DC5B593674B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397" t="28266" r="59490" b="67336"/>
          <a:stretch/>
        </p:blipFill>
        <p:spPr>
          <a:xfrm>
            <a:off x="9344222" y="4160822"/>
            <a:ext cx="1471911" cy="12112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1" name="Picture 50" descr="A graph with green and blue lines&#10;&#10;Description automatically generated">
            <a:extLst>
              <a:ext uri="{FF2B5EF4-FFF2-40B4-BE49-F238E27FC236}">
                <a16:creationId xmlns:a16="http://schemas.microsoft.com/office/drawing/2014/main" id="{3D5EF3A4-C362-0FD9-84C6-7D18FA9E045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268" t="32594" r="59619" b="63817"/>
          <a:stretch/>
        </p:blipFill>
        <p:spPr>
          <a:xfrm>
            <a:off x="9337844" y="3963795"/>
            <a:ext cx="1467821" cy="112816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2" name="Picture 51" descr="A graph with green and blue lines&#10;&#10;Description automatically generated">
            <a:extLst>
              <a:ext uri="{FF2B5EF4-FFF2-40B4-BE49-F238E27FC236}">
                <a16:creationId xmlns:a16="http://schemas.microsoft.com/office/drawing/2014/main" id="{5172FD57-F89F-9FFC-E163-60828BC200C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397" t="46872" r="59867" b="49540"/>
          <a:stretch/>
        </p:blipFill>
        <p:spPr>
          <a:xfrm>
            <a:off x="9341504" y="3786210"/>
            <a:ext cx="1467821" cy="114348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B8F63BF-D2ED-AB23-030C-538BA627771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8489489" y="4150514"/>
            <a:ext cx="857711" cy="57166"/>
          </a:xfrm>
          <a:prstGeom prst="line">
            <a:avLst/>
          </a:prstGeom>
          <a:ln>
            <a:solidFill>
              <a:srgbClr val="7BF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FFDB4A5-66FB-2582-DC17-A91CAD6CBBDB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8630198" y="4001055"/>
            <a:ext cx="717002" cy="9387"/>
          </a:xfrm>
          <a:prstGeom prst="line">
            <a:avLst/>
          </a:prstGeom>
          <a:ln>
            <a:solidFill>
              <a:srgbClr val="7BF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78FE2C6-0EBB-5408-3A1F-ABFFF6AC3021}"/>
              </a:ext>
            </a:extLst>
          </p:cNvPr>
          <p:cNvCxnSpPr>
            <a:cxnSpLocks/>
          </p:cNvCxnSpPr>
          <p:nvPr/>
        </p:nvCxnSpPr>
        <p:spPr>
          <a:xfrm flipV="1">
            <a:off x="8694488" y="3849500"/>
            <a:ext cx="652712" cy="541"/>
          </a:xfrm>
          <a:prstGeom prst="line">
            <a:avLst/>
          </a:prstGeom>
          <a:ln>
            <a:solidFill>
              <a:srgbClr val="7BF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396C5BC-1C27-5D51-A87F-D6D84446FAC5}"/>
              </a:ext>
            </a:extLst>
          </p:cNvPr>
          <p:cNvSpPr txBox="1"/>
          <p:nvPr/>
        </p:nvSpPr>
        <p:spPr>
          <a:xfrm>
            <a:off x="9025809" y="2994322"/>
            <a:ext cx="3626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T" sz="1200" dirty="0"/>
              <a:t>Gy</a:t>
            </a:r>
          </a:p>
        </p:txBody>
      </p:sp>
      <p:pic>
        <p:nvPicPr>
          <p:cNvPr id="62" name="Picture 61" descr="A red line drawn on a white surface&#10;&#10;Description automatically generated">
            <a:extLst>
              <a:ext uri="{FF2B5EF4-FFF2-40B4-BE49-F238E27FC236}">
                <a16:creationId xmlns:a16="http://schemas.microsoft.com/office/drawing/2014/main" id="{AA0679B5-A3C9-31CE-4BA2-EAAC3436553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1667"/>
          <a:stretch/>
        </p:blipFill>
        <p:spPr>
          <a:xfrm>
            <a:off x="10847996" y="3635605"/>
            <a:ext cx="1315021" cy="581647"/>
          </a:xfrm>
          <a:prstGeom prst="rect">
            <a:avLst/>
          </a:prstGeom>
        </p:spPr>
      </p:pic>
      <p:pic>
        <p:nvPicPr>
          <p:cNvPr id="63" name="Picture 62" descr="A red line drawn on a white surface&#10;&#10;Description automatically generated">
            <a:extLst>
              <a:ext uri="{FF2B5EF4-FFF2-40B4-BE49-F238E27FC236}">
                <a16:creationId xmlns:a16="http://schemas.microsoft.com/office/drawing/2014/main" id="{1E855D57-C262-B7E8-0F1F-38433BBA63F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055"/>
          <a:stretch/>
        </p:blipFill>
        <p:spPr>
          <a:xfrm>
            <a:off x="10957411" y="3812508"/>
            <a:ext cx="1011901" cy="581646"/>
          </a:xfrm>
          <a:prstGeom prst="rect">
            <a:avLst/>
          </a:prstGeom>
        </p:spPr>
      </p:pic>
      <p:pic>
        <p:nvPicPr>
          <p:cNvPr id="64" name="Picture 63" descr="A red line drawn on a white surface&#10;&#10;Description automatically generated">
            <a:extLst>
              <a:ext uri="{FF2B5EF4-FFF2-40B4-BE49-F238E27FC236}">
                <a16:creationId xmlns:a16="http://schemas.microsoft.com/office/drawing/2014/main" id="{4B5A3E72-2B18-9A59-740A-FD8ADC48B63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055"/>
          <a:stretch/>
        </p:blipFill>
        <p:spPr>
          <a:xfrm>
            <a:off x="11149483" y="3981739"/>
            <a:ext cx="689470" cy="58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27" grpId="0" animBg="1"/>
      <p:bldP spid="28" grpId="0" animBg="1"/>
      <p:bldP spid="30" grpId="0" animBg="1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22A16-4966-AA0B-F067-54BA6AEC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81E15C9-764F-28BF-6255-E6E2B78C4F4A}"/>
              </a:ext>
            </a:extLst>
          </p:cNvPr>
          <p:cNvGrpSpPr/>
          <p:nvPr/>
        </p:nvGrpSpPr>
        <p:grpSpPr>
          <a:xfrm>
            <a:off x="875714" y="910536"/>
            <a:ext cx="6157010" cy="5643397"/>
            <a:chOff x="1424758" y="893766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D9F9FD95-7C20-BA07-9E20-2E48B4ACEF30}"/>
                </a:ext>
              </a:extLst>
            </p:cNvPr>
            <p:cNvSpPr/>
            <p:nvPr/>
          </p:nvSpPr>
          <p:spPr>
            <a:xfrm>
              <a:off x="2301828" y="6037432"/>
              <a:ext cx="2026838" cy="49973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536F06D-FE57-A87D-9EB5-49EC4ACA7B5B}"/>
                </a:ext>
              </a:extLst>
            </p:cNvPr>
            <p:cNvSpPr txBox="1"/>
            <p:nvPr/>
          </p:nvSpPr>
          <p:spPr>
            <a:xfrm>
              <a:off x="2337424" y="893766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38CF8A3-12B3-B3BB-7F1E-0A6A65C63A97}"/>
                </a:ext>
              </a:extLst>
            </p:cNvPr>
            <p:cNvSpPr txBox="1"/>
            <p:nvPr/>
          </p:nvSpPr>
          <p:spPr>
            <a:xfrm>
              <a:off x="2233176" y="1805795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AFB14E-8042-CC5F-EA26-E56002B9B676}"/>
                </a:ext>
              </a:extLst>
            </p:cNvPr>
            <p:cNvSpPr txBox="1"/>
            <p:nvPr/>
          </p:nvSpPr>
          <p:spPr>
            <a:xfrm>
              <a:off x="2211910" y="2742034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85685E-E0B3-5873-9D5F-9EDE0ADD9179}"/>
                </a:ext>
              </a:extLst>
            </p:cNvPr>
            <p:cNvSpPr txBox="1"/>
            <p:nvPr/>
          </p:nvSpPr>
          <p:spPr>
            <a:xfrm>
              <a:off x="2273553" y="3829325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96C536D-C203-7CDC-7254-ECDBFC2B8282}"/>
                </a:ext>
              </a:extLst>
            </p:cNvPr>
            <p:cNvSpPr txBox="1"/>
            <p:nvPr/>
          </p:nvSpPr>
          <p:spPr>
            <a:xfrm>
              <a:off x="2399720" y="496240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615772D-F4E8-01FD-7C64-B0A4DBB1BA55}"/>
                </a:ext>
              </a:extLst>
            </p:cNvPr>
            <p:cNvCxnSpPr>
              <a:cxnSpLocks/>
            </p:cNvCxnSpPr>
            <p:nvPr/>
          </p:nvCxnSpPr>
          <p:spPr>
            <a:xfrm>
              <a:off x="3257427" y="141698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8310136-C6B9-D3D2-4B3D-8E2950B2C3EC}"/>
                </a:ext>
              </a:extLst>
            </p:cNvPr>
            <p:cNvCxnSpPr>
              <a:cxnSpLocks/>
            </p:cNvCxnSpPr>
            <p:nvPr/>
          </p:nvCxnSpPr>
          <p:spPr>
            <a:xfrm>
              <a:off x="3254926" y="2373998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66BD82E-F51A-22BE-5B59-1336E4F5A9EA}"/>
                </a:ext>
              </a:extLst>
            </p:cNvPr>
            <p:cNvCxnSpPr>
              <a:cxnSpLocks/>
            </p:cNvCxnSpPr>
            <p:nvPr/>
          </p:nvCxnSpPr>
          <p:spPr>
            <a:xfrm>
              <a:off x="3271559" y="333443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E09B4FF-ECF0-9438-0445-9CD30052BEAA}"/>
                </a:ext>
              </a:extLst>
            </p:cNvPr>
            <p:cNvCxnSpPr>
              <a:cxnSpLocks/>
            </p:cNvCxnSpPr>
            <p:nvPr/>
          </p:nvCxnSpPr>
          <p:spPr>
            <a:xfrm>
              <a:off x="3307846" y="4256294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279A6A3-2EB8-5068-A126-52F7D886A410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3306883" y="5543232"/>
              <a:ext cx="8364" cy="49420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5EBCF5-764C-B613-93F4-B4CF0E6D2E5D}"/>
                </a:ext>
              </a:extLst>
            </p:cNvPr>
            <p:cNvSpPr txBox="1"/>
            <p:nvPr/>
          </p:nvSpPr>
          <p:spPr>
            <a:xfrm>
              <a:off x="2370364" y="6138015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75000"/>
                    </a:schemeClr>
                  </a:solidFill>
                </a:rPr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789FB1E-90D0-5674-A226-606D5C284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1701" y="5105477"/>
              <a:ext cx="1389523" cy="18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A50BEA-C4B5-19CD-2A18-A286DC4B9EE1}"/>
                </a:ext>
              </a:extLst>
            </p:cNvPr>
            <p:cNvCxnSpPr>
              <a:cxnSpLocks/>
            </p:cNvCxnSpPr>
            <p:nvPr/>
          </p:nvCxnSpPr>
          <p:spPr>
            <a:xfrm>
              <a:off x="5830591" y="3028387"/>
              <a:ext cx="0" cy="20770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D79563F-DFD5-C0E3-8D03-48734E702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3450" y="3039020"/>
              <a:ext cx="1566729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719B54-BA1B-6227-FBBC-8A304FB56745}"/>
                </a:ext>
              </a:extLst>
            </p:cNvPr>
            <p:cNvSpPr txBox="1"/>
            <p:nvPr/>
          </p:nvSpPr>
          <p:spPr>
            <a:xfrm>
              <a:off x="4761085" y="3622282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correction of the weights w</a:t>
              </a:r>
              <a:r>
                <a:rPr lang="en-IT" sz="1400" baseline="-25000" dirty="0">
                  <a:solidFill>
                    <a:schemeClr val="bg1">
                      <a:lumMod val="85000"/>
                    </a:schemeClr>
                  </a:solidFill>
                </a:rPr>
                <a:t>l</a:t>
              </a:r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966582-44D1-D288-BC9A-E325615E1D9E}"/>
                </a:ext>
              </a:extLst>
            </p:cNvPr>
            <p:cNvSpPr txBox="1"/>
            <p:nvPr/>
          </p:nvSpPr>
          <p:spPr>
            <a:xfrm>
              <a:off x="5776594" y="2188075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16F5FE21-F38C-22BD-AAE0-A806E6613950}"/>
                </a:ext>
              </a:extLst>
            </p:cNvPr>
            <p:cNvSpPr/>
            <p:nvPr/>
          </p:nvSpPr>
          <p:spPr>
            <a:xfrm>
              <a:off x="2137479" y="4667723"/>
              <a:ext cx="2338809" cy="875509"/>
            </a:xfrm>
            <a:prstGeom prst="diamond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50E964-6D7E-B19E-AF57-31D892F22D7B}"/>
                </a:ext>
              </a:extLst>
            </p:cNvPr>
            <p:cNvSpPr/>
            <p:nvPr/>
          </p:nvSpPr>
          <p:spPr>
            <a:xfrm>
              <a:off x="2275708" y="1816428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AEFB74-7FE6-08C5-5563-E7F8F007DFD8}"/>
                </a:ext>
              </a:extLst>
            </p:cNvPr>
            <p:cNvSpPr/>
            <p:nvPr/>
          </p:nvSpPr>
          <p:spPr>
            <a:xfrm>
              <a:off x="2256383" y="898004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6B1449-296A-F760-28ED-226BCFAD3E07}"/>
                </a:ext>
              </a:extLst>
            </p:cNvPr>
            <p:cNvSpPr/>
            <p:nvPr/>
          </p:nvSpPr>
          <p:spPr>
            <a:xfrm>
              <a:off x="2259075" y="2746548"/>
              <a:ext cx="1991703" cy="52322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8D5F25-DE01-E5D0-D92B-CEBDB43CD043}"/>
                </a:ext>
              </a:extLst>
            </p:cNvPr>
            <p:cNvSpPr/>
            <p:nvPr/>
          </p:nvSpPr>
          <p:spPr>
            <a:xfrm>
              <a:off x="2280562" y="3721603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AA1D323-E969-B46A-3B24-0F27B16E8D6D}"/>
                </a:ext>
              </a:extLst>
            </p:cNvPr>
            <p:cNvSpPr/>
            <p:nvPr/>
          </p:nvSpPr>
          <p:spPr>
            <a:xfrm>
              <a:off x="4789572" y="3659920"/>
              <a:ext cx="2053683" cy="66338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C6EA08F-436E-D7E7-06B1-A5D56C1B0E2B}"/>
                </a:ext>
              </a:extLst>
            </p:cNvPr>
            <p:cNvSpPr/>
            <p:nvPr/>
          </p:nvSpPr>
          <p:spPr>
            <a:xfrm>
              <a:off x="1424758" y="2614120"/>
              <a:ext cx="5794745" cy="3244419"/>
            </a:xfrm>
            <a:prstGeom prst="rect">
              <a:avLst/>
            </a:prstGeom>
            <a:noFill/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446CCFC-B2BF-635F-CC7D-262D2E6508D8}"/>
                </a:ext>
              </a:extLst>
            </p:cNvPr>
            <p:cNvSpPr txBox="1"/>
            <p:nvPr/>
          </p:nvSpPr>
          <p:spPr>
            <a:xfrm>
              <a:off x="4423970" y="47467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6CF0C7F-FAAA-E172-3128-EACBF7E4B3FC}"/>
                </a:ext>
              </a:extLst>
            </p:cNvPr>
            <p:cNvSpPr txBox="1"/>
            <p:nvPr/>
          </p:nvSpPr>
          <p:spPr>
            <a:xfrm>
              <a:off x="3324204" y="5483892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85E17754-D616-A38C-3ABF-15EC3CFF9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1701" y="2817187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508BC169-D6CE-A6F4-4AA3-C729F7B37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23566" y="1936602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B8A5C344-613E-6B8A-A74D-903DE1F69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35718" y="3372107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988BBB87-ED86-5141-F4D6-339449FC65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t="55439" b="5392"/>
            <a:stretch/>
          </p:blipFill>
          <p:spPr>
            <a:xfrm>
              <a:off x="4348164" y="920826"/>
              <a:ext cx="1466199" cy="433162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550C280-B693-50CB-F2A1-02A40748AFAB}"/>
              </a:ext>
            </a:extLst>
          </p:cNvPr>
          <p:cNvGrpSpPr/>
          <p:nvPr/>
        </p:nvGrpSpPr>
        <p:grpSpPr>
          <a:xfrm>
            <a:off x="7370381" y="1552517"/>
            <a:ext cx="1709764" cy="1104344"/>
            <a:chOff x="9681577" y="1537915"/>
            <a:chExt cx="1709764" cy="1104344"/>
          </a:xfrm>
        </p:grpSpPr>
        <p:pic>
          <p:nvPicPr>
            <p:cNvPr id="66" name="Picture 65" descr="A graph with green and blue lines&#10;&#10;Description automatically generated">
              <a:extLst>
                <a:ext uri="{FF2B5EF4-FFF2-40B4-BE49-F238E27FC236}">
                  <a16:creationId xmlns:a16="http://schemas.microsoft.com/office/drawing/2014/main" id="{4F108719-EC6E-41F4-BC93-EFDC21E9D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2397" t="26929" r="44312" b="26240"/>
            <a:stretch/>
          </p:blipFill>
          <p:spPr>
            <a:xfrm rot="10800000">
              <a:off x="9926925" y="1616376"/>
              <a:ext cx="1464416" cy="958278"/>
            </a:xfrm>
            <a:prstGeom prst="rect">
              <a:avLst/>
            </a:prstGeom>
          </p:spPr>
        </p:pic>
        <p:pic>
          <p:nvPicPr>
            <p:cNvPr id="67" name="Picture 66" descr="A diagram of a slice of pizza&#10;&#10;Description automatically generated">
              <a:extLst>
                <a:ext uri="{FF2B5EF4-FFF2-40B4-BE49-F238E27FC236}">
                  <a16:creationId xmlns:a16="http://schemas.microsoft.com/office/drawing/2014/main" id="{44B84F9C-1A23-E969-C21E-4502425E9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1461" t="26528" r="80880" b="23782"/>
            <a:stretch/>
          </p:blipFill>
          <p:spPr>
            <a:xfrm>
              <a:off x="9681577" y="1537915"/>
              <a:ext cx="248523" cy="1104344"/>
            </a:xfrm>
            <a:prstGeom prst="rect">
              <a:avLst/>
            </a:prstGeom>
          </p:spPr>
        </p:pic>
      </p:grpSp>
      <p:pic>
        <p:nvPicPr>
          <p:cNvPr id="68" name="Picture 67" descr="A diagram of a slice of pizza&#10;&#10;Description automatically generated">
            <a:extLst>
              <a:ext uri="{FF2B5EF4-FFF2-40B4-BE49-F238E27FC236}">
                <a16:creationId xmlns:a16="http://schemas.microsoft.com/office/drawing/2014/main" id="{01180853-AE1C-A288-0C9E-3C27CCF3345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681"/>
          <a:stretch/>
        </p:blipFill>
        <p:spPr>
          <a:xfrm>
            <a:off x="9261019" y="989260"/>
            <a:ext cx="2866084" cy="2222455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649057D9-74D0-B81A-D2A7-CAA3C55CE4E1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Title 7">
            <a:extLst>
              <a:ext uri="{FF2B5EF4-FFF2-40B4-BE49-F238E27FC236}">
                <a16:creationId xmlns:a16="http://schemas.microsoft.com/office/drawing/2014/main" id="{70E5744A-04A1-F7FE-96F1-B940097E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7" y="0"/>
            <a:ext cx="10515600" cy="575911"/>
          </a:xfrm>
        </p:spPr>
        <p:txBody>
          <a:bodyPr>
            <a:noAutofit/>
          </a:bodyPr>
          <a:lstStyle/>
          <a:p>
            <a:r>
              <a:rPr lang="en-IT" sz="3200" dirty="0"/>
              <a:t>3DRM DESIGN</a:t>
            </a:r>
          </a:p>
        </p:txBody>
      </p:sp>
      <p:pic>
        <p:nvPicPr>
          <p:cNvPr id="82" name="Picture 81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FBCD29D2-5A8B-F727-4F1B-9187DFB31F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83" name="Picture 82" descr="A blue and black logo&#10;&#10;Description automatically generated">
            <a:extLst>
              <a:ext uri="{FF2B5EF4-FFF2-40B4-BE49-F238E27FC236}">
                <a16:creationId xmlns:a16="http://schemas.microsoft.com/office/drawing/2014/main" id="{8F7377D8-8604-F7ED-0C4B-02D421AE42B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84" name="Picture 83" descr="A yellow and blue text&#10;&#10;Description automatically generated">
            <a:extLst>
              <a:ext uri="{FF2B5EF4-FFF2-40B4-BE49-F238E27FC236}">
                <a16:creationId xmlns:a16="http://schemas.microsoft.com/office/drawing/2014/main" id="{BA09E86C-AFFA-B7D2-228F-80D9C46D442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B1D5BF32-1E40-F8B9-2171-FED56EE54AF5}"/>
              </a:ext>
            </a:extLst>
          </p:cNvPr>
          <p:cNvSpPr txBox="1"/>
          <p:nvPr/>
        </p:nvSpPr>
        <p:spPr>
          <a:xfrm rot="16200000">
            <a:off x="11564955" y="1951626"/>
            <a:ext cx="705628" cy="233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T" sz="1200" dirty="0"/>
              <a:t>Dose (Gy)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554046-E9D6-3CB0-48F9-FD2C37512095}"/>
              </a:ext>
            </a:extLst>
          </p:cNvPr>
          <p:cNvSpPr txBox="1"/>
          <p:nvPr/>
        </p:nvSpPr>
        <p:spPr>
          <a:xfrm>
            <a:off x="10108625" y="3140852"/>
            <a:ext cx="926857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T" sz="1200" dirty="0"/>
              <a:t>Depth (cm)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046B9A-6601-DACE-7FCB-483FC642728E}"/>
              </a:ext>
            </a:extLst>
          </p:cNvPr>
          <p:cNvSpPr txBox="1"/>
          <p:nvPr/>
        </p:nvSpPr>
        <p:spPr>
          <a:xfrm rot="16200000">
            <a:off x="7098225" y="1930040"/>
            <a:ext cx="396262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T" sz="1200" dirty="0"/>
              <a:t>cm</a:t>
            </a: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BED30459-6C30-5013-D5FA-96D908725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098714"/>
              </p:ext>
            </p:extLst>
          </p:nvPr>
        </p:nvGraphicFramePr>
        <p:xfrm>
          <a:off x="8028819" y="3667164"/>
          <a:ext cx="3387263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94">
                  <a:extLst>
                    <a:ext uri="{9D8B030D-6E8A-4147-A177-3AD203B41FA5}">
                      <a16:colId xmlns:a16="http://schemas.microsoft.com/office/drawing/2014/main" val="2753768168"/>
                    </a:ext>
                  </a:extLst>
                </a:gridCol>
                <a:gridCol w="1107769">
                  <a:extLst>
                    <a:ext uri="{9D8B030D-6E8A-4147-A177-3AD203B41FA5}">
                      <a16:colId xmlns:a16="http://schemas.microsoft.com/office/drawing/2014/main" val="3305727443"/>
                    </a:ext>
                  </a:extLst>
                </a:gridCol>
                <a:gridCol w="605641">
                  <a:extLst>
                    <a:ext uri="{9D8B030D-6E8A-4147-A177-3AD203B41FA5}">
                      <a16:colId xmlns:a16="http://schemas.microsoft.com/office/drawing/2014/main" val="1434557478"/>
                    </a:ext>
                  </a:extLst>
                </a:gridCol>
                <a:gridCol w="979459">
                  <a:extLst>
                    <a:ext uri="{9D8B030D-6E8A-4147-A177-3AD203B41FA5}">
                      <a16:colId xmlns:a16="http://schemas.microsoft.com/office/drawing/2014/main" val="1299206225"/>
                    </a:ext>
                  </a:extLst>
                </a:gridCol>
              </a:tblGrid>
              <a:tr h="239935">
                <a:tc>
                  <a:txBody>
                    <a:bodyPr/>
                    <a:lstStyle/>
                    <a:p>
                      <a:r>
                        <a:rPr lang="en-IT" sz="1050" dirty="0"/>
                        <a:t>RM #vox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050" dirty="0"/>
                        <a:t>Phantom #vox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050" dirty="0"/>
                        <a:t>nPrim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sz="1050" dirty="0"/>
                        <a:t>FRED 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13155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6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2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263568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6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2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148402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6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7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4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009489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6.4 x 10</a:t>
                      </a:r>
                      <a:r>
                        <a:rPr lang="en-IT" sz="1050" baseline="30000" dirty="0"/>
                        <a:t>7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3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47631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6.4 x 10</a:t>
                      </a:r>
                      <a:r>
                        <a:rPr lang="en-IT" sz="1050" baseline="30000" dirty="0"/>
                        <a:t>7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3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840362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6.4 x 10</a:t>
                      </a:r>
                      <a:r>
                        <a:rPr lang="en-IT" sz="1050" baseline="30000" dirty="0"/>
                        <a:t>7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7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7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703464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9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20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162412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9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dirty="0"/>
                        <a:t>15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09439"/>
                  </a:ext>
                </a:extLst>
              </a:tr>
              <a:tr h="2399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10</a:t>
                      </a:r>
                      <a:r>
                        <a:rPr lang="en-IT" sz="1050" baseline="30000" dirty="0"/>
                        <a:t>9</a:t>
                      </a:r>
                      <a:endParaRPr lang="en-IT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T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IT" sz="105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IT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 sz="1050" b="0" dirty="0"/>
                        <a:t>10</a:t>
                      </a:r>
                      <a:r>
                        <a:rPr lang="en-IT" sz="1050" b="0" baseline="30000" dirty="0"/>
                        <a:t>7</a:t>
                      </a:r>
                      <a:endParaRPr lang="en-IT" sz="10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T" sz="1050" dirty="0"/>
                        <a:t> 23 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372702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99765A17-D6E4-420E-B4D7-934C3CFE3EE7}"/>
              </a:ext>
            </a:extLst>
          </p:cNvPr>
          <p:cNvSpPr txBox="1"/>
          <p:nvPr/>
        </p:nvSpPr>
        <p:spPr>
          <a:xfrm>
            <a:off x="8761228" y="818707"/>
            <a:ext cx="192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/>
              <a:t>FRED simulation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B030F1-DC46-A2C2-21D6-C68C6872EBAF}"/>
              </a:ext>
            </a:extLst>
          </p:cNvPr>
          <p:cNvSpPr txBox="1"/>
          <p:nvPr/>
        </p:nvSpPr>
        <p:spPr>
          <a:xfrm>
            <a:off x="8886197" y="3318799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/>
              <a:t>Time estimate</a:t>
            </a:r>
          </a:p>
        </p:txBody>
      </p:sp>
      <p:sp>
        <p:nvSpPr>
          <p:cNvPr id="91" name="Slide Number Placeholder 114">
            <a:extLst>
              <a:ext uri="{FF2B5EF4-FFF2-40B4-BE49-F238E27FC236}">
                <a16:creationId xmlns:a16="http://schemas.microsoft.com/office/drawing/2014/main" id="{B2CDDC1B-729C-7C9A-FE54-8F142210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8</a:t>
            </a:fld>
            <a:endParaRPr lang="en-IT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F23E8FC-A7F0-894A-8BFF-4B6D0E020E5F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C2A66B3-34FF-CA17-990F-9F1ECF1BE7D2}"/>
              </a:ext>
            </a:extLst>
          </p:cNvPr>
          <p:cNvCxnSpPr/>
          <p:nvPr/>
        </p:nvCxnSpPr>
        <p:spPr>
          <a:xfrm>
            <a:off x="6107693" y="2079366"/>
            <a:ext cx="9569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4ED3C98-A598-A4F9-5910-281499A1340B}"/>
              </a:ext>
            </a:extLst>
          </p:cNvPr>
          <p:cNvSpPr txBox="1"/>
          <p:nvPr/>
        </p:nvSpPr>
        <p:spPr>
          <a:xfrm>
            <a:off x="6049026" y="1668425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p</a:t>
            </a:r>
            <a:r>
              <a:rPr lang="en-IT" baseline="30000" dirty="0"/>
              <a:t>+ </a:t>
            </a:r>
            <a:r>
              <a:rPr lang="en-IT" dirty="0"/>
              <a:t>beam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D72A36-2BBE-7EBF-57D1-17FA9E9256AA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2C1504-CFED-EA5D-CEE1-3F365D9FC386}"/>
              </a:ext>
            </a:extLst>
          </p:cNvPr>
          <p:cNvSpPr txBox="1"/>
          <p:nvPr/>
        </p:nvSpPr>
        <p:spPr>
          <a:xfrm>
            <a:off x="8490895" y="6209486"/>
            <a:ext cx="2463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Very fast recalculation!</a:t>
            </a:r>
          </a:p>
        </p:txBody>
      </p:sp>
    </p:spTree>
    <p:extLst>
      <p:ext uri="{BB962C8B-B14F-4D97-AF65-F5344CB8AC3E}">
        <p14:creationId xmlns:p14="http://schemas.microsoft.com/office/powerpoint/2010/main" val="169736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52FF6-007A-456D-7597-4845B537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9FD1DA3-A4C1-5B7E-4EAA-B7EF2C446723}"/>
              </a:ext>
            </a:extLst>
          </p:cNvPr>
          <p:cNvGrpSpPr/>
          <p:nvPr/>
        </p:nvGrpSpPr>
        <p:grpSpPr>
          <a:xfrm>
            <a:off x="875714" y="910536"/>
            <a:ext cx="6157010" cy="5643397"/>
            <a:chOff x="1424758" y="893766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0A34978-DC79-532C-CFFA-BB366A561744}"/>
                </a:ext>
              </a:extLst>
            </p:cNvPr>
            <p:cNvSpPr/>
            <p:nvPr/>
          </p:nvSpPr>
          <p:spPr>
            <a:xfrm>
              <a:off x="2301828" y="6037432"/>
              <a:ext cx="2026838" cy="49973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7D8F5A-524D-F73E-5945-F2D2AD71FB93}"/>
                </a:ext>
              </a:extLst>
            </p:cNvPr>
            <p:cNvSpPr txBox="1"/>
            <p:nvPr/>
          </p:nvSpPr>
          <p:spPr>
            <a:xfrm>
              <a:off x="2337424" y="893766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DEFEDEE-98B4-2E95-7BA3-9EA597D63631}"/>
                </a:ext>
              </a:extLst>
            </p:cNvPr>
            <p:cNvSpPr txBox="1"/>
            <p:nvPr/>
          </p:nvSpPr>
          <p:spPr>
            <a:xfrm>
              <a:off x="2233176" y="1805795"/>
              <a:ext cx="2053684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2EB4EA-D6CE-5167-9CF4-E62943D74E24}"/>
                </a:ext>
              </a:extLst>
            </p:cNvPr>
            <p:cNvSpPr txBox="1"/>
            <p:nvPr/>
          </p:nvSpPr>
          <p:spPr>
            <a:xfrm>
              <a:off x="2211910" y="2742034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CEBC11-D50B-6C5F-7151-DCC44A902DDC}"/>
                </a:ext>
              </a:extLst>
            </p:cNvPr>
            <p:cNvSpPr txBox="1"/>
            <p:nvPr/>
          </p:nvSpPr>
          <p:spPr>
            <a:xfrm>
              <a:off x="2273553" y="3829325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D65EC00-68A8-FEC1-538F-7BBF50AB75CB}"/>
                </a:ext>
              </a:extLst>
            </p:cNvPr>
            <p:cNvSpPr txBox="1"/>
            <p:nvPr/>
          </p:nvSpPr>
          <p:spPr>
            <a:xfrm>
              <a:off x="2399720" y="496240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CA96603-4B19-94D3-CCE6-33A0E3838F27}"/>
                </a:ext>
              </a:extLst>
            </p:cNvPr>
            <p:cNvCxnSpPr>
              <a:cxnSpLocks/>
            </p:cNvCxnSpPr>
            <p:nvPr/>
          </p:nvCxnSpPr>
          <p:spPr>
            <a:xfrm>
              <a:off x="3257427" y="141698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EFE3CBB-DD4D-C2FA-B29B-612D2A3F13E6}"/>
                </a:ext>
              </a:extLst>
            </p:cNvPr>
            <p:cNvCxnSpPr>
              <a:cxnSpLocks/>
            </p:cNvCxnSpPr>
            <p:nvPr/>
          </p:nvCxnSpPr>
          <p:spPr>
            <a:xfrm>
              <a:off x="3254926" y="2373998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4AFD784-586A-0CFF-CBBD-B476E5EEFB82}"/>
                </a:ext>
              </a:extLst>
            </p:cNvPr>
            <p:cNvCxnSpPr>
              <a:cxnSpLocks/>
            </p:cNvCxnSpPr>
            <p:nvPr/>
          </p:nvCxnSpPr>
          <p:spPr>
            <a:xfrm>
              <a:off x="3271559" y="333443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F628CAE-1C70-2A89-BA16-7262FCEAF64B}"/>
                </a:ext>
              </a:extLst>
            </p:cNvPr>
            <p:cNvCxnSpPr>
              <a:cxnSpLocks/>
            </p:cNvCxnSpPr>
            <p:nvPr/>
          </p:nvCxnSpPr>
          <p:spPr>
            <a:xfrm>
              <a:off x="3307846" y="4256294"/>
              <a:ext cx="0" cy="37255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3741625-9951-8E4C-1D80-3FE53177686B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3306883" y="5543232"/>
              <a:ext cx="8364" cy="49420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DF6553-1B33-543A-E5A1-F00322894082}"/>
                </a:ext>
              </a:extLst>
            </p:cNvPr>
            <p:cNvSpPr txBox="1"/>
            <p:nvPr/>
          </p:nvSpPr>
          <p:spPr>
            <a:xfrm>
              <a:off x="2370364" y="6138015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75000"/>
                    </a:schemeClr>
                  </a:solidFill>
                </a:rPr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A56075-BE47-806B-583E-809B4A73F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1701" y="5105477"/>
              <a:ext cx="1389523" cy="18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E36702-7A0E-68ED-0CEF-F4964E8C63B7}"/>
                </a:ext>
              </a:extLst>
            </p:cNvPr>
            <p:cNvCxnSpPr>
              <a:cxnSpLocks/>
            </p:cNvCxnSpPr>
            <p:nvPr/>
          </p:nvCxnSpPr>
          <p:spPr>
            <a:xfrm>
              <a:off x="5830591" y="3028387"/>
              <a:ext cx="0" cy="20770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3F965A1-49BB-37D6-ED21-089D8A25CF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3450" y="3039020"/>
              <a:ext cx="1566729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BD7E8B-F867-3F43-15E3-2FE2888EAC22}"/>
                </a:ext>
              </a:extLst>
            </p:cNvPr>
            <p:cNvSpPr txBox="1"/>
            <p:nvPr/>
          </p:nvSpPr>
          <p:spPr>
            <a:xfrm>
              <a:off x="4761085" y="3622282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correction of the weights w</a:t>
              </a:r>
              <a:r>
                <a:rPr lang="en-IT" sz="1400" baseline="-25000" dirty="0">
                  <a:solidFill>
                    <a:schemeClr val="bg1">
                      <a:lumMod val="85000"/>
                    </a:schemeClr>
                  </a:solidFill>
                </a:rPr>
                <a:t>l</a:t>
              </a:r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D904F9-8DFA-2064-3AEB-6329E8328DB6}"/>
                </a:ext>
              </a:extLst>
            </p:cNvPr>
            <p:cNvSpPr txBox="1"/>
            <p:nvPr/>
          </p:nvSpPr>
          <p:spPr>
            <a:xfrm>
              <a:off x="5776594" y="2188075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7AB593B2-7A10-D617-94F8-182A935B0640}"/>
                </a:ext>
              </a:extLst>
            </p:cNvPr>
            <p:cNvSpPr/>
            <p:nvPr/>
          </p:nvSpPr>
          <p:spPr>
            <a:xfrm>
              <a:off x="2137479" y="4667723"/>
              <a:ext cx="2338809" cy="875509"/>
            </a:xfrm>
            <a:prstGeom prst="diamond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4D234B-86BD-A8CC-13B6-11256B6639E7}"/>
                </a:ext>
              </a:extLst>
            </p:cNvPr>
            <p:cNvSpPr/>
            <p:nvPr/>
          </p:nvSpPr>
          <p:spPr>
            <a:xfrm>
              <a:off x="2275708" y="1827061"/>
              <a:ext cx="1991703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A5F0B7-C669-29D1-74CF-41A0ED66A877}"/>
                </a:ext>
              </a:extLst>
            </p:cNvPr>
            <p:cNvSpPr/>
            <p:nvPr/>
          </p:nvSpPr>
          <p:spPr>
            <a:xfrm>
              <a:off x="2256383" y="898004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44532A-AA61-3C59-81F6-F88A01EB58DD}"/>
                </a:ext>
              </a:extLst>
            </p:cNvPr>
            <p:cNvSpPr/>
            <p:nvPr/>
          </p:nvSpPr>
          <p:spPr>
            <a:xfrm>
              <a:off x="2259075" y="2746548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3055ECE-1294-71F1-D83B-1505B7C85BBA}"/>
                </a:ext>
              </a:extLst>
            </p:cNvPr>
            <p:cNvSpPr/>
            <p:nvPr/>
          </p:nvSpPr>
          <p:spPr>
            <a:xfrm>
              <a:off x="2280562" y="3721603"/>
              <a:ext cx="1991703" cy="52322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A262B6B-DEDC-A98A-0037-6569182212BD}"/>
                </a:ext>
              </a:extLst>
            </p:cNvPr>
            <p:cNvSpPr/>
            <p:nvPr/>
          </p:nvSpPr>
          <p:spPr>
            <a:xfrm>
              <a:off x="4789572" y="3659920"/>
              <a:ext cx="2053683" cy="66338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7B7F16F-172F-6245-01C0-34FB09FB9D05}"/>
                </a:ext>
              </a:extLst>
            </p:cNvPr>
            <p:cNvSpPr/>
            <p:nvPr/>
          </p:nvSpPr>
          <p:spPr>
            <a:xfrm>
              <a:off x="1424758" y="2614120"/>
              <a:ext cx="5794745" cy="3244419"/>
            </a:xfrm>
            <a:prstGeom prst="rect">
              <a:avLst/>
            </a:prstGeom>
            <a:noFill/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4ADEF61-FD66-4F8B-DCD6-84FD6EC43204}"/>
                </a:ext>
              </a:extLst>
            </p:cNvPr>
            <p:cNvSpPr txBox="1"/>
            <p:nvPr/>
          </p:nvSpPr>
          <p:spPr>
            <a:xfrm>
              <a:off x="4423970" y="47467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CB8B7C-CA05-7219-1EBA-7E08CE33652D}"/>
                </a:ext>
              </a:extLst>
            </p:cNvPr>
            <p:cNvSpPr txBox="1"/>
            <p:nvPr/>
          </p:nvSpPr>
          <p:spPr>
            <a:xfrm>
              <a:off x="3324204" y="5483892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CD6E272E-1977-B4CC-344D-9EF682C83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51701" y="2817187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FCF77C3C-40E6-54BC-6E9B-D166EA86B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23566" y="1936602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1B925DB6-B934-5CD4-329E-37FFF4303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35718" y="3372107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6979A1FC-A6C3-F4E8-8599-CFB3EDE508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t="55439" b="5392"/>
            <a:stretch/>
          </p:blipFill>
          <p:spPr>
            <a:xfrm>
              <a:off x="4348164" y="920826"/>
              <a:ext cx="1466199" cy="433162"/>
            </a:xfrm>
            <a:prstGeom prst="rect">
              <a:avLst/>
            </a:prstGeom>
          </p:spPr>
        </p:pic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FA25CDA-C4B4-A4F5-9096-93AC96A07966}"/>
              </a:ext>
            </a:extLst>
          </p:cNvPr>
          <p:cNvSpPr txBox="1"/>
          <p:nvPr/>
        </p:nvSpPr>
        <p:spPr>
          <a:xfrm>
            <a:off x="9534968" y="3103992"/>
            <a:ext cx="2325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dose influence matrix</a:t>
            </a:r>
          </a:p>
        </p:txBody>
      </p:sp>
      <p:pic>
        <p:nvPicPr>
          <p:cNvPr id="77" name="Picture 76" descr="A mathematical equation with a number of symbols&#10;&#10;Description automatically generated with medium confidence">
            <a:extLst>
              <a:ext uri="{FF2B5EF4-FFF2-40B4-BE49-F238E27FC236}">
                <a16:creationId xmlns:a16="http://schemas.microsoft.com/office/drawing/2014/main" id="{CA9AE74A-2474-60FD-2BA2-620B1E6D412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645" r="8492"/>
          <a:stretch/>
        </p:blipFill>
        <p:spPr>
          <a:xfrm>
            <a:off x="8200757" y="2125774"/>
            <a:ext cx="1722267" cy="1036262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89E8D5F2-CE04-127D-BF82-53EE45179E37}"/>
              </a:ext>
            </a:extLst>
          </p:cNvPr>
          <p:cNvSpPr txBox="1"/>
          <p:nvPr/>
        </p:nvSpPr>
        <p:spPr>
          <a:xfrm>
            <a:off x="7077572" y="4825284"/>
            <a:ext cx="4440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optimize the weights w</a:t>
            </a:r>
            <a:r>
              <a:rPr lang="en-IT" baseline="-25000" dirty="0"/>
              <a:t>j</a:t>
            </a:r>
            <a:r>
              <a:rPr lang="en-IT" dirty="0"/>
              <a:t> to converge to the objective dose distribution D</a:t>
            </a:r>
            <a:r>
              <a:rPr lang="en-IT" baseline="-25000" dirty="0"/>
              <a:t>i</a:t>
            </a:r>
            <a:endParaRPr lang="en-IT" dirty="0"/>
          </a:p>
          <a:p>
            <a:pPr algn="ctr"/>
            <a:r>
              <a:rPr lang="en-IT" dirty="0"/>
              <a:t>e.g. (PTV coverage, OARs sparing)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4C6A211-4648-EDD5-F44C-DBB6C0728BFF}"/>
              </a:ext>
            </a:extLst>
          </p:cNvPr>
          <p:cNvSpPr txBox="1"/>
          <p:nvPr/>
        </p:nvSpPr>
        <p:spPr>
          <a:xfrm>
            <a:off x="6834617" y="3101438"/>
            <a:ext cx="2127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dose in the i</a:t>
            </a:r>
            <a:r>
              <a:rPr lang="en-IT" baseline="30000" dirty="0"/>
              <a:t>th</a:t>
            </a:r>
            <a:r>
              <a:rPr lang="en-IT" dirty="0"/>
              <a:t> voxel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589571-8AA8-C33A-3956-7309921B53A6}"/>
              </a:ext>
            </a:extLst>
          </p:cNvPr>
          <p:cNvSpPr txBox="1"/>
          <p:nvPr/>
        </p:nvSpPr>
        <p:spPr>
          <a:xfrm>
            <a:off x="7796827" y="3668070"/>
            <a:ext cx="2970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weight of the  j</a:t>
            </a:r>
            <a:r>
              <a:rPr lang="en-IT" baseline="30000" dirty="0"/>
              <a:t>th</a:t>
            </a:r>
            <a:r>
              <a:rPr lang="en-IT" dirty="0"/>
              <a:t> pb (fluence)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66795FD-F1D1-527D-1589-063765DA96F0}"/>
              </a:ext>
            </a:extLst>
          </p:cNvPr>
          <p:cNvCxnSpPr/>
          <p:nvPr/>
        </p:nvCxnSpPr>
        <p:spPr>
          <a:xfrm flipH="1" flipV="1">
            <a:off x="9860883" y="2809498"/>
            <a:ext cx="372863" cy="327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F840419-D31F-D8DF-6D81-F065BD65E5B0}"/>
              </a:ext>
            </a:extLst>
          </p:cNvPr>
          <p:cNvCxnSpPr>
            <a:cxnSpLocks/>
          </p:cNvCxnSpPr>
          <p:nvPr/>
        </p:nvCxnSpPr>
        <p:spPr>
          <a:xfrm flipV="1">
            <a:off x="9281849" y="2843215"/>
            <a:ext cx="0" cy="837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BD0E3D3-DC84-793B-14FC-FFEEAFD859B5}"/>
              </a:ext>
            </a:extLst>
          </p:cNvPr>
          <p:cNvCxnSpPr>
            <a:cxnSpLocks/>
          </p:cNvCxnSpPr>
          <p:nvPr/>
        </p:nvCxnSpPr>
        <p:spPr>
          <a:xfrm flipV="1">
            <a:off x="7908832" y="2809498"/>
            <a:ext cx="356523" cy="291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F89CAB1-E582-ABDA-548E-8E83B0BEC261}"/>
              </a:ext>
            </a:extLst>
          </p:cNvPr>
          <p:cNvSpPr/>
          <p:nvPr/>
        </p:nvSpPr>
        <p:spPr>
          <a:xfrm>
            <a:off x="6834617" y="3101438"/>
            <a:ext cx="203679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35FC178-30D2-BCFC-08B4-A390BE824021}"/>
              </a:ext>
            </a:extLst>
          </p:cNvPr>
          <p:cNvSpPr/>
          <p:nvPr/>
        </p:nvSpPr>
        <p:spPr>
          <a:xfrm>
            <a:off x="7829125" y="3680704"/>
            <a:ext cx="2937746" cy="3566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9E18ECA-CDA4-71BF-C8F8-560777B77EC2}"/>
              </a:ext>
            </a:extLst>
          </p:cNvPr>
          <p:cNvSpPr/>
          <p:nvPr/>
        </p:nvSpPr>
        <p:spPr>
          <a:xfrm>
            <a:off x="9570050" y="3136950"/>
            <a:ext cx="22907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88" name="Picture 87" descr="A black and grey text&#10;&#10;Description automatically generated">
            <a:extLst>
              <a:ext uri="{FF2B5EF4-FFF2-40B4-BE49-F238E27FC236}">
                <a16:creationId xmlns:a16="http://schemas.microsoft.com/office/drawing/2014/main" id="{17A482B7-D39F-FE6E-8D7A-968035126E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210" y="2279637"/>
            <a:ext cx="1902077" cy="563578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14E06BDA-8F98-099D-3D1B-F69AFF0E8206}"/>
              </a:ext>
            </a:extLst>
          </p:cNvPr>
          <p:cNvSpPr txBox="1"/>
          <p:nvPr/>
        </p:nvSpPr>
        <p:spPr>
          <a:xfrm>
            <a:off x="7922255" y="1766391"/>
            <a:ext cx="2432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/>
              <a:t>Fluence Optimization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4DC24C1-2881-2699-A9DA-376215AE0739}"/>
              </a:ext>
            </a:extLst>
          </p:cNvPr>
          <p:cNvSpPr/>
          <p:nvPr/>
        </p:nvSpPr>
        <p:spPr>
          <a:xfrm>
            <a:off x="1720664" y="1837712"/>
            <a:ext cx="1991703" cy="5232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239034A-F26C-012F-2D6D-3BBCFCFC3E92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8" name="Title 7">
            <a:extLst>
              <a:ext uri="{FF2B5EF4-FFF2-40B4-BE49-F238E27FC236}">
                <a16:creationId xmlns:a16="http://schemas.microsoft.com/office/drawing/2014/main" id="{47F7B909-113D-813D-C553-5ED04065C312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/>
              <a:t>3DRM DESIGN</a:t>
            </a:r>
            <a:endParaRPr lang="en-IT" sz="3200" dirty="0"/>
          </a:p>
        </p:txBody>
      </p:sp>
      <p:pic>
        <p:nvPicPr>
          <p:cNvPr id="99" name="Picture 98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B12E9DB8-6B52-EB71-D440-729D90F58D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00" name="Picture 99" descr="A blue and black logo&#10;&#10;Description automatically generated">
            <a:extLst>
              <a:ext uri="{FF2B5EF4-FFF2-40B4-BE49-F238E27FC236}">
                <a16:creationId xmlns:a16="http://schemas.microsoft.com/office/drawing/2014/main" id="{634D6397-67CB-3441-0A43-787F468D949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01" name="Picture 100" descr="A yellow and blue text&#10;&#10;Description automatically generated">
            <a:extLst>
              <a:ext uri="{FF2B5EF4-FFF2-40B4-BE49-F238E27FC236}">
                <a16:creationId xmlns:a16="http://schemas.microsoft.com/office/drawing/2014/main" id="{A6ACA338-945B-D027-E88F-17A74A9DE74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02" name="Slide Number Placeholder 114">
            <a:extLst>
              <a:ext uri="{FF2B5EF4-FFF2-40B4-BE49-F238E27FC236}">
                <a16:creationId xmlns:a16="http://schemas.microsoft.com/office/drawing/2014/main" id="{9888B9B9-F497-A782-DF69-E8F5AF93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9</a:t>
            </a:fld>
            <a:endParaRPr lang="en-IT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61002E8-9703-FD77-F993-BFFB418FF8FD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05" name="Right Arrow 104">
            <a:extLst>
              <a:ext uri="{FF2B5EF4-FFF2-40B4-BE49-F238E27FC236}">
                <a16:creationId xmlns:a16="http://schemas.microsoft.com/office/drawing/2014/main" id="{2864CEAD-45A0-6651-9918-716D521AA372}"/>
              </a:ext>
            </a:extLst>
          </p:cNvPr>
          <p:cNvSpPr/>
          <p:nvPr/>
        </p:nvSpPr>
        <p:spPr>
          <a:xfrm rot="5400000">
            <a:off x="9041454" y="4287903"/>
            <a:ext cx="502064" cy="39055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16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530B9F6-CFB7-C4E9-3EE4-AC924BA004BC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318684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6639-3100-A5A3-0D99-60651BFC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123027-4E56-9C91-AFD5-4DABE7D6237C}"/>
              </a:ext>
            </a:extLst>
          </p:cNvPr>
          <p:cNvGrpSpPr/>
          <p:nvPr/>
        </p:nvGrpSpPr>
        <p:grpSpPr>
          <a:xfrm>
            <a:off x="880317" y="904398"/>
            <a:ext cx="6157010" cy="5643397"/>
            <a:chOff x="1424758" y="893766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31F8A833-B2D2-2862-1DBD-00E8F054324D}"/>
                </a:ext>
              </a:extLst>
            </p:cNvPr>
            <p:cNvSpPr/>
            <p:nvPr/>
          </p:nvSpPr>
          <p:spPr>
            <a:xfrm>
              <a:off x="2301828" y="6037432"/>
              <a:ext cx="2026838" cy="49973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570C51A-15A3-49EA-7160-2945E7D94CB5}"/>
                </a:ext>
              </a:extLst>
            </p:cNvPr>
            <p:cNvSpPr txBox="1"/>
            <p:nvPr/>
          </p:nvSpPr>
          <p:spPr>
            <a:xfrm>
              <a:off x="2337424" y="893766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AA9990-CBC0-E33F-48DB-9B7A26C03106}"/>
                </a:ext>
              </a:extLst>
            </p:cNvPr>
            <p:cNvSpPr txBox="1"/>
            <p:nvPr/>
          </p:nvSpPr>
          <p:spPr>
            <a:xfrm>
              <a:off x="2233176" y="1805795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D515C6-A783-8493-8641-9DE4CB5B26B1}"/>
                </a:ext>
              </a:extLst>
            </p:cNvPr>
            <p:cNvSpPr txBox="1"/>
            <p:nvPr/>
          </p:nvSpPr>
          <p:spPr>
            <a:xfrm>
              <a:off x="2211910" y="2742034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02816C-42F2-3EC9-B76D-688649C6322D}"/>
                </a:ext>
              </a:extLst>
            </p:cNvPr>
            <p:cNvSpPr txBox="1"/>
            <p:nvPr/>
          </p:nvSpPr>
          <p:spPr>
            <a:xfrm>
              <a:off x="2273553" y="3829325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50A65F-A1A4-7386-0B61-304D7A35ADA4}"/>
                </a:ext>
              </a:extLst>
            </p:cNvPr>
            <p:cNvSpPr txBox="1"/>
            <p:nvPr/>
          </p:nvSpPr>
          <p:spPr>
            <a:xfrm>
              <a:off x="2399720" y="496240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08EF62C-A693-1ECF-D11F-ABE37B06B446}"/>
                </a:ext>
              </a:extLst>
            </p:cNvPr>
            <p:cNvCxnSpPr>
              <a:cxnSpLocks/>
            </p:cNvCxnSpPr>
            <p:nvPr/>
          </p:nvCxnSpPr>
          <p:spPr>
            <a:xfrm>
              <a:off x="3257427" y="141698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BC55D0C-FF5C-FBEF-1660-38ACB554877D}"/>
                </a:ext>
              </a:extLst>
            </p:cNvPr>
            <p:cNvCxnSpPr>
              <a:cxnSpLocks/>
            </p:cNvCxnSpPr>
            <p:nvPr/>
          </p:nvCxnSpPr>
          <p:spPr>
            <a:xfrm>
              <a:off x="3254926" y="2373998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83B5337-8062-633E-C906-862B8D9A5D75}"/>
                </a:ext>
              </a:extLst>
            </p:cNvPr>
            <p:cNvCxnSpPr>
              <a:cxnSpLocks/>
            </p:cNvCxnSpPr>
            <p:nvPr/>
          </p:nvCxnSpPr>
          <p:spPr>
            <a:xfrm>
              <a:off x="3271559" y="333443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98D9476-982E-3E19-25F9-903E8A368FE1}"/>
                </a:ext>
              </a:extLst>
            </p:cNvPr>
            <p:cNvCxnSpPr>
              <a:cxnSpLocks/>
            </p:cNvCxnSpPr>
            <p:nvPr/>
          </p:nvCxnSpPr>
          <p:spPr>
            <a:xfrm>
              <a:off x="3307846" y="4256294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B301870-2C17-B35E-477F-61F0C8A0F7FF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3306883" y="5543232"/>
              <a:ext cx="8364" cy="49420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6D459C-2F91-D288-5BE4-4E30929C4CCF}"/>
                </a:ext>
              </a:extLst>
            </p:cNvPr>
            <p:cNvSpPr txBox="1"/>
            <p:nvPr/>
          </p:nvSpPr>
          <p:spPr>
            <a:xfrm>
              <a:off x="2370364" y="6138015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75000"/>
                    </a:schemeClr>
                  </a:solidFill>
                </a:rPr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080C2F-9603-975C-99B6-AC2C20E9C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1701" y="5105477"/>
              <a:ext cx="1389523" cy="18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C0E1FA3-7DAE-2C71-D1FC-12255BD870EA}"/>
                </a:ext>
              </a:extLst>
            </p:cNvPr>
            <p:cNvCxnSpPr>
              <a:cxnSpLocks/>
            </p:cNvCxnSpPr>
            <p:nvPr/>
          </p:nvCxnSpPr>
          <p:spPr>
            <a:xfrm>
              <a:off x="5830591" y="3028387"/>
              <a:ext cx="0" cy="207709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3C9C588-F2C9-A828-34EE-B40D948C8C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3450" y="3039020"/>
              <a:ext cx="1566729" cy="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055110-2D4B-445A-1D05-D3BEBA93AA87}"/>
                </a:ext>
              </a:extLst>
            </p:cNvPr>
            <p:cNvSpPr txBox="1"/>
            <p:nvPr/>
          </p:nvSpPr>
          <p:spPr>
            <a:xfrm>
              <a:off x="4761085" y="3622282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correction of the weights w</a:t>
              </a:r>
              <a:r>
                <a:rPr lang="en-IT" sz="1400" baseline="-25000" dirty="0">
                  <a:solidFill>
                    <a:schemeClr val="bg1">
                      <a:lumMod val="85000"/>
                    </a:schemeClr>
                  </a:solidFill>
                </a:rPr>
                <a:t>l</a:t>
              </a:r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872078-E392-0575-CCA8-54AB35BB3589}"/>
                </a:ext>
              </a:extLst>
            </p:cNvPr>
            <p:cNvSpPr txBox="1"/>
            <p:nvPr/>
          </p:nvSpPr>
          <p:spPr>
            <a:xfrm>
              <a:off x="5776594" y="2188075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097E7E51-0A24-AFFD-72FC-5FF253977DE2}"/>
                </a:ext>
              </a:extLst>
            </p:cNvPr>
            <p:cNvSpPr/>
            <p:nvPr/>
          </p:nvSpPr>
          <p:spPr>
            <a:xfrm>
              <a:off x="2137479" y="4667723"/>
              <a:ext cx="2338809" cy="875509"/>
            </a:xfrm>
            <a:prstGeom prst="diamond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03DC5F-F576-7132-98DB-AD6E7D18C058}"/>
                </a:ext>
              </a:extLst>
            </p:cNvPr>
            <p:cNvSpPr/>
            <p:nvPr/>
          </p:nvSpPr>
          <p:spPr>
            <a:xfrm>
              <a:off x="2275708" y="1827061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98309B-C832-43FB-0A48-49582AEF21D2}"/>
                </a:ext>
              </a:extLst>
            </p:cNvPr>
            <p:cNvSpPr/>
            <p:nvPr/>
          </p:nvSpPr>
          <p:spPr>
            <a:xfrm>
              <a:off x="2256383" y="898004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79D1A5-116D-93D1-BCF1-694EBB040644}"/>
                </a:ext>
              </a:extLst>
            </p:cNvPr>
            <p:cNvSpPr/>
            <p:nvPr/>
          </p:nvSpPr>
          <p:spPr>
            <a:xfrm>
              <a:off x="2259075" y="2746548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F9858A-0921-16DC-AD7F-873B25C6F4E8}"/>
                </a:ext>
              </a:extLst>
            </p:cNvPr>
            <p:cNvSpPr/>
            <p:nvPr/>
          </p:nvSpPr>
          <p:spPr>
            <a:xfrm>
              <a:off x="2280562" y="3721603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884B21-70FB-7A6A-3E9A-A2099715E605}"/>
                </a:ext>
              </a:extLst>
            </p:cNvPr>
            <p:cNvSpPr/>
            <p:nvPr/>
          </p:nvSpPr>
          <p:spPr>
            <a:xfrm>
              <a:off x="4789572" y="3659920"/>
              <a:ext cx="2053683" cy="66338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3A4765-F889-2095-108E-788D6A2D290D}"/>
                </a:ext>
              </a:extLst>
            </p:cNvPr>
            <p:cNvSpPr/>
            <p:nvPr/>
          </p:nvSpPr>
          <p:spPr>
            <a:xfrm>
              <a:off x="1424758" y="2614120"/>
              <a:ext cx="5794745" cy="3244419"/>
            </a:xfrm>
            <a:prstGeom prst="rect">
              <a:avLst/>
            </a:prstGeom>
            <a:noFill/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44738E-484A-60A7-692C-465BE282C635}"/>
                </a:ext>
              </a:extLst>
            </p:cNvPr>
            <p:cNvSpPr txBox="1"/>
            <p:nvPr/>
          </p:nvSpPr>
          <p:spPr>
            <a:xfrm>
              <a:off x="4423970" y="47467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72F35D-FA2B-1540-277B-657E9FA8EE52}"/>
                </a:ext>
              </a:extLst>
            </p:cNvPr>
            <p:cNvSpPr txBox="1"/>
            <p:nvPr/>
          </p:nvSpPr>
          <p:spPr>
            <a:xfrm>
              <a:off x="3324204" y="5483892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>
                  <a:solidFill>
                    <a:schemeClr val="bg1">
                      <a:lumMod val="85000"/>
                    </a:schemeClr>
                  </a:solidFill>
                </a:rPr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15D8F3E9-6923-BCB2-F805-3428AFA8D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51701" y="2817187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77CA9783-6111-9252-719E-813963D29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23566" y="1936602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8A16ECC0-26C5-671A-5A9A-352181487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35718" y="3372107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F560C0C2-FAC0-4DD4-EE05-F97C81A237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t="55439" b="5392"/>
            <a:stretch/>
          </p:blipFill>
          <p:spPr>
            <a:xfrm>
              <a:off x="4348164" y="920826"/>
              <a:ext cx="1466199" cy="433162"/>
            </a:xfrm>
            <a:prstGeom prst="rect">
              <a:avLst/>
            </a:prstGeom>
          </p:spPr>
        </p:pic>
      </p:grpSp>
      <p:pic>
        <p:nvPicPr>
          <p:cNvPr id="98" name="Picture 97" descr="A graph of a line&#10;&#10;Description automatically generated">
            <a:extLst>
              <a:ext uri="{FF2B5EF4-FFF2-40B4-BE49-F238E27FC236}">
                <a16:creationId xmlns:a16="http://schemas.microsoft.com/office/drawing/2014/main" id="{F26A68BA-2318-7483-E7C0-6428E4DDDC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7450"/>
          <a:stretch/>
        </p:blipFill>
        <p:spPr>
          <a:xfrm>
            <a:off x="8254875" y="1535227"/>
            <a:ext cx="3274599" cy="190714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7124AE42-46F3-3606-2B36-7E3EFE1DABF1}"/>
              </a:ext>
            </a:extLst>
          </p:cNvPr>
          <p:cNvSpPr txBox="1"/>
          <p:nvPr/>
        </p:nvSpPr>
        <p:spPr>
          <a:xfrm>
            <a:off x="7479674" y="824604"/>
            <a:ext cx="437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Compare DVH metrics: D98%, D2%, Dmax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626CEF7-052C-CAFB-2FC0-2B90D74F6036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4" name="Title 7">
            <a:extLst>
              <a:ext uri="{FF2B5EF4-FFF2-40B4-BE49-F238E27FC236}">
                <a16:creationId xmlns:a16="http://schemas.microsoft.com/office/drawing/2014/main" id="{723EA06B-8784-3F84-EAC6-5FF448C5A0EF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/>
              <a:t>3DRM DESIGN</a:t>
            </a:r>
            <a:endParaRPr lang="en-IT" sz="3200" dirty="0"/>
          </a:p>
        </p:txBody>
      </p:sp>
      <p:pic>
        <p:nvPicPr>
          <p:cNvPr id="105" name="Picture 104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DB06DF69-4C5B-24F2-05FB-C507BEB22F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06" name="Picture 105" descr="A blue and black logo&#10;&#10;Description automatically generated">
            <a:extLst>
              <a:ext uri="{FF2B5EF4-FFF2-40B4-BE49-F238E27FC236}">
                <a16:creationId xmlns:a16="http://schemas.microsoft.com/office/drawing/2014/main" id="{9F3B2357-FACE-9F81-13FA-8218268BBD3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07" name="Picture 106" descr="A yellow and blue text&#10;&#10;Description automatically generated">
            <a:extLst>
              <a:ext uri="{FF2B5EF4-FFF2-40B4-BE49-F238E27FC236}">
                <a16:creationId xmlns:a16="http://schemas.microsoft.com/office/drawing/2014/main" id="{AAE35790-58C8-F1F8-AF79-8A2E15ED732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08" name="Slide Number Placeholder 114">
            <a:extLst>
              <a:ext uri="{FF2B5EF4-FFF2-40B4-BE49-F238E27FC236}">
                <a16:creationId xmlns:a16="http://schemas.microsoft.com/office/drawing/2014/main" id="{04F06606-CC3F-84C3-3B17-1897C00C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10</a:t>
            </a:fld>
            <a:endParaRPr lang="en-IT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8149D3-EA40-C5A4-D5B2-1CD702AE50D3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67F387C-3B14-9F2A-92FC-F3CF437A6577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171B96-8C5E-827B-E680-79038FF33A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01317" y="3625659"/>
            <a:ext cx="2169059" cy="262182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C39E844-7862-B8AE-5F99-E8AE3785BCAD}"/>
              </a:ext>
            </a:extLst>
          </p:cNvPr>
          <p:cNvSpPr txBox="1"/>
          <p:nvPr/>
        </p:nvSpPr>
        <p:spPr>
          <a:xfrm>
            <a:off x="10272550" y="6235977"/>
            <a:ext cx="1164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000" dirty="0"/>
              <a:t>Deffet et al., 2023</a:t>
            </a:r>
          </a:p>
        </p:txBody>
      </p:sp>
      <p:pic>
        <p:nvPicPr>
          <p:cNvPr id="20" name="Picture 19" descr="A close-up of a scan of a human brain&#10;&#10;Description automatically generated">
            <a:extLst>
              <a:ext uri="{FF2B5EF4-FFF2-40B4-BE49-F238E27FC236}">
                <a16:creationId xmlns:a16="http://schemas.microsoft.com/office/drawing/2014/main" id="{9A07F347-0FBE-EB5F-CD6D-980DA174D71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5470" b="48315"/>
          <a:stretch/>
        </p:blipFill>
        <p:spPr>
          <a:xfrm>
            <a:off x="7753305" y="4018910"/>
            <a:ext cx="1269757" cy="1418709"/>
          </a:xfrm>
          <a:prstGeom prst="rect">
            <a:avLst/>
          </a:prstGeom>
        </p:spPr>
      </p:pic>
      <p:pic>
        <p:nvPicPr>
          <p:cNvPr id="27" name="Picture 26" descr="A close-up of a scan of a human brain&#10;&#10;Description automatically generated">
            <a:extLst>
              <a:ext uri="{FF2B5EF4-FFF2-40B4-BE49-F238E27FC236}">
                <a16:creationId xmlns:a16="http://schemas.microsoft.com/office/drawing/2014/main" id="{CD5DFA2F-2A0C-A7A7-43B5-7FBF16A7C8E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t="52660" r="6132" b="4636"/>
          <a:stretch/>
        </p:blipFill>
        <p:spPr>
          <a:xfrm>
            <a:off x="7353317" y="4641286"/>
            <a:ext cx="1322654" cy="122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4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2C458-3C1A-2FA1-7C62-83DC6098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A9CEF89C-EECB-B20E-8C86-C6776C040098}"/>
              </a:ext>
            </a:extLst>
          </p:cNvPr>
          <p:cNvGrpSpPr/>
          <p:nvPr/>
        </p:nvGrpSpPr>
        <p:grpSpPr>
          <a:xfrm>
            <a:off x="871550" y="904398"/>
            <a:ext cx="6157010" cy="5643397"/>
            <a:chOff x="1424758" y="893766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B5D5E894-E666-A948-2750-6FADDCD71495}"/>
                </a:ext>
              </a:extLst>
            </p:cNvPr>
            <p:cNvSpPr/>
            <p:nvPr/>
          </p:nvSpPr>
          <p:spPr>
            <a:xfrm>
              <a:off x="2301828" y="6037432"/>
              <a:ext cx="2026838" cy="499731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35342F5-0F95-321D-9B64-15BF4C28BED2}"/>
                </a:ext>
              </a:extLst>
            </p:cNvPr>
            <p:cNvSpPr txBox="1"/>
            <p:nvPr/>
          </p:nvSpPr>
          <p:spPr>
            <a:xfrm>
              <a:off x="2337424" y="893766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A07B9F-9B09-8790-26D2-3BB8937D90EF}"/>
                </a:ext>
              </a:extLst>
            </p:cNvPr>
            <p:cNvSpPr txBox="1"/>
            <p:nvPr/>
          </p:nvSpPr>
          <p:spPr>
            <a:xfrm>
              <a:off x="2233176" y="1805795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>
                  <a:solidFill>
                    <a:schemeClr val="bg1">
                      <a:lumMod val="85000"/>
                    </a:schemeClr>
                  </a:solidFill>
                </a:rPr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106A41-BCB6-DD2D-0560-C5EAE25B8E9F}"/>
                </a:ext>
              </a:extLst>
            </p:cNvPr>
            <p:cNvSpPr txBox="1"/>
            <p:nvPr/>
          </p:nvSpPr>
          <p:spPr>
            <a:xfrm>
              <a:off x="2211910" y="2742034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C2DAB5-ED91-63C2-DE1D-315A252360E2}"/>
                </a:ext>
              </a:extLst>
            </p:cNvPr>
            <p:cNvSpPr txBox="1"/>
            <p:nvPr/>
          </p:nvSpPr>
          <p:spPr>
            <a:xfrm>
              <a:off x="2273553" y="3829325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C1E3F5-81BB-704B-84A5-1703A2A64C78}"/>
                </a:ext>
              </a:extLst>
            </p:cNvPr>
            <p:cNvSpPr txBox="1"/>
            <p:nvPr/>
          </p:nvSpPr>
          <p:spPr>
            <a:xfrm>
              <a:off x="2399720" y="496240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1E0C473-9DDD-73FA-5089-18A546413411}"/>
                </a:ext>
              </a:extLst>
            </p:cNvPr>
            <p:cNvCxnSpPr>
              <a:cxnSpLocks/>
            </p:cNvCxnSpPr>
            <p:nvPr/>
          </p:nvCxnSpPr>
          <p:spPr>
            <a:xfrm>
              <a:off x="3257427" y="1416986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A87B985-EAFF-5F71-55E9-5F3B992363F2}"/>
                </a:ext>
              </a:extLst>
            </p:cNvPr>
            <p:cNvCxnSpPr>
              <a:cxnSpLocks/>
            </p:cNvCxnSpPr>
            <p:nvPr/>
          </p:nvCxnSpPr>
          <p:spPr>
            <a:xfrm>
              <a:off x="3254926" y="2373998"/>
              <a:ext cx="0" cy="372550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EE8D292-FF13-1E02-38BD-5991F77F4012}"/>
                </a:ext>
              </a:extLst>
            </p:cNvPr>
            <p:cNvCxnSpPr>
              <a:cxnSpLocks/>
            </p:cNvCxnSpPr>
            <p:nvPr/>
          </p:nvCxnSpPr>
          <p:spPr>
            <a:xfrm>
              <a:off x="3271559" y="3334436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F09B18F-801F-A5B9-C1DA-A9FF00D01CB4}"/>
                </a:ext>
              </a:extLst>
            </p:cNvPr>
            <p:cNvCxnSpPr>
              <a:cxnSpLocks/>
            </p:cNvCxnSpPr>
            <p:nvPr/>
          </p:nvCxnSpPr>
          <p:spPr>
            <a:xfrm>
              <a:off x="3307846" y="4256294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F2CF767-5A7A-7388-8FD5-FB6DD661D963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3306883" y="5543232"/>
              <a:ext cx="8364" cy="494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4B71F0-8637-5D80-95EC-9A1961709FE2}"/>
                </a:ext>
              </a:extLst>
            </p:cNvPr>
            <p:cNvSpPr txBox="1"/>
            <p:nvPr/>
          </p:nvSpPr>
          <p:spPr>
            <a:xfrm>
              <a:off x="2370364" y="6138015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F426922-B712-A755-ADF9-1A9078D4D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1701" y="5105477"/>
              <a:ext cx="1389523" cy="1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D99B03-265C-CEC0-FAA7-FD5A6ECBEABD}"/>
                </a:ext>
              </a:extLst>
            </p:cNvPr>
            <p:cNvCxnSpPr>
              <a:cxnSpLocks/>
            </p:cNvCxnSpPr>
            <p:nvPr/>
          </p:nvCxnSpPr>
          <p:spPr>
            <a:xfrm>
              <a:off x="5830591" y="3028387"/>
              <a:ext cx="0" cy="20770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E433F2B-20DD-F40E-33B0-554B6CF20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3450" y="3039020"/>
              <a:ext cx="1566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38A7C7-C188-5227-8E92-879616400A47}"/>
                </a:ext>
              </a:extLst>
            </p:cNvPr>
            <p:cNvSpPr txBox="1"/>
            <p:nvPr/>
          </p:nvSpPr>
          <p:spPr>
            <a:xfrm>
              <a:off x="4761085" y="3622282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correction of the weights w</a:t>
              </a:r>
              <a:r>
                <a:rPr lang="en-IT" sz="1400" baseline="-25000" dirty="0"/>
                <a:t>l</a:t>
              </a:r>
              <a:r>
                <a:rPr lang="en-IT" sz="1400" dirty="0"/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7B32D33-E8CF-08E3-1D9D-A78506E75070}"/>
                </a:ext>
              </a:extLst>
            </p:cNvPr>
            <p:cNvSpPr txBox="1"/>
            <p:nvPr/>
          </p:nvSpPr>
          <p:spPr>
            <a:xfrm>
              <a:off x="5776594" y="2188075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89CADA2B-584A-CECF-063E-3990E484C272}"/>
                </a:ext>
              </a:extLst>
            </p:cNvPr>
            <p:cNvSpPr/>
            <p:nvPr/>
          </p:nvSpPr>
          <p:spPr>
            <a:xfrm>
              <a:off x="2137479" y="4667723"/>
              <a:ext cx="2338809" cy="875509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304031-F849-70BE-629C-C00389B0DB4A}"/>
                </a:ext>
              </a:extLst>
            </p:cNvPr>
            <p:cNvSpPr/>
            <p:nvPr/>
          </p:nvSpPr>
          <p:spPr>
            <a:xfrm>
              <a:off x="2275708" y="1827061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979232-0D68-54E0-1E9E-75DB11E71F17}"/>
                </a:ext>
              </a:extLst>
            </p:cNvPr>
            <p:cNvSpPr/>
            <p:nvPr/>
          </p:nvSpPr>
          <p:spPr>
            <a:xfrm>
              <a:off x="2256383" y="898004"/>
              <a:ext cx="1991703" cy="52322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2E1E53-FF8E-A101-5039-C761BF2A29CF}"/>
                </a:ext>
              </a:extLst>
            </p:cNvPr>
            <p:cNvSpPr/>
            <p:nvPr/>
          </p:nvSpPr>
          <p:spPr>
            <a:xfrm>
              <a:off x="2259075" y="2746548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2B6602-53E7-FC5A-75F6-6BC5B602F191}"/>
                </a:ext>
              </a:extLst>
            </p:cNvPr>
            <p:cNvSpPr/>
            <p:nvPr/>
          </p:nvSpPr>
          <p:spPr>
            <a:xfrm>
              <a:off x="2280562" y="3721603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854244-03D9-5A99-DC53-EC001C6D5EAA}"/>
                </a:ext>
              </a:extLst>
            </p:cNvPr>
            <p:cNvSpPr/>
            <p:nvPr/>
          </p:nvSpPr>
          <p:spPr>
            <a:xfrm>
              <a:off x="4789572" y="3659920"/>
              <a:ext cx="2053683" cy="6633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BAB3A9-5F84-CF1B-A66D-566BA611E878}"/>
                </a:ext>
              </a:extLst>
            </p:cNvPr>
            <p:cNvSpPr/>
            <p:nvPr/>
          </p:nvSpPr>
          <p:spPr>
            <a:xfrm>
              <a:off x="1424758" y="2614120"/>
              <a:ext cx="5794745" cy="3244419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80DE47-F39E-4B71-7DC4-EF962263FAEF}"/>
                </a:ext>
              </a:extLst>
            </p:cNvPr>
            <p:cNvSpPr txBox="1"/>
            <p:nvPr/>
          </p:nvSpPr>
          <p:spPr>
            <a:xfrm>
              <a:off x="4423970" y="4746778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1BFEAC8-74C0-33DD-587C-1999563C848F}"/>
                </a:ext>
              </a:extLst>
            </p:cNvPr>
            <p:cNvSpPr txBox="1"/>
            <p:nvPr/>
          </p:nvSpPr>
          <p:spPr>
            <a:xfrm>
              <a:off x="3324204" y="5483892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E7FA0094-AB09-CFF0-88B8-9D16955B5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1701" y="2817187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E1240EAF-12CD-E325-418E-243904CE4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</a:blip>
            <a:stretch>
              <a:fillRect/>
            </a:stretch>
          </p:blipFill>
          <p:spPr>
            <a:xfrm>
              <a:off x="4423566" y="1936602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4178F1FB-38AD-0264-F456-DFD43EA7E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5718" y="3372107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A13F9DC8-CA20-CA6C-CD03-63A6597956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</a:blip>
            <a:srcRect t="55439" b="5392"/>
            <a:stretch/>
          </p:blipFill>
          <p:spPr>
            <a:xfrm>
              <a:off x="4348164" y="920826"/>
              <a:ext cx="1466199" cy="433162"/>
            </a:xfrm>
            <a:prstGeom prst="rect">
              <a:avLst/>
            </a:prstGeom>
          </p:spPr>
        </p:pic>
      </p:grpSp>
      <p:sp>
        <p:nvSpPr>
          <p:cNvPr id="136" name="Curved Down Arrow 135">
            <a:extLst>
              <a:ext uri="{FF2B5EF4-FFF2-40B4-BE49-F238E27FC236}">
                <a16:creationId xmlns:a16="http://schemas.microsoft.com/office/drawing/2014/main" id="{149B287A-5368-6681-E382-55A8C808BEF9}"/>
              </a:ext>
            </a:extLst>
          </p:cNvPr>
          <p:cNvSpPr/>
          <p:nvPr/>
        </p:nvSpPr>
        <p:spPr>
          <a:xfrm flipV="1">
            <a:off x="7927891" y="4810282"/>
            <a:ext cx="942931" cy="257930"/>
          </a:xfrm>
          <a:prstGeom prst="curvedDownArrow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pic>
        <p:nvPicPr>
          <p:cNvPr id="139" name="Picture 138" descr="A graph with green and blue lines&#10;&#10;Description automatically generated">
            <a:extLst>
              <a:ext uri="{FF2B5EF4-FFF2-40B4-BE49-F238E27FC236}">
                <a16:creationId xmlns:a16="http://schemas.microsoft.com/office/drawing/2014/main" id="{EBBE6945-7E17-AFE6-4462-D93C34E40E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2058" t="27489" r="45002" b="26443"/>
          <a:stretch/>
        </p:blipFill>
        <p:spPr>
          <a:xfrm rot="16200000">
            <a:off x="10530187" y="3171215"/>
            <a:ext cx="1956552" cy="1269757"/>
          </a:xfrm>
          <a:prstGeom prst="rect">
            <a:avLst/>
          </a:prstGeom>
        </p:spPr>
      </p:pic>
      <p:pic>
        <p:nvPicPr>
          <p:cNvPr id="143" name="Picture 142" descr="A graph with green lines and numbers&#10;&#10;Description automatically generated">
            <a:extLst>
              <a:ext uri="{FF2B5EF4-FFF2-40B4-BE49-F238E27FC236}">
                <a16:creationId xmlns:a16="http://schemas.microsoft.com/office/drawing/2014/main" id="{8F68ED10-BBEC-6942-D4AA-909661D74D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2032" t="27221" r="45028" b="26496"/>
          <a:stretch/>
        </p:blipFill>
        <p:spPr>
          <a:xfrm rot="16200000">
            <a:off x="8443258" y="3162463"/>
            <a:ext cx="1952124" cy="1272787"/>
          </a:xfrm>
          <a:prstGeom prst="rect">
            <a:avLst/>
          </a:prstGeom>
        </p:spPr>
      </p:pic>
      <p:pic>
        <p:nvPicPr>
          <p:cNvPr id="145" name="Picture 144" descr="A graph with green and blue lines&#10;&#10;Description automatically generated">
            <a:extLst>
              <a:ext uri="{FF2B5EF4-FFF2-40B4-BE49-F238E27FC236}">
                <a16:creationId xmlns:a16="http://schemas.microsoft.com/office/drawing/2014/main" id="{DF173A92-440F-7E14-8195-4FBD67D67B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1813" t="26918" r="43910" b="25837"/>
          <a:stretch/>
        </p:blipFill>
        <p:spPr>
          <a:xfrm rot="16200000">
            <a:off x="6377629" y="3168749"/>
            <a:ext cx="1973422" cy="1273804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B8A6A3BF-B2A9-F175-D56E-BA98D8F698A8}"/>
              </a:ext>
            </a:extLst>
          </p:cNvPr>
          <p:cNvSpPr txBox="1"/>
          <p:nvPr/>
        </p:nvSpPr>
        <p:spPr>
          <a:xfrm>
            <a:off x="6963411" y="4778364"/>
            <a:ext cx="85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STEP 0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29132E61-2295-BE48-AF0E-EFDC9A3DC964}"/>
              </a:ext>
            </a:extLst>
          </p:cNvPr>
          <p:cNvSpPr txBox="1"/>
          <p:nvPr/>
        </p:nvSpPr>
        <p:spPr>
          <a:xfrm>
            <a:off x="9035195" y="4757410"/>
            <a:ext cx="85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STEP 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8253748-FF6C-8AD5-31B5-C2D4AB581D11}"/>
              </a:ext>
            </a:extLst>
          </p:cNvPr>
          <p:cNvSpPr txBox="1"/>
          <p:nvPr/>
        </p:nvSpPr>
        <p:spPr>
          <a:xfrm>
            <a:off x="11143112" y="4769469"/>
            <a:ext cx="85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STEP 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2605E4F-ECC4-09E0-5158-0F4BF4379406}"/>
              </a:ext>
            </a:extLst>
          </p:cNvPr>
          <p:cNvSpPr txBox="1"/>
          <p:nvPr/>
        </p:nvSpPr>
        <p:spPr>
          <a:xfrm>
            <a:off x="6578184" y="1120817"/>
            <a:ext cx="3642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T" sz="1400" dirty="0"/>
              <a:t>Development of an algorithm to correct the pin’s weights based on the  dose distribution </a:t>
            </a:r>
          </a:p>
          <a:p>
            <a:pPr algn="just"/>
            <a:r>
              <a:rPr lang="en-IT" sz="1400" dirty="0"/>
              <a:t>(e.g. matching algorithm) </a:t>
            </a:r>
          </a:p>
        </p:txBody>
      </p:sp>
      <p:pic>
        <p:nvPicPr>
          <p:cNvPr id="151" name="Picture 150" descr="A close-up of a scan of a human brain&#10;&#10;Description automatically generated">
            <a:extLst>
              <a:ext uri="{FF2B5EF4-FFF2-40B4-BE49-F238E27FC236}">
                <a16:creationId xmlns:a16="http://schemas.microsoft.com/office/drawing/2014/main" id="{4F7F3F67-DFD2-46C2-84BC-4BB57D085AB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5470" b="48315"/>
          <a:stretch/>
        </p:blipFill>
        <p:spPr>
          <a:xfrm>
            <a:off x="10882874" y="614795"/>
            <a:ext cx="1269757" cy="1418709"/>
          </a:xfrm>
          <a:prstGeom prst="rect">
            <a:avLst/>
          </a:prstGeom>
        </p:spPr>
      </p:pic>
      <p:pic>
        <p:nvPicPr>
          <p:cNvPr id="152" name="Picture 151" descr="A close-up of a scan of a human brain&#10;&#10;Description automatically generated">
            <a:extLst>
              <a:ext uri="{FF2B5EF4-FFF2-40B4-BE49-F238E27FC236}">
                <a16:creationId xmlns:a16="http://schemas.microsoft.com/office/drawing/2014/main" id="{B2F27346-C165-D213-D143-5BA40809C9C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" t="52660" r="6132" b="4636"/>
          <a:stretch/>
        </p:blipFill>
        <p:spPr>
          <a:xfrm>
            <a:off x="10370766" y="1004914"/>
            <a:ext cx="1322654" cy="1229606"/>
          </a:xfrm>
          <a:prstGeom prst="rect">
            <a:avLst/>
          </a:prstGeom>
        </p:spPr>
      </p:pic>
      <p:sp>
        <p:nvSpPr>
          <p:cNvPr id="159" name="Rectangle 158">
            <a:extLst>
              <a:ext uri="{FF2B5EF4-FFF2-40B4-BE49-F238E27FC236}">
                <a16:creationId xmlns:a16="http://schemas.microsoft.com/office/drawing/2014/main" id="{289BB332-B696-9DC7-B19C-3DF96061B409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0" name="Title 7">
            <a:extLst>
              <a:ext uri="{FF2B5EF4-FFF2-40B4-BE49-F238E27FC236}">
                <a16:creationId xmlns:a16="http://schemas.microsoft.com/office/drawing/2014/main" id="{6B910296-C861-5DF4-2E8E-8C3FCFCB6C56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/>
              <a:t>3DRM DESIGN</a:t>
            </a:r>
            <a:endParaRPr lang="en-IT" sz="3200" dirty="0"/>
          </a:p>
        </p:txBody>
      </p:sp>
      <p:pic>
        <p:nvPicPr>
          <p:cNvPr id="161" name="Picture 160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C829D3CE-1B74-F64F-1089-864BD9903E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62" name="Picture 161" descr="A blue and black logo&#10;&#10;Description automatically generated">
            <a:extLst>
              <a:ext uri="{FF2B5EF4-FFF2-40B4-BE49-F238E27FC236}">
                <a16:creationId xmlns:a16="http://schemas.microsoft.com/office/drawing/2014/main" id="{532EE790-B4B8-5040-A65B-C574EF45508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63" name="Picture 162" descr="A yellow and blue text&#10;&#10;Description automatically generated">
            <a:extLst>
              <a:ext uri="{FF2B5EF4-FFF2-40B4-BE49-F238E27FC236}">
                <a16:creationId xmlns:a16="http://schemas.microsoft.com/office/drawing/2014/main" id="{E51E2C57-2EF7-5BA8-9F96-C11C566B908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BECC72B7-1B18-0296-C9BA-CC6C614C8181}"/>
              </a:ext>
            </a:extLst>
          </p:cNvPr>
          <p:cNvSpPr txBox="1"/>
          <p:nvPr/>
        </p:nvSpPr>
        <p:spPr>
          <a:xfrm>
            <a:off x="7085394" y="5338590"/>
            <a:ext cx="45436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 b="1" dirty="0"/>
              <a:t>Time estimate:</a:t>
            </a:r>
            <a:endParaRPr lang="en-IT" dirty="0"/>
          </a:p>
          <a:p>
            <a:pPr algn="ctr"/>
            <a:r>
              <a:rPr lang="en-IT" dirty="0"/>
              <a:t>(10s (FRED) + 1min (fluence opt)) x 100 iter =</a:t>
            </a:r>
          </a:p>
          <a:p>
            <a:pPr algn="ctr"/>
            <a:endParaRPr lang="en-IT" dirty="0"/>
          </a:p>
          <a:p>
            <a:pPr algn="ctr"/>
            <a:r>
              <a:rPr lang="en-IT" dirty="0"/>
              <a:t>≈ 1-2 hours</a:t>
            </a:r>
          </a:p>
          <a:p>
            <a:pPr algn="ctr"/>
            <a:endParaRPr lang="en-IT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A1DCEA3-13FC-960B-8513-67EBD2553745}"/>
              </a:ext>
            </a:extLst>
          </p:cNvPr>
          <p:cNvSpPr/>
          <p:nvPr/>
        </p:nvSpPr>
        <p:spPr>
          <a:xfrm>
            <a:off x="8617268" y="6160738"/>
            <a:ext cx="1439473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6" name="Slide Number Placeholder 114">
            <a:extLst>
              <a:ext uri="{FF2B5EF4-FFF2-40B4-BE49-F238E27FC236}">
                <a16:creationId xmlns:a16="http://schemas.microsoft.com/office/drawing/2014/main" id="{92864ED0-CF6C-30E2-6B7C-87609334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11</a:t>
            </a:fld>
            <a:endParaRPr lang="en-IT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7593940-5CBB-21DD-FF1F-337215CC8643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C8087CF-B0D6-1B4F-66AF-5539B52543A4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25" name="Curved Down Arrow 24">
            <a:extLst>
              <a:ext uri="{FF2B5EF4-FFF2-40B4-BE49-F238E27FC236}">
                <a16:creationId xmlns:a16="http://schemas.microsoft.com/office/drawing/2014/main" id="{B2097622-EE34-1011-D59A-B7F5F67C7DC2}"/>
              </a:ext>
            </a:extLst>
          </p:cNvPr>
          <p:cNvSpPr/>
          <p:nvPr/>
        </p:nvSpPr>
        <p:spPr>
          <a:xfrm flipV="1">
            <a:off x="10013731" y="4818581"/>
            <a:ext cx="972926" cy="257929"/>
          </a:xfrm>
          <a:prstGeom prst="curvedDownArrow">
            <a:avLst/>
          </a:prstGeom>
          <a:solidFill>
            <a:schemeClr val="tx2">
              <a:lumMod val="50000"/>
              <a:lumOff val="5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C6EAD37-4057-77E0-4317-1227940C31BC}"/>
              </a:ext>
            </a:extLst>
          </p:cNvPr>
          <p:cNvGrpSpPr/>
          <p:nvPr/>
        </p:nvGrpSpPr>
        <p:grpSpPr>
          <a:xfrm>
            <a:off x="7985235" y="2725832"/>
            <a:ext cx="2898461" cy="2056847"/>
            <a:chOff x="7985235" y="2725832"/>
            <a:chExt cx="2898461" cy="2056847"/>
          </a:xfrm>
        </p:grpSpPr>
        <p:pic>
          <p:nvPicPr>
            <p:cNvPr id="7" name="Picture 6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B64E2B78-570E-5906-8A9E-0E0A65365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4362" y="3135847"/>
              <a:ext cx="674142" cy="295873"/>
            </a:xfrm>
            <a:prstGeom prst="rect">
              <a:avLst/>
            </a:prstGeom>
          </p:spPr>
        </p:pic>
        <p:pic>
          <p:nvPicPr>
            <p:cNvPr id="40" name="Graphic 39" descr="Gauge with solid fill">
              <a:extLst>
                <a:ext uri="{FF2B5EF4-FFF2-40B4-BE49-F238E27FC236}">
                  <a16:creationId xmlns:a16="http://schemas.microsoft.com/office/drawing/2014/main" id="{22AFF91C-FD38-0868-8968-25165B246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143731" y="2725832"/>
              <a:ext cx="511253" cy="511253"/>
            </a:xfrm>
            <a:prstGeom prst="rect">
              <a:avLst/>
            </a:prstGeom>
          </p:spPr>
        </p:pic>
        <p:pic>
          <p:nvPicPr>
            <p:cNvPr id="47" name="Picture 46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1BE81E7D-3BA6-B6C2-C850-EBE8DABD1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21111" y="3138511"/>
              <a:ext cx="674142" cy="295873"/>
            </a:xfrm>
            <a:prstGeom prst="rect">
              <a:avLst/>
            </a:prstGeom>
          </p:spPr>
        </p:pic>
        <p:pic>
          <p:nvPicPr>
            <p:cNvPr id="48" name="Graphic 47" descr="Gauge with solid fill">
              <a:extLst>
                <a:ext uri="{FF2B5EF4-FFF2-40B4-BE49-F238E27FC236}">
                  <a16:creationId xmlns:a16="http://schemas.microsoft.com/office/drawing/2014/main" id="{493327FE-5A1F-15CB-1EA6-8A27E7BE9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220480" y="2728496"/>
              <a:ext cx="511253" cy="511253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AE5292D-B7FE-8941-4EE8-BCCB504F149B}"/>
                </a:ext>
              </a:extLst>
            </p:cNvPr>
            <p:cNvGrpSpPr/>
            <p:nvPr/>
          </p:nvGrpSpPr>
          <p:grpSpPr>
            <a:xfrm>
              <a:off x="7985235" y="3520900"/>
              <a:ext cx="2898461" cy="1261779"/>
              <a:chOff x="7985235" y="3520900"/>
              <a:chExt cx="2898461" cy="1261779"/>
            </a:xfrm>
          </p:grpSpPr>
          <p:pic>
            <p:nvPicPr>
              <p:cNvPr id="42" name="Picture 41" descr="A black and grey text&#10;&#10;Description automatically generated">
                <a:extLst>
                  <a:ext uri="{FF2B5EF4-FFF2-40B4-BE49-F238E27FC236}">
                    <a16:creationId xmlns:a16="http://schemas.microsoft.com/office/drawing/2014/main" id="{2C2540C7-A30D-027F-14A2-A413D71CF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7738" b="19890"/>
              <a:stretch/>
            </p:blipFill>
            <p:spPr>
              <a:xfrm>
                <a:off x="8208310" y="3946601"/>
                <a:ext cx="277500" cy="295873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553315-AD39-6701-FE0C-54E3BFD5D177}"/>
                  </a:ext>
                </a:extLst>
              </p:cNvPr>
              <p:cNvSpPr txBox="1"/>
              <p:nvPr/>
            </p:nvSpPr>
            <p:spPr>
              <a:xfrm>
                <a:off x="7985235" y="4259459"/>
                <a:ext cx="8098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T" sz="1400" dirty="0"/>
                  <a:t>Fluence</a:t>
                </a:r>
              </a:p>
              <a:p>
                <a:pPr algn="ctr"/>
                <a:r>
                  <a:rPr lang="en-IT" sz="1400" dirty="0"/>
                  <a:t>Opt</a:t>
                </a:r>
              </a:p>
            </p:txBody>
          </p:sp>
          <p:pic>
            <p:nvPicPr>
              <p:cNvPr id="49" name="Picture 48" descr="A black and grey text&#10;&#10;Description automatically generated">
                <a:extLst>
                  <a:ext uri="{FF2B5EF4-FFF2-40B4-BE49-F238E27FC236}">
                    <a16:creationId xmlns:a16="http://schemas.microsoft.com/office/drawing/2014/main" id="{FC41A96C-F18D-747E-D0F4-99A4DF5E3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7738" b="19890"/>
              <a:stretch/>
            </p:blipFill>
            <p:spPr>
              <a:xfrm>
                <a:off x="10308809" y="3937390"/>
                <a:ext cx="277500" cy="295873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0E54F6-C024-CBBF-7DFA-48FA6AC5537F}"/>
                  </a:ext>
                </a:extLst>
              </p:cNvPr>
              <p:cNvSpPr txBox="1"/>
              <p:nvPr/>
            </p:nvSpPr>
            <p:spPr>
              <a:xfrm>
                <a:off x="10073859" y="4250248"/>
                <a:ext cx="8098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T" sz="1400" dirty="0"/>
                  <a:t>Fluence</a:t>
                </a:r>
              </a:p>
              <a:p>
                <a:pPr algn="ctr"/>
                <a:r>
                  <a:rPr lang="en-IT" sz="1400" dirty="0"/>
                  <a:t>Opt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61FA92B-B8B6-EC11-CCE8-0408B513252B}"/>
                  </a:ext>
                </a:extLst>
              </p:cNvPr>
              <p:cNvSpPr txBox="1"/>
              <p:nvPr/>
            </p:nvSpPr>
            <p:spPr>
              <a:xfrm>
                <a:off x="8240647" y="352385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dirty="0"/>
                  <a:t>+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5D5496-8D1A-1513-20D9-D3258A3DD917}"/>
                  </a:ext>
                </a:extLst>
              </p:cNvPr>
              <p:cNvSpPr txBox="1"/>
              <p:nvPr/>
            </p:nvSpPr>
            <p:spPr>
              <a:xfrm>
                <a:off x="10340512" y="35209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dirty="0"/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084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46" grpId="0"/>
      <p:bldP spid="147" grpId="0"/>
      <p:bldP spid="148" grpId="0"/>
      <p:bldP spid="150" grpId="0"/>
      <p:bldP spid="164" grpId="0"/>
      <p:bldP spid="165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EC19A-F627-B1B6-8EDF-DB1545A18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C3D6511-DE02-22FF-78BC-3774F4C4F5AF}"/>
              </a:ext>
            </a:extLst>
          </p:cNvPr>
          <p:cNvGrpSpPr/>
          <p:nvPr/>
        </p:nvGrpSpPr>
        <p:grpSpPr>
          <a:xfrm>
            <a:off x="3444942" y="798073"/>
            <a:ext cx="6157010" cy="5643397"/>
            <a:chOff x="3444942" y="798073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FE2F776E-5E3E-9A20-0EBF-6F1256C1B492}"/>
                </a:ext>
              </a:extLst>
            </p:cNvPr>
            <p:cNvSpPr/>
            <p:nvPr/>
          </p:nvSpPr>
          <p:spPr>
            <a:xfrm>
              <a:off x="4322012" y="5941739"/>
              <a:ext cx="2026838" cy="499731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9D55C58-9455-F0F4-D640-768BF5A979FE}"/>
                </a:ext>
              </a:extLst>
            </p:cNvPr>
            <p:cNvSpPr txBox="1"/>
            <p:nvPr/>
          </p:nvSpPr>
          <p:spPr>
            <a:xfrm>
              <a:off x="4357608" y="798073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DE9ABB3-7B61-FB77-11B8-C19D68A875E6}"/>
                </a:ext>
              </a:extLst>
            </p:cNvPr>
            <p:cNvSpPr txBox="1"/>
            <p:nvPr/>
          </p:nvSpPr>
          <p:spPr>
            <a:xfrm>
              <a:off x="4253360" y="1710102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443FD80-084F-26FB-62AB-C3107DD5A24D}"/>
                </a:ext>
              </a:extLst>
            </p:cNvPr>
            <p:cNvSpPr txBox="1"/>
            <p:nvPr/>
          </p:nvSpPr>
          <p:spPr>
            <a:xfrm>
              <a:off x="4232094" y="2646341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C90DD2-B665-2A96-230B-80D4D67DBE7C}"/>
                </a:ext>
              </a:extLst>
            </p:cNvPr>
            <p:cNvSpPr txBox="1"/>
            <p:nvPr/>
          </p:nvSpPr>
          <p:spPr>
            <a:xfrm>
              <a:off x="4293737" y="3733632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85AEDE4-D02B-75AA-DE7C-258C84AD9786}"/>
                </a:ext>
              </a:extLst>
            </p:cNvPr>
            <p:cNvSpPr txBox="1"/>
            <p:nvPr/>
          </p:nvSpPr>
          <p:spPr>
            <a:xfrm>
              <a:off x="4419904" y="4866709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1BA4CDE-4316-9DD2-FA4A-09805311ABC8}"/>
                </a:ext>
              </a:extLst>
            </p:cNvPr>
            <p:cNvCxnSpPr>
              <a:cxnSpLocks/>
            </p:cNvCxnSpPr>
            <p:nvPr/>
          </p:nvCxnSpPr>
          <p:spPr>
            <a:xfrm>
              <a:off x="5277611" y="132129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D58E512-5094-154A-E3C3-FF03080B926E}"/>
                </a:ext>
              </a:extLst>
            </p:cNvPr>
            <p:cNvCxnSpPr>
              <a:cxnSpLocks/>
            </p:cNvCxnSpPr>
            <p:nvPr/>
          </p:nvCxnSpPr>
          <p:spPr>
            <a:xfrm>
              <a:off x="5275110" y="2278305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FEED347-6FB0-C21B-CEC2-83C98322A6EB}"/>
                </a:ext>
              </a:extLst>
            </p:cNvPr>
            <p:cNvCxnSpPr>
              <a:cxnSpLocks/>
            </p:cNvCxnSpPr>
            <p:nvPr/>
          </p:nvCxnSpPr>
          <p:spPr>
            <a:xfrm>
              <a:off x="5291743" y="323874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972AE1D-5BE7-7E13-7B95-B4DB7B06127A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30" y="4160601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9EFAE11-DA94-B300-D5D3-632EE7E2F8C8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327067" y="5447539"/>
              <a:ext cx="8364" cy="494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57A436-9047-0115-BC19-FEB9B1DE86CE}"/>
                </a:ext>
              </a:extLst>
            </p:cNvPr>
            <p:cNvSpPr txBox="1"/>
            <p:nvPr/>
          </p:nvSpPr>
          <p:spPr>
            <a:xfrm>
              <a:off x="4390548" y="604232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9F563DC-244A-A75A-2919-D39B09685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1885" y="5009784"/>
              <a:ext cx="1389523" cy="1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6FC3763-1102-5EF9-9CDE-EF7C3479EAA4}"/>
                </a:ext>
              </a:extLst>
            </p:cNvPr>
            <p:cNvCxnSpPr>
              <a:cxnSpLocks/>
            </p:cNvCxnSpPr>
            <p:nvPr/>
          </p:nvCxnSpPr>
          <p:spPr>
            <a:xfrm>
              <a:off x="7850775" y="2932694"/>
              <a:ext cx="0" cy="20770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B69C380-32B7-8E90-DCEC-2138296E0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3634" y="2943327"/>
              <a:ext cx="1566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E721B4-B73B-8A9A-35EC-F41CD6676E0A}"/>
                </a:ext>
              </a:extLst>
            </p:cNvPr>
            <p:cNvSpPr txBox="1"/>
            <p:nvPr/>
          </p:nvSpPr>
          <p:spPr>
            <a:xfrm>
              <a:off x="6781269" y="3526589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correction of the weights w</a:t>
              </a:r>
              <a:r>
                <a:rPr lang="en-IT" sz="1400" baseline="-25000" dirty="0"/>
                <a:t>l</a:t>
              </a:r>
              <a:r>
                <a:rPr lang="en-IT" sz="1400" dirty="0"/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0FDC271-C1A0-5032-1AAF-C1BA99AA0ACA}"/>
                </a:ext>
              </a:extLst>
            </p:cNvPr>
            <p:cNvSpPr txBox="1"/>
            <p:nvPr/>
          </p:nvSpPr>
          <p:spPr>
            <a:xfrm>
              <a:off x="7796778" y="2092382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6DF7BF91-5956-DA81-0298-587390FD4565}"/>
                </a:ext>
              </a:extLst>
            </p:cNvPr>
            <p:cNvSpPr/>
            <p:nvPr/>
          </p:nvSpPr>
          <p:spPr>
            <a:xfrm>
              <a:off x="4157663" y="4572030"/>
              <a:ext cx="2338809" cy="875509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103E4E5-CA09-10CF-00E2-86ED7FFFE0D6}"/>
                </a:ext>
              </a:extLst>
            </p:cNvPr>
            <p:cNvSpPr/>
            <p:nvPr/>
          </p:nvSpPr>
          <p:spPr>
            <a:xfrm>
              <a:off x="4295892" y="1731368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03276D-76DF-7C0A-D64A-71BFF1284677}"/>
                </a:ext>
              </a:extLst>
            </p:cNvPr>
            <p:cNvSpPr/>
            <p:nvPr/>
          </p:nvSpPr>
          <p:spPr>
            <a:xfrm>
              <a:off x="4276567" y="802311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F49F29-A293-54CE-71B1-67BDC6C08742}"/>
                </a:ext>
              </a:extLst>
            </p:cNvPr>
            <p:cNvSpPr/>
            <p:nvPr/>
          </p:nvSpPr>
          <p:spPr>
            <a:xfrm>
              <a:off x="4279259" y="2650855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657B5-07DF-A4C6-6182-CB5E2DB740B6}"/>
                </a:ext>
              </a:extLst>
            </p:cNvPr>
            <p:cNvSpPr/>
            <p:nvPr/>
          </p:nvSpPr>
          <p:spPr>
            <a:xfrm>
              <a:off x="4300746" y="3625910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CE2A86-697F-2110-9043-5254FA3305C0}"/>
                </a:ext>
              </a:extLst>
            </p:cNvPr>
            <p:cNvSpPr/>
            <p:nvPr/>
          </p:nvSpPr>
          <p:spPr>
            <a:xfrm>
              <a:off x="6809756" y="3564227"/>
              <a:ext cx="2053683" cy="6633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970826B-5DBB-D28C-A270-DEF20C97BF46}"/>
                </a:ext>
              </a:extLst>
            </p:cNvPr>
            <p:cNvSpPr/>
            <p:nvPr/>
          </p:nvSpPr>
          <p:spPr>
            <a:xfrm>
              <a:off x="3444942" y="2518427"/>
              <a:ext cx="5794745" cy="3244419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4011D2E-CC84-CB78-9B85-4F5E39BD51BC}"/>
                </a:ext>
              </a:extLst>
            </p:cNvPr>
            <p:cNvSpPr txBox="1"/>
            <p:nvPr/>
          </p:nvSpPr>
          <p:spPr>
            <a:xfrm>
              <a:off x="6444154" y="4651085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21D79E-1C4A-3AB8-CA51-5335181EDE43}"/>
                </a:ext>
              </a:extLst>
            </p:cNvPr>
            <p:cNvSpPr txBox="1"/>
            <p:nvPr/>
          </p:nvSpPr>
          <p:spPr>
            <a:xfrm>
              <a:off x="5344388" y="5388199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889CAB1C-D37B-1BCE-14D4-A77038233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1885" y="2721494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7DAB2168-17F4-B260-A5F2-4B366DDCF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750" y="1840909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EF16CF69-8065-D9F7-F878-43960B8B9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5902" y="3276414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BA24DFAF-833C-93B3-75EC-43DD84D4A5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5439" b="5392"/>
            <a:stretch/>
          </p:blipFill>
          <p:spPr>
            <a:xfrm>
              <a:off x="6368348" y="825133"/>
              <a:ext cx="1466199" cy="433162"/>
            </a:xfrm>
            <a:prstGeom prst="rect">
              <a:avLst/>
            </a:prstGeom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BF3083A-EF38-7D2F-32C5-957AAB528495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Title 7">
            <a:extLst>
              <a:ext uri="{FF2B5EF4-FFF2-40B4-BE49-F238E27FC236}">
                <a16:creationId xmlns:a16="http://schemas.microsoft.com/office/drawing/2014/main" id="{38938AB1-D180-6E2C-E6D3-20A97D8A7F4E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/>
              <a:t>3DRM DESIGN</a:t>
            </a:r>
            <a:endParaRPr lang="en-IT" sz="3200" dirty="0"/>
          </a:p>
        </p:txBody>
      </p:sp>
      <p:pic>
        <p:nvPicPr>
          <p:cNvPr id="41" name="Picture 40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91DA50C6-23D8-C744-755E-94F617A66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42" name="Picture 41" descr="A blue and black logo&#10;&#10;Description automatically generated">
            <a:extLst>
              <a:ext uri="{FF2B5EF4-FFF2-40B4-BE49-F238E27FC236}">
                <a16:creationId xmlns:a16="http://schemas.microsoft.com/office/drawing/2014/main" id="{64CBD226-C15B-A023-A4CA-2199DBB9E4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43" name="Picture 42" descr="A yellow and blue text&#10;&#10;Description automatically generated">
            <a:extLst>
              <a:ext uri="{FF2B5EF4-FFF2-40B4-BE49-F238E27FC236}">
                <a16:creationId xmlns:a16="http://schemas.microsoft.com/office/drawing/2014/main" id="{181B2731-C81F-A05C-95A5-D37A735485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44" name="Slide Number Placeholder 114">
            <a:extLst>
              <a:ext uri="{FF2B5EF4-FFF2-40B4-BE49-F238E27FC236}">
                <a16:creationId xmlns:a16="http://schemas.microsoft.com/office/drawing/2014/main" id="{195B043F-1B06-D854-5A33-31CFCD3D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12</a:t>
            </a:fld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CD1615-B464-A38D-6CE3-1132F3F097FB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4CE648-BBB1-7F4F-3266-FE37189EE707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1993361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A3FEFF-8668-AAB1-BFCC-133E3A0ED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04980"/>
            <a:ext cx="5157787" cy="823912"/>
          </a:xfrm>
        </p:spPr>
        <p:txBody>
          <a:bodyPr>
            <a:normAutofit/>
          </a:bodyPr>
          <a:lstStyle/>
          <a:p>
            <a:r>
              <a:rPr lang="en-IT" sz="2200" dirty="0"/>
              <a:t>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571D0-B602-7941-9EBA-2D5F2A5B3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28892"/>
            <a:ext cx="5157787" cy="3684588"/>
          </a:xfrm>
        </p:spPr>
        <p:txBody>
          <a:bodyPr>
            <a:normAutofit/>
          </a:bodyPr>
          <a:lstStyle/>
          <a:p>
            <a:r>
              <a:rPr lang="en-IT" sz="2000" dirty="0"/>
              <a:t>3D printing performed with a stereolithographic printer in Vero resin (Stratasys</a:t>
            </a:r>
            <a:r>
              <a:rPr lang="en-IT" sz="2000" baseline="30000" dirty="0"/>
              <a:t>TM</a:t>
            </a:r>
            <a:r>
              <a:rPr lang="en-IT" sz="2000" dirty="0"/>
              <a:t>) at UniTN-DICAM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9752AE-70A4-C470-D42C-8D76EBE3D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04980"/>
            <a:ext cx="5183188" cy="823912"/>
          </a:xfrm>
        </p:spPr>
        <p:txBody>
          <a:bodyPr/>
          <a:lstStyle/>
          <a:p>
            <a:r>
              <a:rPr lang="en-IT" sz="2200" dirty="0"/>
              <a:t>TESTING</a:t>
            </a:r>
            <a:r>
              <a:rPr lang="en-IT" dirty="0"/>
              <a:t>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567C39-A258-742B-21BD-9C190B825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8892"/>
            <a:ext cx="574080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sz="2000" dirty="0"/>
              <a:t>Perfomed at the Proton Therapy Center of Trento (APSS): </a:t>
            </a:r>
          </a:p>
          <a:p>
            <a:r>
              <a:rPr lang="en-IT" sz="2000" dirty="0"/>
              <a:t>Experimental room</a:t>
            </a:r>
          </a:p>
          <a:p>
            <a:pPr lvl="1"/>
            <a:r>
              <a:rPr lang="en-IT" sz="1600" dirty="0"/>
              <a:t>To test first 2DRM prototypes</a:t>
            </a:r>
          </a:p>
          <a:p>
            <a:pPr marL="0" indent="0">
              <a:buNone/>
            </a:pPr>
            <a:endParaRPr lang="en-IT" sz="2000" dirty="0"/>
          </a:p>
          <a:p>
            <a:r>
              <a:rPr lang="en-IT" sz="2000" dirty="0"/>
              <a:t>Gantry</a:t>
            </a:r>
          </a:p>
          <a:p>
            <a:pPr lvl="1"/>
            <a:r>
              <a:rPr lang="en-IT" sz="1600" dirty="0"/>
              <a:t>Through the fabrication of a dedicated support and alignment system for the 3DRM (ProM</a:t>
            </a:r>
            <a:r>
              <a:rPr lang="en-IT" sz="1600" baseline="30000" dirty="0"/>
              <a:t>TM</a:t>
            </a:r>
            <a:r>
              <a:rPr lang="en-IT" sz="1600" dirty="0"/>
              <a:t>)</a:t>
            </a:r>
          </a:p>
          <a:p>
            <a:pPr lvl="1"/>
            <a:r>
              <a:rPr lang="en-IT" sz="1600" dirty="0"/>
              <a:t>with dosimetric Tests and QA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C80124-0711-0684-1507-16D465955F51}"/>
              </a:ext>
            </a:extLst>
          </p:cNvPr>
          <p:cNvGrpSpPr/>
          <p:nvPr/>
        </p:nvGrpSpPr>
        <p:grpSpPr>
          <a:xfrm>
            <a:off x="1355257" y="3518583"/>
            <a:ext cx="4298152" cy="1973509"/>
            <a:chOff x="6685532" y="1440989"/>
            <a:chExt cx="5432400" cy="2510536"/>
          </a:xfrm>
        </p:grpSpPr>
        <p:pic>
          <p:nvPicPr>
            <p:cNvPr id="13" name="Picture 12" descr="A yellow object with sticks&#10;&#10;Description automatically generated">
              <a:extLst>
                <a:ext uri="{FF2B5EF4-FFF2-40B4-BE49-F238E27FC236}">
                  <a16:creationId xmlns:a16="http://schemas.microsoft.com/office/drawing/2014/main" id="{25FB6351-D884-B96D-5620-031EF3A84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327" t="5604" r="33045" b="6963"/>
            <a:stretch/>
          </p:blipFill>
          <p:spPr>
            <a:xfrm>
              <a:off x="6685532" y="1440991"/>
              <a:ext cx="1898996" cy="2510534"/>
            </a:xfrm>
            <a:prstGeom prst="rect">
              <a:avLst/>
            </a:prstGeom>
          </p:spPr>
        </p:pic>
        <p:pic>
          <p:nvPicPr>
            <p:cNvPr id="14" name="Picture 13" descr="A yellow object with sticks&#10;&#10;Description automatically generated">
              <a:extLst>
                <a:ext uri="{FF2B5EF4-FFF2-40B4-BE49-F238E27FC236}">
                  <a16:creationId xmlns:a16="http://schemas.microsoft.com/office/drawing/2014/main" id="{4067E9E0-344B-5C66-4E54-E54F91501A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4697" t="23955" r="39583" b="44931"/>
            <a:stretch/>
          </p:blipFill>
          <p:spPr>
            <a:xfrm>
              <a:off x="9525997" y="1440989"/>
              <a:ext cx="2591935" cy="1878825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926CB6B-96DF-B865-D55E-4F0D0BB38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1920" y="1440991"/>
              <a:ext cx="1234077" cy="4842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04E631-5329-2D87-8EE7-676D74A54593}"/>
                </a:ext>
              </a:extLst>
            </p:cNvPr>
            <p:cNvCxnSpPr>
              <a:cxnSpLocks/>
            </p:cNvCxnSpPr>
            <p:nvPr/>
          </p:nvCxnSpPr>
          <p:spPr>
            <a:xfrm>
              <a:off x="8291920" y="2889987"/>
              <a:ext cx="1234077" cy="4298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52AEF62-87DB-1DB4-68B6-CCCB85805425}"/>
              </a:ext>
            </a:extLst>
          </p:cNvPr>
          <p:cNvSpPr>
            <a:spLocks noChangeAspect="1"/>
          </p:cNvSpPr>
          <p:nvPr/>
        </p:nvSpPr>
        <p:spPr>
          <a:xfrm>
            <a:off x="1573161" y="3891514"/>
            <a:ext cx="1053081" cy="75841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1604A8-D7DF-F25B-4224-96B86F3A6296}"/>
              </a:ext>
            </a:extLst>
          </p:cNvPr>
          <p:cNvSpPr>
            <a:spLocks noChangeAspect="1"/>
          </p:cNvSpPr>
          <p:nvPr/>
        </p:nvSpPr>
        <p:spPr>
          <a:xfrm>
            <a:off x="3602652" y="3510888"/>
            <a:ext cx="2050757" cy="147692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27" name="Picture 26" descr="A close-up of a logo&#10;&#10;Description automatically generated">
            <a:extLst>
              <a:ext uri="{FF2B5EF4-FFF2-40B4-BE49-F238E27FC236}">
                <a16:creationId xmlns:a16="http://schemas.microsoft.com/office/drawing/2014/main" id="{E6E141C2-36DD-0DF5-7B22-1A46C826A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97" y="1174917"/>
            <a:ext cx="1968132" cy="5467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8ABA25F-874B-7E8F-A197-69A84C8564D3}"/>
              </a:ext>
            </a:extLst>
          </p:cNvPr>
          <p:cNvSpPr txBox="1"/>
          <p:nvPr/>
        </p:nvSpPr>
        <p:spPr>
          <a:xfrm>
            <a:off x="2270770" y="5562677"/>
            <a:ext cx="2295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/>
              <a:t>R. Cristoforetti (M. Thesis), 2022</a:t>
            </a:r>
          </a:p>
        </p:txBody>
      </p:sp>
      <p:pic>
        <p:nvPicPr>
          <p:cNvPr id="29" name="Picture 2" descr="APSS Trento: le regole per l'attività degli Informatori ...">
            <a:extLst>
              <a:ext uri="{FF2B5EF4-FFF2-40B4-BE49-F238E27FC236}">
                <a16:creationId xmlns:a16="http://schemas.microsoft.com/office/drawing/2014/main" id="{EDCF197C-8998-D484-2791-5D778D052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2" t="18158" r="14928" b="17570"/>
          <a:stretch/>
        </p:blipFill>
        <p:spPr bwMode="auto">
          <a:xfrm>
            <a:off x="10598034" y="947023"/>
            <a:ext cx="1121584" cy="82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A room with a machine in it&#10;&#10;Description automatically generated">
            <a:extLst>
              <a:ext uri="{FF2B5EF4-FFF2-40B4-BE49-F238E27FC236}">
                <a16:creationId xmlns:a16="http://schemas.microsoft.com/office/drawing/2014/main" id="{0D3A3531-51B8-AE72-33E4-B529FCAA3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271" y="4745764"/>
            <a:ext cx="3331472" cy="1644380"/>
          </a:xfrm>
          <a:prstGeom prst="rect">
            <a:avLst/>
          </a:prstGeom>
        </p:spPr>
      </p:pic>
      <p:pic>
        <p:nvPicPr>
          <p:cNvPr id="33" name="Picture 32" descr="A logo with text on it&#10;&#10;Description automatically generated">
            <a:extLst>
              <a:ext uri="{FF2B5EF4-FFF2-40B4-BE49-F238E27FC236}">
                <a16:creationId xmlns:a16="http://schemas.microsoft.com/office/drawing/2014/main" id="{95A46FBB-E62C-C575-971C-08AC7A3BE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0439" y="3327540"/>
            <a:ext cx="1508355" cy="59022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3279A08-EF8B-659C-977A-829374C918B2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Title 7">
            <a:extLst>
              <a:ext uri="{FF2B5EF4-FFF2-40B4-BE49-F238E27FC236}">
                <a16:creationId xmlns:a16="http://schemas.microsoft.com/office/drawing/2014/main" id="{1AB838B6-23EE-DCEA-0B2A-C184CEE9FCAA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PRINTING &amp; TESTING</a:t>
            </a:r>
          </a:p>
        </p:txBody>
      </p:sp>
      <p:pic>
        <p:nvPicPr>
          <p:cNvPr id="38" name="Picture 37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5DC78F0C-C115-6EA0-6795-0D8C4EDFBC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39" name="Picture 38" descr="A blue and black logo&#10;&#10;Description automatically generated">
            <a:extLst>
              <a:ext uri="{FF2B5EF4-FFF2-40B4-BE49-F238E27FC236}">
                <a16:creationId xmlns:a16="http://schemas.microsoft.com/office/drawing/2014/main" id="{D7F12A09-B55C-1FA9-F4B0-7CF63F4CC9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40" name="Picture 39" descr="A yellow and blue text&#10;&#10;Description automatically generated">
            <a:extLst>
              <a:ext uri="{FF2B5EF4-FFF2-40B4-BE49-F238E27FC236}">
                <a16:creationId xmlns:a16="http://schemas.microsoft.com/office/drawing/2014/main" id="{338DDE80-4275-70E0-A0E1-5ADBD9A54A8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41" name="Slide Number Placeholder 114">
            <a:extLst>
              <a:ext uri="{FF2B5EF4-FFF2-40B4-BE49-F238E27FC236}">
                <a16:creationId xmlns:a16="http://schemas.microsoft.com/office/drawing/2014/main" id="{D1E28B12-94FF-7BCF-5F42-3EC5DE85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13</a:t>
            </a:fld>
            <a:endParaRPr lang="en-IT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0AA181-76AA-0AD2-A6E9-695E4F742C1C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0CFCAF-AEB5-1F05-71B5-7C95C313981F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3493923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40CA-958B-4D03-1EF1-420A17E8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A1214C-C6A1-141C-6969-B617AA83441E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01AAD42A-10C7-979F-264C-E8716A314341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OUTLOOK</a:t>
            </a:r>
          </a:p>
        </p:txBody>
      </p:sp>
      <p:pic>
        <p:nvPicPr>
          <p:cNvPr id="10" name="Picture 9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8BDA4D9B-681A-F67D-DD60-6F8DAC92B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4B114C0B-903F-A56A-8A5E-AB0390C590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2" name="Picture 11" descr="A yellow and blue text&#10;&#10;Description automatically generated">
            <a:extLst>
              <a:ext uri="{FF2B5EF4-FFF2-40B4-BE49-F238E27FC236}">
                <a16:creationId xmlns:a16="http://schemas.microsoft.com/office/drawing/2014/main" id="{FF11D37B-F028-3670-9968-944B047AF6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15" name="Slide Number Placeholder 114">
            <a:extLst>
              <a:ext uri="{FF2B5EF4-FFF2-40B4-BE49-F238E27FC236}">
                <a16:creationId xmlns:a16="http://schemas.microsoft.com/office/drawing/2014/main" id="{BDAEE236-0D4B-F246-2AD5-2B415379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14</a:t>
            </a:fld>
            <a:endParaRPr lang="en-IT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88E09-9E77-BA35-F983-381525E3709C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B175B-0E6B-F51B-3825-1864D505F148}"/>
              </a:ext>
            </a:extLst>
          </p:cNvPr>
          <p:cNvSpPr txBox="1"/>
          <p:nvPr/>
        </p:nvSpPr>
        <p:spPr>
          <a:xfrm>
            <a:off x="575576" y="1013743"/>
            <a:ext cx="11228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b="1" dirty="0"/>
              <a:t>FORM-3D aims to make a concrete step towards the translation of FLASH proton therapy into clincs, </a:t>
            </a:r>
            <a:r>
              <a:rPr lang="en-GB" b="1" dirty="0"/>
              <a:t>in the framework of the PTC of Trento, to be possibly extended to other facilities</a:t>
            </a:r>
            <a:endParaRPr lang="en-IT" b="1" dirty="0"/>
          </a:p>
          <a:p>
            <a:endParaRPr lang="en-IT" b="1" dirty="0"/>
          </a:p>
          <a:p>
            <a:pPr algn="ctr"/>
            <a:r>
              <a:rPr lang="en-IT" b="1" dirty="0"/>
              <a:t>(but not only)</a:t>
            </a:r>
            <a:endParaRPr lang="en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67A61-069C-ECD1-B4C1-227123E3F532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pic>
        <p:nvPicPr>
          <p:cNvPr id="2" name="PhasesContour.avi">
            <a:hlinkClick r:id="" action="ppaction://media"/>
            <a:extLst>
              <a:ext uri="{FF2B5EF4-FFF2-40B4-BE49-F238E27FC236}">
                <a16:creationId xmlns:a16="http://schemas.microsoft.com/office/drawing/2014/main" id="{4586EE42-460A-FB7F-C3B3-7A11AE1E386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9636851" y="1607126"/>
            <a:ext cx="2167559" cy="1681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BAF6F4-8579-FAD5-70F7-57001A585C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731" y="3466563"/>
            <a:ext cx="5670190" cy="3083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4F58CA-A3AC-4284-7F3A-53B77F3908D0}"/>
              </a:ext>
            </a:extLst>
          </p:cNvPr>
          <p:cNvSpPr txBox="1"/>
          <p:nvPr/>
        </p:nvSpPr>
        <p:spPr>
          <a:xfrm>
            <a:off x="575576" y="2465925"/>
            <a:ext cx="60461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A part from Flash Radiotherapy, the project will be important also:</a:t>
            </a:r>
          </a:p>
          <a:p>
            <a:endParaRPr lang="en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To speed up the current PT treatments, with an impact in the treatment of moving targets (e.g. Lung) and to better allocate the PTC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Create the basis for the use of FRED as an independent MC tool at the PTC of Trento for further research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Fast calculation of dose rate metrics with biophysical implications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Contribute to the development of FRED, due to a ongoing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/>
              <a:t>Possible technological transfer 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7811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86B1E-8C95-7031-1D94-CAD0E570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DAEA49-E049-7612-5009-7F4C5AD93443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E0E4F42-1F3F-B69C-1F48-EBD741B6BF05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COSTS</a:t>
            </a:r>
          </a:p>
        </p:txBody>
      </p:sp>
      <p:pic>
        <p:nvPicPr>
          <p:cNvPr id="10" name="Picture 9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E254D6D0-D995-63AF-611E-3B40541DB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E5F5AA1E-7074-179C-A76B-A79167744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2" name="Picture 11" descr="A yellow and blue text&#10;&#10;Description automatically generated">
            <a:extLst>
              <a:ext uri="{FF2B5EF4-FFF2-40B4-BE49-F238E27FC236}">
                <a16:creationId xmlns:a16="http://schemas.microsoft.com/office/drawing/2014/main" id="{346EAAC9-8E97-B02E-8781-67488A8F32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pic>
        <p:nvPicPr>
          <p:cNvPr id="14" name="Picture 13" descr="A screenshot of a project report&#10;&#10;Description automatically generated">
            <a:extLst>
              <a:ext uri="{FF2B5EF4-FFF2-40B4-BE49-F238E27FC236}">
                <a16:creationId xmlns:a16="http://schemas.microsoft.com/office/drawing/2014/main" id="{8B626447-1FDB-E150-3F0C-F1EF37DE69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16"/>
          <a:stretch/>
        </p:blipFill>
        <p:spPr>
          <a:xfrm>
            <a:off x="2694589" y="721026"/>
            <a:ext cx="7006728" cy="6136807"/>
          </a:xfrm>
          <a:prstGeom prst="rect">
            <a:avLst/>
          </a:prstGeom>
        </p:spPr>
      </p:pic>
      <p:sp>
        <p:nvSpPr>
          <p:cNvPr id="15" name="Slide Number Placeholder 114">
            <a:extLst>
              <a:ext uri="{FF2B5EF4-FFF2-40B4-BE49-F238E27FC236}">
                <a16:creationId xmlns:a16="http://schemas.microsoft.com/office/drawing/2014/main" id="{3A55CD90-BD9C-5D8F-3BA3-6D3DF296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15</a:t>
            </a:fld>
            <a:endParaRPr lang="en-IT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9F76F-34DC-7F4F-AD7D-6C609E72132C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CA2886-044F-F6D5-BDF8-511028065B99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2553546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E23CE-9907-2F88-0E9C-91283EC1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656BBB-3120-7F63-8645-00E2D8EDFEFF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D6C82926-357D-70F3-A541-CDD41683F7E8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GANTT &amp; WORKPACKAGES</a:t>
            </a:r>
          </a:p>
        </p:txBody>
      </p:sp>
      <p:pic>
        <p:nvPicPr>
          <p:cNvPr id="10" name="Picture 9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3E53F9D5-C946-2C41-5DC2-CD10F169A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0E954DE4-B0E5-87D8-90CC-34399BBB6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2" name="Picture 11" descr="A yellow and blue text&#10;&#10;Description automatically generated">
            <a:extLst>
              <a:ext uri="{FF2B5EF4-FFF2-40B4-BE49-F238E27FC236}">
                <a16:creationId xmlns:a16="http://schemas.microsoft.com/office/drawing/2014/main" id="{13B0186C-A511-8983-FF90-2FC01110C4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1FDD11D-0726-E090-ABE5-E4EBFDEF10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264"/>
          <a:stretch/>
        </p:blipFill>
        <p:spPr>
          <a:xfrm>
            <a:off x="64377" y="1124169"/>
            <a:ext cx="5180601" cy="2384575"/>
          </a:xfrm>
          <a:prstGeom prst="rect">
            <a:avLst/>
          </a:prstGeom>
        </p:spPr>
      </p:pic>
      <p:pic>
        <p:nvPicPr>
          <p:cNvPr id="7" name="Picture 6" descr="A chart with text and numbers&#10;&#10;Description automatically generated">
            <a:extLst>
              <a:ext uri="{FF2B5EF4-FFF2-40B4-BE49-F238E27FC236}">
                <a16:creationId xmlns:a16="http://schemas.microsoft.com/office/drawing/2014/main" id="{C1CA2C02-9309-A3CD-B5E5-16616D66C9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86" t="12187" r="6115"/>
          <a:stretch/>
        </p:blipFill>
        <p:spPr>
          <a:xfrm>
            <a:off x="5325533" y="1079475"/>
            <a:ext cx="6847367" cy="56315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EDC214-A62D-F464-CFB4-4F6B93C3C587}"/>
              </a:ext>
            </a:extLst>
          </p:cNvPr>
          <p:cNvSpPr/>
          <p:nvPr/>
        </p:nvSpPr>
        <p:spPr>
          <a:xfrm>
            <a:off x="223284" y="1605516"/>
            <a:ext cx="5102249" cy="776177"/>
          </a:xfrm>
          <a:prstGeom prst="rect">
            <a:avLst/>
          </a:prstGeom>
          <a:noFill/>
          <a:ln w="31750">
            <a:solidFill>
              <a:srgbClr val="BEE5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D69367-C6B8-5330-438C-58B72371BAD5}"/>
              </a:ext>
            </a:extLst>
          </p:cNvPr>
          <p:cNvSpPr/>
          <p:nvPr/>
        </p:nvSpPr>
        <p:spPr>
          <a:xfrm>
            <a:off x="223283" y="2474951"/>
            <a:ext cx="5102249" cy="776177"/>
          </a:xfrm>
          <a:prstGeom prst="rect">
            <a:avLst/>
          </a:prstGeom>
          <a:noFill/>
          <a:ln w="31750">
            <a:solidFill>
              <a:srgbClr val="ACC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Slide Number Placeholder 114">
            <a:extLst>
              <a:ext uri="{FF2B5EF4-FFF2-40B4-BE49-F238E27FC236}">
                <a16:creationId xmlns:a16="http://schemas.microsoft.com/office/drawing/2014/main" id="{55F8248C-4D2D-DBAB-13D4-6EA40355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16</a:t>
            </a:fld>
            <a:endParaRPr lang="en-IT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1349B5-5B4A-18B7-01E6-850168BDAB13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D7138-FB9A-92F6-4F1C-8A01B4C43A76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698246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936A-B658-A4DD-91AF-F3B4654B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B33D79-8CE7-A17B-DADB-7BA586382B52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8A80B380-4D73-E9D4-14D3-08DCCAE3E8CE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ORGANIZATION</a:t>
            </a:r>
          </a:p>
        </p:txBody>
      </p:sp>
      <p:pic>
        <p:nvPicPr>
          <p:cNvPr id="10" name="Picture 9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C4B43687-B384-AC3B-1E74-303141DAC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2D31781B-C450-E59D-5E54-2AEE173F6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2" name="Picture 11" descr="A yellow and blue text&#10;&#10;Description automatically generated">
            <a:extLst>
              <a:ext uri="{FF2B5EF4-FFF2-40B4-BE49-F238E27FC236}">
                <a16:creationId xmlns:a16="http://schemas.microsoft.com/office/drawing/2014/main" id="{58849DBF-D86B-5F75-0F83-986B012E02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pic>
        <p:nvPicPr>
          <p:cNvPr id="2" name="Picture 1" descr="A table with text and numbers&#10;&#10;Description automatically generated">
            <a:extLst>
              <a:ext uri="{FF2B5EF4-FFF2-40B4-BE49-F238E27FC236}">
                <a16:creationId xmlns:a16="http://schemas.microsoft.com/office/drawing/2014/main" id="{0960793B-6F57-3A53-9518-47986F2E3D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491"/>
          <a:stretch/>
        </p:blipFill>
        <p:spPr>
          <a:xfrm>
            <a:off x="2038708" y="1127052"/>
            <a:ext cx="7772400" cy="5276512"/>
          </a:xfrm>
          <a:prstGeom prst="rect">
            <a:avLst/>
          </a:prstGeom>
        </p:spPr>
      </p:pic>
      <p:sp>
        <p:nvSpPr>
          <p:cNvPr id="3" name="Slide Number Placeholder 114">
            <a:extLst>
              <a:ext uri="{FF2B5EF4-FFF2-40B4-BE49-F238E27FC236}">
                <a16:creationId xmlns:a16="http://schemas.microsoft.com/office/drawing/2014/main" id="{E8C57500-F1E8-ABB2-E3C6-94394F86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17</a:t>
            </a:fld>
            <a:endParaRPr lang="en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5C45E-33DA-89CF-6C9C-44C49021CB2C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1D46D-D6F3-B941-EC05-C36A4B5E2591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3D0DD9-659D-23DE-7735-0E23748DCAB5}"/>
              </a:ext>
            </a:extLst>
          </p:cNvPr>
          <p:cNvSpPr/>
          <p:nvPr/>
        </p:nvSpPr>
        <p:spPr>
          <a:xfrm>
            <a:off x="4968240" y="3820160"/>
            <a:ext cx="1320800" cy="31496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78C8A-8F9D-83AE-9126-E7BDA87272F0}"/>
              </a:ext>
            </a:extLst>
          </p:cNvPr>
          <p:cNvSpPr txBox="1"/>
          <p:nvPr/>
        </p:nvSpPr>
        <p:spPr>
          <a:xfrm>
            <a:off x="4927600" y="3830320"/>
            <a:ext cx="20726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500" dirty="0"/>
              <a:t>Primo Ricercatore</a:t>
            </a:r>
          </a:p>
        </p:txBody>
      </p:sp>
    </p:spTree>
    <p:extLst>
      <p:ext uri="{BB962C8B-B14F-4D97-AF65-F5344CB8AC3E}">
        <p14:creationId xmlns:p14="http://schemas.microsoft.com/office/powerpoint/2010/main" val="2616271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2B22-4222-472C-03FE-97DB9A6C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CB22490-B4D6-237E-447B-0CEBFA140F5C}"/>
              </a:ext>
            </a:extLst>
          </p:cNvPr>
          <p:cNvSpPr/>
          <p:nvPr/>
        </p:nvSpPr>
        <p:spPr>
          <a:xfrm>
            <a:off x="5061" y="0"/>
            <a:ext cx="12186939" cy="583798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77000">
                <a:schemeClr val="bg1">
                  <a:lumMod val="95000"/>
                  <a:alpha val="0"/>
                </a:schemeClr>
              </a:gs>
              <a:gs pos="41000">
                <a:schemeClr val="tx2">
                  <a:lumMod val="25000"/>
                  <a:lumOff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CasellaDiTesto 8">
            <a:extLst>
              <a:ext uri="{FF2B5EF4-FFF2-40B4-BE49-F238E27FC236}">
                <a16:creationId xmlns:a16="http://schemas.microsoft.com/office/drawing/2014/main" id="{6AC6D278-A47D-E50D-7F27-874DC0C3227C}"/>
              </a:ext>
            </a:extLst>
          </p:cNvPr>
          <p:cNvSpPr txBox="1"/>
          <p:nvPr/>
        </p:nvSpPr>
        <p:spPr>
          <a:xfrm>
            <a:off x="275188" y="6156052"/>
            <a:ext cx="1790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Helvetica Light" panose="020B0403020202020204" pitchFamily="34" charset="0"/>
                <a:cs typeface="Arial" panose="020B0604020202020204" pitchFamily="34" charset="0"/>
              </a:rPr>
              <a:t>Alberto </a:t>
            </a:r>
            <a:r>
              <a:rPr lang="it-IT" dirty="0" err="1">
                <a:latin typeface="Helvetica Light" panose="020B0403020202020204" pitchFamily="34" charset="0"/>
                <a:cs typeface="Arial" panose="020B0604020202020204" pitchFamily="34" charset="0"/>
              </a:rPr>
              <a:t>Taffelli</a:t>
            </a:r>
            <a:endParaRPr lang="it-IT" dirty="0">
              <a:latin typeface="Helvetica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0AAA1D-EF27-7D76-3717-B5FC610B7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826" y="1732549"/>
            <a:ext cx="9051115" cy="3437463"/>
          </a:xfrm>
        </p:spPr>
        <p:txBody>
          <a:bodyPr>
            <a:noAutofit/>
          </a:bodyPr>
          <a:lstStyle/>
          <a:p>
            <a:r>
              <a:rPr lang="en-IT" sz="4800" dirty="0">
                <a:latin typeface="Helvetica" pitchFamily="2" charset="0"/>
              </a:rPr>
              <a:t>FORM-3D:</a:t>
            </a:r>
            <a:r>
              <a:rPr lang="en-IT" sz="4800" b="1" dirty="0">
                <a:latin typeface="Helvetica" pitchFamily="2" charset="0"/>
              </a:rPr>
              <a:t> </a:t>
            </a:r>
            <a:br>
              <a:rPr lang="en-IT" sz="4800" dirty="0">
                <a:latin typeface="Helvetica" pitchFamily="2" charset="0"/>
              </a:rPr>
            </a:br>
            <a:r>
              <a:rPr lang="en-IT" sz="4800" b="1" dirty="0"/>
              <a:t>F</a:t>
            </a:r>
            <a:r>
              <a:rPr lang="en-IT" sz="4800" dirty="0"/>
              <a:t>ast </a:t>
            </a:r>
            <a:r>
              <a:rPr lang="en-IT" sz="4800" b="1" dirty="0"/>
              <a:t>O</a:t>
            </a:r>
            <a:r>
              <a:rPr lang="en-IT" sz="4800" dirty="0"/>
              <a:t>ptimization of </a:t>
            </a:r>
            <a:r>
              <a:rPr lang="en-IT" sz="4800" b="1" dirty="0"/>
              <a:t>R</a:t>
            </a:r>
            <a:r>
              <a:rPr lang="en-IT" sz="4800" dirty="0"/>
              <a:t>ange </a:t>
            </a:r>
            <a:r>
              <a:rPr lang="en-IT" sz="4800" b="1" dirty="0"/>
              <a:t>M</a:t>
            </a:r>
            <a:r>
              <a:rPr lang="en-IT" sz="4800" dirty="0"/>
              <a:t>odulators </a:t>
            </a:r>
            <a:r>
              <a:rPr lang="en-IT" sz="4800" b="1" dirty="0"/>
              <a:t>3D</a:t>
            </a:r>
            <a:br>
              <a:rPr lang="en-IT" sz="4800" dirty="0">
                <a:latin typeface="Helvetica" pitchFamily="2" charset="0"/>
              </a:rPr>
            </a:br>
            <a:br>
              <a:rPr lang="en-IT" sz="4800" dirty="0">
                <a:latin typeface="Helvetica" pitchFamily="2" charset="0"/>
              </a:rPr>
            </a:br>
            <a:r>
              <a:rPr lang="en-IT" sz="1800" dirty="0">
                <a:latin typeface="Helvetica Light" panose="020B0403020202020204" pitchFamily="34" charset="0"/>
              </a:rPr>
              <a:t>Grant Giovani INFN, November, 19</a:t>
            </a:r>
            <a:r>
              <a:rPr lang="en-IT" sz="1800" baseline="30000" dirty="0">
                <a:latin typeface="Helvetica Light" panose="020B0403020202020204" pitchFamily="34" charset="0"/>
              </a:rPr>
              <a:t>th</a:t>
            </a:r>
            <a:r>
              <a:rPr lang="en-IT" sz="1800" dirty="0">
                <a:latin typeface="Helvetica Light" panose="020B0403020202020204" pitchFamily="34" charset="0"/>
              </a:rPr>
              <a:t>, 2024</a:t>
            </a:r>
            <a:br>
              <a:rPr lang="en-IT" sz="1800" dirty="0">
                <a:latin typeface="Helvetica Light" panose="020B0403020202020204" pitchFamily="34" charset="0"/>
              </a:rPr>
            </a:br>
            <a:endParaRPr lang="en-IT" sz="4800" dirty="0">
              <a:latin typeface="Helvetica" pitchFamily="2" charset="0"/>
            </a:endParaRPr>
          </a:p>
        </p:txBody>
      </p:sp>
      <p:pic>
        <p:nvPicPr>
          <p:cNvPr id="7" name="Picture 6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38C3A426-A97C-68CC-04D0-BAE9E9FEE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440" y="1400331"/>
            <a:ext cx="1508387" cy="788250"/>
          </a:xfrm>
          <a:prstGeom prst="rect">
            <a:avLst/>
          </a:prstGeom>
        </p:spPr>
      </p:pic>
      <p:pic>
        <p:nvPicPr>
          <p:cNvPr id="1026" name="Picture 2" descr="APSS Trento: le regole per l'attività degli Informatori ...">
            <a:extLst>
              <a:ext uri="{FF2B5EF4-FFF2-40B4-BE49-F238E27FC236}">
                <a16:creationId xmlns:a16="http://schemas.microsoft.com/office/drawing/2014/main" id="{CF18483B-F5EC-D150-EFAD-76D692FBF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9633" y="3078759"/>
            <a:ext cx="1962005" cy="158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A83DDA1-BDBC-5038-3A27-DCA8CDA98855}"/>
              </a:ext>
            </a:extLst>
          </p:cNvPr>
          <p:cNvGrpSpPr>
            <a:grpSpLocks noChangeAspect="1"/>
          </p:cNvGrpSpPr>
          <p:nvPr/>
        </p:nvGrpSpPr>
        <p:grpSpPr>
          <a:xfrm>
            <a:off x="10089633" y="2441668"/>
            <a:ext cx="1902388" cy="684909"/>
            <a:chOff x="8254460" y="1009450"/>
            <a:chExt cx="2879921" cy="1036846"/>
          </a:xfrm>
        </p:grpSpPr>
        <p:pic>
          <p:nvPicPr>
            <p:cNvPr id="13" name="Picture 2" descr="Rosso e lineare: ecco il nuovo logo dell'Università di Trento | UniTrento">
              <a:extLst>
                <a:ext uri="{FF2B5EF4-FFF2-40B4-BE49-F238E27FC236}">
                  <a16:creationId xmlns:a16="http://schemas.microsoft.com/office/drawing/2014/main" id="{7A85629E-30B8-EE55-68AD-A83DEB6352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81"/>
            <a:stretch/>
          </p:blipFill>
          <p:spPr bwMode="auto">
            <a:xfrm>
              <a:off x="9222626" y="1009450"/>
              <a:ext cx="1911755" cy="88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Rosso e lineare: ecco il nuovo logo dell'Università di Trento | UniTrento">
              <a:extLst>
                <a:ext uri="{FF2B5EF4-FFF2-40B4-BE49-F238E27FC236}">
                  <a16:creationId xmlns:a16="http://schemas.microsoft.com/office/drawing/2014/main" id="{9A4724C5-6BC9-48C2-0EDF-8904BBCE95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428"/>
            <a:stretch/>
          </p:blipFill>
          <p:spPr bwMode="auto">
            <a:xfrm>
              <a:off x="8254460" y="1164546"/>
              <a:ext cx="956239" cy="88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CasellaDiTesto 8">
            <a:extLst>
              <a:ext uri="{FF2B5EF4-FFF2-40B4-BE49-F238E27FC236}">
                <a16:creationId xmlns:a16="http://schemas.microsoft.com/office/drawing/2014/main" id="{207CF79C-F71C-72A0-11E0-DBDBF1FC3CC7}"/>
              </a:ext>
            </a:extLst>
          </p:cNvPr>
          <p:cNvSpPr txBox="1"/>
          <p:nvPr/>
        </p:nvSpPr>
        <p:spPr>
          <a:xfrm>
            <a:off x="8854752" y="6167280"/>
            <a:ext cx="3240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Helvetica Light" panose="020B0403020202020204" pitchFamily="34" charset="0"/>
                <a:cs typeface="Arial" panose="020B0604020202020204" pitchFamily="34" charset="0"/>
              </a:rPr>
              <a:t>Rome, November, 19</a:t>
            </a:r>
            <a:r>
              <a:rPr lang="it-IT" baseline="30000" dirty="0">
                <a:latin typeface="Helvetica Light" panose="020B0403020202020204" pitchFamily="34" charset="0"/>
                <a:cs typeface="Arial" panose="020B0604020202020204" pitchFamily="34" charset="0"/>
              </a:rPr>
              <a:t>th</a:t>
            </a:r>
            <a:r>
              <a:rPr lang="it-IT" dirty="0">
                <a:latin typeface="Helvetica Light" panose="020B0403020202020204" pitchFamily="34" charset="0"/>
                <a:cs typeface="Arial" panose="020B0604020202020204" pitchFamily="34" charset="0"/>
              </a:rPr>
              <a:t>, 2024</a:t>
            </a:r>
            <a:endParaRPr lang="it-IT" baseline="30000" dirty="0">
              <a:latin typeface="Helvetica Light" panose="020B04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666BB8A4-003C-B8EC-60CF-5E8974B61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1134" y="23718"/>
            <a:ext cx="2159000" cy="1346200"/>
          </a:xfrm>
          <a:prstGeom prst="rect">
            <a:avLst/>
          </a:prstGeom>
        </p:spPr>
      </p:pic>
      <p:pic>
        <p:nvPicPr>
          <p:cNvPr id="2" name="Picture 1" descr="A yellow and blue text&#10;&#10;Description automatically generated">
            <a:extLst>
              <a:ext uri="{FF2B5EF4-FFF2-40B4-BE49-F238E27FC236}">
                <a16:creationId xmlns:a16="http://schemas.microsoft.com/office/drawing/2014/main" id="{AB12CC3D-A34E-04F4-249C-26FA405F69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58"/>
          <a:stretch/>
        </p:blipFill>
        <p:spPr>
          <a:xfrm>
            <a:off x="10010236" y="4733414"/>
            <a:ext cx="2085394" cy="69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26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7BFF-9D0A-AD11-6D7D-A1A8EB80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4171D9A-8D28-06BA-EBFA-705EFA7DEE8B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Title 7">
            <a:extLst>
              <a:ext uri="{FF2B5EF4-FFF2-40B4-BE49-F238E27FC236}">
                <a16:creationId xmlns:a16="http://schemas.microsoft.com/office/drawing/2014/main" id="{DA58EF44-A73E-75C4-E6E2-7C0496C94DE7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BACKUP SLIDES</a:t>
            </a:r>
          </a:p>
        </p:txBody>
      </p:sp>
      <p:pic>
        <p:nvPicPr>
          <p:cNvPr id="41" name="Picture 40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93BA5982-9574-4CE1-5C1E-654232189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42" name="Picture 41" descr="A blue and black logo&#10;&#10;Description automatically generated">
            <a:extLst>
              <a:ext uri="{FF2B5EF4-FFF2-40B4-BE49-F238E27FC236}">
                <a16:creationId xmlns:a16="http://schemas.microsoft.com/office/drawing/2014/main" id="{D5B98B78-6A8E-A938-9850-335D952689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43" name="Picture 42" descr="A yellow and blue text&#10;&#10;Description automatically generated">
            <a:extLst>
              <a:ext uri="{FF2B5EF4-FFF2-40B4-BE49-F238E27FC236}">
                <a16:creationId xmlns:a16="http://schemas.microsoft.com/office/drawing/2014/main" id="{7F879A59-33E3-6246-57A6-B2543E530C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44" name="Slide Number Placeholder 114">
            <a:extLst>
              <a:ext uri="{FF2B5EF4-FFF2-40B4-BE49-F238E27FC236}">
                <a16:creationId xmlns:a16="http://schemas.microsoft.com/office/drawing/2014/main" id="{0C720646-626D-8136-DDAF-554B97DD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19</a:t>
            </a:fld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7C2C2D-C445-E399-2BDB-9A2F1798C090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63A76C-7FF4-1D9F-187E-1B1B989C3561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</p:spTree>
    <p:extLst>
      <p:ext uri="{BB962C8B-B14F-4D97-AF65-F5344CB8AC3E}">
        <p14:creationId xmlns:p14="http://schemas.microsoft.com/office/powerpoint/2010/main" val="689159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83D41-6D16-75E1-2AC8-A70298F6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BB4F1B5-F7AE-28A8-F315-8C90F8921E2B}"/>
              </a:ext>
            </a:extLst>
          </p:cNvPr>
          <p:cNvGrpSpPr/>
          <p:nvPr/>
        </p:nvGrpSpPr>
        <p:grpSpPr>
          <a:xfrm>
            <a:off x="5949367" y="838117"/>
            <a:ext cx="6157010" cy="5643397"/>
            <a:chOff x="3444942" y="798073"/>
            <a:chExt cx="6157010" cy="56433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2ED63E15-BC03-1509-B9C2-15DE6D4560CD}"/>
                </a:ext>
              </a:extLst>
            </p:cNvPr>
            <p:cNvSpPr/>
            <p:nvPr/>
          </p:nvSpPr>
          <p:spPr>
            <a:xfrm>
              <a:off x="4322012" y="5941739"/>
              <a:ext cx="2026838" cy="499731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ED5BE07-0391-EA2E-E989-16E752407761}"/>
                </a:ext>
              </a:extLst>
            </p:cNvPr>
            <p:cNvSpPr txBox="1"/>
            <p:nvPr/>
          </p:nvSpPr>
          <p:spPr>
            <a:xfrm>
              <a:off x="4357608" y="798073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1. Acquire and manage TPS data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14AC03-3AD2-A7FB-BF9F-94055C0496CF}"/>
                </a:ext>
              </a:extLst>
            </p:cNvPr>
            <p:cNvSpPr txBox="1"/>
            <p:nvPr/>
          </p:nvSpPr>
          <p:spPr>
            <a:xfrm>
              <a:off x="4253360" y="1710102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2. Initial guess of the shape of a 3DRM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DA187B-23E2-48BF-4C4F-7EAF61D35DA5}"/>
                </a:ext>
              </a:extLst>
            </p:cNvPr>
            <p:cNvSpPr txBox="1"/>
            <p:nvPr/>
          </p:nvSpPr>
          <p:spPr>
            <a:xfrm>
              <a:off x="4232094" y="2646341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3. FRED simulation with the designed 3DRM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5B914D-228F-26A3-DBCC-30952A2E72BB}"/>
                </a:ext>
              </a:extLst>
            </p:cNvPr>
            <p:cNvSpPr txBox="1"/>
            <p:nvPr/>
          </p:nvSpPr>
          <p:spPr>
            <a:xfrm>
              <a:off x="4293737" y="3733632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4. Fluence optimization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1B83A3-70D5-6DCC-5068-07502987161C}"/>
                </a:ext>
              </a:extLst>
            </p:cNvPr>
            <p:cNvSpPr txBox="1"/>
            <p:nvPr/>
          </p:nvSpPr>
          <p:spPr>
            <a:xfrm>
              <a:off x="4419904" y="4866709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5. Check clinical goals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541E64E-3167-2A15-B0A5-A56A6D6EC8BF}"/>
                </a:ext>
              </a:extLst>
            </p:cNvPr>
            <p:cNvCxnSpPr>
              <a:cxnSpLocks/>
            </p:cNvCxnSpPr>
            <p:nvPr/>
          </p:nvCxnSpPr>
          <p:spPr>
            <a:xfrm>
              <a:off x="5277611" y="132129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0D02642-C118-FE6B-6327-92186C11F576}"/>
                </a:ext>
              </a:extLst>
            </p:cNvPr>
            <p:cNvCxnSpPr>
              <a:cxnSpLocks/>
            </p:cNvCxnSpPr>
            <p:nvPr/>
          </p:nvCxnSpPr>
          <p:spPr>
            <a:xfrm>
              <a:off x="5275110" y="2278305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491B9DD-B386-9907-B909-3C95D79EF894}"/>
                </a:ext>
              </a:extLst>
            </p:cNvPr>
            <p:cNvCxnSpPr>
              <a:cxnSpLocks/>
            </p:cNvCxnSpPr>
            <p:nvPr/>
          </p:nvCxnSpPr>
          <p:spPr>
            <a:xfrm>
              <a:off x="5291743" y="323874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889A35E-89B0-5163-C351-6D6667B5F0E4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30" y="4160601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664696-4909-2527-C07E-784D505B9B18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327067" y="5447539"/>
              <a:ext cx="8364" cy="494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3BC2AC-4B0E-3C6C-589C-535EED240D72}"/>
                </a:ext>
              </a:extLst>
            </p:cNvPr>
            <p:cNvSpPr txBox="1"/>
            <p:nvPr/>
          </p:nvSpPr>
          <p:spPr>
            <a:xfrm>
              <a:off x="4390548" y="604232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PRINTING PROCESS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B828778-5A46-B402-0F96-174888CA64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71885" y="5009784"/>
              <a:ext cx="1389523" cy="1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399D95-709C-57E2-175E-8B6A657EBEBE}"/>
                </a:ext>
              </a:extLst>
            </p:cNvPr>
            <p:cNvCxnSpPr>
              <a:cxnSpLocks/>
            </p:cNvCxnSpPr>
            <p:nvPr/>
          </p:nvCxnSpPr>
          <p:spPr>
            <a:xfrm>
              <a:off x="7850775" y="2932694"/>
              <a:ext cx="0" cy="207709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54D470-1822-B737-7134-FE76FF0A7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3634" y="2943327"/>
              <a:ext cx="1566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E1E90C-CAA9-64F2-B553-4FCC3E869836}"/>
                </a:ext>
              </a:extLst>
            </p:cNvPr>
            <p:cNvSpPr txBox="1"/>
            <p:nvPr/>
          </p:nvSpPr>
          <p:spPr>
            <a:xfrm>
              <a:off x="6781269" y="3526589"/>
              <a:ext cx="2053684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correction of the weights w</a:t>
              </a:r>
              <a:r>
                <a:rPr lang="en-IT" sz="1400" baseline="-25000" dirty="0"/>
                <a:t>l</a:t>
              </a:r>
              <a:r>
                <a:rPr lang="en-IT" sz="1400" dirty="0"/>
                <a:t> associated to the pin’s lengths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9EDEAD-1433-C593-AFD3-28E0B050906D}"/>
                </a:ext>
              </a:extLst>
            </p:cNvPr>
            <p:cNvSpPr txBox="1"/>
            <p:nvPr/>
          </p:nvSpPr>
          <p:spPr>
            <a:xfrm>
              <a:off x="7796778" y="2092382"/>
              <a:ext cx="1805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ITERATIVE LOOP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014C5DC0-F056-4E38-03F9-1D86BDCBFB1C}"/>
                </a:ext>
              </a:extLst>
            </p:cNvPr>
            <p:cNvSpPr/>
            <p:nvPr/>
          </p:nvSpPr>
          <p:spPr>
            <a:xfrm>
              <a:off x="4157663" y="4572030"/>
              <a:ext cx="2338809" cy="875509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61AABB-5F4A-26DC-26D7-213F68533400}"/>
                </a:ext>
              </a:extLst>
            </p:cNvPr>
            <p:cNvSpPr/>
            <p:nvPr/>
          </p:nvSpPr>
          <p:spPr>
            <a:xfrm>
              <a:off x="4295892" y="1731368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DD89D9-86A3-87F7-34F8-8C023151E8C4}"/>
                </a:ext>
              </a:extLst>
            </p:cNvPr>
            <p:cNvSpPr/>
            <p:nvPr/>
          </p:nvSpPr>
          <p:spPr>
            <a:xfrm>
              <a:off x="4276567" y="802311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D4F71A-8A4A-C9C7-279B-3B3A25055F05}"/>
                </a:ext>
              </a:extLst>
            </p:cNvPr>
            <p:cNvSpPr/>
            <p:nvPr/>
          </p:nvSpPr>
          <p:spPr>
            <a:xfrm>
              <a:off x="4279259" y="2650855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C6C994-0943-4996-7A0A-ACCC574A3CFD}"/>
                </a:ext>
              </a:extLst>
            </p:cNvPr>
            <p:cNvSpPr/>
            <p:nvPr/>
          </p:nvSpPr>
          <p:spPr>
            <a:xfrm>
              <a:off x="4300746" y="3625910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FDF1EE-098D-EBC7-4E89-C22C2AD66981}"/>
                </a:ext>
              </a:extLst>
            </p:cNvPr>
            <p:cNvSpPr/>
            <p:nvPr/>
          </p:nvSpPr>
          <p:spPr>
            <a:xfrm>
              <a:off x="6809756" y="3564227"/>
              <a:ext cx="2053683" cy="6633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D544B4-DC55-4B7E-56D2-C76EF6C421D6}"/>
                </a:ext>
              </a:extLst>
            </p:cNvPr>
            <p:cNvSpPr/>
            <p:nvPr/>
          </p:nvSpPr>
          <p:spPr>
            <a:xfrm>
              <a:off x="3444942" y="2518427"/>
              <a:ext cx="5794745" cy="3244419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345A7D5-E8D9-A187-07E0-3525DEBC899C}"/>
                </a:ext>
              </a:extLst>
            </p:cNvPr>
            <p:cNvSpPr txBox="1"/>
            <p:nvPr/>
          </p:nvSpPr>
          <p:spPr>
            <a:xfrm>
              <a:off x="6444154" y="4651085"/>
              <a:ext cx="516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NO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FA32C90-DCCF-5EA9-1CF8-D8BA394E2CC1}"/>
                </a:ext>
              </a:extLst>
            </p:cNvPr>
            <p:cNvSpPr txBox="1"/>
            <p:nvPr/>
          </p:nvSpPr>
          <p:spPr>
            <a:xfrm>
              <a:off x="5344388" y="5388199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YES</a:t>
              </a:r>
            </a:p>
          </p:txBody>
        </p:sp>
        <p:pic>
          <p:nvPicPr>
            <p:cNvPr id="4" name="Picture 3" descr="A blue background with yellow and red letters&#10;&#10;Description automatically generated">
              <a:extLst>
                <a:ext uri="{FF2B5EF4-FFF2-40B4-BE49-F238E27FC236}">
                  <a16:creationId xmlns:a16="http://schemas.microsoft.com/office/drawing/2014/main" id="{245EFC44-B45C-7B79-3EC9-5C5257D16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1885" y="2721494"/>
              <a:ext cx="1010499" cy="443496"/>
            </a:xfrm>
            <a:prstGeom prst="rect">
              <a:avLst/>
            </a:prstGeom>
          </p:spPr>
        </p:pic>
        <p:pic>
          <p:nvPicPr>
            <p:cNvPr id="15" name="Picture 14" descr="A black and grey text&#10;&#10;Description automatically generated">
              <a:extLst>
                <a:ext uri="{FF2B5EF4-FFF2-40B4-BE49-F238E27FC236}">
                  <a16:creationId xmlns:a16="http://schemas.microsoft.com/office/drawing/2014/main" id="{078A9A23-22B2-99E5-75B5-74C3226C3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750" y="1840909"/>
              <a:ext cx="1246496" cy="369332"/>
            </a:xfrm>
            <a:prstGeom prst="rect">
              <a:avLst/>
            </a:prstGeom>
          </p:spPr>
        </p:pic>
        <p:pic>
          <p:nvPicPr>
            <p:cNvPr id="17" name="Picture 16" descr="A black and grey text&#10;&#10;Description automatically generated">
              <a:extLst>
                <a:ext uri="{FF2B5EF4-FFF2-40B4-BE49-F238E27FC236}">
                  <a16:creationId xmlns:a16="http://schemas.microsoft.com/office/drawing/2014/main" id="{91756394-F9EE-9F15-916D-BFDA22C0B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5902" y="3276414"/>
              <a:ext cx="1246496" cy="369332"/>
            </a:xfrm>
            <a:prstGeom prst="rect">
              <a:avLst/>
            </a:prstGeom>
          </p:spPr>
        </p:pic>
        <p:pic>
          <p:nvPicPr>
            <p:cNvPr id="21" name="Picture 20" descr="Several logos of different brands&#10;&#10;Description automatically generated">
              <a:extLst>
                <a:ext uri="{FF2B5EF4-FFF2-40B4-BE49-F238E27FC236}">
                  <a16:creationId xmlns:a16="http://schemas.microsoft.com/office/drawing/2014/main" id="{490535E2-B55D-0073-14AE-3D4D525B70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5439" b="5392"/>
            <a:stretch/>
          </p:blipFill>
          <p:spPr>
            <a:xfrm>
              <a:off x="6368348" y="825133"/>
              <a:ext cx="1466199" cy="433162"/>
            </a:xfrm>
            <a:prstGeom prst="rect">
              <a:avLst/>
            </a:prstGeom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34F7029-21AB-CA56-6A01-83F700D55869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Title 7">
            <a:extLst>
              <a:ext uri="{FF2B5EF4-FFF2-40B4-BE49-F238E27FC236}">
                <a16:creationId xmlns:a16="http://schemas.microsoft.com/office/drawing/2014/main" id="{312B680D-9D08-3782-5E9E-FE6297FC1669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3DRM DESIGN </a:t>
            </a:r>
          </a:p>
        </p:txBody>
      </p:sp>
      <p:pic>
        <p:nvPicPr>
          <p:cNvPr id="41" name="Picture 40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C5E5C7D7-171F-40B1-D9B8-796AB0012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42" name="Picture 41" descr="A blue and black logo&#10;&#10;Description automatically generated">
            <a:extLst>
              <a:ext uri="{FF2B5EF4-FFF2-40B4-BE49-F238E27FC236}">
                <a16:creationId xmlns:a16="http://schemas.microsoft.com/office/drawing/2014/main" id="{9FF25C31-0FD3-D8EB-05EA-6F582812BDC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43" name="Picture 42" descr="A yellow and blue text&#10;&#10;Description automatically generated">
            <a:extLst>
              <a:ext uri="{FF2B5EF4-FFF2-40B4-BE49-F238E27FC236}">
                <a16:creationId xmlns:a16="http://schemas.microsoft.com/office/drawing/2014/main" id="{EAA83A54-0B54-A79C-1E68-256CAC7278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44" name="Slide Number Placeholder 114">
            <a:extLst>
              <a:ext uri="{FF2B5EF4-FFF2-40B4-BE49-F238E27FC236}">
                <a16:creationId xmlns:a16="http://schemas.microsoft.com/office/drawing/2014/main" id="{A066B4E5-B9BB-7AB4-AE1F-DA48155E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20</a:t>
            </a:fld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7CD993-306F-9221-2717-C65818872B81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D0C00F-933F-FA70-18FD-8633245364A9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70580F-DF89-0B58-1465-B6CFC7700666}"/>
              </a:ext>
            </a:extLst>
          </p:cNvPr>
          <p:cNvGrpSpPr/>
          <p:nvPr/>
        </p:nvGrpSpPr>
        <p:grpSpPr>
          <a:xfrm>
            <a:off x="1528107" y="844091"/>
            <a:ext cx="2338809" cy="5643397"/>
            <a:chOff x="4157663" y="798073"/>
            <a:chExt cx="2338809" cy="5643397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F2F6DDC-3117-9A9F-B655-AE00A05F8CDA}"/>
                </a:ext>
              </a:extLst>
            </p:cNvPr>
            <p:cNvSpPr/>
            <p:nvPr/>
          </p:nvSpPr>
          <p:spPr>
            <a:xfrm>
              <a:off x="4322012" y="5941739"/>
              <a:ext cx="2026838" cy="499731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21C635-126C-09A3-00F9-3D9FCD184F60}"/>
                </a:ext>
              </a:extLst>
            </p:cNvPr>
            <p:cNvSpPr txBox="1"/>
            <p:nvPr/>
          </p:nvSpPr>
          <p:spPr>
            <a:xfrm>
              <a:off x="4357608" y="798073"/>
              <a:ext cx="1813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1. Acquire and manage TPS data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5D50C6-ACF4-DE29-23BF-BCDB7F1A8198}"/>
                </a:ext>
              </a:extLst>
            </p:cNvPr>
            <p:cNvSpPr txBox="1"/>
            <p:nvPr/>
          </p:nvSpPr>
          <p:spPr>
            <a:xfrm>
              <a:off x="4253360" y="1710102"/>
              <a:ext cx="2053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2. Computation of 3D look-up-tables (LUTs)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59D170-ED1E-FF9B-8A29-2A356484AB2E}"/>
                </a:ext>
              </a:extLst>
            </p:cNvPr>
            <p:cNvSpPr txBox="1"/>
            <p:nvPr/>
          </p:nvSpPr>
          <p:spPr>
            <a:xfrm>
              <a:off x="4232094" y="2646341"/>
              <a:ext cx="21043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3. Optimization of Pin lengths and fluences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F868A05-4C1E-1DF2-EF14-C97C0F20C9F7}"/>
                </a:ext>
              </a:extLst>
            </p:cNvPr>
            <p:cNvSpPr txBox="1"/>
            <p:nvPr/>
          </p:nvSpPr>
          <p:spPr>
            <a:xfrm>
              <a:off x="4293737" y="3733632"/>
              <a:ext cx="205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4. MC Simulation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4530545-31B6-51CD-1727-3EDDBE262C4C}"/>
                </a:ext>
              </a:extLst>
            </p:cNvPr>
            <p:cNvSpPr txBox="1"/>
            <p:nvPr/>
          </p:nvSpPr>
          <p:spPr>
            <a:xfrm>
              <a:off x="4419904" y="4866709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5. Check clinical goals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FB48C6F-C3DF-9BC1-565E-4D60601D0DC1}"/>
                </a:ext>
              </a:extLst>
            </p:cNvPr>
            <p:cNvCxnSpPr>
              <a:cxnSpLocks/>
            </p:cNvCxnSpPr>
            <p:nvPr/>
          </p:nvCxnSpPr>
          <p:spPr>
            <a:xfrm>
              <a:off x="5277611" y="132129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D95C514-7F71-4090-3BAA-DD2A6933BDFF}"/>
                </a:ext>
              </a:extLst>
            </p:cNvPr>
            <p:cNvCxnSpPr>
              <a:cxnSpLocks/>
            </p:cNvCxnSpPr>
            <p:nvPr/>
          </p:nvCxnSpPr>
          <p:spPr>
            <a:xfrm>
              <a:off x="5275110" y="2278305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DD683A7-3FC8-B7E5-AFBA-493CB731B9CA}"/>
                </a:ext>
              </a:extLst>
            </p:cNvPr>
            <p:cNvCxnSpPr>
              <a:cxnSpLocks/>
            </p:cNvCxnSpPr>
            <p:nvPr/>
          </p:nvCxnSpPr>
          <p:spPr>
            <a:xfrm>
              <a:off x="5291743" y="3238743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6C75FEA-19F5-A281-845A-FB6C3C327058}"/>
                </a:ext>
              </a:extLst>
            </p:cNvPr>
            <p:cNvCxnSpPr>
              <a:cxnSpLocks/>
            </p:cNvCxnSpPr>
            <p:nvPr/>
          </p:nvCxnSpPr>
          <p:spPr>
            <a:xfrm>
              <a:off x="5328030" y="4160601"/>
              <a:ext cx="0" cy="3725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73043C-49E9-F148-D157-14E36CD50DEE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5327067" y="5447539"/>
              <a:ext cx="8364" cy="494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9F1403-0D4A-19B6-3F6B-E5B22A333301}"/>
                </a:ext>
              </a:extLst>
            </p:cNvPr>
            <p:cNvSpPr txBox="1"/>
            <p:nvPr/>
          </p:nvSpPr>
          <p:spPr>
            <a:xfrm>
              <a:off x="4390548" y="6042322"/>
              <a:ext cx="1907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T" sz="1400" dirty="0"/>
                <a:t>PRINTING PROCESS</a:t>
              </a:r>
            </a:p>
          </p:txBody>
        </p:sp>
        <p:sp>
          <p:nvSpPr>
            <p:cNvPr id="59" name="Diamond 58">
              <a:extLst>
                <a:ext uri="{FF2B5EF4-FFF2-40B4-BE49-F238E27FC236}">
                  <a16:creationId xmlns:a16="http://schemas.microsoft.com/office/drawing/2014/main" id="{EFF49796-9C1C-0976-DD24-B2F6FC1185F8}"/>
                </a:ext>
              </a:extLst>
            </p:cNvPr>
            <p:cNvSpPr/>
            <p:nvPr/>
          </p:nvSpPr>
          <p:spPr>
            <a:xfrm>
              <a:off x="4157663" y="4572030"/>
              <a:ext cx="2338809" cy="875509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A686B71-24D5-8D11-56DD-6A4EA7B66F2C}"/>
                </a:ext>
              </a:extLst>
            </p:cNvPr>
            <p:cNvSpPr/>
            <p:nvPr/>
          </p:nvSpPr>
          <p:spPr>
            <a:xfrm>
              <a:off x="4295892" y="1731368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D425360-ABD3-7FCE-3A9A-314DC9369B63}"/>
                </a:ext>
              </a:extLst>
            </p:cNvPr>
            <p:cNvSpPr/>
            <p:nvPr/>
          </p:nvSpPr>
          <p:spPr>
            <a:xfrm>
              <a:off x="4276567" y="802311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C8C481D-CE20-5E77-DF6B-02870396CDE3}"/>
                </a:ext>
              </a:extLst>
            </p:cNvPr>
            <p:cNvSpPr/>
            <p:nvPr/>
          </p:nvSpPr>
          <p:spPr>
            <a:xfrm>
              <a:off x="4279259" y="2650855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0701ABB-0316-3744-4634-B8E330171924}"/>
                </a:ext>
              </a:extLst>
            </p:cNvPr>
            <p:cNvSpPr/>
            <p:nvPr/>
          </p:nvSpPr>
          <p:spPr>
            <a:xfrm>
              <a:off x="4300746" y="3625910"/>
              <a:ext cx="1991703" cy="5232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F8FB4B-F042-4332-52A2-51A25B026E02}"/>
                </a:ext>
              </a:extLst>
            </p:cNvPr>
            <p:cNvSpPr txBox="1"/>
            <p:nvPr/>
          </p:nvSpPr>
          <p:spPr>
            <a:xfrm>
              <a:off x="5344388" y="5388199"/>
              <a:ext cx="567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dirty="0"/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02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2CBD-CABC-8828-17C6-1F7756EC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8F8F501-09A0-E473-45E4-84E2370D8D5E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Title 7">
            <a:extLst>
              <a:ext uri="{FF2B5EF4-FFF2-40B4-BE49-F238E27FC236}">
                <a16:creationId xmlns:a16="http://schemas.microsoft.com/office/drawing/2014/main" id="{9D05158F-BA68-93AA-5978-129865EF4C61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3DRM DESIGN</a:t>
            </a:r>
          </a:p>
        </p:txBody>
      </p:sp>
      <p:pic>
        <p:nvPicPr>
          <p:cNvPr id="41" name="Picture 40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A869BAFA-E210-A84C-71F0-77B8287DD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42" name="Picture 41" descr="A blue and black logo&#10;&#10;Description automatically generated">
            <a:extLst>
              <a:ext uri="{FF2B5EF4-FFF2-40B4-BE49-F238E27FC236}">
                <a16:creationId xmlns:a16="http://schemas.microsoft.com/office/drawing/2014/main" id="{60538FE9-22E3-5922-02EA-2C92874A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43" name="Picture 42" descr="A yellow and blue text&#10;&#10;Description automatically generated">
            <a:extLst>
              <a:ext uri="{FF2B5EF4-FFF2-40B4-BE49-F238E27FC236}">
                <a16:creationId xmlns:a16="http://schemas.microsoft.com/office/drawing/2014/main" id="{389D2304-AA5C-1DD0-14B4-60F6D0925E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44" name="Slide Number Placeholder 114">
            <a:extLst>
              <a:ext uri="{FF2B5EF4-FFF2-40B4-BE49-F238E27FC236}">
                <a16:creationId xmlns:a16="http://schemas.microsoft.com/office/drawing/2014/main" id="{48B716F1-C480-F673-157E-DDE9F85F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21</a:t>
            </a:fld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D92C64-F405-902A-F555-F5C121C484FE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41996F-65AA-DDD3-2686-62A1FB284083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pic>
        <p:nvPicPr>
          <p:cNvPr id="55" name="Picture 54" descr="A diagram of a graph&#10;&#10;Description automatically generated">
            <a:extLst>
              <a:ext uri="{FF2B5EF4-FFF2-40B4-BE49-F238E27FC236}">
                <a16:creationId xmlns:a16="http://schemas.microsoft.com/office/drawing/2014/main" id="{B6C3E072-4220-EF5C-B269-6D2A483BB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447" y="667378"/>
            <a:ext cx="7772400" cy="593071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09AE1DE-C9CE-ABCD-1793-1421155DF3B0}"/>
              </a:ext>
            </a:extLst>
          </p:cNvPr>
          <p:cNvSpPr txBox="1"/>
          <p:nvPr/>
        </p:nvSpPr>
        <p:spPr>
          <a:xfrm>
            <a:off x="9485607" y="433449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Ma et al. 2023</a:t>
            </a:r>
          </a:p>
        </p:txBody>
      </p:sp>
    </p:spTree>
    <p:extLst>
      <p:ext uri="{BB962C8B-B14F-4D97-AF65-F5344CB8AC3E}">
        <p14:creationId xmlns:p14="http://schemas.microsoft.com/office/powerpoint/2010/main" val="2062824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A48A3-0B52-0793-EC69-341055B5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3D266F1-BBDF-48EA-E55D-58630625A8B9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Title 7">
            <a:extLst>
              <a:ext uri="{FF2B5EF4-FFF2-40B4-BE49-F238E27FC236}">
                <a16:creationId xmlns:a16="http://schemas.microsoft.com/office/drawing/2014/main" id="{AFF5FE32-0142-BEEE-80C4-3C3C033383B8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3DRM DESIGN</a:t>
            </a:r>
          </a:p>
        </p:txBody>
      </p:sp>
      <p:pic>
        <p:nvPicPr>
          <p:cNvPr id="41" name="Picture 40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3A1F242F-B2ED-F068-323C-52403F7F3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42" name="Picture 41" descr="A blue and black logo&#10;&#10;Description automatically generated">
            <a:extLst>
              <a:ext uri="{FF2B5EF4-FFF2-40B4-BE49-F238E27FC236}">
                <a16:creationId xmlns:a16="http://schemas.microsoft.com/office/drawing/2014/main" id="{01DB1660-DE73-25D9-5072-CD77F42BA8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43" name="Picture 42" descr="A yellow and blue text&#10;&#10;Description automatically generated">
            <a:extLst>
              <a:ext uri="{FF2B5EF4-FFF2-40B4-BE49-F238E27FC236}">
                <a16:creationId xmlns:a16="http://schemas.microsoft.com/office/drawing/2014/main" id="{376C78C1-DFEC-5501-4A08-A74B41F08C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44" name="Slide Number Placeholder 114">
            <a:extLst>
              <a:ext uri="{FF2B5EF4-FFF2-40B4-BE49-F238E27FC236}">
                <a16:creationId xmlns:a16="http://schemas.microsoft.com/office/drawing/2014/main" id="{64B782F5-AC5E-25FA-8F05-94DABC95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22</a:t>
            </a:fld>
            <a:endParaRPr lang="en-IT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EBBFB6-05FE-9B06-0DD5-29DD598748BF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028ADD-6D5F-BAA2-B86D-D73A8E8D2AC6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616C4-34B1-0EA8-B886-78BBDDE89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919" y="658484"/>
            <a:ext cx="5611859" cy="591998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819CC8B-6E8D-FA9F-2713-FA3D4344E424}"/>
              </a:ext>
            </a:extLst>
          </p:cNvPr>
          <p:cNvSpPr txBox="1"/>
          <p:nvPr/>
        </p:nvSpPr>
        <p:spPr>
          <a:xfrm>
            <a:off x="7696432" y="4358245"/>
            <a:ext cx="1876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Deffet et al. 2023</a:t>
            </a:r>
          </a:p>
        </p:txBody>
      </p:sp>
    </p:spTree>
    <p:extLst>
      <p:ext uri="{BB962C8B-B14F-4D97-AF65-F5344CB8AC3E}">
        <p14:creationId xmlns:p14="http://schemas.microsoft.com/office/powerpoint/2010/main" val="4053556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7A8D-62FB-4132-0A7B-CE573D28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BF4393-81F5-DCA3-5E3D-35968E49FAD2}"/>
              </a:ext>
            </a:extLst>
          </p:cNvPr>
          <p:cNvSpPr/>
          <p:nvPr/>
        </p:nvSpPr>
        <p:spPr>
          <a:xfrm>
            <a:off x="-3406" y="167"/>
            <a:ext cx="12186939" cy="5611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0">
                <a:schemeClr val="tx2">
                  <a:lumMod val="25000"/>
                  <a:lumOff val="75000"/>
                </a:schemeClr>
              </a:gs>
              <a:gs pos="41000">
                <a:schemeClr val="bg1">
                  <a:lumMod val="95000"/>
                  <a:alpha val="0"/>
                </a:schemeClr>
              </a:gs>
              <a:gs pos="29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71F1151B-3E4B-D103-B846-0F8634D0BFAC}"/>
              </a:ext>
            </a:extLst>
          </p:cNvPr>
          <p:cNvSpPr txBox="1">
            <a:spLocks/>
          </p:cNvSpPr>
          <p:nvPr/>
        </p:nvSpPr>
        <p:spPr>
          <a:xfrm>
            <a:off x="148487" y="0"/>
            <a:ext cx="10515600" cy="57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3200" dirty="0"/>
              <a:t>DADR PBDR metrics</a:t>
            </a:r>
          </a:p>
        </p:txBody>
      </p:sp>
      <p:pic>
        <p:nvPicPr>
          <p:cNvPr id="10" name="Picture 9" descr="A picture containing font, graphics, logo, graphic design&#10;&#10;Description automatically generated">
            <a:extLst>
              <a:ext uri="{FF2B5EF4-FFF2-40B4-BE49-F238E27FC236}">
                <a16:creationId xmlns:a16="http://schemas.microsoft.com/office/drawing/2014/main" id="{34AA61C4-204B-6E12-49FA-1E3195740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70" y="84939"/>
            <a:ext cx="871409" cy="455379"/>
          </a:xfrm>
          <a:prstGeom prst="rect">
            <a:avLst/>
          </a:prstGeom>
        </p:spPr>
      </p:pic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81508420-B6D4-66E0-7D18-78AD45A1FD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" t="14636" b="12373"/>
          <a:stretch/>
        </p:blipFill>
        <p:spPr>
          <a:xfrm>
            <a:off x="9811108" y="29954"/>
            <a:ext cx="1403528" cy="691239"/>
          </a:xfrm>
          <a:prstGeom prst="rect">
            <a:avLst/>
          </a:prstGeom>
        </p:spPr>
      </p:pic>
      <p:pic>
        <p:nvPicPr>
          <p:cNvPr id="12" name="Picture 11" descr="A yellow and blue text&#10;&#10;Description automatically generated">
            <a:extLst>
              <a:ext uri="{FF2B5EF4-FFF2-40B4-BE49-F238E27FC236}">
                <a16:creationId xmlns:a16="http://schemas.microsoft.com/office/drawing/2014/main" id="{83084672-DE2C-C0CD-1AEB-8DD87C95B2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58"/>
          <a:stretch/>
        </p:blipFill>
        <p:spPr>
          <a:xfrm>
            <a:off x="7983105" y="0"/>
            <a:ext cx="1718212" cy="575564"/>
          </a:xfrm>
          <a:prstGeom prst="rect">
            <a:avLst/>
          </a:prstGeom>
        </p:spPr>
      </p:pic>
      <p:sp>
        <p:nvSpPr>
          <p:cNvPr id="3" name="Slide Number Placeholder 114">
            <a:extLst>
              <a:ext uri="{FF2B5EF4-FFF2-40B4-BE49-F238E27FC236}">
                <a16:creationId xmlns:a16="http://schemas.microsoft.com/office/drawing/2014/main" id="{6ED4014D-1677-DD27-EE7B-8EA20CEA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2487" y="6598439"/>
            <a:ext cx="2743200" cy="229607"/>
          </a:xfrm>
        </p:spPr>
        <p:txBody>
          <a:bodyPr/>
          <a:lstStyle/>
          <a:p>
            <a:fld id="{5F4A8548-7DF8-9744-A88C-FC9569FDA13A}" type="slidenum">
              <a:rPr lang="en-IT" smtClean="0"/>
              <a:t>23</a:t>
            </a:fld>
            <a:endParaRPr lang="en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E321D-4CD1-6894-B360-96EA0BCC3F96}"/>
              </a:ext>
            </a:extLst>
          </p:cNvPr>
          <p:cNvSpPr txBox="1"/>
          <p:nvPr/>
        </p:nvSpPr>
        <p:spPr>
          <a:xfrm>
            <a:off x="77758" y="6580679"/>
            <a:ext cx="1142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A. Taffelli, PhD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E6B9A-298C-EB85-B4F8-D3965080E184}"/>
              </a:ext>
            </a:extLst>
          </p:cNvPr>
          <p:cNvSpPr txBox="1"/>
          <p:nvPr/>
        </p:nvSpPr>
        <p:spPr>
          <a:xfrm>
            <a:off x="4680863" y="6578818"/>
            <a:ext cx="3015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Grant Giovani INFN, Roma, Nov 19</a:t>
            </a:r>
            <a:r>
              <a:rPr lang="en-IT" sz="1200" baseline="30000" dirty="0">
                <a:solidFill>
                  <a:schemeClr val="bg2">
                    <a:lumMod val="75000"/>
                  </a:schemeClr>
                </a:solidFill>
              </a:rPr>
              <a:t>th</a:t>
            </a:r>
            <a:r>
              <a:rPr lang="en-IT" sz="1200" dirty="0">
                <a:solidFill>
                  <a:schemeClr val="bg2">
                    <a:lumMod val="75000"/>
                  </a:schemeClr>
                </a:solidFill>
              </a:rPr>
              <a:t>,  2024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326AC1-9296-F23B-01A7-EFC8D178B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3814" y="1357103"/>
            <a:ext cx="8397579" cy="45661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2B1022-A467-F90B-1AAC-ED692AA9F1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408" t="51172" r="40304" b="35520"/>
          <a:stretch/>
        </p:blipFill>
        <p:spPr>
          <a:xfrm>
            <a:off x="245481" y="1448369"/>
            <a:ext cx="1436916" cy="689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1B1396-A00F-DCD6-DB31-CC89D9ED91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038" t="32170" r="40304" b="52438"/>
          <a:stretch/>
        </p:blipFill>
        <p:spPr>
          <a:xfrm>
            <a:off x="245481" y="650742"/>
            <a:ext cx="2173186" cy="79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3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16637</TotalTime>
  <Words>1938</Words>
  <Application>Microsoft Macintosh PowerPoint</Application>
  <PresentationFormat>Widescreen</PresentationFormat>
  <Paragraphs>364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Helvetica</vt:lpstr>
      <vt:lpstr>Helvetica Light</vt:lpstr>
      <vt:lpstr>Menlo</vt:lpstr>
      <vt:lpstr>Office Theme</vt:lpstr>
      <vt:lpstr>FORM-3D:  Fast Optimization of Range Modulators 3D  Grant Giovani INFN, November, 19th, 2024 </vt:lpstr>
      <vt:lpstr>INTRODUCTION</vt:lpstr>
      <vt:lpstr>INTRODUCTION</vt:lpstr>
      <vt:lpstr>PURPOSE</vt:lpstr>
      <vt:lpstr>3DRM DESIGN</vt:lpstr>
      <vt:lpstr>PowerPoint Presentation</vt:lpstr>
      <vt:lpstr>3DRM DESIGN</vt:lpstr>
      <vt:lpstr>3DRM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FORM-3D:  Fast Optimization of Range Modulators 3D  Grant Giovani INFN, November, 19th, 2024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Taffelli, Alberto</dc:creator>
  <cp:lastModifiedBy>Taffelli, Alberto</cp:lastModifiedBy>
  <cp:revision>51</cp:revision>
  <dcterms:created xsi:type="dcterms:W3CDTF">2024-11-07T09:44:13Z</dcterms:created>
  <dcterms:modified xsi:type="dcterms:W3CDTF">2024-11-19T15:43:50Z</dcterms:modified>
</cp:coreProperties>
</file>